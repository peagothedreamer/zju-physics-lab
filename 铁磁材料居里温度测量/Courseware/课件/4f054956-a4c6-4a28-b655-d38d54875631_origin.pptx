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8" r:id="rId3"/>
    <p:sldId id="358" r:id="rId4"/>
    <p:sldId id="259" r:id="rId5"/>
    <p:sldId id="353" r:id="rId6"/>
    <p:sldId id="340" r:id="rId7"/>
    <p:sldId id="292" r:id="rId8"/>
    <p:sldId id="293" r:id="rId9"/>
    <p:sldId id="294" r:id="rId10"/>
    <p:sldId id="295" r:id="rId11"/>
    <p:sldId id="350" r:id="rId12"/>
    <p:sldId id="351" r:id="rId13"/>
    <p:sldId id="354" r:id="rId14"/>
    <p:sldId id="355" r:id="rId15"/>
    <p:sldId id="356" r:id="rId16"/>
    <p:sldId id="357" r:id="rId17"/>
    <p:sldId id="309" r:id="rId18"/>
    <p:sldId id="368" r:id="rId19"/>
    <p:sldId id="367" r:id="rId20"/>
    <p:sldId id="347" r:id="rId21"/>
    <p:sldId id="352" r:id="rId22"/>
    <p:sldId id="327" r:id="rId23"/>
    <p:sldId id="361" r:id="rId24"/>
    <p:sldId id="359" r:id="rId25"/>
    <p:sldId id="360" r:id="rId26"/>
    <p:sldId id="363" r:id="rId27"/>
    <p:sldId id="366" r:id="rId28"/>
    <p:sldId id="362" r:id="rId29"/>
    <p:sldId id="364" r:id="rId30"/>
    <p:sldId id="365" r:id="rId31"/>
    <p:sldId id="326" r:id="rId32"/>
    <p:sldId id="338" r:id="rId33"/>
  </p:sldIdLst>
  <p:sldSz cx="12192000" cy="6858000"/>
  <p:notesSz cx="6858000" cy="9144000"/>
  <p:defaultTextStyle>
    <a:defPPr>
      <a:defRPr lang="zh-CN"/>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40000"/>
    <a:srgbClr val="2F5597"/>
    <a:srgbClr val="FCF300"/>
    <a:srgbClr val="EAFF64"/>
    <a:srgbClr val="EF8136"/>
    <a:srgbClr val="EE8137"/>
    <a:srgbClr val="C55A11"/>
    <a:srgbClr val="A2A2A2"/>
    <a:srgbClr val="EBE9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0" autoAdjust="0"/>
    <p:restoredTop sz="85065" autoAdjust="0"/>
  </p:normalViewPr>
  <p:slideViewPr>
    <p:cSldViewPr snapToGrid="0">
      <p:cViewPr>
        <p:scale>
          <a:sx n="135" d="100"/>
          <a:sy n="135" d="100"/>
        </p:scale>
        <p:origin x="-1640" y="-1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C00847-5FAF-49B4-B606-A073277CE537}"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zh-CN" altLang="en-US"/>
        </a:p>
      </dgm:t>
    </dgm:pt>
    <dgm:pt modelId="{5B727D74-B040-4AB1-9C82-31DB9C984C72}">
      <dgm:prSet phldrT="[文本]" custT="1"/>
      <dgm:spPr/>
      <dgm:t>
        <a:bodyPr/>
        <a:lstStyle/>
        <a:p>
          <a:r>
            <a:rPr lang="zh-CN" altLang="en-US" sz="2000" dirty="0"/>
            <a:t>物质</a:t>
          </a:r>
          <a:endParaRPr lang="en-US" altLang="zh-CN" sz="2000" dirty="0"/>
        </a:p>
        <a:p>
          <a:r>
            <a:rPr lang="zh-CN" altLang="en-US" sz="2000" dirty="0"/>
            <a:t>磁性</a:t>
          </a:r>
        </a:p>
      </dgm:t>
    </dgm:pt>
    <dgm:pt modelId="{C136B1A1-9CD8-4C4E-A346-E0DF7934BFD9}" type="parTrans" cxnId="{7804A58B-D27F-41E1-B8CE-A01EAF8166EA}">
      <dgm:prSet/>
      <dgm:spPr/>
      <dgm:t>
        <a:bodyPr/>
        <a:lstStyle/>
        <a:p>
          <a:endParaRPr lang="zh-CN" altLang="en-US" sz="2000"/>
        </a:p>
      </dgm:t>
    </dgm:pt>
    <dgm:pt modelId="{CF778E18-D590-473A-B77B-E512F03ACAE6}" type="sibTrans" cxnId="{7804A58B-D27F-41E1-B8CE-A01EAF8166EA}">
      <dgm:prSet/>
      <dgm:spPr/>
      <dgm:t>
        <a:bodyPr/>
        <a:lstStyle/>
        <a:p>
          <a:endParaRPr lang="zh-CN" altLang="en-US" sz="2000"/>
        </a:p>
      </dgm:t>
    </dgm:pt>
    <dgm:pt modelId="{DDBB41B8-1C5A-460A-981C-015C6BA1FFD3}">
      <dgm:prSet phldrT="[文本]" custT="1"/>
      <dgm:spPr/>
      <dgm:t>
        <a:bodyPr/>
        <a:lstStyle/>
        <a:p>
          <a:r>
            <a:rPr lang="zh-CN" altLang="en-US" sz="2000" dirty="0"/>
            <a:t>反铁磁性</a:t>
          </a:r>
        </a:p>
      </dgm:t>
    </dgm:pt>
    <dgm:pt modelId="{9B1576C4-F478-479D-8F61-99887858DF25}" type="parTrans" cxnId="{AED87E4B-547D-4BDA-A152-78094492593C}">
      <dgm:prSet/>
      <dgm:spPr/>
      <dgm:t>
        <a:bodyPr/>
        <a:lstStyle/>
        <a:p>
          <a:endParaRPr lang="zh-CN" altLang="en-US" sz="2000"/>
        </a:p>
      </dgm:t>
    </dgm:pt>
    <dgm:pt modelId="{990848FC-571F-4DE6-B7C7-4E2919D5CED3}" type="sibTrans" cxnId="{AED87E4B-547D-4BDA-A152-78094492593C}">
      <dgm:prSet/>
      <dgm:spPr/>
      <dgm:t>
        <a:bodyPr/>
        <a:lstStyle/>
        <a:p>
          <a:endParaRPr lang="zh-CN" altLang="en-US" sz="2000"/>
        </a:p>
      </dgm:t>
    </dgm:pt>
    <dgm:pt modelId="{B4BA54C6-E115-4913-BFE2-99971F1A7BCD}">
      <dgm:prSet phldrT="[文本]" custT="1"/>
      <dgm:spPr/>
      <dgm:t>
        <a:bodyPr/>
        <a:lstStyle/>
        <a:p>
          <a:r>
            <a:rPr lang="zh-CN" altLang="en-US" sz="2000" b="0" dirty="0"/>
            <a:t>抗磁性</a:t>
          </a:r>
          <a:endParaRPr lang="zh-CN" altLang="en-US" sz="2000" dirty="0"/>
        </a:p>
      </dgm:t>
    </dgm:pt>
    <dgm:pt modelId="{C6BE91B8-C581-4C7D-8004-291AACCBE15B}" type="parTrans" cxnId="{FBD0AB82-07E8-49BF-829F-DE8B607A66A3}">
      <dgm:prSet/>
      <dgm:spPr/>
      <dgm:t>
        <a:bodyPr/>
        <a:lstStyle/>
        <a:p>
          <a:endParaRPr lang="zh-CN" altLang="en-US" sz="2000"/>
        </a:p>
      </dgm:t>
    </dgm:pt>
    <dgm:pt modelId="{3D854ED1-7577-492E-9D51-E712685ACCFE}" type="sibTrans" cxnId="{FBD0AB82-07E8-49BF-829F-DE8B607A66A3}">
      <dgm:prSet/>
      <dgm:spPr/>
      <dgm:t>
        <a:bodyPr/>
        <a:lstStyle/>
        <a:p>
          <a:endParaRPr lang="zh-CN" altLang="en-US" sz="2000"/>
        </a:p>
      </dgm:t>
    </dgm:pt>
    <dgm:pt modelId="{53157750-FBBF-412B-8005-3B9F066B138C}">
      <dgm:prSet phldrT="[文本]" custT="1"/>
      <dgm:spPr/>
      <dgm:t>
        <a:bodyPr/>
        <a:lstStyle/>
        <a:p>
          <a:r>
            <a:rPr lang="zh-CN" altLang="en-US" sz="2000" b="0" dirty="0">
              <a:solidFill>
                <a:srgbClr val="C00000"/>
              </a:solidFill>
            </a:rPr>
            <a:t>亚铁磁性</a:t>
          </a:r>
          <a:endParaRPr lang="zh-CN" altLang="en-US" sz="2000" dirty="0">
            <a:solidFill>
              <a:srgbClr val="C00000"/>
            </a:solidFill>
          </a:endParaRPr>
        </a:p>
      </dgm:t>
    </dgm:pt>
    <dgm:pt modelId="{6D33AFE2-351B-4229-BB0F-91024BF00BB7}" type="parTrans" cxnId="{1B44566B-3830-4F27-A476-E866861F2687}">
      <dgm:prSet/>
      <dgm:spPr/>
      <dgm:t>
        <a:bodyPr/>
        <a:lstStyle/>
        <a:p>
          <a:endParaRPr lang="zh-CN" altLang="en-US" sz="2000"/>
        </a:p>
      </dgm:t>
    </dgm:pt>
    <dgm:pt modelId="{1C2EA948-24DF-418E-9768-1A07A9166CFD}" type="sibTrans" cxnId="{1B44566B-3830-4F27-A476-E866861F2687}">
      <dgm:prSet/>
      <dgm:spPr/>
      <dgm:t>
        <a:bodyPr/>
        <a:lstStyle/>
        <a:p>
          <a:endParaRPr lang="zh-CN" altLang="en-US" sz="2000"/>
        </a:p>
      </dgm:t>
    </dgm:pt>
    <dgm:pt modelId="{ECE4AED8-F420-4357-B561-C698C95C6982}">
      <dgm:prSet custT="1"/>
      <dgm:spPr/>
      <dgm:t>
        <a:bodyPr/>
        <a:lstStyle/>
        <a:p>
          <a:r>
            <a:rPr lang="zh-CN" altLang="en-US" sz="2000" b="0" dirty="0"/>
            <a:t>顺磁性</a:t>
          </a:r>
          <a:endParaRPr lang="zh-CN" altLang="en-US" sz="2000" dirty="0"/>
        </a:p>
      </dgm:t>
    </dgm:pt>
    <dgm:pt modelId="{7B7E3D01-0A37-4D1D-B5C1-45B5CB83C92B}" type="parTrans" cxnId="{38967F36-B58D-4391-8331-B0E6EC937555}">
      <dgm:prSet/>
      <dgm:spPr/>
      <dgm:t>
        <a:bodyPr/>
        <a:lstStyle/>
        <a:p>
          <a:endParaRPr lang="zh-CN" altLang="en-US" sz="2000"/>
        </a:p>
      </dgm:t>
    </dgm:pt>
    <dgm:pt modelId="{C7D32DFF-CDA8-4773-A542-D093E4A0DBAD}" type="sibTrans" cxnId="{38967F36-B58D-4391-8331-B0E6EC937555}">
      <dgm:prSet/>
      <dgm:spPr/>
      <dgm:t>
        <a:bodyPr/>
        <a:lstStyle/>
        <a:p>
          <a:endParaRPr lang="zh-CN" altLang="en-US" sz="2000"/>
        </a:p>
      </dgm:t>
    </dgm:pt>
    <dgm:pt modelId="{C5F94FB3-970C-4218-8A55-0516E480F9EC}">
      <dgm:prSet custT="1"/>
      <dgm:spPr/>
      <dgm:t>
        <a:bodyPr/>
        <a:lstStyle/>
        <a:p>
          <a:r>
            <a:rPr lang="zh-CN" altLang="en-US" sz="2000" b="0" dirty="0">
              <a:solidFill>
                <a:srgbClr val="C00000"/>
              </a:solidFill>
            </a:rPr>
            <a:t>铁磁性</a:t>
          </a:r>
          <a:endParaRPr lang="zh-CN" altLang="en-US" sz="2000" dirty="0">
            <a:solidFill>
              <a:srgbClr val="C00000"/>
            </a:solidFill>
          </a:endParaRPr>
        </a:p>
      </dgm:t>
    </dgm:pt>
    <dgm:pt modelId="{E0BA00EE-B336-4657-9EEE-D3C69359D4A3}" type="parTrans" cxnId="{BD975E77-A295-498E-8F84-282C84449E16}">
      <dgm:prSet/>
      <dgm:spPr/>
      <dgm:t>
        <a:bodyPr/>
        <a:lstStyle/>
        <a:p>
          <a:endParaRPr lang="zh-CN" altLang="en-US" sz="2000"/>
        </a:p>
      </dgm:t>
    </dgm:pt>
    <dgm:pt modelId="{111C8169-B68F-4D02-B907-492854236664}" type="sibTrans" cxnId="{BD975E77-A295-498E-8F84-282C84449E16}">
      <dgm:prSet/>
      <dgm:spPr/>
      <dgm:t>
        <a:bodyPr/>
        <a:lstStyle/>
        <a:p>
          <a:endParaRPr lang="zh-CN" altLang="en-US" sz="2000"/>
        </a:p>
      </dgm:t>
    </dgm:pt>
    <dgm:pt modelId="{5837452B-6F2B-48AD-B9EA-D2BD2D5D8851}" type="pres">
      <dgm:prSet presAssocID="{74C00847-5FAF-49B4-B606-A073277CE537}" presName="Name0" presStyleCnt="0">
        <dgm:presLayoutVars>
          <dgm:chMax val="1"/>
          <dgm:dir/>
          <dgm:animLvl val="ctr"/>
          <dgm:resizeHandles val="exact"/>
        </dgm:presLayoutVars>
      </dgm:prSet>
      <dgm:spPr/>
    </dgm:pt>
    <dgm:pt modelId="{9F904371-038F-460A-ABB8-D354DF98FDBC}" type="pres">
      <dgm:prSet presAssocID="{5B727D74-B040-4AB1-9C82-31DB9C984C72}" presName="centerShape" presStyleLbl="node0" presStyleIdx="0" presStyleCnt="1" custScaleX="100471"/>
      <dgm:spPr/>
    </dgm:pt>
    <dgm:pt modelId="{320AEBA8-B1E3-45B3-8DC5-5DD8EC1435BB}" type="pres">
      <dgm:prSet presAssocID="{DDBB41B8-1C5A-460A-981C-015C6BA1FFD3}" presName="node" presStyleLbl="node1" presStyleIdx="0" presStyleCnt="5">
        <dgm:presLayoutVars>
          <dgm:bulletEnabled val="1"/>
        </dgm:presLayoutVars>
      </dgm:prSet>
      <dgm:spPr/>
    </dgm:pt>
    <dgm:pt modelId="{1D7D39A1-AE33-4928-8E86-82BA475B935F}" type="pres">
      <dgm:prSet presAssocID="{DDBB41B8-1C5A-460A-981C-015C6BA1FFD3}" presName="dummy" presStyleCnt="0"/>
      <dgm:spPr/>
    </dgm:pt>
    <dgm:pt modelId="{D5FAAA2C-7307-4983-BB55-2B98FE01F324}" type="pres">
      <dgm:prSet presAssocID="{990848FC-571F-4DE6-B7C7-4E2919D5CED3}" presName="sibTrans" presStyleLbl="sibTrans2D1" presStyleIdx="0" presStyleCnt="5"/>
      <dgm:spPr/>
    </dgm:pt>
    <dgm:pt modelId="{E0000D92-92AA-49B3-B655-9A818D350A5E}" type="pres">
      <dgm:prSet presAssocID="{ECE4AED8-F420-4357-B561-C698C95C6982}" presName="node" presStyleLbl="node1" presStyleIdx="1" presStyleCnt="5">
        <dgm:presLayoutVars>
          <dgm:bulletEnabled val="1"/>
        </dgm:presLayoutVars>
      </dgm:prSet>
      <dgm:spPr/>
    </dgm:pt>
    <dgm:pt modelId="{1D850079-F167-421A-9C23-9156CD2205A7}" type="pres">
      <dgm:prSet presAssocID="{ECE4AED8-F420-4357-B561-C698C95C6982}" presName="dummy" presStyleCnt="0"/>
      <dgm:spPr/>
    </dgm:pt>
    <dgm:pt modelId="{421C6B92-C2EE-444E-BAF6-EFACA3DAC119}" type="pres">
      <dgm:prSet presAssocID="{C7D32DFF-CDA8-4773-A542-D093E4A0DBAD}" presName="sibTrans" presStyleLbl="sibTrans2D1" presStyleIdx="1" presStyleCnt="5"/>
      <dgm:spPr/>
    </dgm:pt>
    <dgm:pt modelId="{CF2E6E2A-6610-436F-B2DE-DB2C30040AC2}" type="pres">
      <dgm:prSet presAssocID="{B4BA54C6-E115-4913-BFE2-99971F1A7BCD}" presName="node" presStyleLbl="node1" presStyleIdx="2" presStyleCnt="5">
        <dgm:presLayoutVars>
          <dgm:bulletEnabled val="1"/>
        </dgm:presLayoutVars>
      </dgm:prSet>
      <dgm:spPr/>
    </dgm:pt>
    <dgm:pt modelId="{881FCDB3-6BC2-4145-BBC6-F33F84B90381}" type="pres">
      <dgm:prSet presAssocID="{B4BA54C6-E115-4913-BFE2-99971F1A7BCD}" presName="dummy" presStyleCnt="0"/>
      <dgm:spPr/>
    </dgm:pt>
    <dgm:pt modelId="{7E6C9B4E-2DFE-4E89-923D-A41ACB0AAAF7}" type="pres">
      <dgm:prSet presAssocID="{3D854ED1-7577-492E-9D51-E712685ACCFE}" presName="sibTrans" presStyleLbl="sibTrans2D1" presStyleIdx="2" presStyleCnt="5"/>
      <dgm:spPr/>
    </dgm:pt>
    <dgm:pt modelId="{9A9BB94E-87BF-4C98-8498-D594DDE82355}" type="pres">
      <dgm:prSet presAssocID="{53157750-FBBF-412B-8005-3B9F066B138C}" presName="node" presStyleLbl="node1" presStyleIdx="3" presStyleCnt="5">
        <dgm:presLayoutVars>
          <dgm:bulletEnabled val="1"/>
        </dgm:presLayoutVars>
      </dgm:prSet>
      <dgm:spPr/>
    </dgm:pt>
    <dgm:pt modelId="{E2027F9A-D340-4652-B231-F823243527F4}" type="pres">
      <dgm:prSet presAssocID="{53157750-FBBF-412B-8005-3B9F066B138C}" presName="dummy" presStyleCnt="0"/>
      <dgm:spPr/>
    </dgm:pt>
    <dgm:pt modelId="{FABD0B9B-0014-49CC-ABDF-4C0AA0204A54}" type="pres">
      <dgm:prSet presAssocID="{1C2EA948-24DF-418E-9768-1A07A9166CFD}" presName="sibTrans" presStyleLbl="sibTrans2D1" presStyleIdx="3" presStyleCnt="5"/>
      <dgm:spPr/>
    </dgm:pt>
    <dgm:pt modelId="{00AC3997-87D5-4BB2-8C0F-7E7424502245}" type="pres">
      <dgm:prSet presAssocID="{C5F94FB3-970C-4218-8A55-0516E480F9EC}" presName="node" presStyleLbl="node1" presStyleIdx="4" presStyleCnt="5">
        <dgm:presLayoutVars>
          <dgm:bulletEnabled val="1"/>
        </dgm:presLayoutVars>
      </dgm:prSet>
      <dgm:spPr/>
    </dgm:pt>
    <dgm:pt modelId="{1DBED35E-5C21-471F-B9B6-E17F5BAE62C0}" type="pres">
      <dgm:prSet presAssocID="{C5F94FB3-970C-4218-8A55-0516E480F9EC}" presName="dummy" presStyleCnt="0"/>
      <dgm:spPr/>
    </dgm:pt>
    <dgm:pt modelId="{EDCE826C-0AF8-4053-957F-574BD772305B}" type="pres">
      <dgm:prSet presAssocID="{111C8169-B68F-4D02-B907-492854236664}" presName="sibTrans" presStyleLbl="sibTrans2D1" presStyleIdx="4" presStyleCnt="5"/>
      <dgm:spPr/>
    </dgm:pt>
  </dgm:ptLst>
  <dgm:cxnLst>
    <dgm:cxn modelId="{B292A11C-5C87-4343-8AF6-56A3CC39480F}" type="presOf" srcId="{74C00847-5FAF-49B4-B606-A073277CE537}" destId="{5837452B-6F2B-48AD-B9EA-D2BD2D5D8851}" srcOrd="0" destOrd="0" presId="urn:microsoft.com/office/officeart/2005/8/layout/radial6"/>
    <dgm:cxn modelId="{38967F36-B58D-4391-8331-B0E6EC937555}" srcId="{5B727D74-B040-4AB1-9C82-31DB9C984C72}" destId="{ECE4AED8-F420-4357-B561-C698C95C6982}" srcOrd="1" destOrd="0" parTransId="{7B7E3D01-0A37-4D1D-B5C1-45B5CB83C92B}" sibTransId="{C7D32DFF-CDA8-4773-A542-D093E4A0DBAD}"/>
    <dgm:cxn modelId="{4B16DD46-B1B5-4764-8B08-7EE3FDC00D0F}" type="presOf" srcId="{111C8169-B68F-4D02-B907-492854236664}" destId="{EDCE826C-0AF8-4053-957F-574BD772305B}" srcOrd="0" destOrd="0" presId="urn:microsoft.com/office/officeart/2005/8/layout/radial6"/>
    <dgm:cxn modelId="{AED87E4B-547D-4BDA-A152-78094492593C}" srcId="{5B727D74-B040-4AB1-9C82-31DB9C984C72}" destId="{DDBB41B8-1C5A-460A-981C-015C6BA1FFD3}" srcOrd="0" destOrd="0" parTransId="{9B1576C4-F478-479D-8F61-99887858DF25}" sibTransId="{990848FC-571F-4DE6-B7C7-4E2919D5CED3}"/>
    <dgm:cxn modelId="{901ABD4D-5948-4710-97AD-346F7911DB85}" type="presOf" srcId="{1C2EA948-24DF-418E-9768-1A07A9166CFD}" destId="{FABD0B9B-0014-49CC-ABDF-4C0AA0204A54}" srcOrd="0" destOrd="0" presId="urn:microsoft.com/office/officeart/2005/8/layout/radial6"/>
    <dgm:cxn modelId="{A532D36A-A79C-4C7B-8985-EA14F099E799}" type="presOf" srcId="{DDBB41B8-1C5A-460A-981C-015C6BA1FFD3}" destId="{320AEBA8-B1E3-45B3-8DC5-5DD8EC1435BB}" srcOrd="0" destOrd="0" presId="urn:microsoft.com/office/officeart/2005/8/layout/radial6"/>
    <dgm:cxn modelId="{1B44566B-3830-4F27-A476-E866861F2687}" srcId="{5B727D74-B040-4AB1-9C82-31DB9C984C72}" destId="{53157750-FBBF-412B-8005-3B9F066B138C}" srcOrd="3" destOrd="0" parTransId="{6D33AFE2-351B-4229-BB0F-91024BF00BB7}" sibTransId="{1C2EA948-24DF-418E-9768-1A07A9166CFD}"/>
    <dgm:cxn modelId="{E32FEC74-1445-451B-B71D-B5DEB3BA2D73}" type="presOf" srcId="{5B727D74-B040-4AB1-9C82-31DB9C984C72}" destId="{9F904371-038F-460A-ABB8-D354DF98FDBC}" srcOrd="0" destOrd="0" presId="urn:microsoft.com/office/officeart/2005/8/layout/radial6"/>
    <dgm:cxn modelId="{FD1E0075-AFC9-4162-9A65-839AB76FF7CC}" type="presOf" srcId="{990848FC-571F-4DE6-B7C7-4E2919D5CED3}" destId="{D5FAAA2C-7307-4983-BB55-2B98FE01F324}" srcOrd="0" destOrd="0" presId="urn:microsoft.com/office/officeart/2005/8/layout/radial6"/>
    <dgm:cxn modelId="{BD975E77-A295-498E-8F84-282C84449E16}" srcId="{5B727D74-B040-4AB1-9C82-31DB9C984C72}" destId="{C5F94FB3-970C-4218-8A55-0516E480F9EC}" srcOrd="4" destOrd="0" parTransId="{E0BA00EE-B336-4657-9EEE-D3C69359D4A3}" sibTransId="{111C8169-B68F-4D02-B907-492854236664}"/>
    <dgm:cxn modelId="{39896378-3C47-4B1C-B657-EBF7F67AB3EE}" type="presOf" srcId="{C5F94FB3-970C-4218-8A55-0516E480F9EC}" destId="{00AC3997-87D5-4BB2-8C0F-7E7424502245}" srcOrd="0" destOrd="0" presId="urn:microsoft.com/office/officeart/2005/8/layout/radial6"/>
    <dgm:cxn modelId="{FBD0AB82-07E8-49BF-829F-DE8B607A66A3}" srcId="{5B727D74-B040-4AB1-9C82-31DB9C984C72}" destId="{B4BA54C6-E115-4913-BFE2-99971F1A7BCD}" srcOrd="2" destOrd="0" parTransId="{C6BE91B8-C581-4C7D-8004-291AACCBE15B}" sibTransId="{3D854ED1-7577-492E-9D51-E712685ACCFE}"/>
    <dgm:cxn modelId="{7804A58B-D27F-41E1-B8CE-A01EAF8166EA}" srcId="{74C00847-5FAF-49B4-B606-A073277CE537}" destId="{5B727D74-B040-4AB1-9C82-31DB9C984C72}" srcOrd="0" destOrd="0" parTransId="{C136B1A1-9CD8-4C4E-A346-E0DF7934BFD9}" sibTransId="{CF778E18-D590-473A-B77B-E512F03ACAE6}"/>
    <dgm:cxn modelId="{DECA748E-536F-4880-ACC1-6EF8A3B22DA0}" type="presOf" srcId="{ECE4AED8-F420-4357-B561-C698C95C6982}" destId="{E0000D92-92AA-49B3-B655-9A818D350A5E}" srcOrd="0" destOrd="0" presId="urn:microsoft.com/office/officeart/2005/8/layout/radial6"/>
    <dgm:cxn modelId="{F743AFAC-CE28-4E38-BC13-C6F4F7F517D7}" type="presOf" srcId="{53157750-FBBF-412B-8005-3B9F066B138C}" destId="{9A9BB94E-87BF-4C98-8498-D594DDE82355}" srcOrd="0" destOrd="0" presId="urn:microsoft.com/office/officeart/2005/8/layout/radial6"/>
    <dgm:cxn modelId="{BA6E98B1-2ED1-4113-8C8B-4B99981375F9}" type="presOf" srcId="{3D854ED1-7577-492E-9D51-E712685ACCFE}" destId="{7E6C9B4E-2DFE-4E89-923D-A41ACB0AAAF7}" srcOrd="0" destOrd="0" presId="urn:microsoft.com/office/officeart/2005/8/layout/radial6"/>
    <dgm:cxn modelId="{B88119BD-6463-418C-901E-EA195D917763}" type="presOf" srcId="{C7D32DFF-CDA8-4773-A542-D093E4A0DBAD}" destId="{421C6B92-C2EE-444E-BAF6-EFACA3DAC119}" srcOrd="0" destOrd="0" presId="urn:microsoft.com/office/officeart/2005/8/layout/radial6"/>
    <dgm:cxn modelId="{0519F1E8-DAE5-4FD7-8D8C-426451149C72}" type="presOf" srcId="{B4BA54C6-E115-4913-BFE2-99971F1A7BCD}" destId="{CF2E6E2A-6610-436F-B2DE-DB2C30040AC2}" srcOrd="0" destOrd="0" presId="urn:microsoft.com/office/officeart/2005/8/layout/radial6"/>
    <dgm:cxn modelId="{FF460CF5-9119-4885-AEE8-E49C5B2680BD}" type="presParOf" srcId="{5837452B-6F2B-48AD-B9EA-D2BD2D5D8851}" destId="{9F904371-038F-460A-ABB8-D354DF98FDBC}" srcOrd="0" destOrd="0" presId="urn:microsoft.com/office/officeart/2005/8/layout/radial6"/>
    <dgm:cxn modelId="{5D6E9271-736C-4A0B-A05C-DBDF866A3BCF}" type="presParOf" srcId="{5837452B-6F2B-48AD-B9EA-D2BD2D5D8851}" destId="{320AEBA8-B1E3-45B3-8DC5-5DD8EC1435BB}" srcOrd="1" destOrd="0" presId="urn:microsoft.com/office/officeart/2005/8/layout/radial6"/>
    <dgm:cxn modelId="{E4D41184-7DB2-45AD-AEC2-69099BD4BD18}" type="presParOf" srcId="{5837452B-6F2B-48AD-B9EA-D2BD2D5D8851}" destId="{1D7D39A1-AE33-4928-8E86-82BA475B935F}" srcOrd="2" destOrd="0" presId="urn:microsoft.com/office/officeart/2005/8/layout/radial6"/>
    <dgm:cxn modelId="{F0BDE271-995A-4A00-8BA4-0707781F2DC7}" type="presParOf" srcId="{5837452B-6F2B-48AD-B9EA-D2BD2D5D8851}" destId="{D5FAAA2C-7307-4983-BB55-2B98FE01F324}" srcOrd="3" destOrd="0" presId="urn:microsoft.com/office/officeart/2005/8/layout/radial6"/>
    <dgm:cxn modelId="{69EE19F1-8B51-446A-8759-68B9BF0E3C28}" type="presParOf" srcId="{5837452B-6F2B-48AD-B9EA-D2BD2D5D8851}" destId="{E0000D92-92AA-49B3-B655-9A818D350A5E}" srcOrd="4" destOrd="0" presId="urn:microsoft.com/office/officeart/2005/8/layout/radial6"/>
    <dgm:cxn modelId="{1B28386C-9CC7-4A20-907A-3B9BE3E154BC}" type="presParOf" srcId="{5837452B-6F2B-48AD-B9EA-D2BD2D5D8851}" destId="{1D850079-F167-421A-9C23-9156CD2205A7}" srcOrd="5" destOrd="0" presId="urn:microsoft.com/office/officeart/2005/8/layout/radial6"/>
    <dgm:cxn modelId="{C00A4252-DC1A-4770-B10D-055B3B9E395D}" type="presParOf" srcId="{5837452B-6F2B-48AD-B9EA-D2BD2D5D8851}" destId="{421C6B92-C2EE-444E-BAF6-EFACA3DAC119}" srcOrd="6" destOrd="0" presId="urn:microsoft.com/office/officeart/2005/8/layout/radial6"/>
    <dgm:cxn modelId="{BFD777D1-5B18-41E3-8BD3-501F28390826}" type="presParOf" srcId="{5837452B-6F2B-48AD-B9EA-D2BD2D5D8851}" destId="{CF2E6E2A-6610-436F-B2DE-DB2C30040AC2}" srcOrd="7" destOrd="0" presId="urn:microsoft.com/office/officeart/2005/8/layout/radial6"/>
    <dgm:cxn modelId="{117DA056-0692-4466-ADD2-C04F0961D0EF}" type="presParOf" srcId="{5837452B-6F2B-48AD-B9EA-D2BD2D5D8851}" destId="{881FCDB3-6BC2-4145-BBC6-F33F84B90381}" srcOrd="8" destOrd="0" presId="urn:microsoft.com/office/officeart/2005/8/layout/radial6"/>
    <dgm:cxn modelId="{96C11D16-C5EE-41EB-BC78-B3CEF9AFE79F}" type="presParOf" srcId="{5837452B-6F2B-48AD-B9EA-D2BD2D5D8851}" destId="{7E6C9B4E-2DFE-4E89-923D-A41ACB0AAAF7}" srcOrd="9" destOrd="0" presId="urn:microsoft.com/office/officeart/2005/8/layout/radial6"/>
    <dgm:cxn modelId="{EF445835-6FEA-4ED6-9AA0-43AA1C3E57FC}" type="presParOf" srcId="{5837452B-6F2B-48AD-B9EA-D2BD2D5D8851}" destId="{9A9BB94E-87BF-4C98-8498-D594DDE82355}" srcOrd="10" destOrd="0" presId="urn:microsoft.com/office/officeart/2005/8/layout/radial6"/>
    <dgm:cxn modelId="{AEF08D94-13CA-40B7-ACA6-B09177833212}" type="presParOf" srcId="{5837452B-6F2B-48AD-B9EA-D2BD2D5D8851}" destId="{E2027F9A-D340-4652-B231-F823243527F4}" srcOrd="11" destOrd="0" presId="urn:microsoft.com/office/officeart/2005/8/layout/radial6"/>
    <dgm:cxn modelId="{5F916B80-56A5-4870-A1A8-C44FDB6D3F8C}" type="presParOf" srcId="{5837452B-6F2B-48AD-B9EA-D2BD2D5D8851}" destId="{FABD0B9B-0014-49CC-ABDF-4C0AA0204A54}" srcOrd="12" destOrd="0" presId="urn:microsoft.com/office/officeart/2005/8/layout/radial6"/>
    <dgm:cxn modelId="{A2098095-508A-4A42-AADE-9262D817B156}" type="presParOf" srcId="{5837452B-6F2B-48AD-B9EA-D2BD2D5D8851}" destId="{00AC3997-87D5-4BB2-8C0F-7E7424502245}" srcOrd="13" destOrd="0" presId="urn:microsoft.com/office/officeart/2005/8/layout/radial6"/>
    <dgm:cxn modelId="{18FB10C3-FDC8-4D3D-8041-02AB63DE2496}" type="presParOf" srcId="{5837452B-6F2B-48AD-B9EA-D2BD2D5D8851}" destId="{1DBED35E-5C21-471F-B9B6-E17F5BAE62C0}" srcOrd="14" destOrd="0" presId="urn:microsoft.com/office/officeart/2005/8/layout/radial6"/>
    <dgm:cxn modelId="{8AF20C2E-EBC4-458E-AA0D-5B86A9C5F52F}" type="presParOf" srcId="{5837452B-6F2B-48AD-B9EA-D2BD2D5D8851}" destId="{EDCE826C-0AF8-4053-957F-574BD772305B}" srcOrd="15" destOrd="0" presId="urn:microsoft.com/office/officeart/2005/8/layout/radial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220160-3297-9B4B-A0F9-3992078FDC61}" type="doc">
      <dgm:prSet loTypeId="urn:microsoft.com/office/officeart/2005/8/layout/cycle8" loCatId="" qsTypeId="urn:microsoft.com/office/officeart/2005/8/quickstyle/simple4" qsCatId="simple" csTypeId="urn:microsoft.com/office/officeart/2005/8/colors/colorful4" csCatId="colorful" phldr="1"/>
      <dgm:spPr/>
    </dgm:pt>
    <dgm:pt modelId="{8BCF735D-D784-6F4A-A609-23929A4A7984}">
      <dgm:prSet phldrT="[文本]" custT="1"/>
      <dgm:spPr/>
      <dgm:t>
        <a:bodyPr/>
        <a:lstStyle/>
        <a:p>
          <a:r>
            <a:rPr lang="zh-CN" altLang="en-US" sz="2000" dirty="0"/>
            <a:t>软磁</a:t>
          </a:r>
          <a:endParaRPr lang="en-US" altLang="zh-CN" sz="2000" dirty="0"/>
        </a:p>
        <a:p>
          <a:r>
            <a:rPr lang="zh-CN" altLang="en-US" sz="2000" dirty="0"/>
            <a:t>材料</a:t>
          </a:r>
        </a:p>
      </dgm:t>
    </dgm:pt>
    <dgm:pt modelId="{C26A622C-8C4D-5340-8193-7DAFD44AAF0D}" type="parTrans" cxnId="{0D2F99FE-7EE0-C64C-AB79-CFE9105D0BC1}">
      <dgm:prSet/>
      <dgm:spPr/>
      <dgm:t>
        <a:bodyPr/>
        <a:lstStyle/>
        <a:p>
          <a:endParaRPr lang="zh-CN" altLang="en-US"/>
        </a:p>
      </dgm:t>
    </dgm:pt>
    <dgm:pt modelId="{223DD3E5-0867-1C4D-A09C-D0B6F655DC72}" type="sibTrans" cxnId="{0D2F99FE-7EE0-C64C-AB79-CFE9105D0BC1}">
      <dgm:prSet/>
      <dgm:spPr/>
      <dgm:t>
        <a:bodyPr/>
        <a:lstStyle/>
        <a:p>
          <a:endParaRPr lang="zh-CN" altLang="en-US"/>
        </a:p>
      </dgm:t>
    </dgm:pt>
    <dgm:pt modelId="{372EC07D-CDD5-224A-85B2-1ADBFA7D2746}">
      <dgm:prSet phldrT="[文本]" custT="1"/>
      <dgm:spPr/>
      <dgm:t>
        <a:bodyPr/>
        <a:lstStyle/>
        <a:p>
          <a:r>
            <a:rPr lang="zh-CN" altLang="en-US" sz="2000" dirty="0"/>
            <a:t>功能磁性材料</a:t>
          </a:r>
        </a:p>
      </dgm:t>
    </dgm:pt>
    <dgm:pt modelId="{8C670F76-EBA9-E34A-8B4F-06B25A3DE14A}" type="parTrans" cxnId="{200D5EC1-CA7E-1248-9000-0D6509069D09}">
      <dgm:prSet/>
      <dgm:spPr/>
      <dgm:t>
        <a:bodyPr/>
        <a:lstStyle/>
        <a:p>
          <a:endParaRPr lang="zh-CN" altLang="en-US"/>
        </a:p>
      </dgm:t>
    </dgm:pt>
    <dgm:pt modelId="{116AC874-93E1-1447-BD32-B245EED79145}" type="sibTrans" cxnId="{200D5EC1-CA7E-1248-9000-0D6509069D09}">
      <dgm:prSet/>
      <dgm:spPr/>
      <dgm:t>
        <a:bodyPr/>
        <a:lstStyle/>
        <a:p>
          <a:endParaRPr lang="zh-CN" altLang="en-US"/>
        </a:p>
      </dgm:t>
    </dgm:pt>
    <dgm:pt modelId="{6862F979-051A-5243-86D0-D963F82AD54D}">
      <dgm:prSet phldrT="[文本]" custT="1"/>
      <dgm:spPr/>
      <dgm:t>
        <a:bodyPr/>
        <a:lstStyle/>
        <a:p>
          <a:r>
            <a:rPr lang="zh-CN" altLang="en-US" sz="2000" dirty="0"/>
            <a:t>硬磁（永磁材料）</a:t>
          </a:r>
        </a:p>
      </dgm:t>
    </dgm:pt>
    <dgm:pt modelId="{7B8ED523-ECCF-F14B-BFE4-1E932611FCFC}" type="parTrans" cxnId="{CB2C5A3E-2866-6247-95EF-4BC2B8EC5D3D}">
      <dgm:prSet/>
      <dgm:spPr/>
      <dgm:t>
        <a:bodyPr/>
        <a:lstStyle/>
        <a:p>
          <a:endParaRPr lang="zh-CN" altLang="en-US"/>
        </a:p>
      </dgm:t>
    </dgm:pt>
    <dgm:pt modelId="{2E500BE9-10DF-084F-BF86-F5124527DE1F}" type="sibTrans" cxnId="{CB2C5A3E-2866-6247-95EF-4BC2B8EC5D3D}">
      <dgm:prSet/>
      <dgm:spPr/>
      <dgm:t>
        <a:bodyPr/>
        <a:lstStyle/>
        <a:p>
          <a:endParaRPr lang="zh-CN" altLang="en-US"/>
        </a:p>
      </dgm:t>
    </dgm:pt>
    <dgm:pt modelId="{407C8795-28B9-1B45-93CB-229493FB1AFB}" type="pres">
      <dgm:prSet presAssocID="{1F220160-3297-9B4B-A0F9-3992078FDC61}" presName="compositeShape" presStyleCnt="0">
        <dgm:presLayoutVars>
          <dgm:chMax val="7"/>
          <dgm:dir/>
          <dgm:resizeHandles val="exact"/>
        </dgm:presLayoutVars>
      </dgm:prSet>
      <dgm:spPr/>
    </dgm:pt>
    <dgm:pt modelId="{C58DB579-9C71-2441-B126-D9DC997465AE}" type="pres">
      <dgm:prSet presAssocID="{1F220160-3297-9B4B-A0F9-3992078FDC61}" presName="wedge1" presStyleLbl="node1" presStyleIdx="0" presStyleCnt="3" custScaleX="87426" custScaleY="87755"/>
      <dgm:spPr/>
    </dgm:pt>
    <dgm:pt modelId="{D5D91ACA-7128-EC46-96FE-B9928D820FD6}" type="pres">
      <dgm:prSet presAssocID="{1F220160-3297-9B4B-A0F9-3992078FDC61}" presName="dummy1a" presStyleCnt="0"/>
      <dgm:spPr/>
    </dgm:pt>
    <dgm:pt modelId="{C19F7C2A-C9BC-454D-8B8C-8FEDE0143BE4}" type="pres">
      <dgm:prSet presAssocID="{1F220160-3297-9B4B-A0F9-3992078FDC61}" presName="dummy1b" presStyleCnt="0"/>
      <dgm:spPr/>
    </dgm:pt>
    <dgm:pt modelId="{01879313-D823-3A46-BB42-B211268159B8}" type="pres">
      <dgm:prSet presAssocID="{1F220160-3297-9B4B-A0F9-3992078FDC61}" presName="wedge1Tx" presStyleLbl="node1" presStyleIdx="0" presStyleCnt="3">
        <dgm:presLayoutVars>
          <dgm:chMax val="0"/>
          <dgm:chPref val="0"/>
          <dgm:bulletEnabled val="1"/>
        </dgm:presLayoutVars>
      </dgm:prSet>
      <dgm:spPr/>
    </dgm:pt>
    <dgm:pt modelId="{E6B424F9-0447-1C46-A4E6-EC1F0BD28A5F}" type="pres">
      <dgm:prSet presAssocID="{1F220160-3297-9B4B-A0F9-3992078FDC61}" presName="wedge2" presStyleLbl="node1" presStyleIdx="1" presStyleCnt="3" custScaleX="81683" custScaleY="86580"/>
      <dgm:spPr/>
    </dgm:pt>
    <dgm:pt modelId="{6AC7C569-38A8-BE47-9AC0-AC2F46C54B82}" type="pres">
      <dgm:prSet presAssocID="{1F220160-3297-9B4B-A0F9-3992078FDC61}" presName="dummy2a" presStyleCnt="0"/>
      <dgm:spPr/>
    </dgm:pt>
    <dgm:pt modelId="{B04A9F49-6A22-4648-933A-C84507BA1795}" type="pres">
      <dgm:prSet presAssocID="{1F220160-3297-9B4B-A0F9-3992078FDC61}" presName="dummy2b" presStyleCnt="0"/>
      <dgm:spPr/>
    </dgm:pt>
    <dgm:pt modelId="{0784A7DA-F44D-DE47-8EBF-BD45271A33CF}" type="pres">
      <dgm:prSet presAssocID="{1F220160-3297-9B4B-A0F9-3992078FDC61}" presName="wedge2Tx" presStyleLbl="node1" presStyleIdx="1" presStyleCnt="3">
        <dgm:presLayoutVars>
          <dgm:chMax val="0"/>
          <dgm:chPref val="0"/>
          <dgm:bulletEnabled val="1"/>
        </dgm:presLayoutVars>
      </dgm:prSet>
      <dgm:spPr/>
    </dgm:pt>
    <dgm:pt modelId="{ED0FEB37-F282-3946-ACD6-91DF9678CF08}" type="pres">
      <dgm:prSet presAssocID="{1F220160-3297-9B4B-A0F9-3992078FDC61}" presName="wedge3" presStyleLbl="node1" presStyleIdx="2" presStyleCnt="3" custScaleX="86244" custScaleY="87353"/>
      <dgm:spPr/>
    </dgm:pt>
    <dgm:pt modelId="{95A6061C-498F-EF4A-AFE3-7D82236A92DE}" type="pres">
      <dgm:prSet presAssocID="{1F220160-3297-9B4B-A0F9-3992078FDC61}" presName="dummy3a" presStyleCnt="0"/>
      <dgm:spPr/>
    </dgm:pt>
    <dgm:pt modelId="{AB0A8D87-509D-894A-B2E6-F657AB05CF25}" type="pres">
      <dgm:prSet presAssocID="{1F220160-3297-9B4B-A0F9-3992078FDC61}" presName="dummy3b" presStyleCnt="0"/>
      <dgm:spPr/>
    </dgm:pt>
    <dgm:pt modelId="{3CFBE149-54BD-FD45-9D93-2A269B3B9898}" type="pres">
      <dgm:prSet presAssocID="{1F220160-3297-9B4B-A0F9-3992078FDC61}" presName="wedge3Tx" presStyleLbl="node1" presStyleIdx="2" presStyleCnt="3">
        <dgm:presLayoutVars>
          <dgm:chMax val="0"/>
          <dgm:chPref val="0"/>
          <dgm:bulletEnabled val="1"/>
        </dgm:presLayoutVars>
      </dgm:prSet>
      <dgm:spPr/>
    </dgm:pt>
    <dgm:pt modelId="{B5C58100-9F24-104D-998C-5A1460DEFBCB}" type="pres">
      <dgm:prSet presAssocID="{223DD3E5-0867-1C4D-A09C-D0B6F655DC72}" presName="arrowWedge1" presStyleLbl="fgSibTrans2D1" presStyleIdx="0" presStyleCnt="3"/>
      <dgm:spPr/>
    </dgm:pt>
    <dgm:pt modelId="{9DA09971-FECE-D34A-990B-7D441AC53FF0}" type="pres">
      <dgm:prSet presAssocID="{116AC874-93E1-1447-BD32-B245EED79145}" presName="arrowWedge2" presStyleLbl="fgSibTrans2D1" presStyleIdx="1" presStyleCnt="3"/>
      <dgm:spPr/>
    </dgm:pt>
    <dgm:pt modelId="{7ECC234A-321E-FA45-9B57-7BA2154240B4}" type="pres">
      <dgm:prSet presAssocID="{2E500BE9-10DF-084F-BF86-F5124527DE1F}" presName="arrowWedge3" presStyleLbl="fgSibTrans2D1" presStyleIdx="2" presStyleCnt="3"/>
      <dgm:spPr/>
    </dgm:pt>
  </dgm:ptLst>
  <dgm:cxnLst>
    <dgm:cxn modelId="{CB2C5A3E-2866-6247-95EF-4BC2B8EC5D3D}" srcId="{1F220160-3297-9B4B-A0F9-3992078FDC61}" destId="{6862F979-051A-5243-86D0-D963F82AD54D}" srcOrd="2" destOrd="0" parTransId="{7B8ED523-ECCF-F14B-BFE4-1E932611FCFC}" sibTransId="{2E500BE9-10DF-084F-BF86-F5124527DE1F}"/>
    <dgm:cxn modelId="{7DA2FC42-51F8-7D4A-AAE3-51089E08560E}" type="presOf" srcId="{6862F979-051A-5243-86D0-D963F82AD54D}" destId="{ED0FEB37-F282-3946-ACD6-91DF9678CF08}" srcOrd="0" destOrd="0" presId="urn:microsoft.com/office/officeart/2005/8/layout/cycle8"/>
    <dgm:cxn modelId="{1FB44D4D-38C6-1844-99A6-E7CCC880929D}" type="presOf" srcId="{372EC07D-CDD5-224A-85B2-1ADBFA7D2746}" destId="{0784A7DA-F44D-DE47-8EBF-BD45271A33CF}" srcOrd="1" destOrd="0" presId="urn:microsoft.com/office/officeart/2005/8/layout/cycle8"/>
    <dgm:cxn modelId="{028C2D9F-4255-994A-BD08-786D78F4553A}" type="presOf" srcId="{1F220160-3297-9B4B-A0F9-3992078FDC61}" destId="{407C8795-28B9-1B45-93CB-229493FB1AFB}" srcOrd="0" destOrd="0" presId="urn:microsoft.com/office/officeart/2005/8/layout/cycle8"/>
    <dgm:cxn modelId="{55FD08A8-352C-E84F-B2BA-E88B95F3CD0C}" type="presOf" srcId="{372EC07D-CDD5-224A-85B2-1ADBFA7D2746}" destId="{E6B424F9-0447-1C46-A4E6-EC1F0BD28A5F}" srcOrd="0" destOrd="0" presId="urn:microsoft.com/office/officeart/2005/8/layout/cycle8"/>
    <dgm:cxn modelId="{200D5EC1-CA7E-1248-9000-0D6509069D09}" srcId="{1F220160-3297-9B4B-A0F9-3992078FDC61}" destId="{372EC07D-CDD5-224A-85B2-1ADBFA7D2746}" srcOrd="1" destOrd="0" parTransId="{8C670F76-EBA9-E34A-8B4F-06B25A3DE14A}" sibTransId="{116AC874-93E1-1447-BD32-B245EED79145}"/>
    <dgm:cxn modelId="{9E441DDA-34E7-C44E-807A-7B66241579AE}" type="presOf" srcId="{6862F979-051A-5243-86D0-D963F82AD54D}" destId="{3CFBE149-54BD-FD45-9D93-2A269B3B9898}" srcOrd="1" destOrd="0" presId="urn:microsoft.com/office/officeart/2005/8/layout/cycle8"/>
    <dgm:cxn modelId="{997509E5-59FD-DB45-A55F-63682613F1A0}" type="presOf" srcId="{8BCF735D-D784-6F4A-A609-23929A4A7984}" destId="{01879313-D823-3A46-BB42-B211268159B8}" srcOrd="1" destOrd="0" presId="urn:microsoft.com/office/officeart/2005/8/layout/cycle8"/>
    <dgm:cxn modelId="{4F7A4CFB-F7A8-384B-A8A9-AB2D812878A1}" type="presOf" srcId="{8BCF735D-D784-6F4A-A609-23929A4A7984}" destId="{C58DB579-9C71-2441-B126-D9DC997465AE}" srcOrd="0" destOrd="0" presId="urn:microsoft.com/office/officeart/2005/8/layout/cycle8"/>
    <dgm:cxn modelId="{0D2F99FE-7EE0-C64C-AB79-CFE9105D0BC1}" srcId="{1F220160-3297-9B4B-A0F9-3992078FDC61}" destId="{8BCF735D-D784-6F4A-A609-23929A4A7984}" srcOrd="0" destOrd="0" parTransId="{C26A622C-8C4D-5340-8193-7DAFD44AAF0D}" sibTransId="{223DD3E5-0867-1C4D-A09C-D0B6F655DC72}"/>
    <dgm:cxn modelId="{2E1B0360-B678-654E-81C3-EE0C8C5FC04B}" type="presParOf" srcId="{407C8795-28B9-1B45-93CB-229493FB1AFB}" destId="{C58DB579-9C71-2441-B126-D9DC997465AE}" srcOrd="0" destOrd="0" presId="urn:microsoft.com/office/officeart/2005/8/layout/cycle8"/>
    <dgm:cxn modelId="{2295AAF1-5C66-F646-BBC6-FAAC20E2843A}" type="presParOf" srcId="{407C8795-28B9-1B45-93CB-229493FB1AFB}" destId="{D5D91ACA-7128-EC46-96FE-B9928D820FD6}" srcOrd="1" destOrd="0" presId="urn:microsoft.com/office/officeart/2005/8/layout/cycle8"/>
    <dgm:cxn modelId="{D903AD11-CD9F-D649-B8C6-36E88A259A50}" type="presParOf" srcId="{407C8795-28B9-1B45-93CB-229493FB1AFB}" destId="{C19F7C2A-C9BC-454D-8B8C-8FEDE0143BE4}" srcOrd="2" destOrd="0" presId="urn:microsoft.com/office/officeart/2005/8/layout/cycle8"/>
    <dgm:cxn modelId="{14C1BA07-AA46-9248-A397-783D66B1314E}" type="presParOf" srcId="{407C8795-28B9-1B45-93CB-229493FB1AFB}" destId="{01879313-D823-3A46-BB42-B211268159B8}" srcOrd="3" destOrd="0" presId="urn:microsoft.com/office/officeart/2005/8/layout/cycle8"/>
    <dgm:cxn modelId="{2F209EF4-23CD-8B4C-BC43-3B7973D48CE5}" type="presParOf" srcId="{407C8795-28B9-1B45-93CB-229493FB1AFB}" destId="{E6B424F9-0447-1C46-A4E6-EC1F0BD28A5F}" srcOrd="4" destOrd="0" presId="urn:microsoft.com/office/officeart/2005/8/layout/cycle8"/>
    <dgm:cxn modelId="{FDEFD879-363D-A340-8DF5-681FF3178DA6}" type="presParOf" srcId="{407C8795-28B9-1B45-93CB-229493FB1AFB}" destId="{6AC7C569-38A8-BE47-9AC0-AC2F46C54B82}" srcOrd="5" destOrd="0" presId="urn:microsoft.com/office/officeart/2005/8/layout/cycle8"/>
    <dgm:cxn modelId="{10533949-9E42-564A-A58D-936D97695A38}" type="presParOf" srcId="{407C8795-28B9-1B45-93CB-229493FB1AFB}" destId="{B04A9F49-6A22-4648-933A-C84507BA1795}" srcOrd="6" destOrd="0" presId="urn:microsoft.com/office/officeart/2005/8/layout/cycle8"/>
    <dgm:cxn modelId="{880B9FA8-15C4-1945-A097-942633BD3DF8}" type="presParOf" srcId="{407C8795-28B9-1B45-93CB-229493FB1AFB}" destId="{0784A7DA-F44D-DE47-8EBF-BD45271A33CF}" srcOrd="7" destOrd="0" presId="urn:microsoft.com/office/officeart/2005/8/layout/cycle8"/>
    <dgm:cxn modelId="{01B30445-E2A9-594E-9C88-A607EEA14391}" type="presParOf" srcId="{407C8795-28B9-1B45-93CB-229493FB1AFB}" destId="{ED0FEB37-F282-3946-ACD6-91DF9678CF08}" srcOrd="8" destOrd="0" presId="urn:microsoft.com/office/officeart/2005/8/layout/cycle8"/>
    <dgm:cxn modelId="{CE622D17-3515-D244-AF4C-A5CFE91D56A2}" type="presParOf" srcId="{407C8795-28B9-1B45-93CB-229493FB1AFB}" destId="{95A6061C-498F-EF4A-AFE3-7D82236A92DE}" srcOrd="9" destOrd="0" presId="urn:microsoft.com/office/officeart/2005/8/layout/cycle8"/>
    <dgm:cxn modelId="{924D906C-1F56-6343-B3D5-EDD850F9538A}" type="presParOf" srcId="{407C8795-28B9-1B45-93CB-229493FB1AFB}" destId="{AB0A8D87-509D-894A-B2E6-F657AB05CF25}" srcOrd="10" destOrd="0" presId="urn:microsoft.com/office/officeart/2005/8/layout/cycle8"/>
    <dgm:cxn modelId="{13B79E45-566C-C942-8BAE-4BA2DA28A4D2}" type="presParOf" srcId="{407C8795-28B9-1B45-93CB-229493FB1AFB}" destId="{3CFBE149-54BD-FD45-9D93-2A269B3B9898}" srcOrd="11" destOrd="0" presId="urn:microsoft.com/office/officeart/2005/8/layout/cycle8"/>
    <dgm:cxn modelId="{F92C555B-2263-4140-87AA-4B037FB92B51}" type="presParOf" srcId="{407C8795-28B9-1B45-93CB-229493FB1AFB}" destId="{B5C58100-9F24-104D-998C-5A1460DEFBCB}" srcOrd="12" destOrd="0" presId="urn:microsoft.com/office/officeart/2005/8/layout/cycle8"/>
    <dgm:cxn modelId="{F63D3129-89FF-9F4A-ACA3-EE11A5257D22}" type="presParOf" srcId="{407C8795-28B9-1B45-93CB-229493FB1AFB}" destId="{9DA09971-FECE-D34A-990B-7D441AC53FF0}" srcOrd="13" destOrd="0" presId="urn:microsoft.com/office/officeart/2005/8/layout/cycle8"/>
    <dgm:cxn modelId="{8115F637-9CA7-B54B-9CC0-7F9250F77438}" type="presParOf" srcId="{407C8795-28B9-1B45-93CB-229493FB1AFB}" destId="{7ECC234A-321E-FA45-9B57-7BA2154240B4}" srcOrd="14" destOrd="0" presId="urn:microsoft.com/office/officeart/2005/8/layout/cycle8"/>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0CEB4D-E9C1-BD47-AE13-E64F4335DDEE}" type="doc">
      <dgm:prSet loTypeId="urn:microsoft.com/office/officeart/2005/8/layout/process2" loCatId="" qsTypeId="urn:microsoft.com/office/officeart/2005/8/quickstyle/simple1" qsCatId="simple" csTypeId="urn:microsoft.com/office/officeart/2005/8/colors/colorful1" csCatId="colorful" phldr="1"/>
      <dgm:spPr/>
    </dgm:pt>
    <dgm:pt modelId="{94866D54-52F5-1B4A-8BAE-A8954A65C21E}">
      <dgm:prSet phldrT="[文本]" custT="1"/>
      <dgm:spPr/>
      <dgm:t>
        <a:bodyPr/>
        <a:lstStyle/>
        <a:p>
          <a:r>
            <a:rPr lang="zh-CN" altLang="en-US" sz="2000" dirty="0"/>
            <a:t>顺磁性</a:t>
          </a:r>
        </a:p>
      </dgm:t>
    </dgm:pt>
    <dgm:pt modelId="{D745A6D5-9056-8343-B2A8-6D2C43FA71DA}" type="parTrans" cxnId="{FC1E9618-D735-7E4A-BB50-BE2BACE390DD}">
      <dgm:prSet/>
      <dgm:spPr/>
      <dgm:t>
        <a:bodyPr/>
        <a:lstStyle/>
        <a:p>
          <a:endParaRPr lang="zh-CN" altLang="en-US" sz="2000"/>
        </a:p>
      </dgm:t>
    </dgm:pt>
    <dgm:pt modelId="{486F466A-A871-1747-A0CD-3D3A44DF9834}" type="sibTrans" cxnId="{FC1E9618-D735-7E4A-BB50-BE2BACE390DD}">
      <dgm:prSet custT="1"/>
      <dgm:spPr/>
      <dgm:t>
        <a:bodyPr/>
        <a:lstStyle/>
        <a:p>
          <a:endParaRPr lang="zh-CN" altLang="en-US" sz="2000"/>
        </a:p>
      </dgm:t>
    </dgm:pt>
    <dgm:pt modelId="{BEE01470-9F8A-FF41-BD89-8018B473E15C}">
      <dgm:prSet phldrT="[文本]" custT="1"/>
      <dgm:spPr>
        <a:solidFill>
          <a:schemeClr val="bg1">
            <a:lumMod val="85000"/>
          </a:schemeClr>
        </a:solidFill>
      </dgm:spPr>
      <dgm:t>
        <a:bodyPr/>
        <a:lstStyle/>
        <a:p>
          <a:r>
            <a:rPr lang="zh-CN" altLang="en-US" sz="2000" dirty="0">
              <a:solidFill>
                <a:srgbClr val="0000FF"/>
              </a:solidFill>
            </a:rPr>
            <a:t>居里温度</a:t>
          </a:r>
        </a:p>
      </dgm:t>
    </dgm:pt>
    <dgm:pt modelId="{454A12EE-DF43-A241-9904-C00501EBB877}" type="parTrans" cxnId="{5A44C727-10E6-D04F-8760-274572DA056C}">
      <dgm:prSet/>
      <dgm:spPr/>
      <dgm:t>
        <a:bodyPr/>
        <a:lstStyle/>
        <a:p>
          <a:endParaRPr lang="zh-CN" altLang="en-US" sz="2000"/>
        </a:p>
      </dgm:t>
    </dgm:pt>
    <dgm:pt modelId="{8308A34E-1A69-0C47-B584-D024C07925E4}" type="sibTrans" cxnId="{5A44C727-10E6-D04F-8760-274572DA056C}">
      <dgm:prSet custT="1"/>
      <dgm:spPr/>
      <dgm:t>
        <a:bodyPr/>
        <a:lstStyle/>
        <a:p>
          <a:endParaRPr lang="zh-CN" altLang="en-US" sz="2000"/>
        </a:p>
      </dgm:t>
    </dgm:pt>
    <dgm:pt modelId="{2B2EB67E-9601-354B-A06B-ACE4853E3B95}">
      <dgm:prSet phldrT="[文本]" custT="1"/>
      <dgm:spPr/>
      <dgm:t>
        <a:bodyPr/>
        <a:lstStyle/>
        <a:p>
          <a:r>
            <a:rPr lang="zh-CN" altLang="en-US" sz="2000" dirty="0"/>
            <a:t>铁磁性</a:t>
          </a:r>
        </a:p>
      </dgm:t>
    </dgm:pt>
    <dgm:pt modelId="{1C603BC0-8166-0143-A6F6-1EBFAF7D4266}" type="parTrans" cxnId="{208112B6-82C9-854E-BC67-EA4A3BE76610}">
      <dgm:prSet/>
      <dgm:spPr/>
      <dgm:t>
        <a:bodyPr/>
        <a:lstStyle/>
        <a:p>
          <a:endParaRPr lang="zh-CN" altLang="en-US" sz="2000"/>
        </a:p>
      </dgm:t>
    </dgm:pt>
    <dgm:pt modelId="{EB8E4A70-2099-9A43-8BE7-1FBF15281060}" type="sibTrans" cxnId="{208112B6-82C9-854E-BC67-EA4A3BE76610}">
      <dgm:prSet/>
      <dgm:spPr/>
      <dgm:t>
        <a:bodyPr/>
        <a:lstStyle/>
        <a:p>
          <a:endParaRPr lang="zh-CN" altLang="en-US" sz="2000"/>
        </a:p>
      </dgm:t>
    </dgm:pt>
    <dgm:pt modelId="{3965E627-FEF9-D240-8FC3-9B2B9289D7B3}" type="pres">
      <dgm:prSet presAssocID="{DC0CEB4D-E9C1-BD47-AE13-E64F4335DDEE}" presName="linearFlow" presStyleCnt="0">
        <dgm:presLayoutVars>
          <dgm:resizeHandles val="exact"/>
        </dgm:presLayoutVars>
      </dgm:prSet>
      <dgm:spPr/>
    </dgm:pt>
    <dgm:pt modelId="{0ED90A0A-C5E0-6E46-B8E6-6524A093A82A}" type="pres">
      <dgm:prSet presAssocID="{94866D54-52F5-1B4A-8BAE-A8954A65C21E}" presName="node" presStyleLbl="node1" presStyleIdx="0" presStyleCnt="3">
        <dgm:presLayoutVars>
          <dgm:bulletEnabled val="1"/>
        </dgm:presLayoutVars>
      </dgm:prSet>
      <dgm:spPr/>
    </dgm:pt>
    <dgm:pt modelId="{9EF28226-1618-9F41-8754-AF91A7BCBCB1}" type="pres">
      <dgm:prSet presAssocID="{486F466A-A871-1747-A0CD-3D3A44DF9834}" presName="sibTrans" presStyleLbl="sibTrans2D1" presStyleIdx="0" presStyleCnt="2" custAng="10800000"/>
      <dgm:spPr/>
    </dgm:pt>
    <dgm:pt modelId="{B16590E6-CE63-1B41-BF3B-218603DCA9B4}" type="pres">
      <dgm:prSet presAssocID="{486F466A-A871-1747-A0CD-3D3A44DF9834}" presName="connectorText" presStyleLbl="sibTrans2D1" presStyleIdx="0" presStyleCnt="2"/>
      <dgm:spPr/>
    </dgm:pt>
    <dgm:pt modelId="{98642FC6-1608-2F42-9355-7A2B8461DC74}" type="pres">
      <dgm:prSet presAssocID="{BEE01470-9F8A-FF41-BD89-8018B473E15C}" presName="node" presStyleLbl="node1" presStyleIdx="1" presStyleCnt="3">
        <dgm:presLayoutVars>
          <dgm:bulletEnabled val="1"/>
        </dgm:presLayoutVars>
      </dgm:prSet>
      <dgm:spPr/>
    </dgm:pt>
    <dgm:pt modelId="{1C79A4D0-BC42-B648-BD5E-CE4AD1E61B2B}" type="pres">
      <dgm:prSet presAssocID="{8308A34E-1A69-0C47-B584-D024C07925E4}" presName="sibTrans" presStyleLbl="sibTrans2D1" presStyleIdx="1" presStyleCnt="2" custAng="10800000"/>
      <dgm:spPr/>
    </dgm:pt>
    <dgm:pt modelId="{8395FCF7-3334-204B-B224-8EF8C751CDFE}" type="pres">
      <dgm:prSet presAssocID="{8308A34E-1A69-0C47-B584-D024C07925E4}" presName="connectorText" presStyleLbl="sibTrans2D1" presStyleIdx="1" presStyleCnt="2"/>
      <dgm:spPr/>
    </dgm:pt>
    <dgm:pt modelId="{F9D2A849-464C-D041-831E-43211D82BD15}" type="pres">
      <dgm:prSet presAssocID="{2B2EB67E-9601-354B-A06B-ACE4853E3B95}" presName="node" presStyleLbl="node1" presStyleIdx="2" presStyleCnt="3">
        <dgm:presLayoutVars>
          <dgm:bulletEnabled val="1"/>
        </dgm:presLayoutVars>
      </dgm:prSet>
      <dgm:spPr/>
    </dgm:pt>
  </dgm:ptLst>
  <dgm:cxnLst>
    <dgm:cxn modelId="{FC1E9618-D735-7E4A-BB50-BE2BACE390DD}" srcId="{DC0CEB4D-E9C1-BD47-AE13-E64F4335DDEE}" destId="{94866D54-52F5-1B4A-8BAE-A8954A65C21E}" srcOrd="0" destOrd="0" parTransId="{D745A6D5-9056-8343-B2A8-6D2C43FA71DA}" sibTransId="{486F466A-A871-1747-A0CD-3D3A44DF9834}"/>
    <dgm:cxn modelId="{927BB21A-7794-8249-90CB-855E365B9066}" type="presOf" srcId="{8308A34E-1A69-0C47-B584-D024C07925E4}" destId="{1C79A4D0-BC42-B648-BD5E-CE4AD1E61B2B}" srcOrd="0" destOrd="0" presId="urn:microsoft.com/office/officeart/2005/8/layout/process2"/>
    <dgm:cxn modelId="{5A44C727-10E6-D04F-8760-274572DA056C}" srcId="{DC0CEB4D-E9C1-BD47-AE13-E64F4335DDEE}" destId="{BEE01470-9F8A-FF41-BD89-8018B473E15C}" srcOrd="1" destOrd="0" parTransId="{454A12EE-DF43-A241-9904-C00501EBB877}" sibTransId="{8308A34E-1A69-0C47-B584-D024C07925E4}"/>
    <dgm:cxn modelId="{3273386C-3194-A149-B061-7AB958FF3495}" type="presOf" srcId="{486F466A-A871-1747-A0CD-3D3A44DF9834}" destId="{9EF28226-1618-9F41-8754-AF91A7BCBCB1}" srcOrd="0" destOrd="0" presId="urn:microsoft.com/office/officeart/2005/8/layout/process2"/>
    <dgm:cxn modelId="{27BFD46F-0D29-F447-B754-55F2A6183C86}" type="presOf" srcId="{486F466A-A871-1747-A0CD-3D3A44DF9834}" destId="{B16590E6-CE63-1B41-BF3B-218603DCA9B4}" srcOrd="1" destOrd="0" presId="urn:microsoft.com/office/officeart/2005/8/layout/process2"/>
    <dgm:cxn modelId="{5B924F98-89BC-B940-9AAC-0CB30D7134F7}" type="presOf" srcId="{2B2EB67E-9601-354B-A06B-ACE4853E3B95}" destId="{F9D2A849-464C-D041-831E-43211D82BD15}" srcOrd="0" destOrd="0" presId="urn:microsoft.com/office/officeart/2005/8/layout/process2"/>
    <dgm:cxn modelId="{5A57CCB3-F943-644F-9E71-426E70017006}" type="presOf" srcId="{DC0CEB4D-E9C1-BD47-AE13-E64F4335DDEE}" destId="{3965E627-FEF9-D240-8FC3-9B2B9289D7B3}" srcOrd="0" destOrd="0" presId="urn:microsoft.com/office/officeart/2005/8/layout/process2"/>
    <dgm:cxn modelId="{208112B6-82C9-854E-BC67-EA4A3BE76610}" srcId="{DC0CEB4D-E9C1-BD47-AE13-E64F4335DDEE}" destId="{2B2EB67E-9601-354B-A06B-ACE4853E3B95}" srcOrd="2" destOrd="0" parTransId="{1C603BC0-8166-0143-A6F6-1EBFAF7D4266}" sibTransId="{EB8E4A70-2099-9A43-8BE7-1FBF15281060}"/>
    <dgm:cxn modelId="{C6B4F4DC-DCD6-5B42-A25A-3F92638D357F}" type="presOf" srcId="{8308A34E-1A69-0C47-B584-D024C07925E4}" destId="{8395FCF7-3334-204B-B224-8EF8C751CDFE}" srcOrd="1" destOrd="0" presId="urn:microsoft.com/office/officeart/2005/8/layout/process2"/>
    <dgm:cxn modelId="{C8C9B0DF-7003-E64F-AD45-B20CE1F7841C}" type="presOf" srcId="{BEE01470-9F8A-FF41-BD89-8018B473E15C}" destId="{98642FC6-1608-2F42-9355-7A2B8461DC74}" srcOrd="0" destOrd="0" presId="urn:microsoft.com/office/officeart/2005/8/layout/process2"/>
    <dgm:cxn modelId="{634886FA-07FD-1149-9702-5BB371E813F3}" type="presOf" srcId="{94866D54-52F5-1B4A-8BAE-A8954A65C21E}" destId="{0ED90A0A-C5E0-6E46-B8E6-6524A093A82A}" srcOrd="0" destOrd="0" presId="urn:microsoft.com/office/officeart/2005/8/layout/process2"/>
    <dgm:cxn modelId="{99A1522C-D511-A746-9A54-1BD7911AACB8}" type="presParOf" srcId="{3965E627-FEF9-D240-8FC3-9B2B9289D7B3}" destId="{0ED90A0A-C5E0-6E46-B8E6-6524A093A82A}" srcOrd="0" destOrd="0" presId="urn:microsoft.com/office/officeart/2005/8/layout/process2"/>
    <dgm:cxn modelId="{1EE9D9A8-3A43-5F4F-99B6-FE6212217DF3}" type="presParOf" srcId="{3965E627-FEF9-D240-8FC3-9B2B9289D7B3}" destId="{9EF28226-1618-9F41-8754-AF91A7BCBCB1}" srcOrd="1" destOrd="0" presId="urn:microsoft.com/office/officeart/2005/8/layout/process2"/>
    <dgm:cxn modelId="{72CBC4D7-08C2-8B44-99C8-41C8EB30D4B5}" type="presParOf" srcId="{9EF28226-1618-9F41-8754-AF91A7BCBCB1}" destId="{B16590E6-CE63-1B41-BF3B-218603DCA9B4}" srcOrd="0" destOrd="0" presId="urn:microsoft.com/office/officeart/2005/8/layout/process2"/>
    <dgm:cxn modelId="{5905020F-3755-1448-A24E-9F2AF2A00EC6}" type="presParOf" srcId="{3965E627-FEF9-D240-8FC3-9B2B9289D7B3}" destId="{98642FC6-1608-2F42-9355-7A2B8461DC74}" srcOrd="2" destOrd="0" presId="urn:microsoft.com/office/officeart/2005/8/layout/process2"/>
    <dgm:cxn modelId="{6DCA6512-51F0-074C-9F62-E7F0800D886C}" type="presParOf" srcId="{3965E627-FEF9-D240-8FC3-9B2B9289D7B3}" destId="{1C79A4D0-BC42-B648-BD5E-CE4AD1E61B2B}" srcOrd="3" destOrd="0" presId="urn:microsoft.com/office/officeart/2005/8/layout/process2"/>
    <dgm:cxn modelId="{F30E7A9C-5B2A-4D45-A3B9-A4194B6C5463}" type="presParOf" srcId="{1C79A4D0-BC42-B648-BD5E-CE4AD1E61B2B}" destId="{8395FCF7-3334-204B-B224-8EF8C751CDFE}" srcOrd="0" destOrd="0" presId="urn:microsoft.com/office/officeart/2005/8/layout/process2"/>
    <dgm:cxn modelId="{239D7B3F-67E3-CA48-B93C-0DCA90371FE8}" type="presParOf" srcId="{3965E627-FEF9-D240-8FC3-9B2B9289D7B3}" destId="{F9D2A849-464C-D041-831E-43211D82BD15}" srcOrd="4"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CE826C-0AF8-4053-957F-574BD772305B}">
      <dsp:nvSpPr>
        <dsp:cNvPr id="0" name=""/>
        <dsp:cNvSpPr/>
      </dsp:nvSpPr>
      <dsp:spPr>
        <a:xfrm>
          <a:off x="1646788" y="481235"/>
          <a:ext cx="3214246" cy="3214246"/>
        </a:xfrm>
        <a:prstGeom prst="blockArc">
          <a:avLst>
            <a:gd name="adj1" fmla="val 11880000"/>
            <a:gd name="adj2" fmla="val 1620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ABD0B9B-0014-49CC-ABDF-4C0AA0204A54}">
      <dsp:nvSpPr>
        <dsp:cNvPr id="0" name=""/>
        <dsp:cNvSpPr/>
      </dsp:nvSpPr>
      <dsp:spPr>
        <a:xfrm>
          <a:off x="1646788" y="481235"/>
          <a:ext cx="3214246" cy="3214246"/>
        </a:xfrm>
        <a:prstGeom prst="blockArc">
          <a:avLst>
            <a:gd name="adj1" fmla="val 7560000"/>
            <a:gd name="adj2" fmla="val 1188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6C9B4E-2DFE-4E89-923D-A41ACB0AAAF7}">
      <dsp:nvSpPr>
        <dsp:cNvPr id="0" name=""/>
        <dsp:cNvSpPr/>
      </dsp:nvSpPr>
      <dsp:spPr>
        <a:xfrm>
          <a:off x="1646788" y="481235"/>
          <a:ext cx="3214246" cy="3214246"/>
        </a:xfrm>
        <a:prstGeom prst="blockArc">
          <a:avLst>
            <a:gd name="adj1" fmla="val 3240000"/>
            <a:gd name="adj2" fmla="val 756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21C6B92-C2EE-444E-BAF6-EFACA3DAC119}">
      <dsp:nvSpPr>
        <dsp:cNvPr id="0" name=""/>
        <dsp:cNvSpPr/>
      </dsp:nvSpPr>
      <dsp:spPr>
        <a:xfrm>
          <a:off x="1646788" y="481235"/>
          <a:ext cx="3214246" cy="3214246"/>
        </a:xfrm>
        <a:prstGeom prst="blockArc">
          <a:avLst>
            <a:gd name="adj1" fmla="val 20520000"/>
            <a:gd name="adj2" fmla="val 324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FAAA2C-7307-4983-BB55-2B98FE01F324}">
      <dsp:nvSpPr>
        <dsp:cNvPr id="0" name=""/>
        <dsp:cNvSpPr/>
      </dsp:nvSpPr>
      <dsp:spPr>
        <a:xfrm>
          <a:off x="1646788" y="481235"/>
          <a:ext cx="3214246" cy="3214246"/>
        </a:xfrm>
        <a:prstGeom prst="blockArc">
          <a:avLst>
            <a:gd name="adj1" fmla="val 16200000"/>
            <a:gd name="adj2" fmla="val 2052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F904371-038F-460A-ABB8-D354DF98FDBC}">
      <dsp:nvSpPr>
        <dsp:cNvPr id="0" name=""/>
        <dsp:cNvSpPr/>
      </dsp:nvSpPr>
      <dsp:spPr>
        <a:xfrm>
          <a:off x="2510032" y="1347967"/>
          <a:ext cx="1487758" cy="148078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物质</a:t>
          </a:r>
          <a:endParaRPr lang="en-US" altLang="zh-CN" sz="2000" kern="1200" dirty="0"/>
        </a:p>
        <a:p>
          <a:pPr marL="0" lvl="0" indent="0" algn="ctr" defTabSz="889000">
            <a:lnSpc>
              <a:spcPct val="90000"/>
            </a:lnSpc>
            <a:spcBef>
              <a:spcPct val="0"/>
            </a:spcBef>
            <a:spcAft>
              <a:spcPct val="35000"/>
            </a:spcAft>
            <a:buNone/>
          </a:pPr>
          <a:r>
            <a:rPr lang="zh-CN" altLang="en-US" sz="2000" kern="1200" dirty="0"/>
            <a:t>磁性</a:t>
          </a:r>
        </a:p>
      </dsp:txBody>
      <dsp:txXfrm>
        <a:off x="2727909" y="1564823"/>
        <a:ext cx="1052004" cy="1047071"/>
      </dsp:txXfrm>
    </dsp:sp>
    <dsp:sp modelId="{320AEBA8-B1E3-45B3-8DC5-5DD8EC1435BB}">
      <dsp:nvSpPr>
        <dsp:cNvPr id="0" name=""/>
        <dsp:cNvSpPr/>
      </dsp:nvSpPr>
      <dsp:spPr>
        <a:xfrm>
          <a:off x="2735637" y="277"/>
          <a:ext cx="1036548" cy="10365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反铁磁性</a:t>
          </a:r>
        </a:p>
      </dsp:txBody>
      <dsp:txXfrm>
        <a:off x="2887436" y="152076"/>
        <a:ext cx="732950" cy="732950"/>
      </dsp:txXfrm>
    </dsp:sp>
    <dsp:sp modelId="{E0000D92-92AA-49B3-B655-9A818D350A5E}">
      <dsp:nvSpPr>
        <dsp:cNvPr id="0" name=""/>
        <dsp:cNvSpPr/>
      </dsp:nvSpPr>
      <dsp:spPr>
        <a:xfrm>
          <a:off x="4228612" y="1084987"/>
          <a:ext cx="1036548" cy="10365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t>顺磁性</a:t>
          </a:r>
          <a:endParaRPr lang="zh-CN" altLang="en-US" sz="2000" kern="1200" dirty="0"/>
        </a:p>
      </dsp:txBody>
      <dsp:txXfrm>
        <a:off x="4380411" y="1236786"/>
        <a:ext cx="732950" cy="732950"/>
      </dsp:txXfrm>
    </dsp:sp>
    <dsp:sp modelId="{CF2E6E2A-6610-436F-B2DE-DB2C30040AC2}">
      <dsp:nvSpPr>
        <dsp:cNvPr id="0" name=""/>
        <dsp:cNvSpPr/>
      </dsp:nvSpPr>
      <dsp:spPr>
        <a:xfrm>
          <a:off x="3658346" y="2840085"/>
          <a:ext cx="1036548" cy="10365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t>抗磁性</a:t>
          </a:r>
          <a:endParaRPr lang="zh-CN" altLang="en-US" sz="2000" kern="1200" dirty="0"/>
        </a:p>
      </dsp:txBody>
      <dsp:txXfrm>
        <a:off x="3810145" y="2991884"/>
        <a:ext cx="732950" cy="732950"/>
      </dsp:txXfrm>
    </dsp:sp>
    <dsp:sp modelId="{9A9BB94E-87BF-4C98-8498-D594DDE82355}">
      <dsp:nvSpPr>
        <dsp:cNvPr id="0" name=""/>
        <dsp:cNvSpPr/>
      </dsp:nvSpPr>
      <dsp:spPr>
        <a:xfrm>
          <a:off x="1812927" y="2840085"/>
          <a:ext cx="1036548" cy="10365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solidFill>
                <a:srgbClr val="C00000"/>
              </a:solidFill>
            </a:rPr>
            <a:t>亚铁磁性</a:t>
          </a:r>
          <a:endParaRPr lang="zh-CN" altLang="en-US" sz="2000" kern="1200" dirty="0">
            <a:solidFill>
              <a:srgbClr val="C00000"/>
            </a:solidFill>
          </a:endParaRPr>
        </a:p>
      </dsp:txBody>
      <dsp:txXfrm>
        <a:off x="1964726" y="2991884"/>
        <a:ext cx="732950" cy="732950"/>
      </dsp:txXfrm>
    </dsp:sp>
    <dsp:sp modelId="{00AC3997-87D5-4BB2-8C0F-7E7424502245}">
      <dsp:nvSpPr>
        <dsp:cNvPr id="0" name=""/>
        <dsp:cNvSpPr/>
      </dsp:nvSpPr>
      <dsp:spPr>
        <a:xfrm>
          <a:off x="1242661" y="1084987"/>
          <a:ext cx="1036548" cy="10365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0" kern="1200" dirty="0">
              <a:solidFill>
                <a:srgbClr val="C00000"/>
              </a:solidFill>
            </a:rPr>
            <a:t>铁磁性</a:t>
          </a:r>
          <a:endParaRPr lang="zh-CN" altLang="en-US" sz="2000" kern="1200" dirty="0">
            <a:solidFill>
              <a:srgbClr val="C00000"/>
            </a:solidFill>
          </a:endParaRPr>
        </a:p>
      </dsp:txBody>
      <dsp:txXfrm>
        <a:off x="1394460" y="1236786"/>
        <a:ext cx="732950" cy="7329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DB579-9C71-2441-B126-D9DC997465AE}">
      <dsp:nvSpPr>
        <dsp:cNvPr id="0" name=""/>
        <dsp:cNvSpPr/>
      </dsp:nvSpPr>
      <dsp:spPr>
        <a:xfrm>
          <a:off x="1529148" y="481130"/>
          <a:ext cx="2448239" cy="2457453"/>
        </a:xfrm>
        <a:prstGeom prst="pie">
          <a:avLst>
            <a:gd name="adj1" fmla="val 16200000"/>
            <a:gd name="adj2" fmla="val 18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软磁</a:t>
          </a:r>
          <a:endParaRPr lang="en-US" altLang="zh-CN" sz="2000" kern="1200" dirty="0"/>
        </a:p>
        <a:p>
          <a:pPr marL="0" lvl="0" indent="0" algn="ctr" defTabSz="889000">
            <a:lnSpc>
              <a:spcPct val="90000"/>
            </a:lnSpc>
            <a:spcBef>
              <a:spcPct val="0"/>
            </a:spcBef>
            <a:spcAft>
              <a:spcPct val="35000"/>
            </a:spcAft>
            <a:buNone/>
          </a:pPr>
          <a:r>
            <a:rPr lang="zh-CN" altLang="en-US" sz="2000" kern="1200" dirty="0"/>
            <a:t>材料</a:t>
          </a:r>
        </a:p>
      </dsp:txBody>
      <dsp:txXfrm>
        <a:off x="2819429" y="1001876"/>
        <a:ext cx="874371" cy="731384"/>
      </dsp:txXfrm>
    </dsp:sp>
    <dsp:sp modelId="{E6B424F9-0447-1C46-A4E6-EC1F0BD28A5F}">
      <dsp:nvSpPr>
        <dsp:cNvPr id="0" name=""/>
        <dsp:cNvSpPr/>
      </dsp:nvSpPr>
      <dsp:spPr>
        <a:xfrm>
          <a:off x="1551886" y="597595"/>
          <a:ext cx="2287415" cy="2424548"/>
        </a:xfrm>
        <a:prstGeom prst="pie">
          <a:avLst>
            <a:gd name="adj1" fmla="val 1800000"/>
            <a:gd name="adj2" fmla="val 900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功能磁性材料</a:t>
          </a:r>
        </a:p>
      </dsp:txBody>
      <dsp:txXfrm>
        <a:off x="2096509" y="2170666"/>
        <a:ext cx="1225401" cy="635000"/>
      </dsp:txXfrm>
    </dsp:sp>
    <dsp:sp modelId="{ED0FEB37-F282-3946-ACD6-91DF9678CF08}">
      <dsp:nvSpPr>
        <dsp:cNvPr id="0" name=""/>
        <dsp:cNvSpPr/>
      </dsp:nvSpPr>
      <dsp:spPr>
        <a:xfrm>
          <a:off x="1430350" y="486759"/>
          <a:ext cx="2415139" cy="2446195"/>
        </a:xfrm>
        <a:prstGeom prst="pie">
          <a:avLst>
            <a:gd name="adj1" fmla="val 900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硬磁（永磁材料）</a:t>
          </a:r>
        </a:p>
      </dsp:txBody>
      <dsp:txXfrm>
        <a:off x="1710104" y="1005120"/>
        <a:ext cx="862549" cy="728034"/>
      </dsp:txXfrm>
    </dsp:sp>
    <dsp:sp modelId="{B5C58100-9F24-104D-998C-5A1460DEFBCB}">
      <dsp:nvSpPr>
        <dsp:cNvPr id="0" name=""/>
        <dsp:cNvSpPr/>
      </dsp:nvSpPr>
      <dsp:spPr>
        <a:xfrm>
          <a:off x="1181944" y="138257"/>
          <a:ext cx="3147067" cy="3147067"/>
        </a:xfrm>
        <a:prstGeom prst="circularArrow">
          <a:avLst>
            <a:gd name="adj1" fmla="val 5085"/>
            <a:gd name="adj2" fmla="val 327528"/>
            <a:gd name="adj3" fmla="val 1472472"/>
            <a:gd name="adj4" fmla="val 16199432"/>
            <a:gd name="adj5" fmla="val 5932"/>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DA09971-FECE-D34A-990B-7D441AC53FF0}">
      <dsp:nvSpPr>
        <dsp:cNvPr id="0" name=""/>
        <dsp:cNvSpPr/>
      </dsp:nvSpPr>
      <dsp:spPr>
        <a:xfrm>
          <a:off x="1124753" y="238250"/>
          <a:ext cx="3147067" cy="3147067"/>
        </a:xfrm>
        <a:prstGeom prst="circularArrow">
          <a:avLst>
            <a:gd name="adj1" fmla="val 5085"/>
            <a:gd name="adj2" fmla="val 327528"/>
            <a:gd name="adj3" fmla="val 8671970"/>
            <a:gd name="adj4" fmla="val 1800502"/>
            <a:gd name="adj5" fmla="val 5932"/>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7ECC234A-321E-FA45-9B57-7BA2154240B4}">
      <dsp:nvSpPr>
        <dsp:cNvPr id="0" name=""/>
        <dsp:cNvSpPr/>
      </dsp:nvSpPr>
      <dsp:spPr>
        <a:xfrm>
          <a:off x="1066290" y="138312"/>
          <a:ext cx="3147067" cy="3147067"/>
        </a:xfrm>
        <a:prstGeom prst="circularArrow">
          <a:avLst>
            <a:gd name="adj1" fmla="val 5085"/>
            <a:gd name="adj2" fmla="val 327528"/>
            <a:gd name="adj3" fmla="val 15873039"/>
            <a:gd name="adj4" fmla="val 9000000"/>
            <a:gd name="adj5" fmla="val 5932"/>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90A0A-C5E0-6E46-B8E6-6524A093A82A}">
      <dsp:nvSpPr>
        <dsp:cNvPr id="0" name=""/>
        <dsp:cNvSpPr/>
      </dsp:nvSpPr>
      <dsp:spPr>
        <a:xfrm>
          <a:off x="1065787" y="1099"/>
          <a:ext cx="1206149" cy="5626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顺磁性</a:t>
          </a:r>
        </a:p>
      </dsp:txBody>
      <dsp:txXfrm>
        <a:off x="1082266" y="17578"/>
        <a:ext cx="1173191" cy="529677"/>
      </dsp:txXfrm>
    </dsp:sp>
    <dsp:sp modelId="{9EF28226-1618-9F41-8754-AF91A7BCBCB1}">
      <dsp:nvSpPr>
        <dsp:cNvPr id="0" name=""/>
        <dsp:cNvSpPr/>
      </dsp:nvSpPr>
      <dsp:spPr>
        <a:xfrm rot="16200000">
          <a:off x="1563368" y="577801"/>
          <a:ext cx="210988" cy="25318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kern="1200"/>
        </a:p>
      </dsp:txBody>
      <dsp:txXfrm rot="-5400000">
        <a:off x="1592907" y="662195"/>
        <a:ext cx="151911" cy="147692"/>
      </dsp:txXfrm>
    </dsp:sp>
    <dsp:sp modelId="{98642FC6-1608-2F42-9355-7A2B8461DC74}">
      <dsp:nvSpPr>
        <dsp:cNvPr id="0" name=""/>
        <dsp:cNvSpPr/>
      </dsp:nvSpPr>
      <dsp:spPr>
        <a:xfrm>
          <a:off x="1065787" y="845053"/>
          <a:ext cx="1206149" cy="562635"/>
        </a:xfrm>
        <a:prstGeom prst="roundRect">
          <a:avLst>
            <a:gd name="adj" fmla="val 10000"/>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rgbClr val="0000FF"/>
              </a:solidFill>
            </a:rPr>
            <a:t>居里温度</a:t>
          </a:r>
        </a:p>
      </dsp:txBody>
      <dsp:txXfrm>
        <a:off x="1082266" y="861532"/>
        <a:ext cx="1173191" cy="529677"/>
      </dsp:txXfrm>
    </dsp:sp>
    <dsp:sp modelId="{1C79A4D0-BC42-B648-BD5E-CE4AD1E61B2B}">
      <dsp:nvSpPr>
        <dsp:cNvPr id="0" name=""/>
        <dsp:cNvSpPr/>
      </dsp:nvSpPr>
      <dsp:spPr>
        <a:xfrm rot="16200000">
          <a:off x="1563368" y="1421754"/>
          <a:ext cx="210988" cy="253185"/>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zh-CN" altLang="en-US" sz="2000" kern="1200"/>
        </a:p>
      </dsp:txBody>
      <dsp:txXfrm rot="-5400000">
        <a:off x="1592907" y="1506148"/>
        <a:ext cx="151911" cy="147692"/>
      </dsp:txXfrm>
    </dsp:sp>
    <dsp:sp modelId="{F9D2A849-464C-D041-831E-43211D82BD15}">
      <dsp:nvSpPr>
        <dsp:cNvPr id="0" name=""/>
        <dsp:cNvSpPr/>
      </dsp:nvSpPr>
      <dsp:spPr>
        <a:xfrm>
          <a:off x="1065787" y="1689006"/>
          <a:ext cx="1206149" cy="5626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铁磁性</a:t>
          </a:r>
        </a:p>
      </dsp:txBody>
      <dsp:txXfrm>
        <a:off x="1082266" y="1705485"/>
        <a:ext cx="1173191" cy="52967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pPr/>
              <a:t>2025/9/15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637815863"/>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BE%AE%E9%87%8F%E9%87%91%E5%B1%9E%E5%85%83%E7%B4%A0/6276864"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baike.baidu.com/item/%E5%A4%8D%E5%90%88%E6%B0%A7%E5%8C%96%E7%89%A9/53565677" TargetMode="External"/><Relationship Id="rId4" Type="http://schemas.openxmlformats.org/officeDocument/2006/relationships/hyperlink" Target="https://baike.baidu.com/item/%E5%90%88%E9%87%91/1840333"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aike.baidu.com/item/%E7%9A%AE%E5%9F%83%E5%B0%94%C2%B7%E5%B1%85%E9%87%8C"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baike.baidu.com/item/%E5%B1%85%E9%87%8C%E5%A4%AB%E4%BA%BA/49701"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135845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SimSun" panose="02010600030101010101" pitchFamily="2" charset="-122"/>
                <a:ea typeface="SimSun" panose="02010600030101010101" pitchFamily="2" charset="-122"/>
              </a:rPr>
              <a:t>500Hz</a:t>
            </a:r>
            <a:r>
              <a:rPr lang="zh-CN" altLang="en-US" sz="1200" dirty="0">
                <a:latin typeface="SimSun" panose="02010600030101010101" pitchFamily="2" charset="-122"/>
                <a:ea typeface="SimSun" panose="02010600030101010101" pitchFamily="2" charset="-122"/>
              </a:rPr>
              <a:t>更难调平衡。</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983448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SimSun" panose="02010600030101010101" pitchFamily="2" charset="-122"/>
              </a:rPr>
              <a:t>任何物质在外磁场中都能够或多或少地被磁化，只是磁化的程度不同。按照在外磁场中表现出来的磁性的强弱，可以分为抗磁性物质、顺磁性物质、铁磁性物质、反铁磁性物质和亚铁磁性物质。</a:t>
            </a:r>
            <a:endParaRPr lang="en-US" altLang="zh-CN" dirty="0">
              <a:ea typeface="SimSun" panose="02010600030101010101" pitchFamily="2" charset="-122"/>
            </a:endParaRPr>
          </a:p>
          <a:p>
            <a:r>
              <a:rPr lang="zh-CN" altLang="en-US" dirty="0">
                <a:ea typeface="SimSun" panose="02010600030101010101" pitchFamily="2" charset="-122"/>
              </a:rPr>
              <a:t>物质的磁性并不是恒定不变的。同一种物质，在不同的环境下，可以具有不同的磁性。例如：铁磁性物质在居里点温度一下是铁磁性的，到达居里点温度则转变为顺磁性。重稀土元素在低温下是强磁性的，但在室温或者高温下却变成了顺磁。</a:t>
            </a:r>
            <a:endParaRPr lang="en-US" altLang="zh-CN" dirty="0">
              <a:ea typeface="SimSun" panose="02010600030101010101" pitchFamily="2" charset="-122"/>
            </a:endParaRPr>
          </a:p>
          <a:p>
            <a:r>
              <a:rPr lang="zh-CN" altLang="en-US" dirty="0">
                <a:ea typeface="SimSun" panose="02010600030101010101" pitchFamily="2" charset="-122"/>
              </a:rPr>
              <a:t>由于抗磁性、顺磁性、和反铁磁性都是弱磁性，因此在技术上很少应用。铁磁性和亚铁磁性是具有强磁性，在技术上有着广泛的应用，所以通常所说的磁性材料就是指的具有铁磁性或者亚铁磁性的强磁性材料。</a:t>
            </a:r>
            <a:endParaRPr lang="en-US" altLang="zh-CN" dirty="0">
              <a:ea typeface="SimSun" panose="02010600030101010101" pitchFamily="2" charset="-122"/>
            </a:endParaRPr>
          </a:p>
          <a:p>
            <a:pPr algn="l"/>
            <a:r>
              <a:rPr lang="zh-CN" altLang="en-US" b="1" i="0" dirty="0">
                <a:solidFill>
                  <a:srgbClr val="404040"/>
                </a:solidFill>
                <a:effectLst/>
                <a:latin typeface="DeepSeek-CJK-patch"/>
              </a:rPr>
              <a:t>功能磁性材料</a:t>
            </a:r>
            <a:endParaRPr lang="zh-CN" altLang="en-US" b="0" i="0" dirty="0">
              <a:solidFill>
                <a:srgbClr val="404040"/>
              </a:solidFill>
              <a:effectLst/>
              <a:latin typeface="DeepSeek-CJK-patch"/>
            </a:endParaRPr>
          </a:p>
          <a:p>
            <a:pPr algn="l">
              <a:buFont typeface="Arial" panose="020B0604020202020204" pitchFamily="34" charset="0"/>
              <a:buChar char="•"/>
            </a:pPr>
            <a:r>
              <a:rPr lang="zh-CN" altLang="en-US" b="1" i="0" dirty="0">
                <a:solidFill>
                  <a:srgbClr val="404040"/>
                </a:solidFill>
                <a:effectLst/>
                <a:latin typeface="DeepSeek-CJK-patch"/>
              </a:rPr>
              <a:t>磁记录材料</a:t>
            </a:r>
            <a:r>
              <a:rPr lang="zh-CN" altLang="en-US" b="0" i="0" dirty="0">
                <a:solidFill>
                  <a:srgbClr val="404040"/>
                </a:solidFill>
                <a:effectLst/>
                <a:latin typeface="DeepSeek-CJK-patch"/>
              </a:rPr>
              <a:t>：用于硬盘、磁带的数据存储（如钴铬合金）</a:t>
            </a:r>
            <a:r>
              <a:rPr lang="en-US" altLang="zh-CN" b="0" i="0" dirty="0">
                <a:solidFill>
                  <a:srgbClr val="404040"/>
                </a:solidFill>
                <a:effectLst/>
                <a:latin typeface="DeepSeek-CJK-patch"/>
              </a:rPr>
              <a:t>3</a:t>
            </a:r>
            <a:r>
              <a:rPr lang="zh-CN" altLang="en-US" b="0" i="0" dirty="0">
                <a:solidFill>
                  <a:srgbClr val="404040"/>
                </a:solidFill>
                <a:effectLst/>
                <a:latin typeface="DeepSeek-CJK-patch"/>
              </a:rPr>
              <a:t>。</a:t>
            </a:r>
          </a:p>
          <a:p>
            <a:pPr algn="l">
              <a:buFont typeface="Arial" panose="020B0604020202020204" pitchFamily="34" charset="0"/>
              <a:buChar char="•"/>
            </a:pPr>
            <a:r>
              <a:rPr lang="zh-CN" altLang="en-US" b="1" i="0" dirty="0">
                <a:solidFill>
                  <a:srgbClr val="404040"/>
                </a:solidFill>
                <a:effectLst/>
                <a:latin typeface="DeepSeek-CJK-patch"/>
              </a:rPr>
              <a:t>磁致伸缩材料</a:t>
            </a:r>
            <a:r>
              <a:rPr lang="zh-CN" altLang="en-US" b="0" i="0" dirty="0">
                <a:solidFill>
                  <a:srgbClr val="404040"/>
                </a:solidFill>
                <a:effectLst/>
                <a:latin typeface="DeepSeek-CJK-patch"/>
              </a:rPr>
              <a:t>：磁场下形变，用于传感器、声呐换能器</a:t>
            </a:r>
            <a:r>
              <a:rPr lang="en-US" altLang="zh-CN" b="0" i="0" dirty="0">
                <a:solidFill>
                  <a:srgbClr val="404040"/>
                </a:solidFill>
                <a:effectLst/>
                <a:latin typeface="DeepSeek-CJK-patch"/>
              </a:rPr>
              <a:t>3</a:t>
            </a:r>
            <a:r>
              <a:rPr lang="zh-CN" altLang="en-US" b="0" i="0" dirty="0">
                <a:solidFill>
                  <a:srgbClr val="404040"/>
                </a:solidFill>
                <a:effectLst/>
                <a:latin typeface="DeepSeek-CJK-patch"/>
              </a:rPr>
              <a:t>。</a:t>
            </a:r>
          </a:p>
          <a:p>
            <a:pPr algn="l">
              <a:buFont typeface="Arial" panose="020B0604020202020204" pitchFamily="34" charset="0"/>
              <a:buChar char="•"/>
            </a:pPr>
            <a:r>
              <a:rPr lang="zh-CN" altLang="en-US" b="1" i="0" dirty="0">
                <a:solidFill>
                  <a:srgbClr val="404040"/>
                </a:solidFill>
                <a:effectLst/>
                <a:latin typeface="DeepSeek-CJK-patch"/>
              </a:rPr>
              <a:t>磁制冷材料</a:t>
            </a:r>
            <a:r>
              <a:rPr lang="zh-CN" altLang="en-US" b="0" i="0" dirty="0">
                <a:solidFill>
                  <a:srgbClr val="404040"/>
                </a:solidFill>
                <a:effectLst/>
                <a:latin typeface="DeepSeek-CJK-patch"/>
              </a:rPr>
              <a:t>（如</a:t>
            </a:r>
            <a:r>
              <a:rPr lang="en-US" altLang="zh-CN" b="0" i="0" dirty="0">
                <a:solidFill>
                  <a:srgbClr val="404040"/>
                </a:solidFill>
                <a:effectLst/>
                <a:latin typeface="DeepSeek-CJK-patch"/>
              </a:rPr>
              <a:t>Gd</a:t>
            </a:r>
            <a:r>
              <a:rPr lang="zh-CN" altLang="en-US" b="0" i="0" dirty="0">
                <a:solidFill>
                  <a:srgbClr val="404040"/>
                </a:solidFill>
                <a:effectLst/>
                <a:latin typeface="DeepSeek-CJK-patch"/>
              </a:rPr>
              <a:t>基合金）：利用磁热效应制冷，环保节能</a:t>
            </a:r>
            <a:r>
              <a:rPr lang="en-US" altLang="zh-CN" b="0" i="0" dirty="0">
                <a:solidFill>
                  <a:srgbClr val="404040"/>
                </a:solidFill>
                <a:effectLst/>
                <a:latin typeface="DeepSeek-CJK-patch"/>
              </a:rPr>
              <a:t>4</a:t>
            </a:r>
            <a:r>
              <a:rPr lang="zh-CN" altLang="en-US" b="0" i="0" dirty="0">
                <a:solidFill>
                  <a:srgbClr val="404040"/>
                </a:solidFill>
                <a:effectLst/>
                <a:latin typeface="DeepSeek-CJK-patch"/>
              </a:rPr>
              <a:t>。</a:t>
            </a:r>
          </a:p>
          <a:p>
            <a:pPr algn="l">
              <a:buFont typeface="Arial" panose="020B0604020202020204" pitchFamily="34" charset="0"/>
              <a:buChar char="•"/>
            </a:pPr>
            <a:r>
              <a:rPr lang="zh-CN" altLang="en-US" b="1" i="0" dirty="0">
                <a:solidFill>
                  <a:srgbClr val="404040"/>
                </a:solidFill>
                <a:effectLst/>
                <a:latin typeface="DeepSeek-CJK-patch"/>
              </a:rPr>
              <a:t>磁流体</a:t>
            </a:r>
            <a:r>
              <a:rPr lang="zh-CN" altLang="en-US" b="0" i="0" dirty="0">
                <a:solidFill>
                  <a:srgbClr val="404040"/>
                </a:solidFill>
                <a:effectLst/>
                <a:latin typeface="DeepSeek-CJK-patch"/>
              </a:rPr>
              <a:t>：用于旋转密封、医疗器械润滑</a:t>
            </a:r>
          </a:p>
          <a:p>
            <a:endParaRPr lang="en-US" altLang="zh-CN" dirty="0">
              <a:ea typeface="SimSun" panose="02010600030101010101" pitchFamily="2" charset="-122"/>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zh-CN" altLang="zh-CN" dirty="0">
                <a:ea typeface="SimSun" panose="02010600030101010101" pitchFamily="2" charset="-122"/>
              </a:rPr>
              <a:t>磁性材料</a:t>
            </a:r>
            <a:r>
              <a:rPr lang="zh-CN" altLang="en-US" dirty="0">
                <a:ea typeface="SimSun" panose="02010600030101010101" pitchFamily="2" charset="-122"/>
              </a:rPr>
              <a:t>是一种既古老又应用广泛的材料。早在三千多年前，中国古代，就用天然磁石四氧化三铁制造了司南，也就是指南针，从此，改变了世界的航海史。</a:t>
            </a:r>
            <a:endParaRPr lang="en-US" altLang="zh-CN" dirty="0">
              <a:ea typeface="SimSun" panose="02010600030101010101" pitchFamily="2" charset="-122"/>
            </a:endParaRPr>
          </a:p>
          <a:p>
            <a:endParaRPr lang="en-US" altLang="zh-CN" dirty="0">
              <a:ea typeface="SimSun" panose="02010600030101010101" pitchFamily="2" charset="-122"/>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dirty="0">
                <a:ea typeface="SimSun" panose="02010600030101010101" pitchFamily="2" charset="-122"/>
              </a:rPr>
              <a:t>近代以来，随着科学技术发展和制造工艺的提高，大量新型磁性材料被发现。</a:t>
            </a:r>
            <a:r>
              <a:rPr lang="en-US" altLang="zh-CN" dirty="0">
                <a:ea typeface="SimSun" panose="02010600030101010101" pitchFamily="2" charset="-122"/>
              </a:rPr>
              <a:t>20</a:t>
            </a:r>
            <a:r>
              <a:rPr lang="zh-CN" altLang="en-US" dirty="0">
                <a:ea typeface="SimSun" panose="02010600030101010101" pitchFamily="2" charset="-122"/>
              </a:rPr>
              <a:t>世纪</a:t>
            </a:r>
            <a:r>
              <a:rPr lang="en-US" altLang="zh-CN" dirty="0">
                <a:ea typeface="SimSun" panose="02010600030101010101" pitchFamily="2" charset="-122"/>
              </a:rPr>
              <a:t>30</a:t>
            </a:r>
            <a:r>
              <a:rPr lang="zh-CN" altLang="en-US" dirty="0">
                <a:ea typeface="SimSun" panose="02010600030101010101" pitchFamily="2" charset="-122"/>
              </a:rPr>
              <a:t>年代研制成功的由铝、镍、钴、铁和其它</a:t>
            </a:r>
            <a:r>
              <a:rPr lang="zh-CN" altLang="en-US" dirty="0">
                <a:ea typeface="SimSun" panose="02010600030101010101" pitchFamily="2" charset="-122"/>
                <a:hlinkClick r:id="rId3"/>
              </a:rPr>
              <a:t>微量金属元素</a:t>
            </a:r>
            <a:r>
              <a:rPr lang="zh-CN" altLang="en-US" dirty="0">
                <a:ea typeface="SimSun" panose="02010600030101010101" pitchFamily="2" charset="-122"/>
              </a:rPr>
              <a:t>构成的一种</a:t>
            </a:r>
            <a:r>
              <a:rPr lang="zh-CN" altLang="en-US" dirty="0">
                <a:ea typeface="SimSun" panose="02010600030101010101" pitchFamily="2" charset="-122"/>
                <a:hlinkClick r:id="rId4"/>
              </a:rPr>
              <a:t>合金</a:t>
            </a:r>
            <a:r>
              <a:rPr lang="zh-CN" altLang="en-US" dirty="0">
                <a:ea typeface="SimSun" panose="02010600030101010101" pitchFamily="2" charset="-122"/>
              </a:rPr>
              <a:t>，虽然目前已被更新的新型磁性材料代替，但在当时，它的磁性能最好，在永磁电机中应用得最多。这个是</a:t>
            </a:r>
            <a:r>
              <a:rPr lang="en-US" altLang="zh-CN" dirty="0">
                <a:ea typeface="SimSun" panose="02010600030101010101" pitchFamily="2" charset="-122"/>
              </a:rPr>
              <a:t>20</a:t>
            </a:r>
            <a:r>
              <a:rPr lang="zh-CN" altLang="en-US" dirty="0">
                <a:ea typeface="SimSun" panose="02010600030101010101" pitchFamily="2" charset="-122"/>
              </a:rPr>
              <a:t>世纪</a:t>
            </a:r>
            <a:r>
              <a:rPr lang="en-US" altLang="zh-CN" dirty="0">
                <a:ea typeface="SimSun" panose="02010600030101010101" pitchFamily="2" charset="-122"/>
              </a:rPr>
              <a:t>40</a:t>
            </a:r>
            <a:r>
              <a:rPr lang="zh-CN" altLang="en-US" dirty="0">
                <a:ea typeface="SimSun" panose="02010600030101010101" pitchFamily="2" charset="-122"/>
              </a:rPr>
              <a:t>年代发展起来的非金属磁性材料：铁氧体磁性材料，由于它的制备工艺和外观很类似陶瓷品，因此有时，被称为磁性瓷。铁氧体一般是指铁族和其他金属元素的</a:t>
            </a:r>
            <a:r>
              <a:rPr lang="zh-CN" altLang="en-US" dirty="0">
                <a:ea typeface="SimSun" panose="02010600030101010101" pitchFamily="2" charset="-122"/>
                <a:hlinkClick r:id="rId5"/>
              </a:rPr>
              <a:t>复合氧化物</a:t>
            </a:r>
            <a:r>
              <a:rPr lang="zh-CN" altLang="en-US" dirty="0">
                <a:ea typeface="SimSun" panose="02010600030101010101" pitchFamily="2" charset="-122"/>
              </a:rPr>
              <a:t>。 还有就是稀土永磁材料，它是将钐、钕混合稀土金属与过渡金属组成的合金，又分为：钐钴（</a:t>
            </a:r>
            <a:r>
              <a:rPr lang="en-US" altLang="zh-CN" dirty="0" err="1">
                <a:ea typeface="SimSun" panose="02010600030101010101" pitchFamily="2" charset="-122"/>
              </a:rPr>
              <a:t>SmCo</a:t>
            </a:r>
            <a:r>
              <a:rPr lang="zh-CN" altLang="en-US" dirty="0">
                <a:ea typeface="SimSun" panose="02010600030101010101" pitchFamily="2" charset="-122"/>
              </a:rPr>
              <a:t>）永磁体和钕铁硼（</a:t>
            </a:r>
            <a:r>
              <a:rPr lang="en-US" altLang="zh-CN" dirty="0" err="1">
                <a:ea typeface="SimSun" panose="02010600030101010101" pitchFamily="2" charset="-122"/>
              </a:rPr>
              <a:t>NdFeB</a:t>
            </a:r>
            <a:r>
              <a:rPr lang="zh-CN" altLang="en-US" dirty="0">
                <a:ea typeface="SimSun" panose="02010600030101010101" pitchFamily="2" charset="-122"/>
              </a:rPr>
              <a:t>）永磁体。其中钕铁硼号称当代磁王，是磁性最高的永磁材料。</a:t>
            </a:r>
            <a:endParaRPr lang="en-US" altLang="zh-CN" dirty="0">
              <a:ea typeface="SimSun" panose="02010600030101010101" pitchFamily="2" charset="-122"/>
            </a:endParaRPr>
          </a:p>
          <a:p>
            <a:endParaRPr lang="en-US" altLang="zh-CN" dirty="0">
              <a:ea typeface="SimSun" panose="02010600030101010101" pitchFamily="2" charset="-122"/>
            </a:endParaRPr>
          </a:p>
          <a:p>
            <a:r>
              <a:rPr lang="zh-CN" altLang="en-US" dirty="0">
                <a:ea typeface="SimSun" panose="02010600030101010101" pitchFamily="2" charset="-122"/>
              </a:rPr>
              <a:t>磁性材料</a:t>
            </a:r>
            <a:r>
              <a:rPr lang="zh-CN" altLang="zh-CN" dirty="0">
                <a:ea typeface="SimSun" panose="02010600030101010101" pitchFamily="2" charset="-122"/>
              </a:rPr>
              <a:t>在电力、通讯、电子仪器、汽车、计算机和信息存储等领域有着十分广泛的应用</a:t>
            </a:r>
            <a:r>
              <a:rPr lang="zh-CN" altLang="en-US" dirty="0">
                <a:ea typeface="SimSun" panose="02010600030101010101" pitchFamily="2" charset="-122"/>
              </a:rPr>
              <a:t>。例如：利用软磁材料制造的变压器铁芯，通信领域里的手机，</a:t>
            </a:r>
            <a:r>
              <a:rPr lang="zh-CN" altLang="zh-CN" dirty="0">
                <a:ea typeface="SimSun" panose="02010600030101010101" pitchFamily="2" charset="-122"/>
              </a:rPr>
              <a:t>全球数十亿部手机都需要大量的铁氧体微波器件、铁氧体软磁器件和永磁元件。</a:t>
            </a:r>
            <a:r>
              <a:rPr lang="zh-CN" altLang="en-US" dirty="0">
                <a:ea typeface="SimSun" panose="02010600030101010101" pitchFamily="2" charset="-122"/>
              </a:rPr>
              <a:t>各种磁卡；</a:t>
            </a:r>
            <a:r>
              <a:rPr lang="zh-CN" altLang="zh-CN" dirty="0">
                <a:ea typeface="SimSun" panose="02010600030101010101" pitchFamily="2" charset="-122"/>
              </a:rPr>
              <a:t>显示器、打印机、笔记本电脑等也需要使用大量钕铁硼、铁氧体软磁、永磁材料等元件。</a:t>
            </a:r>
            <a:r>
              <a:rPr lang="zh-CN" altLang="en-US" dirty="0">
                <a:ea typeface="SimSun" panose="02010600030101010101" pitchFamily="2" charset="-122"/>
              </a:rPr>
              <a:t>汽车行业里所用的</a:t>
            </a:r>
            <a:r>
              <a:rPr lang="zh-CN" altLang="zh-CN" dirty="0">
                <a:ea typeface="SimSun" panose="02010600030101010101" pitchFamily="2" charset="-122"/>
              </a:rPr>
              <a:t>铁氧体永磁电机</a:t>
            </a:r>
            <a:r>
              <a:rPr lang="zh-CN" altLang="en-US" dirty="0">
                <a:ea typeface="SimSun" panose="02010600030101010101" pitchFamily="2" charset="-122"/>
              </a:rPr>
              <a:t>，家庭生活中的电磁炉，生物医学里的核磁共振成像仪，以及磁悬浮列车，甚至是军事，天文考古。</a:t>
            </a:r>
            <a:endParaRPr lang="en-US" altLang="zh-CN" dirty="0">
              <a:ea typeface="SimSun" panose="02010600030101010101" pitchFamily="2" charset="-122"/>
            </a:endParaRPr>
          </a:p>
          <a:p>
            <a:r>
              <a:rPr lang="zh-CN" altLang="zh-CN" dirty="0">
                <a:ea typeface="SimSun" panose="02010600030101010101" pitchFamily="2" charset="-122"/>
              </a:rPr>
              <a:t>总之，磁性材料能覆盖大量的电子、电气产品，</a:t>
            </a:r>
            <a:r>
              <a:rPr lang="zh-CN" altLang="en-US" dirty="0">
                <a:ea typeface="SimSun" panose="02010600030101010101" pitchFamily="2" charset="-122"/>
              </a:rPr>
              <a:t>在国防，和国民经济里起着重要的作用。</a:t>
            </a:r>
            <a:endParaRPr lang="en-US" altLang="zh-CN" dirty="0">
              <a:ea typeface="SimSun" panose="02010600030101010101" pitchFamily="2" charset="-122"/>
            </a:endParaRPr>
          </a:p>
          <a:p>
            <a:endParaRPr lang="en-US" altLang="zh-CN" dirty="0">
              <a:ea typeface="SimSun"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3630386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dirty="0">
                <a:ea typeface="SimSun" panose="02010600030101010101" pitchFamily="2" charset="-122"/>
              </a:rPr>
              <a:t>对于铁磁材料来说，</a:t>
            </a:r>
            <a:r>
              <a:rPr lang="zh-CN" altLang="zh-CN" dirty="0">
                <a:ea typeface="SimSun" panose="02010600030101010101" pitchFamily="2" charset="-122"/>
              </a:rPr>
              <a:t>当温度上升至某一温度时，铁磁性材料就由铁磁状态转变为顺磁状态，这个温度称为</a:t>
            </a:r>
            <a:r>
              <a:rPr lang="zh-CN" altLang="zh-CN" dirty="0">
                <a:solidFill>
                  <a:srgbClr val="FF0000"/>
                </a:solidFill>
                <a:ea typeface="SimSun" panose="02010600030101010101" pitchFamily="2" charset="-122"/>
              </a:rPr>
              <a:t>居里温度</a:t>
            </a:r>
            <a:r>
              <a:rPr lang="zh-CN" altLang="en-US" dirty="0">
                <a:ea typeface="SimSun" panose="02010600030101010101" pitchFamily="2" charset="-122"/>
              </a:rPr>
              <a:t>。</a:t>
            </a:r>
            <a:r>
              <a:rPr lang="en-US" altLang="zh-CN" dirty="0">
                <a:ea typeface="SimSun" panose="02010600030101010101" pitchFamily="2" charset="-122"/>
              </a:rPr>
              <a:t>19</a:t>
            </a:r>
            <a:r>
              <a:rPr lang="zh-CN" altLang="en-US" dirty="0">
                <a:ea typeface="SimSun" panose="02010600030101010101" pitchFamily="2" charset="-122"/>
              </a:rPr>
              <a:t>世纪末，著名物理学家</a:t>
            </a:r>
            <a:r>
              <a:rPr lang="zh-CN" altLang="en-US" dirty="0">
                <a:ea typeface="SimSun" panose="02010600030101010101" pitchFamily="2" charset="-122"/>
                <a:hlinkClick r:id="rId3"/>
              </a:rPr>
              <a:t>皮埃尔</a:t>
            </a:r>
            <a:r>
              <a:rPr lang="en-US" altLang="zh-CN" dirty="0">
                <a:ea typeface="SimSun" panose="02010600030101010101" pitchFamily="2" charset="-122"/>
                <a:hlinkClick r:id="rId3"/>
              </a:rPr>
              <a:t>·</a:t>
            </a:r>
            <a:r>
              <a:rPr lang="zh-CN" altLang="en-US" dirty="0">
                <a:ea typeface="SimSun" panose="02010600030101010101" pitchFamily="2" charset="-122"/>
                <a:hlinkClick r:id="rId3"/>
              </a:rPr>
              <a:t>居里</a:t>
            </a:r>
            <a:r>
              <a:rPr lang="zh-CN" altLang="en-US" dirty="0">
                <a:ea typeface="SimSun" panose="02010600030101010101" pitchFamily="2" charset="-122"/>
              </a:rPr>
              <a:t>（</a:t>
            </a:r>
            <a:r>
              <a:rPr lang="zh-CN" altLang="en-US" dirty="0">
                <a:ea typeface="SimSun" panose="02010600030101010101" pitchFamily="2" charset="-122"/>
                <a:hlinkClick r:id="rId4"/>
              </a:rPr>
              <a:t>居里夫人</a:t>
            </a:r>
            <a:r>
              <a:rPr lang="zh-CN" altLang="en-US" dirty="0">
                <a:ea typeface="SimSun" panose="02010600030101010101" pitchFamily="2" charset="-122"/>
              </a:rPr>
              <a:t>的丈夫）在自己的实验室里发现磁石的一个物理特性，就是当磁石加热到一定温度时，原来的磁性就会消失。后来，人们把这个温度叫“</a:t>
            </a:r>
            <a:r>
              <a:rPr lang="zh-CN" altLang="en-US" b="1" dirty="0">
                <a:ea typeface="SimSun" panose="02010600030101010101" pitchFamily="2" charset="-122"/>
              </a:rPr>
              <a:t>居里点</a:t>
            </a:r>
            <a:r>
              <a:rPr lang="zh-CN" altLang="en-US" dirty="0">
                <a:ea typeface="SimSun" panose="02010600030101010101" pitchFamily="2" charset="-122"/>
              </a:rPr>
              <a:t>“。</a:t>
            </a:r>
            <a:r>
              <a:rPr lang="zh-CN" altLang="zh-CN" dirty="0">
                <a:ea typeface="SimSun" panose="02010600030101010101" pitchFamily="2" charset="-122"/>
              </a:rPr>
              <a:t>测定铁磁材料的居里温度不仅对磁材料、磁性器件的研究和研制，而且对工程技术的应用都具有十分重要的意义。本实验根据铁磁物质磁矩随温度变化的特性，采用交流电桥法测量铁磁物质自发磁化消失时的温度</a:t>
            </a:r>
            <a:r>
              <a:rPr lang="zh-CN" altLang="en-US" dirty="0">
                <a:ea typeface="SimSun" panose="02010600030101010101" pitchFamily="2" charset="-122"/>
              </a:rPr>
              <a:t>。</a:t>
            </a:r>
            <a:endParaRPr lang="en-US" altLang="zh-CN" dirty="0">
              <a:ea typeface="SimSun"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94135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SimSun" panose="02010600030101010101" pitchFamily="2" charset="-122"/>
              </a:rPr>
              <a:t>磁性是材料对磁场的响应。在这种现象中，磁性材料会对其他磁性材料施加吸引力或排斥力。磁场的产生是由于给定体积内磁能的变化。磁矩是由电子的自旋运动和轨道运动产生的。</a:t>
            </a:r>
          </a:p>
          <a:p>
            <a:r>
              <a:rPr lang="zh-CN" altLang="en-US" dirty="0">
                <a:ea typeface="SimSun" panose="02010600030101010101" pitchFamily="2" charset="-122"/>
              </a:rPr>
              <a:t>轨道运动是指电子绕其原子核的运动。电子自旋运动是电子绕自身轴的旋转。这两种运动共同决定了磁性材料的磁性行为。当原子的磁矩排列得越整齐时，磁化强度就越高。如图所示，磁矩总是围绕原子的旋转轴排列。</a:t>
            </a:r>
          </a:p>
          <a:p>
            <a:br>
              <a:rPr lang="en-US" altLang="zh-CN" b="1" dirty="0">
                <a:ea typeface="SimSun" panose="02010600030101010101" pitchFamily="2" charset="-122"/>
              </a:rPr>
            </a:br>
            <a:br>
              <a:rPr lang="en-US" altLang="zh-CN" b="1" dirty="0">
                <a:ea typeface="SimSun" panose="02010600030101010101" pitchFamily="2" charset="-122"/>
              </a:rPr>
            </a:br>
            <a:r>
              <a:rPr lang="zh-CN" altLang="en-US" b="1" dirty="0">
                <a:ea typeface="SimSun" panose="02010600030101010101" pitchFamily="2" charset="-122"/>
              </a:rPr>
              <a:t>抗磁材料</a:t>
            </a:r>
            <a:r>
              <a:rPr lang="zh-CN" altLang="en-US" dirty="0">
                <a:ea typeface="SimSun" panose="02010600030101010101" pitchFamily="2" charset="-122"/>
              </a:rPr>
              <a:t>仅由非磁性原子组成。当材料暴露在磁场中时，这些材料的磁化强度非常微弱，并且方向与外加磁场相反。这种效应是由于磁场引起的电子轨道运动的变化。抗磁材料的磁化率通常为负值，约为</a:t>
            </a:r>
            <a:r>
              <a:rPr lang="en-US" altLang="zh-CN" dirty="0">
                <a:ea typeface="SimSun" panose="02010600030101010101" pitchFamily="2" charset="-122"/>
              </a:rPr>
              <a:t>10^-5</a:t>
            </a:r>
            <a:r>
              <a:rPr lang="zh-CN" altLang="en-US" dirty="0">
                <a:ea typeface="SimSun" panose="02010600030101010101" pitchFamily="2" charset="-122"/>
              </a:rPr>
              <a:t>。</a:t>
            </a:r>
            <a:br>
              <a:rPr lang="en-US" altLang="zh-CN" dirty="0">
                <a:ea typeface="SimSun" panose="02010600030101010101" pitchFamily="2" charset="-122"/>
              </a:rPr>
            </a:br>
            <a:r>
              <a:rPr lang="zh-CN" altLang="en-US" b="1" dirty="0">
                <a:ea typeface="SimSun" panose="02010600030101010101" pitchFamily="2" charset="-122"/>
              </a:rPr>
              <a:t>顺磁材料</a:t>
            </a:r>
            <a:r>
              <a:rPr lang="zh-CN" altLang="en-US" dirty="0">
                <a:ea typeface="SimSun" panose="02010600030101010101" pitchFamily="2" charset="-122"/>
              </a:rPr>
              <a:t>由随机排列的磁性原子组成。当材料暴露于外部磁场时，磁矩的方向会暂时对齐，产生与外加磁场方向平行的磁化，这会增强总磁场。顺磁材料的磁化率通常为正值，范围约为</a:t>
            </a:r>
            <a:r>
              <a:rPr lang="en-US" altLang="zh-CN" dirty="0">
                <a:ea typeface="SimSun" panose="02010600030101010101" pitchFamily="2" charset="-122"/>
              </a:rPr>
              <a:t>10^-3</a:t>
            </a:r>
            <a:r>
              <a:rPr lang="zh-CN" altLang="en-US" dirty="0">
                <a:ea typeface="SimSun" panose="02010600030101010101" pitchFamily="2" charset="-122"/>
              </a:rPr>
              <a:t>到</a:t>
            </a:r>
            <a:r>
              <a:rPr lang="en-US" altLang="zh-CN" dirty="0">
                <a:ea typeface="SimSun" panose="02010600030101010101" pitchFamily="2" charset="-122"/>
              </a:rPr>
              <a:t>10^-5</a:t>
            </a:r>
            <a:r>
              <a:rPr lang="zh-CN" altLang="en-US" dirty="0">
                <a:ea typeface="SimSun" panose="02010600030101010101" pitchFamily="2" charset="-122"/>
              </a:rPr>
              <a:t>。</a:t>
            </a:r>
            <a:br>
              <a:rPr lang="en-US" altLang="zh-CN" dirty="0">
                <a:ea typeface="SimSun" panose="02010600030101010101" pitchFamily="2" charset="-122"/>
              </a:rPr>
            </a:br>
            <a:r>
              <a:rPr lang="zh-CN" altLang="en-US" b="1" dirty="0">
                <a:ea typeface="SimSun" panose="02010600030101010101" pitchFamily="2" charset="-122"/>
              </a:rPr>
              <a:t>铁磁材料</a:t>
            </a:r>
            <a:r>
              <a:rPr lang="zh-CN" altLang="en-US" dirty="0">
                <a:ea typeface="SimSun" panose="02010600030101010101" pitchFamily="2" charset="-122"/>
              </a:rPr>
              <a:t>由产生强大磁矩的磁性原子组成。当原始铁磁材料暴露于外加磁场时，原子会永久对齐，形成与外加磁场方向平行的永久磁化。</a:t>
            </a:r>
            <a:br>
              <a:rPr lang="en-US" altLang="zh-CN" dirty="0">
                <a:ea typeface="SimSun" panose="02010600030101010101" pitchFamily="2" charset="-122"/>
              </a:rPr>
            </a:br>
            <a:r>
              <a:rPr lang="zh-CN" altLang="en-US" b="1" dirty="0">
                <a:ea typeface="SimSun" panose="02010600030101010101" pitchFamily="2" charset="-122"/>
              </a:rPr>
              <a:t>亚铁磁材料</a:t>
            </a:r>
            <a:r>
              <a:rPr lang="zh-CN" altLang="en-US" dirty="0">
                <a:ea typeface="SimSun" panose="02010600030101010101" pitchFamily="2" charset="-122"/>
              </a:rPr>
              <a:t>由具有不等相邻磁矩且方向相反的原子组成。当材料处于外加磁场中时，如果其温度低于居里温度，材料会表现出类似铁磁材料的永久磁化。低于居里温度时，亚铁磁材料的磁化是永久的；当温度超过居里温度时，热扰动会战胜磁化力，导致磁矩随机化。亚铁磁材料对温度更加敏感，且可以达到更高的磁化强度</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2938668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dirty="0">
                <a:ea typeface="SimSun" panose="02010600030101010101" pitchFamily="2" charset="-122"/>
              </a:rPr>
              <a:t>先看左图，</a:t>
            </a:r>
            <a:r>
              <a:rPr lang="zh-CN" altLang="zh-CN" dirty="0">
                <a:ea typeface="SimSun" panose="02010600030101010101" pitchFamily="2" charset="-122"/>
              </a:rPr>
              <a:t>在铁磁质中相邻电子之间存在着一种很强的 “交换耦合”作用</a:t>
            </a:r>
            <a:r>
              <a:rPr lang="en-US" altLang="zh-CN" dirty="0">
                <a:ea typeface="SimSun" panose="02010600030101010101" pitchFamily="2" charset="-122"/>
              </a:rPr>
              <a:t>, </a:t>
            </a:r>
            <a:r>
              <a:rPr lang="zh-CN" altLang="zh-CN" dirty="0">
                <a:ea typeface="SimSun" panose="02010600030101010101" pitchFamily="2" charset="-122"/>
              </a:rPr>
              <a:t>在无外磁场的情况下，它们的</a:t>
            </a:r>
            <a:r>
              <a:rPr lang="zh-CN" altLang="zh-CN" dirty="0">
                <a:solidFill>
                  <a:srgbClr val="FF0000"/>
                </a:solidFill>
                <a:ea typeface="SimSun" panose="02010600030101010101" pitchFamily="2" charset="-122"/>
              </a:rPr>
              <a:t>自旋磁矩能在一个个微小区域内“自发地”整齐排列起来而形成自发磁化小区域，</a:t>
            </a:r>
            <a:r>
              <a:rPr lang="zh-CN" altLang="en-US" dirty="0">
                <a:solidFill>
                  <a:srgbClr val="FF0000"/>
                </a:solidFill>
                <a:ea typeface="SimSun" panose="02010600030101010101" pitchFamily="2" charset="-122"/>
              </a:rPr>
              <a:t>我们</a:t>
            </a:r>
            <a:r>
              <a:rPr lang="zh-CN" altLang="zh-CN" dirty="0">
                <a:solidFill>
                  <a:srgbClr val="FF0000"/>
                </a:solidFill>
                <a:ea typeface="SimSun" panose="02010600030101010101" pitchFamily="2" charset="-122"/>
              </a:rPr>
              <a:t>称</a:t>
            </a:r>
            <a:r>
              <a:rPr lang="zh-CN" altLang="en-US" dirty="0">
                <a:solidFill>
                  <a:srgbClr val="FF0000"/>
                </a:solidFill>
                <a:ea typeface="SimSun" panose="02010600030101010101" pitchFamily="2" charset="-122"/>
              </a:rPr>
              <a:t>之</a:t>
            </a:r>
            <a:r>
              <a:rPr lang="zh-CN" altLang="zh-CN" dirty="0">
                <a:solidFill>
                  <a:srgbClr val="FF0000"/>
                </a:solidFill>
                <a:ea typeface="SimSun" panose="02010600030101010101" pitchFamily="2" charset="-122"/>
              </a:rPr>
              <a:t>为磁畴</a:t>
            </a:r>
            <a:r>
              <a:rPr lang="zh-CN" altLang="zh-CN" dirty="0">
                <a:ea typeface="SimSun" panose="02010600030101010101" pitchFamily="2" charset="-122"/>
              </a:rPr>
              <a:t>。在未经磁化的铁磁质中，虽然每一磁畴内部都有确定的自发磁化方向，有很大的磁性，但方向各不相同因而</a:t>
            </a:r>
            <a:r>
              <a:rPr lang="zh-CN" altLang="en-US" dirty="0">
                <a:ea typeface="SimSun" panose="02010600030101010101" pitchFamily="2" charset="-122"/>
              </a:rPr>
              <a:t>整体</a:t>
            </a:r>
            <a:r>
              <a:rPr lang="zh-CN" altLang="zh-CN" dirty="0">
                <a:ea typeface="SimSun" panose="02010600030101010101" pitchFamily="2" charset="-122"/>
              </a:rPr>
              <a:t>不显磁性。当铁磁质处于外磁场中时，</a:t>
            </a:r>
            <a:r>
              <a:rPr lang="zh-CN" altLang="en-US" dirty="0">
                <a:ea typeface="SimSun" panose="02010600030101010101" pitchFamily="2" charset="-122"/>
              </a:rPr>
              <a:t>现在我们可以看右图，磁畴因受外磁场力的作用而顺着外磁场重新排列，在内部形成一个很强的附加磁场，</a:t>
            </a:r>
            <a:r>
              <a:rPr lang="zh-CN" altLang="zh-CN" dirty="0">
                <a:ea typeface="SimSun" panose="02010600030101010101" pitchFamily="2" charset="-122"/>
              </a:rPr>
              <a:t>这时铁磁质对外呈现宏观磁性。当外磁场增大时，上述效应相应增大，直到所有磁畴都沿外磁场排列好，介质的磁化就达到饱和</a:t>
            </a:r>
            <a:r>
              <a:rPr lang="zh-CN" altLang="en-US" dirty="0">
                <a:ea typeface="SimSun" panose="02010600030101010101" pitchFamily="2" charset="-122"/>
              </a:rPr>
              <a:t>。</a:t>
            </a:r>
            <a:endParaRPr lang="en-US" altLang="zh-CN" dirty="0">
              <a:ea typeface="SimSun" panose="02010600030101010101" pitchFamily="2" charset="-122"/>
            </a:endParaRPr>
          </a:p>
          <a:p>
            <a:pPr marL="0" marR="0" lvl="0" indent="0" algn="l" defTabSz="914354" rtl="0" eaLnBrk="1" fontAlgn="auto" latinLnBrk="0" hangingPunct="1">
              <a:lnSpc>
                <a:spcPct val="100000"/>
              </a:lnSpc>
              <a:spcBef>
                <a:spcPts val="0"/>
              </a:spcBef>
              <a:spcAft>
                <a:spcPts val="0"/>
              </a:spcAft>
              <a:buClrTx/>
              <a:buSzTx/>
              <a:buFontTx/>
              <a:buNone/>
              <a:tabLst/>
              <a:defRPr/>
            </a:pPr>
            <a:endParaRPr lang="en-US" altLang="zh-CN" dirty="0">
              <a:ea typeface="SimSun" panose="02010600030101010101" pitchFamily="2" charset="-122"/>
            </a:endParaRPr>
          </a:p>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Helvetica Neue" panose="02000503000000020004" pitchFamily="2" charset="0"/>
              </a:rPr>
              <a:t>纯铁（图</a:t>
            </a:r>
            <a:r>
              <a:rPr lang="en-US" altLang="zh-CN" b="0" i="0" dirty="0">
                <a:solidFill>
                  <a:srgbClr val="333333"/>
                </a:solidFill>
                <a:effectLst/>
                <a:latin typeface="Helvetica Neue" panose="02000503000000020004" pitchFamily="2" charset="0"/>
              </a:rPr>
              <a:t>a</a:t>
            </a:r>
            <a:r>
              <a:rPr lang="zh-CN" altLang="en-US" b="0" i="0" dirty="0">
                <a:solidFill>
                  <a:srgbClr val="333333"/>
                </a:solidFill>
                <a:effectLst/>
                <a:latin typeface="Helvetica Neue" panose="02000503000000020004" pitchFamily="2" charset="0"/>
              </a:rPr>
              <a:t>）的磁畴结构为迷宫形状，硅铁（图</a:t>
            </a:r>
            <a:r>
              <a:rPr lang="en-US" altLang="zh-CN" b="0" i="0" dirty="0">
                <a:solidFill>
                  <a:srgbClr val="333333"/>
                </a:solidFill>
                <a:effectLst/>
                <a:latin typeface="Helvetica Neue" panose="02000503000000020004" pitchFamily="2" charset="0"/>
              </a:rPr>
              <a:t>b</a:t>
            </a:r>
            <a:r>
              <a:rPr lang="zh-CN" altLang="en-US" b="0" i="0" dirty="0">
                <a:solidFill>
                  <a:srgbClr val="333333"/>
                </a:solidFill>
                <a:effectLst/>
                <a:latin typeface="Helvetica Neue" panose="02000503000000020004" pitchFamily="2" charset="0"/>
              </a:rPr>
              <a:t>）则是针叶形状，钴（图</a:t>
            </a:r>
            <a:r>
              <a:rPr lang="en-US" altLang="zh-CN" b="0" i="0" dirty="0">
                <a:solidFill>
                  <a:srgbClr val="333333"/>
                </a:solidFill>
                <a:effectLst/>
                <a:latin typeface="Helvetica Neue" panose="02000503000000020004" pitchFamily="2" charset="0"/>
              </a:rPr>
              <a:t>c</a:t>
            </a:r>
            <a:r>
              <a:rPr lang="zh-CN" altLang="en-US" b="0" i="0" dirty="0">
                <a:solidFill>
                  <a:srgbClr val="333333"/>
                </a:solidFill>
                <a:effectLst/>
                <a:latin typeface="Helvetica Neue" panose="02000503000000020004" pitchFamily="2" charset="0"/>
              </a:rPr>
              <a:t>）的磁畴结构与纯铁和硅铁都不相同。</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2938668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2938668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3220831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576052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849155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tx1"/>
                </a:solidFill>
                <a:latin typeface="SimSun" panose="02010600030101010101" pitchFamily="2" charset="-122"/>
                <a:ea typeface="SimSun" panose="02010600030101010101" pitchFamily="2" charset="-122"/>
              </a:rPr>
              <a:t>当Ａ、Ｂ两端加上交流电压后，调节电桥处于平衡状态，Ｃ、Ｄ间的输出电压</a:t>
            </a:r>
            <a:r>
              <a:rPr lang="en-US" altLang="zh-CN" sz="1200" dirty="0">
                <a:solidFill>
                  <a:schemeClr val="tx1"/>
                </a:solidFill>
                <a:latin typeface="SimSun" panose="02010600030101010101" pitchFamily="2" charset="-122"/>
                <a:ea typeface="SimSun" panose="02010600030101010101" pitchFamily="2" charset="-122"/>
              </a:rPr>
              <a:t>U</a:t>
            </a:r>
            <a:r>
              <a:rPr lang="zh-CN" altLang="en-US" sz="1200" dirty="0">
                <a:solidFill>
                  <a:schemeClr val="tx1"/>
                </a:solidFill>
                <a:latin typeface="SimSun" panose="02010600030101010101" pitchFamily="2" charset="-122"/>
                <a:ea typeface="SimSun" panose="02010600030101010101" pitchFamily="2" charset="-122"/>
              </a:rPr>
              <a:t>为零。</a:t>
            </a:r>
            <a:endParaRPr lang="en-US" altLang="zh-CN" sz="1200" dirty="0">
              <a:solidFill>
                <a:schemeClr val="tx1"/>
              </a:solidFill>
              <a:latin typeface="SimSun" panose="02010600030101010101" pitchFamily="2" charset="-122"/>
              <a:ea typeface="SimSun" panose="02010600030101010101" pitchFamily="2" charset="-122"/>
            </a:endParaRPr>
          </a:p>
          <a:p>
            <a:r>
              <a:rPr lang="zh-CN" altLang="en-US" sz="1200" dirty="0">
                <a:solidFill>
                  <a:schemeClr val="tx1"/>
                </a:solidFill>
                <a:latin typeface="SimSun" panose="02010600030101010101" pitchFamily="2" charset="-122"/>
                <a:ea typeface="SimSun" panose="02010600030101010101" pitchFamily="2" charset="-122"/>
              </a:rPr>
              <a:t>当线圈</a:t>
            </a:r>
            <a:r>
              <a:rPr lang="en-US" altLang="zh-CN" sz="1200" dirty="0">
                <a:solidFill>
                  <a:schemeClr val="tx1"/>
                </a:solidFill>
                <a:latin typeface="SimSun" panose="02010600030101010101" pitchFamily="2" charset="-122"/>
                <a:ea typeface="SimSun" panose="02010600030101010101" pitchFamily="2" charset="-122"/>
              </a:rPr>
              <a:t>L2</a:t>
            </a:r>
            <a:r>
              <a:rPr lang="zh-CN" altLang="en-US" sz="1200" dirty="0">
                <a:solidFill>
                  <a:schemeClr val="tx1"/>
                </a:solidFill>
                <a:latin typeface="SimSun" panose="02010600030101010101" pitchFamily="2" charset="-122"/>
                <a:ea typeface="SimSun" panose="02010600030101010101" pitchFamily="2" charset="-122"/>
              </a:rPr>
              <a:t>中放入磁性材料后，</a:t>
            </a:r>
            <a:r>
              <a:rPr lang="zh-CN" altLang="en-US" sz="1200" dirty="0">
                <a:latin typeface="SimSun" panose="02010600030101010101" pitchFamily="2" charset="-122"/>
                <a:ea typeface="SimSun" panose="02010600030101010101" pitchFamily="2" charset="-122"/>
              </a:rPr>
              <a:t>感抗改变</a:t>
            </a:r>
            <a:r>
              <a:rPr lang="zh-CN" altLang="en-US" sz="1200" dirty="0">
                <a:solidFill>
                  <a:schemeClr val="tx1"/>
                </a:solidFill>
                <a:latin typeface="SimSun" panose="02010600030101010101" pitchFamily="2" charset="-122"/>
                <a:ea typeface="SimSun" panose="02010600030101010101" pitchFamily="2" charset="-122"/>
              </a:rPr>
              <a:t>，电桥平衡被破坏，</a:t>
            </a:r>
            <a:r>
              <a:rPr lang="zh-CN" altLang="zh-CN" sz="1200" dirty="0">
                <a:solidFill>
                  <a:schemeClr val="tx1"/>
                </a:solidFill>
                <a:latin typeface="SimSun" panose="02010600030101010101" pitchFamily="2" charset="-122"/>
                <a:ea typeface="SimSun" panose="02010600030101010101" pitchFamily="2" charset="-122"/>
              </a:rPr>
              <a:t>Ｃ、Ｄ</a:t>
            </a:r>
            <a:r>
              <a:rPr lang="zh-CN" altLang="en-US" sz="1200" dirty="0">
                <a:solidFill>
                  <a:schemeClr val="tx1"/>
                </a:solidFill>
                <a:latin typeface="SimSun" panose="02010600030101010101" pitchFamily="2" charset="-122"/>
                <a:ea typeface="SimSun" panose="02010600030101010101" pitchFamily="2" charset="-122"/>
              </a:rPr>
              <a:t>两点之间的输出电压</a:t>
            </a:r>
            <a:r>
              <a:rPr lang="en-US" altLang="zh-CN" sz="1200" dirty="0">
                <a:latin typeface="SimSun" panose="02010600030101010101" pitchFamily="2" charset="-122"/>
                <a:ea typeface="SimSun" panose="02010600030101010101" pitchFamily="2" charset="-122"/>
              </a:rPr>
              <a:t>U</a:t>
            </a:r>
            <a:r>
              <a:rPr lang="zh-CN" altLang="en-US" sz="1200" dirty="0">
                <a:solidFill>
                  <a:schemeClr val="tx1"/>
                </a:solidFill>
                <a:latin typeface="SimSun" panose="02010600030101010101" pitchFamily="2" charset="-122"/>
                <a:ea typeface="SimSun" panose="02010600030101010101" pitchFamily="2" charset="-122"/>
              </a:rPr>
              <a:t>不再为零。</a:t>
            </a:r>
            <a:endParaRPr lang="en-US" altLang="zh-CN" sz="1200" dirty="0">
              <a:solidFill>
                <a:schemeClr val="tx1"/>
              </a:solidFill>
              <a:latin typeface="SimSun" panose="02010600030101010101" pitchFamily="2" charset="-122"/>
              <a:ea typeface="SimSun" panose="02010600030101010101" pitchFamily="2" charset="-122"/>
            </a:endParaRPr>
          </a:p>
          <a:p>
            <a:r>
              <a:rPr lang="zh-CN" altLang="en-US" sz="1200" dirty="0">
                <a:latin typeface="SimSun" panose="02010600030101010101" pitchFamily="2" charset="-122"/>
                <a:ea typeface="SimSun" panose="02010600030101010101" pitchFamily="2" charset="-122"/>
              </a:rPr>
              <a:t>加热</a:t>
            </a:r>
            <a:r>
              <a:rPr lang="zh-CN" altLang="en-US" sz="1200" dirty="0">
                <a:solidFill>
                  <a:schemeClr val="tx1"/>
                </a:solidFill>
                <a:latin typeface="SimSun" panose="02010600030101010101" pitchFamily="2" charset="-122"/>
                <a:ea typeface="SimSun" panose="02010600030101010101" pitchFamily="2" charset="-122"/>
              </a:rPr>
              <a:t>线圈</a:t>
            </a:r>
            <a:r>
              <a:rPr lang="en-US" altLang="zh-CN" sz="1200" dirty="0">
                <a:solidFill>
                  <a:schemeClr val="tx1"/>
                </a:solidFill>
                <a:latin typeface="SimSun" panose="02010600030101010101" pitchFamily="2" charset="-122"/>
                <a:ea typeface="SimSun" panose="02010600030101010101" pitchFamily="2" charset="-122"/>
              </a:rPr>
              <a:t>L2</a:t>
            </a:r>
            <a:r>
              <a:rPr lang="zh-CN" altLang="en-US" sz="1200" dirty="0">
                <a:solidFill>
                  <a:schemeClr val="tx1"/>
                </a:solidFill>
                <a:latin typeface="SimSun" panose="02010600030101010101" pitchFamily="2" charset="-122"/>
                <a:ea typeface="SimSun" panose="02010600030101010101" pitchFamily="2" charset="-122"/>
              </a:rPr>
              <a:t>及磁性材料，达到居里温度时，铁氧体的铁磁性转变为顺磁性，电桥又趋向于平衡状态，输出电压陡然下降至趋于零。</a:t>
            </a:r>
            <a:endParaRPr lang="en-US" altLang="zh-CN" sz="1200" dirty="0">
              <a:solidFill>
                <a:schemeClr val="tx1"/>
              </a:solidFill>
              <a:latin typeface="SimSun" panose="02010600030101010101" pitchFamily="2" charset="-122"/>
              <a:ea typeface="SimSun" panose="02010600030101010101" pitchFamily="2" charset="-122"/>
            </a:endParaRPr>
          </a:p>
          <a:p>
            <a:r>
              <a:rPr lang="zh-CN" altLang="en-US" sz="1200" dirty="0">
                <a:latin typeface="SimSun" panose="02010600030101010101" pitchFamily="2" charset="-122"/>
                <a:ea typeface="SimSun" panose="02010600030101010101" pitchFamily="2" charset="-122"/>
              </a:rPr>
              <a:t>通过电桥的</a:t>
            </a:r>
            <a:r>
              <a:rPr lang="zh-CN" altLang="en-US" sz="1200" dirty="0">
                <a:solidFill>
                  <a:srgbClr val="FF0000"/>
                </a:solidFill>
                <a:latin typeface="SimSun" panose="02010600030101010101" pitchFamily="2" charset="-122"/>
                <a:ea typeface="SimSun" panose="02010600030101010101" pitchFamily="2" charset="-122"/>
              </a:rPr>
              <a:t>输出电压随温度的变化</a:t>
            </a:r>
            <a:r>
              <a:rPr lang="zh-CN" altLang="en-US" sz="1200" dirty="0">
                <a:latin typeface="SimSun" panose="02010600030101010101" pitchFamily="2" charset="-122"/>
                <a:ea typeface="SimSun" panose="02010600030101010101" pitchFamily="2" charset="-122"/>
              </a:rPr>
              <a:t>关系曲线确定</a:t>
            </a:r>
            <a:r>
              <a:rPr lang="zh-CN" altLang="en-US" sz="1200" dirty="0">
                <a:solidFill>
                  <a:srgbClr val="FF0000"/>
                </a:solidFill>
                <a:latin typeface="SimSun" panose="02010600030101010101" pitchFamily="2" charset="-122"/>
                <a:ea typeface="SimSun" panose="02010600030101010101" pitchFamily="2" charset="-122"/>
              </a:rPr>
              <a:t>居里温度。</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1744466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2445102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请问，为什么固定桥臂比率为</a:t>
            </a:r>
            <a:r>
              <a:rPr lang="en-US" altLang="zh-CN" dirty="0"/>
              <a:t>1:1</a:t>
            </a:r>
            <a:r>
              <a:rPr lang="zh-CN" altLang="en-US" dirty="0"/>
              <a:t>，采用由大到小的</a:t>
            </a:r>
            <a:r>
              <a:rPr lang="en-US" altLang="zh-CN" dirty="0"/>
              <a:t>R1</a:t>
            </a:r>
            <a:r>
              <a:rPr lang="zh-CN" altLang="en-US" dirty="0"/>
              <a:t>，分别测量未知电阻呢？为什么从大至小，有什么用意？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619769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请问，为什么固定桥臂比率为</a:t>
            </a:r>
            <a:r>
              <a:rPr lang="en-US" altLang="zh-CN" dirty="0"/>
              <a:t>1:1</a:t>
            </a:r>
            <a:r>
              <a:rPr lang="zh-CN" altLang="en-US" dirty="0"/>
              <a:t>，采用由大到小的</a:t>
            </a:r>
            <a:r>
              <a:rPr lang="en-US" altLang="zh-CN" dirty="0"/>
              <a:t>R1</a:t>
            </a:r>
            <a:r>
              <a:rPr lang="zh-CN" altLang="en-US" dirty="0"/>
              <a:t>，分别测量未知电阻呢？为什么从大至小，有什么用意？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619769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2566095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2466013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996491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2643191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1544054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1372975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2F5597"/>
                </a:solidFill>
                <a:latin typeface="KaiTi" panose="02010609060101010101" pitchFamily="49" charset="-122"/>
                <a:ea typeface="KaiTi" panose="02010609060101010101" pitchFamily="49" charset="-122"/>
              </a:rPr>
              <a:t>崔莹,吴琼.永磁材料居里温度测试方法及其标准[J].磁性材料及器件,2021,52(04):52-55. </a:t>
            </a:r>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2880188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3963710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红绿颜色换掉</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77195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178" indent="0" algn="ctr">
              <a:buNone/>
              <a:defRPr sz="2000"/>
            </a:lvl2pPr>
            <a:lvl3pPr marL="914354" indent="0" algn="ctr">
              <a:buNone/>
              <a:defRPr sz="19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406263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120154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78" indent="0">
              <a:buNone/>
              <a:defRPr sz="2000">
                <a:solidFill>
                  <a:schemeClr val="tx1">
                    <a:tint val="75000"/>
                  </a:schemeClr>
                </a:solidFill>
              </a:defRPr>
            </a:lvl2pPr>
            <a:lvl3pPr marL="914354" indent="0">
              <a:buNone/>
              <a:defRPr sz="19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213329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409684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661982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75503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217321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178" indent="0">
              <a:buNone/>
              <a:defRPr sz="1500"/>
            </a:lvl2pPr>
            <a:lvl3pPr marL="914354" indent="0">
              <a:buNone/>
              <a:defRPr sz="1200"/>
            </a:lvl3pPr>
            <a:lvl4pPr marL="1371532" indent="0">
              <a:buNone/>
              <a:defRPr sz="1100"/>
            </a:lvl4pPr>
            <a:lvl5pPr marL="1828709" indent="0">
              <a:buNone/>
              <a:defRPr sz="1100"/>
            </a:lvl5pPr>
            <a:lvl6pPr marL="2285886" indent="0">
              <a:buNone/>
              <a:defRPr sz="1100"/>
            </a:lvl6pPr>
            <a:lvl7pPr marL="2743062" indent="0">
              <a:buNone/>
              <a:defRPr sz="1100"/>
            </a:lvl7pPr>
            <a:lvl8pPr marL="3200240" indent="0">
              <a:buNone/>
              <a:defRPr sz="1100"/>
            </a:lvl8pPr>
            <a:lvl9pPr marL="3657418"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452543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178" indent="0">
              <a:buNone/>
              <a:defRPr sz="1500"/>
            </a:lvl2pPr>
            <a:lvl3pPr marL="914354" indent="0">
              <a:buNone/>
              <a:defRPr sz="1200"/>
            </a:lvl3pPr>
            <a:lvl4pPr marL="1371532" indent="0">
              <a:buNone/>
              <a:defRPr sz="1100"/>
            </a:lvl4pPr>
            <a:lvl5pPr marL="1828709" indent="0">
              <a:buNone/>
              <a:defRPr sz="1100"/>
            </a:lvl5pPr>
            <a:lvl6pPr marL="2285886" indent="0">
              <a:buNone/>
              <a:defRPr sz="1100"/>
            </a:lvl6pPr>
            <a:lvl7pPr marL="2743062" indent="0">
              <a:buNone/>
              <a:defRPr sz="1100"/>
            </a:lvl7pPr>
            <a:lvl8pPr marL="3200240" indent="0">
              <a:buNone/>
              <a:defRPr sz="1100"/>
            </a:lvl8pPr>
            <a:lvl9pPr marL="3657418"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214189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132761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3232358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2025/9/15</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extLst>
      <p:ext uri="{BB962C8B-B14F-4D97-AF65-F5344CB8AC3E}">
        <p14:creationId xmlns:p14="http://schemas.microsoft.com/office/powerpoint/2010/main" val="2538138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jpeg"/><Relationship Id="rId18" Type="http://schemas.openxmlformats.org/officeDocument/2006/relationships/diagramLayout" Target="../diagrams/layout2.xml"/><Relationship Id="rId3" Type="http://schemas.openxmlformats.org/officeDocument/2006/relationships/diagramData" Target="../diagrams/data1.xml"/><Relationship Id="rId21" Type="http://schemas.microsoft.com/office/2007/relationships/diagramDrawing" Target="../diagrams/drawing2.xml"/><Relationship Id="rId7" Type="http://schemas.microsoft.com/office/2007/relationships/diagramDrawing" Target="../diagrams/drawing1.xml"/><Relationship Id="rId12" Type="http://schemas.openxmlformats.org/officeDocument/2006/relationships/image" Target="../media/image8.png"/><Relationship Id="rId17" Type="http://schemas.openxmlformats.org/officeDocument/2006/relationships/diagramData" Target="../diagrams/data2.xml"/><Relationship Id="rId2" Type="http://schemas.openxmlformats.org/officeDocument/2006/relationships/notesSlide" Target="../notesSlides/notesSlide3.xml"/><Relationship Id="rId16" Type="http://schemas.openxmlformats.org/officeDocument/2006/relationships/image" Target="../media/image12.png"/><Relationship Id="rId20" Type="http://schemas.openxmlformats.org/officeDocument/2006/relationships/diagramColors" Target="../diagrams/colors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image" Target="../media/image5.png"/><Relationship Id="rId1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3.png"/><Relationship Id="rId7" Type="http://schemas.openxmlformats.org/officeDocument/2006/relationships/diagramQuickStyle" Target="../diagrams/quickStyl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4.pn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60.png"/><Relationship Id="rId21" Type="http://schemas.openxmlformats.org/officeDocument/2006/relationships/image" Target="../media/image41.png"/><Relationship Id="rId7" Type="http://schemas.openxmlformats.org/officeDocument/2006/relationships/oleObject" Target="../embeddings/oleObject4.bin"/><Relationship Id="rId12" Type="http://schemas.openxmlformats.org/officeDocument/2006/relationships/image" Target="../media/image29.png"/><Relationship Id="rId17" Type="http://schemas.openxmlformats.org/officeDocument/2006/relationships/image" Target="../media/image38.png"/><Relationship Id="rId25" Type="http://schemas.openxmlformats.org/officeDocument/2006/relationships/image" Target="../media/image45.png"/><Relationship Id="rId2" Type="http://schemas.openxmlformats.org/officeDocument/2006/relationships/notesSlide" Target="../notesSlides/notesSlide11.xml"/><Relationship Id="rId16" Type="http://schemas.openxmlformats.org/officeDocument/2006/relationships/image" Target="../media/image37.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7.emf"/><Relationship Id="rId11" Type="http://schemas.openxmlformats.org/officeDocument/2006/relationships/image" Target="../media/image32.png"/><Relationship Id="rId24" Type="http://schemas.openxmlformats.org/officeDocument/2006/relationships/image" Target="../media/image44.png"/><Relationship Id="rId5" Type="http://schemas.openxmlformats.org/officeDocument/2006/relationships/oleObject" Target="../embeddings/oleObject3.bin"/><Relationship Id="rId15" Type="http://schemas.openxmlformats.org/officeDocument/2006/relationships/image" Target="../media/image36.png"/><Relationship Id="rId23" Type="http://schemas.openxmlformats.org/officeDocument/2006/relationships/image" Target="../media/image23.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7.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90.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50.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flip="none" rotWithShape="1">
            <a:gsLst>
              <a:gs pos="0">
                <a:schemeClr val="accent1">
                  <a:lumMod val="5000"/>
                  <a:lumOff val="95000"/>
                  <a:alpha val="0"/>
                </a:schemeClr>
              </a:gs>
              <a:gs pos="78000">
                <a:schemeClr val="accent5"/>
              </a:gs>
            </a:gsLst>
            <a:lin ang="108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44" name="文本框 43"/>
          <p:cNvSpPr txBox="1"/>
          <p:nvPr/>
        </p:nvSpPr>
        <p:spPr>
          <a:xfrm>
            <a:off x="1785034" y="3178727"/>
            <a:ext cx="8604829" cy="461661"/>
          </a:xfrm>
          <a:prstGeom prst="rect">
            <a:avLst/>
          </a:prstGeom>
          <a:noFill/>
        </p:spPr>
        <p:txBody>
          <a:bodyPr wrap="square" lIns="91436" tIns="45718" rIns="91436" bIns="45718" rtlCol="0">
            <a:spAutoFit/>
          </a:bodyPr>
          <a:lstStyle/>
          <a:p>
            <a:pPr algn="ctr"/>
            <a:r>
              <a:rPr lang="en-US" altLang="zh-CN" sz="2400" b="1" i="0" dirty="0">
                <a:solidFill>
                  <a:srgbClr val="404040"/>
                </a:solidFill>
                <a:effectLst/>
                <a:latin typeface="Times New Roman" panose="02020603050405020304" pitchFamily="18" charset="0"/>
                <a:cs typeface="Times New Roman" panose="02020603050405020304" pitchFamily="18" charset="0"/>
              </a:rPr>
              <a:t>Measurement of Curie Temperature in Ferromagnetic Materials</a:t>
            </a:r>
            <a:endParaRPr lang="zh-CN" altLang="en-US" sz="2400" b="1" spc="600" dirty="0">
              <a:solidFill>
                <a:schemeClr val="bg1">
                  <a:lumMod val="50000"/>
                  <a:alpha val="78000"/>
                </a:schemeClr>
              </a:solidFill>
              <a:latin typeface="Times New Roman" panose="02020603050405020304" pitchFamily="18" charset="0"/>
              <a:cs typeface="Times New Roman" panose="02020603050405020304" pitchFamily="18" charset="0"/>
            </a:endParaRPr>
          </a:p>
        </p:txBody>
      </p:sp>
      <p:sp>
        <p:nvSpPr>
          <p:cNvPr id="48" name="文本框 47"/>
          <p:cNvSpPr txBox="1"/>
          <p:nvPr/>
        </p:nvSpPr>
        <p:spPr>
          <a:xfrm>
            <a:off x="2140526" y="2054772"/>
            <a:ext cx="8084129" cy="1015661"/>
          </a:xfrm>
          <a:prstGeom prst="rect">
            <a:avLst/>
          </a:prstGeom>
          <a:noFill/>
        </p:spPr>
        <p:txBody>
          <a:bodyPr wrap="square" lIns="91438" tIns="45719" rIns="91438" bIns="45719" rtlCol="0">
            <a:spAutoFit/>
          </a:bodyPr>
          <a:lstStyle/>
          <a:p>
            <a:r>
              <a:rPr kumimoji="1" lang="zh-CN" altLang="en-US" sz="6000" dirty="0">
                <a:latin typeface="SimSun" panose="02010600030101010101" pitchFamily="2" charset="-122"/>
                <a:ea typeface="SimSun" panose="02010600030101010101" pitchFamily="2" charset="-122"/>
              </a:rPr>
              <a:t>铁磁材料居里温度测量</a:t>
            </a:r>
            <a:endParaRPr lang="zh-CN" altLang="en-US" sz="6000" dirty="0">
              <a:ln w="0"/>
              <a:solidFill>
                <a:schemeClr val="bg2">
                  <a:lumMod val="25000"/>
                </a:schemeClr>
              </a:solidFill>
              <a:latin typeface="SimSun" panose="02010600030101010101" pitchFamily="2" charset="-122"/>
              <a:ea typeface="SimSun" panose="02010600030101010101" pitchFamily="2" charset="-122"/>
            </a:endParaRPr>
          </a:p>
        </p:txBody>
      </p:sp>
      <p:sp>
        <p:nvSpPr>
          <p:cNvPr id="46" name="文本框 45"/>
          <p:cNvSpPr txBox="1"/>
          <p:nvPr/>
        </p:nvSpPr>
        <p:spPr>
          <a:xfrm>
            <a:off x="3398551" y="5314714"/>
            <a:ext cx="4653495" cy="400111"/>
          </a:xfrm>
          <a:prstGeom prst="rect">
            <a:avLst/>
          </a:prstGeom>
          <a:noFill/>
        </p:spPr>
        <p:txBody>
          <a:bodyPr wrap="square" lIns="91436" tIns="45718" rIns="91436" bIns="45718" rtlCol="0">
            <a:spAutoFit/>
          </a:bodyPr>
          <a:lstStyle/>
          <a:p>
            <a:pPr algn="ctr"/>
            <a:r>
              <a:rPr lang="zh-CN" altLang="en-US" sz="2000" dirty="0">
                <a:solidFill>
                  <a:schemeClr val="bg1"/>
                </a:solidFill>
                <a:latin typeface="宋体" panose="02010600030101010101" pitchFamily="2" charset="-122"/>
                <a:ea typeface="宋体" panose="02010600030101010101" pitchFamily="2" charset="-122"/>
                <a:cs typeface="Segoe UI Semilight" panose="020B0402040204020203" pitchFamily="34" charset="0"/>
              </a:rPr>
              <a:t>浙江大学  物理实验教学中心</a:t>
            </a:r>
          </a:p>
        </p:txBody>
      </p:sp>
      <p:sp>
        <p:nvSpPr>
          <p:cNvPr id="10" name="圆角矩形 9"/>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1" name="Freeform 96"/>
          <p:cNvSpPr>
            <a:spLocks/>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prstTxWarp prst="textNoShape">
              <a:avLst/>
            </a:prstTxWarp>
          </a:bodyPr>
          <a:lstStyle/>
          <a:p>
            <a:endParaRPr lang="zh-CN" altLang="en-US">
              <a:solidFill>
                <a:srgbClr val="AD1C21"/>
              </a:solidFill>
            </a:endParaRPr>
          </a:p>
        </p:txBody>
      </p:sp>
      <p:pic>
        <p:nvPicPr>
          <p:cNvPr id="2" name="图片 1">
            <a:extLst>
              <a:ext uri="{FF2B5EF4-FFF2-40B4-BE49-F238E27FC236}">
                <a16:creationId xmlns:a16="http://schemas.microsoft.com/office/drawing/2014/main" id="{3979D4D1-3812-1C82-A8A8-3669F2436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9" y="209688"/>
            <a:ext cx="4712251" cy="813468"/>
          </a:xfrm>
          <a:prstGeom prst="rect">
            <a:avLst/>
          </a:prstGeom>
        </p:spPr>
      </p:pic>
    </p:spTree>
    <p:extLst>
      <p:ext uri="{BB962C8B-B14F-4D97-AF65-F5344CB8AC3E}">
        <p14:creationId xmlns:p14="http://schemas.microsoft.com/office/powerpoint/2010/main" val="892531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6763951" y="1365189"/>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6038455"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0" name="文本框 19"/>
          <p:cNvSpPr txBox="1"/>
          <p:nvPr/>
        </p:nvSpPr>
        <p:spPr>
          <a:xfrm>
            <a:off x="128463" y="245327"/>
            <a:ext cx="1015655" cy="6450723"/>
          </a:xfrm>
          <a:prstGeom prst="rect">
            <a:avLst/>
          </a:prstGeom>
          <a:noFill/>
        </p:spPr>
        <p:txBody>
          <a:bodyPr vert="eaVert" wrap="square" lIns="91436" tIns="45718" rIns="91436" bIns="45718" rtlCol="0">
            <a:spAutoFit/>
          </a:bodyPr>
          <a:lstStyle/>
          <a:p>
            <a:r>
              <a:rPr lang="zh-CN" altLang="en-US" sz="5400" dirty="0">
                <a:solidFill>
                  <a:schemeClr val="bg1"/>
                </a:solidFill>
                <a:latin typeface="黑体" panose="02010609060101010101" pitchFamily="49" charset="-122"/>
                <a:ea typeface="黑体" panose="02010609060101010101" pitchFamily="49" charset="-122"/>
              </a:rPr>
              <a:t>目录</a:t>
            </a:r>
            <a:r>
              <a:rPr lang="zh-CN" altLang="en-US" sz="5400" dirty="0">
                <a:solidFill>
                  <a:schemeClr val="bg1"/>
                </a:solidFill>
                <a:latin typeface="Eras Light ITC" panose="020B0402030504020804" pitchFamily="34" charset="0"/>
              </a:rPr>
              <a:t> </a:t>
            </a:r>
            <a:r>
              <a:rPr lang="en-US" altLang="zh-CN" sz="5400" dirty="0">
                <a:solidFill>
                  <a:schemeClr val="bg1"/>
                </a:solidFill>
                <a:latin typeface="Eras Light ITC" panose="020B0402030504020804" pitchFamily="34" charset="0"/>
              </a:rPr>
              <a:t>CONTENTS</a:t>
            </a:r>
            <a:endParaRPr lang="zh-CN" altLang="en-US" sz="5400" dirty="0">
              <a:solidFill>
                <a:schemeClr val="bg1"/>
              </a:solidFill>
              <a:latin typeface="Eras Light ITC" panose="020B0402030504020804" pitchFamily="34" charset="0"/>
            </a:endParaRPr>
          </a:p>
        </p:txBody>
      </p:sp>
      <p:sp>
        <p:nvSpPr>
          <p:cNvPr id="73" name="圆角矩形 72"/>
          <p:cNvSpPr/>
          <p:nvPr/>
        </p:nvSpPr>
        <p:spPr>
          <a:xfrm rot="10800000" flipV="1">
            <a:off x="5796313" y="1705945"/>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74" name="圆角矩形 73"/>
          <p:cNvSpPr/>
          <p:nvPr/>
        </p:nvSpPr>
        <p:spPr>
          <a:xfrm rot="10800000" flipV="1">
            <a:off x="6521811" y="2313513"/>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75" name="圆角矩形 74"/>
          <p:cNvSpPr/>
          <p:nvPr/>
        </p:nvSpPr>
        <p:spPr>
          <a:xfrm rot="10800000" flipV="1">
            <a:off x="5797243" y="2976881"/>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76" name="圆角矩形 75"/>
          <p:cNvSpPr/>
          <p:nvPr/>
        </p:nvSpPr>
        <p:spPr>
          <a:xfrm rot="10800000" flipV="1">
            <a:off x="6521811" y="3583513"/>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77" name="圆角矩形 76"/>
          <p:cNvSpPr/>
          <p:nvPr/>
        </p:nvSpPr>
        <p:spPr>
          <a:xfrm rot="10800000" flipV="1">
            <a:off x="5797243" y="4246881"/>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78" name="圆角矩形 77"/>
          <p:cNvSpPr/>
          <p:nvPr/>
        </p:nvSpPr>
        <p:spPr>
          <a:xfrm rot="10800000" flipV="1">
            <a:off x="6521811" y="4853512"/>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87" name="文本框 86"/>
          <p:cNvSpPr txBox="1"/>
          <p:nvPr/>
        </p:nvSpPr>
        <p:spPr>
          <a:xfrm>
            <a:off x="3244675" y="1564948"/>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实验背景</a:t>
            </a:r>
          </a:p>
        </p:txBody>
      </p:sp>
      <p:sp>
        <p:nvSpPr>
          <p:cNvPr id="88" name="文本框 87"/>
          <p:cNvSpPr txBox="1"/>
          <p:nvPr/>
        </p:nvSpPr>
        <p:spPr>
          <a:xfrm>
            <a:off x="7676173" y="2197401"/>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rPr>
              <a:t>实验装置</a:t>
            </a:r>
          </a:p>
        </p:txBody>
      </p:sp>
      <p:sp>
        <p:nvSpPr>
          <p:cNvPr id="89" name="文本框 88"/>
          <p:cNvSpPr txBox="1"/>
          <p:nvPr/>
        </p:nvSpPr>
        <p:spPr>
          <a:xfrm>
            <a:off x="3248528" y="2839537"/>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实验目的</a:t>
            </a:r>
          </a:p>
        </p:txBody>
      </p:sp>
      <p:sp>
        <p:nvSpPr>
          <p:cNvPr id="90" name="文本框 89"/>
          <p:cNvSpPr txBox="1"/>
          <p:nvPr/>
        </p:nvSpPr>
        <p:spPr>
          <a:xfrm>
            <a:off x="7676173" y="3467401"/>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实验内容</a:t>
            </a:r>
          </a:p>
        </p:txBody>
      </p:sp>
      <p:sp>
        <p:nvSpPr>
          <p:cNvPr id="91" name="文本框 90"/>
          <p:cNvSpPr txBox="1"/>
          <p:nvPr/>
        </p:nvSpPr>
        <p:spPr>
          <a:xfrm>
            <a:off x="3248528" y="4109537"/>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实验原理</a:t>
            </a:r>
          </a:p>
        </p:txBody>
      </p:sp>
      <p:sp>
        <p:nvSpPr>
          <p:cNvPr id="92" name="文本框 91"/>
          <p:cNvSpPr txBox="1"/>
          <p:nvPr/>
        </p:nvSpPr>
        <p:spPr>
          <a:xfrm>
            <a:off x="7676172" y="4737401"/>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实验拓展</a:t>
            </a:r>
          </a:p>
        </p:txBody>
      </p:sp>
      <p:sp>
        <p:nvSpPr>
          <p:cNvPr id="104" name="矩形 103"/>
          <p:cNvSpPr/>
          <p:nvPr/>
        </p:nvSpPr>
        <p:spPr>
          <a:xfrm>
            <a:off x="3125192" y="2153781"/>
            <a:ext cx="2194825"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BACKGROUNDS</a:t>
            </a:r>
          </a:p>
        </p:txBody>
      </p:sp>
      <p:sp>
        <p:nvSpPr>
          <p:cNvPr id="105" name="矩形 104"/>
          <p:cNvSpPr/>
          <p:nvPr/>
        </p:nvSpPr>
        <p:spPr>
          <a:xfrm>
            <a:off x="3298498" y="3429000"/>
            <a:ext cx="1827736"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OBJECTIVE</a:t>
            </a:r>
          </a:p>
        </p:txBody>
      </p:sp>
      <p:sp>
        <p:nvSpPr>
          <p:cNvPr id="106" name="矩形 105"/>
          <p:cNvSpPr/>
          <p:nvPr/>
        </p:nvSpPr>
        <p:spPr>
          <a:xfrm>
            <a:off x="3375281" y="4755864"/>
            <a:ext cx="1808500"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PRINCIPLE</a:t>
            </a:r>
          </a:p>
        </p:txBody>
      </p:sp>
      <p:sp>
        <p:nvSpPr>
          <p:cNvPr id="107" name="矩形 106"/>
          <p:cNvSpPr/>
          <p:nvPr/>
        </p:nvSpPr>
        <p:spPr>
          <a:xfrm>
            <a:off x="7808419" y="2804628"/>
            <a:ext cx="1766822"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EXPERIMENTAL DEVICE</a:t>
            </a:r>
          </a:p>
        </p:txBody>
      </p:sp>
      <p:sp>
        <p:nvSpPr>
          <p:cNvPr id="108" name="矩形 107"/>
          <p:cNvSpPr/>
          <p:nvPr/>
        </p:nvSpPr>
        <p:spPr>
          <a:xfrm>
            <a:off x="7731593" y="4074628"/>
            <a:ext cx="1779646"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EXPERIMENT</a:t>
            </a:r>
            <a:r>
              <a:rPr lang="zh-CN" altLang="en-US" sz="1100" dirty="0">
                <a:solidFill>
                  <a:srgbClr val="A2A2A2"/>
                </a:solidFill>
                <a:latin typeface="微软雅黑" panose="020B0503020204020204" pitchFamily="34" charset="-122"/>
              </a:rPr>
              <a:t> </a:t>
            </a:r>
            <a:r>
              <a:rPr lang="en-US" altLang="zh-CN" sz="1100" dirty="0">
                <a:solidFill>
                  <a:srgbClr val="A2A2A2"/>
                </a:solidFill>
                <a:latin typeface="微软雅黑" panose="020B0503020204020204" pitchFamily="34" charset="-122"/>
              </a:rPr>
              <a:t>CONTENT</a:t>
            </a:r>
          </a:p>
        </p:txBody>
      </p:sp>
      <p:sp>
        <p:nvSpPr>
          <p:cNvPr id="109" name="矩形 108"/>
          <p:cNvSpPr/>
          <p:nvPr/>
        </p:nvSpPr>
        <p:spPr>
          <a:xfrm>
            <a:off x="7676172" y="5385228"/>
            <a:ext cx="2148337"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EXPERIMENTAL</a:t>
            </a:r>
            <a:r>
              <a:rPr lang="zh-CN" altLang="en-US" sz="1100" dirty="0">
                <a:solidFill>
                  <a:srgbClr val="A2A2A2"/>
                </a:solidFill>
                <a:latin typeface="微软雅黑" panose="020B0503020204020204" pitchFamily="34" charset="-122"/>
              </a:rPr>
              <a:t> </a:t>
            </a:r>
            <a:r>
              <a:rPr lang="en-US" altLang="zh-CN" sz="1100" dirty="0">
                <a:solidFill>
                  <a:srgbClr val="A2A2A2"/>
                </a:solidFill>
                <a:latin typeface="微软雅黑" panose="020B0503020204020204" pitchFamily="34" charset="-122"/>
              </a:rPr>
              <a:t>EXTENSTION</a:t>
            </a:r>
          </a:p>
        </p:txBody>
      </p:sp>
    </p:spTree>
    <p:extLst>
      <p:ext uri="{BB962C8B-B14F-4D97-AF65-F5344CB8AC3E}">
        <p14:creationId xmlns:p14="http://schemas.microsoft.com/office/powerpoint/2010/main" val="16750338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a:spLocks noGrp="1"/>
          </p:cNvSpPr>
          <p:nvPr>
            <p:ph idx="1"/>
          </p:nvPr>
        </p:nvSpPr>
        <p:spPr>
          <a:xfrm>
            <a:off x="689735" y="1260388"/>
            <a:ext cx="11036827" cy="5177483"/>
          </a:xfrm>
        </p:spPr>
        <p:txBody>
          <a:bodyPr>
            <a:normAutofit/>
          </a:bodyPr>
          <a:lstStyle/>
          <a:p>
            <a:pPr marL="342900" indent="-342900" eaLnBrk="1" hangingPunct="1">
              <a:lnSpc>
                <a:spcPct val="120000"/>
              </a:lnSpc>
              <a:buFont typeface="Wingdings" pitchFamily="2" charset="2"/>
              <a:buChar char="Ø"/>
            </a:pPr>
            <a:r>
              <a:rPr lang="zh-CN" altLang="en-US" sz="2400" b="1" dirty="0">
                <a:latin typeface="SimSun" panose="02010600030101010101" pitchFamily="2" charset="-122"/>
                <a:ea typeface="SimSun" panose="02010600030101010101" pitchFamily="2" charset="-122"/>
              </a:rPr>
              <a:t>平衡电桥调节</a:t>
            </a:r>
            <a:endParaRPr lang="en-US" altLang="zh-CN" sz="2400" b="1" dirty="0">
              <a:latin typeface="SimSun" panose="02010600030101010101" pitchFamily="2" charset="-122"/>
              <a:ea typeface="SimSun" panose="02010600030101010101" pitchFamily="2" charset="-122"/>
            </a:endParaRPr>
          </a:p>
          <a:p>
            <a:pPr eaLnBrk="1" hangingPunct="1">
              <a:lnSpc>
                <a:spcPct val="120000"/>
              </a:lnSpc>
            </a:pPr>
            <a:r>
              <a:rPr lang="en-US" altLang="zh-CN" sz="2200" dirty="0">
                <a:latin typeface="SimSun" panose="02010600030101010101" pitchFamily="2" charset="-122"/>
                <a:ea typeface="SimSun" panose="02010600030101010101" pitchFamily="2" charset="-122"/>
              </a:rPr>
              <a:t>0.</a:t>
            </a:r>
            <a:r>
              <a:rPr lang="zh-CN" altLang="en-US" sz="2200" dirty="0">
                <a:latin typeface="SimSun" panose="02010600030101010101" pitchFamily="2" charset="-122"/>
                <a:ea typeface="SimSun" panose="02010600030101010101" pitchFamily="2" charset="-122"/>
              </a:rPr>
              <a:t> 按电路图连接仪器。</a:t>
            </a:r>
            <a:endParaRPr lang="en-US" altLang="zh-CN" sz="2200" dirty="0">
              <a:latin typeface="SimSun" panose="02010600030101010101" pitchFamily="2" charset="-122"/>
              <a:ea typeface="SimSun" panose="02010600030101010101" pitchFamily="2" charset="-122"/>
            </a:endParaRPr>
          </a:p>
          <a:p>
            <a:pPr eaLnBrk="1" hangingPunct="1">
              <a:lnSpc>
                <a:spcPct val="120000"/>
              </a:lnSpc>
            </a:pPr>
            <a:r>
              <a:rPr lang="en-US" altLang="zh-CN" sz="2200" dirty="0">
                <a:latin typeface="SimSun" panose="02010600030101010101" pitchFamily="2" charset="-122"/>
                <a:ea typeface="SimSun" panose="02010600030101010101" pitchFamily="2" charset="-122"/>
              </a:rPr>
              <a:t>1.</a:t>
            </a:r>
            <a:r>
              <a:rPr lang="zh-CN" altLang="en-US" sz="2200" dirty="0">
                <a:latin typeface="SimSun" panose="02010600030101010101" pitchFamily="2" charset="-122"/>
                <a:ea typeface="SimSun" panose="02010600030101010101" pitchFamily="2" charset="-122"/>
              </a:rPr>
              <a:t> 接通电源，“频率调节”为</a:t>
            </a:r>
            <a:r>
              <a:rPr lang="en-US" altLang="zh-CN" sz="2200" dirty="0">
                <a:latin typeface="SimSun" panose="02010600030101010101" pitchFamily="2" charset="-122"/>
                <a:ea typeface="SimSun" panose="02010600030101010101" pitchFamily="2" charset="-122"/>
              </a:rPr>
              <a:t>1000Hz</a:t>
            </a:r>
            <a:r>
              <a:rPr lang="zh-CN" altLang="en-US" sz="2200" dirty="0">
                <a:latin typeface="SimSun" panose="02010600030101010101" pitchFamily="2" charset="-122"/>
                <a:ea typeface="SimSun" panose="02010600030101010101" pitchFamily="2" charset="-122"/>
              </a:rPr>
              <a:t>，</a:t>
            </a:r>
            <a:endParaRPr lang="en-US" altLang="zh-CN" sz="22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200" dirty="0">
                <a:latin typeface="SimSun" panose="02010600030101010101" pitchFamily="2" charset="-122"/>
                <a:ea typeface="SimSun" panose="02010600030101010101" pitchFamily="2" charset="-122"/>
              </a:rPr>
              <a:t>   “波形选择”为“正弦波”，</a:t>
            </a:r>
            <a:endParaRPr lang="en-US" altLang="zh-CN" sz="22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200" dirty="0">
                <a:latin typeface="SimSun" panose="02010600030101010101" pitchFamily="2" charset="-122"/>
                <a:ea typeface="SimSun" panose="02010600030101010101" pitchFamily="2" charset="-122"/>
              </a:rPr>
              <a:t>    “量程选择”开始选</a:t>
            </a:r>
            <a:r>
              <a:rPr lang="en-US" altLang="zh-CN" sz="2200" dirty="0">
                <a:latin typeface="SimSun" panose="02010600030101010101" pitchFamily="2" charset="-122"/>
                <a:ea typeface="SimSun" panose="02010600030101010101" pitchFamily="2" charset="-122"/>
              </a:rPr>
              <a:t>2000mV</a:t>
            </a:r>
            <a:r>
              <a:rPr lang="zh-CN" altLang="en-US" sz="2200" dirty="0">
                <a:latin typeface="SimSun" panose="02010600030101010101" pitchFamily="2" charset="-122"/>
                <a:ea typeface="SimSun" panose="02010600030101010101" pitchFamily="2" charset="-122"/>
              </a:rPr>
              <a:t>，适时更换为</a:t>
            </a:r>
            <a:r>
              <a:rPr lang="en-US" altLang="zh-CN" sz="2200" dirty="0">
                <a:latin typeface="SimSun" panose="02010600030101010101" pitchFamily="2" charset="-122"/>
                <a:ea typeface="SimSun" panose="02010600030101010101" pitchFamily="2" charset="-122"/>
              </a:rPr>
              <a:t>200mV</a:t>
            </a:r>
            <a:r>
              <a:rPr lang="zh-CN" altLang="en-US" sz="2200" dirty="0">
                <a:latin typeface="SimSun" panose="02010600030101010101" pitchFamily="2" charset="-122"/>
                <a:ea typeface="SimSun" panose="02010600030101010101" pitchFamily="2" charset="-122"/>
              </a:rPr>
              <a:t>，</a:t>
            </a:r>
            <a:endParaRPr lang="en-US" altLang="zh-CN" sz="22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200" dirty="0">
                <a:latin typeface="SimSun" panose="02010600030101010101" pitchFamily="2" charset="-122"/>
                <a:ea typeface="SimSun" panose="02010600030101010101" pitchFamily="2" charset="-122"/>
              </a:rPr>
              <a:t>    “幅度调节”基本调至最大。</a:t>
            </a:r>
            <a:endParaRPr lang="en-US" altLang="zh-CN" sz="2200" dirty="0">
              <a:latin typeface="SimSun" panose="02010600030101010101" pitchFamily="2" charset="-122"/>
              <a:ea typeface="SimSun" panose="02010600030101010101" pitchFamily="2" charset="-122"/>
            </a:endParaRPr>
          </a:p>
          <a:p>
            <a:pPr eaLnBrk="1" hangingPunct="1">
              <a:lnSpc>
                <a:spcPct val="120000"/>
              </a:lnSpc>
            </a:pPr>
            <a:r>
              <a:rPr lang="en-US" altLang="zh-CN" sz="2200" dirty="0">
                <a:latin typeface="SimSun" panose="02010600030101010101" pitchFamily="2" charset="-122"/>
                <a:ea typeface="SimSun" panose="02010600030101010101" pitchFamily="2" charset="-122"/>
              </a:rPr>
              <a:t>2.</a:t>
            </a:r>
            <a:r>
              <a:rPr lang="zh-CN" altLang="en-US" sz="2200" dirty="0">
                <a:latin typeface="SimSun" panose="02010600030101010101" pitchFamily="2" charset="-122"/>
                <a:ea typeface="SimSun" panose="02010600030101010101" pitchFamily="2" charset="-122"/>
              </a:rPr>
              <a:t> 调节</a:t>
            </a:r>
            <a:r>
              <a:rPr lang="en-US" altLang="zh-CN" sz="2200" dirty="0" err="1">
                <a:latin typeface="SimSun" panose="02010600030101010101" pitchFamily="2" charset="-122"/>
                <a:ea typeface="SimSun" panose="02010600030101010101" pitchFamily="2" charset="-122"/>
              </a:rPr>
              <a:t>Rw</a:t>
            </a:r>
            <a:r>
              <a:rPr lang="zh-CN" altLang="en-US" sz="2200" dirty="0">
                <a:latin typeface="SimSun" panose="02010600030101010101" pitchFamily="2" charset="-122"/>
                <a:ea typeface="SimSun" panose="02010600030101010101" pitchFamily="2" charset="-122"/>
              </a:rPr>
              <a:t>，使交流电压表示值最小（理想情况</a:t>
            </a:r>
            <a:r>
              <a:rPr lang="en-US" altLang="zh-CN" sz="2200" dirty="0">
                <a:latin typeface="SimSun" panose="02010600030101010101" pitchFamily="2" charset="-122"/>
                <a:ea typeface="SimSun" panose="02010600030101010101" pitchFamily="2" charset="-122"/>
              </a:rPr>
              <a:t>1.0mV</a:t>
            </a:r>
            <a:r>
              <a:rPr lang="zh-CN" altLang="en-US" sz="2200" dirty="0">
                <a:latin typeface="SimSun" panose="02010600030101010101" pitchFamily="2" charset="-122"/>
                <a:ea typeface="SimSun" panose="02010600030101010101" pitchFamily="2" charset="-122"/>
              </a:rPr>
              <a:t>以下，最低要求</a:t>
            </a:r>
            <a:r>
              <a:rPr lang="en-US" altLang="zh-CN" sz="2200" dirty="0">
                <a:latin typeface="SimSun" panose="02010600030101010101" pitchFamily="2" charset="-122"/>
                <a:ea typeface="SimSun" panose="02010600030101010101" pitchFamily="2" charset="-122"/>
              </a:rPr>
              <a:t>3.0mV</a:t>
            </a:r>
            <a:r>
              <a:rPr lang="zh-CN" altLang="en-US" sz="2200" dirty="0">
                <a:latin typeface="SimSun" panose="02010600030101010101" pitchFamily="2" charset="-122"/>
                <a:ea typeface="SimSun" panose="02010600030101010101" pitchFamily="2" charset="-122"/>
              </a:rPr>
              <a:t>以下），此时电桥平衡。此时若将样品插入电感</a:t>
            </a:r>
            <a:r>
              <a:rPr lang="en-US" altLang="zh-CN" sz="2200" dirty="0">
                <a:latin typeface="SimSun" panose="02010600030101010101" pitchFamily="2" charset="-122"/>
                <a:ea typeface="SimSun" panose="02010600030101010101" pitchFamily="2" charset="-122"/>
              </a:rPr>
              <a:t>L2</a:t>
            </a:r>
            <a:r>
              <a:rPr lang="zh-CN" altLang="en-US" sz="2200" dirty="0">
                <a:latin typeface="SimSun" panose="02010600030101010101" pitchFamily="2" charset="-122"/>
                <a:ea typeface="SimSun" panose="02010600030101010101" pitchFamily="2" charset="-122"/>
              </a:rPr>
              <a:t>中，电压表示数需要在</a:t>
            </a:r>
            <a:r>
              <a:rPr lang="en-US" altLang="zh-CN" sz="2200" dirty="0">
                <a:latin typeface="SimSun" panose="02010600030101010101" pitchFamily="2" charset="-122"/>
                <a:ea typeface="SimSun" panose="02010600030101010101" pitchFamily="2" charset="-122"/>
              </a:rPr>
              <a:t>100mV</a:t>
            </a:r>
            <a:r>
              <a:rPr lang="zh-CN" altLang="en-US" sz="2200" dirty="0">
                <a:latin typeface="SimSun" panose="02010600030101010101" pitchFamily="2" charset="-122"/>
                <a:ea typeface="SimSun" panose="02010600030101010101" pitchFamily="2" charset="-122"/>
              </a:rPr>
              <a:t>以上。</a:t>
            </a:r>
            <a:endParaRPr lang="en-US" altLang="zh-CN" sz="2200" dirty="0">
              <a:latin typeface="SimSun" panose="02010600030101010101" pitchFamily="2" charset="-122"/>
              <a:ea typeface="SimSun" panose="02010600030101010101" pitchFamily="2" charset="-122"/>
            </a:endParaRPr>
          </a:p>
          <a:p>
            <a:pPr eaLnBrk="1" hangingPunct="1">
              <a:lnSpc>
                <a:spcPct val="120000"/>
              </a:lnSpc>
            </a:pPr>
            <a:r>
              <a:rPr kumimoji="1" lang="en-US" altLang="zh-CN" sz="2200" dirty="0">
                <a:latin typeface="SimSun" panose="02010600030101010101" pitchFamily="2" charset="-122"/>
                <a:ea typeface="SimSun" panose="02010600030101010101" pitchFamily="2" charset="-122"/>
              </a:rPr>
              <a:t>3.</a:t>
            </a:r>
            <a:r>
              <a:rPr kumimoji="1" lang="zh-CN" altLang="en-US" sz="2200" dirty="0">
                <a:latin typeface="SimSun" panose="02010600030101010101" pitchFamily="2" charset="-122"/>
                <a:ea typeface="SimSun" panose="02010600030101010101" pitchFamily="2" charset="-122"/>
              </a:rPr>
              <a:t> 尝试将</a:t>
            </a:r>
            <a:r>
              <a:rPr lang="zh-CN" altLang="en-US" sz="2200" dirty="0">
                <a:latin typeface="SimSun" panose="02010600030101010101" pitchFamily="2" charset="-122"/>
                <a:ea typeface="SimSun" panose="02010600030101010101" pitchFamily="2" charset="-122"/>
              </a:rPr>
              <a:t>“频率调节”为</a:t>
            </a:r>
            <a:r>
              <a:rPr lang="en-US" altLang="zh-CN" sz="2200" dirty="0">
                <a:latin typeface="SimSun" panose="02010600030101010101" pitchFamily="2" charset="-122"/>
                <a:ea typeface="SimSun" panose="02010600030101010101" pitchFamily="2" charset="-122"/>
              </a:rPr>
              <a:t>500Hz</a:t>
            </a:r>
            <a:r>
              <a:rPr lang="zh-CN" altLang="en-US" sz="2200" dirty="0">
                <a:latin typeface="SimSun" panose="02010600030101010101" pitchFamily="2" charset="-122"/>
                <a:ea typeface="SimSun" panose="02010600030101010101" pitchFamily="2" charset="-122"/>
              </a:rPr>
              <a:t>，其它设置不变，调节电桥平衡。</a:t>
            </a:r>
            <a:endParaRPr lang="en-US" altLang="zh-CN" sz="2200" dirty="0">
              <a:latin typeface="SimSun" panose="02010600030101010101" pitchFamily="2" charset="-122"/>
              <a:ea typeface="SimSun" panose="02010600030101010101" pitchFamily="2" charset="-122"/>
            </a:endParaRPr>
          </a:p>
          <a:p>
            <a:pPr marL="0" indent="0" eaLnBrk="1" hangingPunct="1">
              <a:lnSpc>
                <a:spcPct val="120000"/>
              </a:lnSpc>
              <a:buNone/>
            </a:pPr>
            <a:r>
              <a:rPr lang="en-US" altLang="zh-CN" sz="2200" dirty="0">
                <a:latin typeface="SimSun" panose="02010600030101010101" pitchFamily="2" charset="-122"/>
                <a:ea typeface="SimSun" panose="02010600030101010101" pitchFamily="2" charset="-122"/>
              </a:rPr>
              <a:t>     </a:t>
            </a:r>
            <a:r>
              <a:rPr lang="zh-CN" altLang="en-US" sz="2200" dirty="0">
                <a:latin typeface="SimSun" panose="02010600030101010101" pitchFamily="2" charset="-122"/>
                <a:ea typeface="SimSun" panose="02010600030101010101" pitchFamily="2" charset="-122"/>
              </a:rPr>
              <a:t>与</a:t>
            </a:r>
            <a:r>
              <a:rPr lang="en-US" altLang="zh-CN" sz="2200" dirty="0">
                <a:latin typeface="SimSun" panose="02010600030101010101" pitchFamily="2" charset="-122"/>
                <a:ea typeface="SimSun" panose="02010600030101010101" pitchFamily="2" charset="-122"/>
              </a:rPr>
              <a:t>1000Hz</a:t>
            </a:r>
            <a:r>
              <a:rPr lang="zh-CN" altLang="en-US" sz="2200" dirty="0">
                <a:latin typeface="SimSun" panose="02010600030101010101" pitchFamily="2" charset="-122"/>
                <a:ea typeface="SimSun" panose="02010600030101010101" pitchFamily="2" charset="-122"/>
              </a:rPr>
              <a:t>时进行比较，有何区别？想想为什么？</a:t>
            </a:r>
            <a:endParaRPr kumimoji="1" lang="en-US" altLang="zh-CN" sz="2200" dirty="0">
              <a:latin typeface="+mn-ea"/>
            </a:endParaRPr>
          </a:p>
          <a:p>
            <a:pPr marL="457200" indent="-457200">
              <a:buFont typeface="+mj-lt"/>
              <a:buAutoNum type="arabicParenBoth" startAt="2"/>
            </a:pPr>
            <a:endParaRPr kumimoji="1" lang="en-US" altLang="zh-CN" sz="2000" dirty="0">
              <a:latin typeface="+mn-ea"/>
            </a:endParaRPr>
          </a:p>
          <a:p>
            <a:pPr marL="457200" indent="-457200">
              <a:buFont typeface="+mj-lt"/>
              <a:buAutoNum type="arabicParenBoth" startAt="2"/>
            </a:pPr>
            <a:endParaRPr kumimoji="1" lang="en-US" altLang="zh-CN" sz="2000" dirty="0">
              <a:latin typeface="+mn-ea"/>
            </a:endParaRPr>
          </a:p>
          <a:p>
            <a:pPr marL="457200" indent="-457200">
              <a:buFont typeface="+mj-lt"/>
              <a:buAutoNum type="arabicParenBoth" startAt="2"/>
            </a:pPr>
            <a:endParaRPr kumimoji="1" lang="en-US" altLang="zh-CN" sz="2000" dirty="0">
              <a:latin typeface="+mn-ea"/>
            </a:endParaRPr>
          </a:p>
          <a:p>
            <a:pPr marL="0" indent="0">
              <a:buNone/>
            </a:pPr>
            <a:endParaRPr kumimoji="1" lang="en-US" altLang="zh-CN" sz="2000" dirty="0">
              <a:latin typeface="+mn-ea"/>
            </a:endParaRPr>
          </a:p>
        </p:txBody>
      </p:sp>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0</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预备实验</a:t>
            </a:r>
          </a:p>
        </p:txBody>
      </p:sp>
      <p:sp>
        <p:nvSpPr>
          <p:cNvPr id="397" name="矩形 396"/>
          <p:cNvSpPr/>
          <p:nvPr/>
        </p:nvSpPr>
        <p:spPr>
          <a:xfrm>
            <a:off x="2540354" y="300156"/>
            <a:ext cx="2430016"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PRE-EXPERIMENT </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pic>
        <p:nvPicPr>
          <p:cNvPr id="2" name="图片 1">
            <a:extLst>
              <a:ext uri="{FF2B5EF4-FFF2-40B4-BE49-F238E27FC236}">
                <a16:creationId xmlns:a16="http://schemas.microsoft.com/office/drawing/2014/main" id="{F388F17E-28D3-5DF0-627B-91750EB5C3CA}"/>
              </a:ext>
            </a:extLst>
          </p:cNvPr>
          <p:cNvPicPr>
            <a:picLocks noChangeAspect="1"/>
          </p:cNvPicPr>
          <p:nvPr/>
        </p:nvPicPr>
        <p:blipFill>
          <a:blip r:embed="rId3"/>
          <a:stretch>
            <a:fillRect/>
          </a:stretch>
        </p:blipFill>
        <p:spPr>
          <a:xfrm>
            <a:off x="7218218" y="917928"/>
            <a:ext cx="4852520" cy="3099890"/>
          </a:xfrm>
          <a:prstGeom prst="rect">
            <a:avLst/>
          </a:prstGeom>
        </p:spPr>
      </p:pic>
    </p:spTree>
    <p:extLst>
      <p:ext uri="{BB962C8B-B14F-4D97-AF65-F5344CB8AC3E}">
        <p14:creationId xmlns:p14="http://schemas.microsoft.com/office/powerpoint/2010/main" val="199913034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1</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实验背景</a:t>
              </a:r>
            </a:p>
          </p:txBody>
        </p:sp>
        <p:sp>
          <p:nvSpPr>
            <p:cNvPr id="53" name="矩形 52"/>
            <p:cNvSpPr/>
            <p:nvPr/>
          </p:nvSpPr>
          <p:spPr>
            <a:xfrm>
              <a:off x="4519676" y="3264361"/>
              <a:ext cx="4549576"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BACKGROUNDS</a:t>
              </a:r>
            </a:p>
          </p:txBody>
        </p:sp>
      </p:grpSp>
    </p:spTree>
    <p:extLst>
      <p:ext uri="{BB962C8B-B14F-4D97-AF65-F5344CB8AC3E}">
        <p14:creationId xmlns:p14="http://schemas.microsoft.com/office/powerpoint/2010/main" val="228368361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45" name="文本框 44"/>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46" name="矩形 45"/>
          <p:cNvSpPr/>
          <p:nvPr/>
        </p:nvSpPr>
        <p:spPr>
          <a:xfrm>
            <a:off x="2380204" y="324999"/>
            <a:ext cx="3645029"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BACKGROUNDS</a:t>
            </a:r>
          </a:p>
        </p:txBody>
      </p:sp>
      <p:grpSp>
        <p:nvGrpSpPr>
          <p:cNvPr id="43" name="组 42"/>
          <p:cNvGrpSpPr/>
          <p:nvPr/>
        </p:nvGrpSpPr>
        <p:grpSpPr>
          <a:xfrm>
            <a:off x="11454106" y="252857"/>
            <a:ext cx="737892"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0" name="灯片编号占位符 3"/>
          <p:cNvSpPr>
            <a:spLocks noGrp="1"/>
          </p:cNvSpPr>
          <p:nvPr>
            <p:ph type="sldNum" sz="quarter" idx="12"/>
          </p:nvPr>
        </p:nvSpPr>
        <p:spPr>
          <a:xfrm>
            <a:off x="8610600" y="6356352"/>
            <a:ext cx="2743200" cy="365125"/>
          </a:xfrm>
        </p:spPr>
        <p:txBody>
          <a:bodyPr/>
          <a:lstStyle/>
          <a:p>
            <a:fld id="{888F8D02-9041-4C59-BC62-13DE0E5C6713}" type="slidenum">
              <a:rPr lang="zh-CN" altLang="en-US" sz="1600" b="1" smtClean="0"/>
              <a:pPr/>
              <a:t>5</a:t>
            </a:fld>
            <a:endParaRPr lang="zh-CN" altLang="en-US" sz="1400" b="1" dirty="0"/>
          </a:p>
        </p:txBody>
      </p:sp>
      <p:sp>
        <p:nvSpPr>
          <p:cNvPr id="2" name="矩形 20483">
            <a:extLst>
              <a:ext uri="{FF2B5EF4-FFF2-40B4-BE49-F238E27FC236}">
                <a16:creationId xmlns:a16="http://schemas.microsoft.com/office/drawing/2014/main" id="{1A62FA6C-E5EF-9713-FC82-A9FD19C9DF76}"/>
              </a:ext>
            </a:extLst>
          </p:cNvPr>
          <p:cNvSpPr>
            <a:spLocks noChangeArrowheads="1" noChangeShapeType="1" noTextEdit="1"/>
          </p:cNvSpPr>
          <p:nvPr/>
        </p:nvSpPr>
        <p:spPr bwMode="auto">
          <a:xfrm>
            <a:off x="6479540" y="3272301"/>
            <a:ext cx="2762250" cy="47625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zh-CN" altLang="en-US" sz="3000" kern="1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latin typeface="SimSun" panose="02010600030101010101" pitchFamily="2" charset="-122"/>
              </a:rPr>
              <a:t>   </a:t>
            </a:r>
          </a:p>
        </p:txBody>
      </p:sp>
      <p:graphicFrame>
        <p:nvGraphicFramePr>
          <p:cNvPr id="3" name="图示 2">
            <a:extLst>
              <a:ext uri="{FF2B5EF4-FFF2-40B4-BE49-F238E27FC236}">
                <a16:creationId xmlns:a16="http://schemas.microsoft.com/office/drawing/2014/main" id="{94951031-6E62-B0A3-E03C-75B566AEBD46}"/>
              </a:ext>
            </a:extLst>
          </p:cNvPr>
          <p:cNvGraphicFramePr/>
          <p:nvPr>
            <p:extLst>
              <p:ext uri="{D42A27DB-BD31-4B8C-83A1-F6EECF244321}">
                <p14:modId xmlns:p14="http://schemas.microsoft.com/office/powerpoint/2010/main" val="467764309"/>
              </p:ext>
            </p:extLst>
          </p:nvPr>
        </p:nvGraphicFramePr>
        <p:xfrm>
          <a:off x="218021" y="2286899"/>
          <a:ext cx="6507823" cy="3903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本框 5">
            <a:extLst>
              <a:ext uri="{FF2B5EF4-FFF2-40B4-BE49-F238E27FC236}">
                <a16:creationId xmlns:a16="http://schemas.microsoft.com/office/drawing/2014/main" id="{1BC10B9E-2B43-7ABA-FAAD-063B5AC1C186}"/>
              </a:ext>
            </a:extLst>
          </p:cNvPr>
          <p:cNvSpPr txBox="1">
            <a:spLocks noChangeArrowheads="1"/>
          </p:cNvSpPr>
          <p:nvPr/>
        </p:nvSpPr>
        <p:spPr bwMode="auto">
          <a:xfrm>
            <a:off x="4315496" y="2531939"/>
            <a:ext cx="1709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dirty="0"/>
              <a:t>弱磁性</a:t>
            </a:r>
          </a:p>
        </p:txBody>
      </p:sp>
      <p:sp>
        <p:nvSpPr>
          <p:cNvPr id="16" name="文本框 8">
            <a:extLst>
              <a:ext uri="{FF2B5EF4-FFF2-40B4-BE49-F238E27FC236}">
                <a16:creationId xmlns:a16="http://schemas.microsoft.com/office/drawing/2014/main" id="{5598E114-0BAE-5475-8F0B-47C787A63F71}"/>
              </a:ext>
            </a:extLst>
          </p:cNvPr>
          <p:cNvSpPr txBox="1">
            <a:spLocks noChangeArrowheads="1"/>
          </p:cNvSpPr>
          <p:nvPr/>
        </p:nvSpPr>
        <p:spPr bwMode="auto">
          <a:xfrm>
            <a:off x="855017" y="934162"/>
            <a:ext cx="37689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sz="3200" dirty="0"/>
              <a:t>物质磁性分类</a:t>
            </a:r>
          </a:p>
        </p:txBody>
      </p:sp>
      <p:sp>
        <p:nvSpPr>
          <p:cNvPr id="18" name="文本框 17">
            <a:extLst>
              <a:ext uri="{FF2B5EF4-FFF2-40B4-BE49-F238E27FC236}">
                <a16:creationId xmlns:a16="http://schemas.microsoft.com/office/drawing/2014/main" id="{0A5C2511-6AB5-36F5-9ECD-21417CCF6AC4}"/>
              </a:ext>
            </a:extLst>
          </p:cNvPr>
          <p:cNvSpPr txBox="1">
            <a:spLocks noChangeArrowheads="1"/>
          </p:cNvSpPr>
          <p:nvPr/>
        </p:nvSpPr>
        <p:spPr bwMode="auto">
          <a:xfrm>
            <a:off x="1029748" y="5959186"/>
            <a:ext cx="1709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dirty="0">
                <a:solidFill>
                  <a:srgbClr val="FF0000"/>
                </a:solidFill>
              </a:rPr>
              <a:t>强磁性</a:t>
            </a:r>
          </a:p>
        </p:txBody>
      </p:sp>
      <p:sp>
        <p:nvSpPr>
          <p:cNvPr id="19" name="文本框 18">
            <a:extLst>
              <a:ext uri="{FF2B5EF4-FFF2-40B4-BE49-F238E27FC236}">
                <a16:creationId xmlns:a16="http://schemas.microsoft.com/office/drawing/2014/main" id="{D8EE0F65-6B02-4E35-18A3-36BD6B18A26A}"/>
              </a:ext>
            </a:extLst>
          </p:cNvPr>
          <p:cNvSpPr txBox="1">
            <a:spLocks noChangeArrowheads="1"/>
          </p:cNvSpPr>
          <p:nvPr/>
        </p:nvSpPr>
        <p:spPr bwMode="auto">
          <a:xfrm>
            <a:off x="2739485" y="1533145"/>
            <a:ext cx="1709737" cy="461665"/>
          </a:xfrm>
          <a:prstGeom prst="rect">
            <a:avLst/>
          </a:prstGeom>
          <a:solidFill>
            <a:srgbClr val="FCF300"/>
          </a:solidFill>
          <a:ln>
            <a:noFill/>
          </a:ln>
        </p:spPr>
        <p:txBody>
          <a:bodyPr>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dirty="0"/>
              <a:t>按磁性能：</a:t>
            </a:r>
          </a:p>
        </p:txBody>
      </p:sp>
      <p:sp>
        <p:nvSpPr>
          <p:cNvPr id="20" name="文本框 19">
            <a:extLst>
              <a:ext uri="{FF2B5EF4-FFF2-40B4-BE49-F238E27FC236}">
                <a16:creationId xmlns:a16="http://schemas.microsoft.com/office/drawing/2014/main" id="{D641EEBD-3504-5659-F037-AF5B3DAE7E22}"/>
              </a:ext>
            </a:extLst>
          </p:cNvPr>
          <p:cNvSpPr txBox="1">
            <a:spLocks noChangeArrowheads="1"/>
          </p:cNvSpPr>
          <p:nvPr/>
        </p:nvSpPr>
        <p:spPr bwMode="auto">
          <a:xfrm>
            <a:off x="8386921" y="1554450"/>
            <a:ext cx="1709737" cy="461665"/>
          </a:xfrm>
          <a:prstGeom prst="rect">
            <a:avLst/>
          </a:prstGeom>
          <a:solidFill>
            <a:srgbClr val="FCF300"/>
          </a:solidFill>
          <a:ln>
            <a:noFill/>
          </a:ln>
        </p:spPr>
        <p:txBody>
          <a:bodyPr>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dirty="0"/>
              <a:t>按用途：</a:t>
            </a:r>
          </a:p>
        </p:txBody>
      </p:sp>
      <p:pic>
        <p:nvPicPr>
          <p:cNvPr id="8" name="图片 11">
            <a:extLst>
              <a:ext uri="{FF2B5EF4-FFF2-40B4-BE49-F238E27FC236}">
                <a16:creationId xmlns:a16="http://schemas.microsoft.com/office/drawing/2014/main" id="{570C88D6-CD14-7D98-F52A-C27E4C0458E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0" y="3644321"/>
            <a:ext cx="1420483" cy="118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组合 14">
            <a:extLst>
              <a:ext uri="{FF2B5EF4-FFF2-40B4-BE49-F238E27FC236}">
                <a16:creationId xmlns:a16="http://schemas.microsoft.com/office/drawing/2014/main" id="{95A2DA89-4E26-285C-F317-C18C9A1D0789}"/>
              </a:ext>
            </a:extLst>
          </p:cNvPr>
          <p:cNvGrpSpPr/>
          <p:nvPr/>
        </p:nvGrpSpPr>
        <p:grpSpPr>
          <a:xfrm>
            <a:off x="-134131" y="2215072"/>
            <a:ext cx="2321941" cy="1213928"/>
            <a:chOff x="9245" y="1944189"/>
            <a:chExt cx="2321941" cy="1213928"/>
          </a:xfrm>
        </p:grpSpPr>
        <p:pic>
          <p:nvPicPr>
            <p:cNvPr id="4" name="图片 5">
              <a:extLst>
                <a:ext uri="{FF2B5EF4-FFF2-40B4-BE49-F238E27FC236}">
                  <a16:creationId xmlns:a16="http://schemas.microsoft.com/office/drawing/2014/main" id="{08CB616E-984A-61F9-7CDA-305E294B6A1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245" y="1944189"/>
              <a:ext cx="1079978" cy="97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0">
              <a:extLst>
                <a:ext uri="{FF2B5EF4-FFF2-40B4-BE49-F238E27FC236}">
                  <a16:creationId xmlns:a16="http://schemas.microsoft.com/office/drawing/2014/main" id="{1263A138-F3DA-9CA8-DA29-319A7C4B33E5}"/>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198686" y="1953590"/>
              <a:ext cx="1102643" cy="95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CE84ED22-E77E-F4DB-F11E-7C9FE715872C}"/>
                </a:ext>
              </a:extLst>
            </p:cNvPr>
            <p:cNvSpPr txBox="1"/>
            <p:nvPr/>
          </p:nvSpPr>
          <p:spPr>
            <a:xfrm>
              <a:off x="31946" y="2788785"/>
              <a:ext cx="1149620" cy="369332"/>
            </a:xfrm>
            <a:prstGeom prst="rect">
              <a:avLst/>
            </a:prstGeom>
            <a:solidFill>
              <a:schemeClr val="bg1"/>
            </a:solidFill>
          </p:spPr>
          <p:txBody>
            <a:bodyPr wrap="square">
              <a:spAutoFit/>
            </a:bodyPr>
            <a:lstStyle/>
            <a:p>
              <a:pPr algn="ctr"/>
              <a:r>
                <a:rPr lang="zh-CN" altLang="en-US" sz="1800" b="0" dirty="0"/>
                <a:t>铝镍钴</a:t>
              </a:r>
              <a:endParaRPr lang="zh-CN" altLang="en-US" dirty="0"/>
            </a:p>
          </p:txBody>
        </p:sp>
        <p:sp>
          <p:nvSpPr>
            <p:cNvPr id="13" name="文本框 12">
              <a:extLst>
                <a:ext uri="{FF2B5EF4-FFF2-40B4-BE49-F238E27FC236}">
                  <a16:creationId xmlns:a16="http://schemas.microsoft.com/office/drawing/2014/main" id="{9547E6EA-20C0-B7C4-9F98-31EB7B50E0D3}"/>
                </a:ext>
              </a:extLst>
            </p:cNvPr>
            <p:cNvSpPr txBox="1"/>
            <p:nvPr/>
          </p:nvSpPr>
          <p:spPr>
            <a:xfrm>
              <a:off x="1181566" y="2788785"/>
              <a:ext cx="1149620" cy="369332"/>
            </a:xfrm>
            <a:prstGeom prst="rect">
              <a:avLst/>
            </a:prstGeom>
            <a:solidFill>
              <a:schemeClr val="bg1"/>
            </a:solidFill>
          </p:spPr>
          <p:txBody>
            <a:bodyPr wrap="square">
              <a:spAutoFit/>
            </a:bodyPr>
            <a:lstStyle/>
            <a:p>
              <a:pPr algn="ctr"/>
              <a:r>
                <a:rPr lang="zh-CN" altLang="en-US" sz="1800" dirty="0"/>
                <a:t>铁氧体</a:t>
              </a:r>
              <a:endParaRPr lang="en-US" altLang="zh-CN" sz="1800" dirty="0"/>
            </a:p>
          </p:txBody>
        </p:sp>
      </p:grpSp>
      <p:pic>
        <p:nvPicPr>
          <p:cNvPr id="22" name="图片 16">
            <a:extLst>
              <a:ext uri="{FF2B5EF4-FFF2-40B4-BE49-F238E27FC236}">
                <a16:creationId xmlns:a16="http://schemas.microsoft.com/office/drawing/2014/main" id="{309F78CB-F240-9F4B-974A-AA1B6A8A88E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9220524" y="5188179"/>
            <a:ext cx="17970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95479ACD-945F-8F87-7176-3E427D3F985B}"/>
              </a:ext>
            </a:extLst>
          </p:cNvPr>
          <p:cNvSpPr txBox="1"/>
          <p:nvPr/>
        </p:nvSpPr>
        <p:spPr>
          <a:xfrm>
            <a:off x="-138441" y="4801519"/>
            <a:ext cx="1851090" cy="646331"/>
          </a:xfrm>
          <a:prstGeom prst="rect">
            <a:avLst/>
          </a:prstGeom>
          <a:solidFill>
            <a:schemeClr val="bg1"/>
          </a:solidFill>
        </p:spPr>
        <p:txBody>
          <a:bodyPr wrap="square">
            <a:spAutoFit/>
          </a:bodyPr>
          <a:lstStyle/>
          <a:p>
            <a:pPr algn="ctr"/>
            <a:r>
              <a:rPr lang="zh-CN" altLang="en-US" sz="1800" dirty="0"/>
              <a:t>稀土永磁</a:t>
            </a:r>
            <a:endParaRPr lang="en-US" altLang="zh-CN" sz="1800" dirty="0"/>
          </a:p>
          <a:p>
            <a:pPr algn="ctr"/>
            <a:r>
              <a:rPr lang="zh-CN" altLang="en-US" sz="1800" dirty="0"/>
              <a:t>（</a:t>
            </a:r>
            <a:r>
              <a:rPr lang="zh-CN" altLang="en-US" sz="1800" b="0" dirty="0"/>
              <a:t> 钕铁硼</a:t>
            </a:r>
            <a:r>
              <a:rPr lang="zh-CN" altLang="en-US" sz="1800" dirty="0"/>
              <a:t>）</a:t>
            </a:r>
            <a:endParaRPr lang="zh-CN" altLang="en-US" dirty="0"/>
          </a:p>
        </p:txBody>
      </p:sp>
      <p:pic>
        <p:nvPicPr>
          <p:cNvPr id="23" name="图片 14">
            <a:extLst>
              <a:ext uri="{FF2B5EF4-FFF2-40B4-BE49-F238E27FC236}">
                <a16:creationId xmlns:a16="http://schemas.microsoft.com/office/drawing/2014/main" id="{56F50E0A-A970-8FD5-2CB3-B37406E40965}"/>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9982200" y="1978246"/>
            <a:ext cx="1743075"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a:extLst>
              <a:ext uri="{FF2B5EF4-FFF2-40B4-BE49-F238E27FC236}">
                <a16:creationId xmlns:a16="http://schemas.microsoft.com/office/drawing/2014/main" id="{27205C7D-A864-62B9-9009-E9A204C7FA2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52836" y="2162702"/>
            <a:ext cx="2277029" cy="134143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446EDD65-3750-4037-4264-207A3CEAB15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72803" y="3405969"/>
            <a:ext cx="1743075" cy="11492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22D6128-3396-8D0C-7BE7-F9581310EE0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52836" y="3476124"/>
            <a:ext cx="1466371" cy="1356472"/>
          </a:xfrm>
          <a:prstGeom prst="rect">
            <a:avLst/>
          </a:prstGeom>
          <a:noFill/>
          <a:extLst>
            <a:ext uri="{909E8E84-426E-40DD-AFC4-6F175D3DCCD1}">
              <a14:hiddenFill xmlns:a14="http://schemas.microsoft.com/office/drawing/2010/main">
                <a:solidFill>
                  <a:srgbClr val="FFFFFF"/>
                </a:solidFill>
              </a14:hiddenFill>
            </a:ext>
          </a:extLst>
        </p:spPr>
      </p:pic>
      <p:pic>
        <p:nvPicPr>
          <p:cNvPr id="25" name="图片 2">
            <a:extLst>
              <a:ext uri="{FF2B5EF4-FFF2-40B4-BE49-F238E27FC236}">
                <a16:creationId xmlns:a16="http://schemas.microsoft.com/office/drawing/2014/main" id="{F8BF109E-91E7-BBA9-FFB7-F48675943241}"/>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311686" y="5384864"/>
            <a:ext cx="1764638" cy="127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图示 20">
            <a:extLst>
              <a:ext uri="{FF2B5EF4-FFF2-40B4-BE49-F238E27FC236}">
                <a16:creationId xmlns:a16="http://schemas.microsoft.com/office/drawing/2014/main" id="{0AC373DA-0A0C-B7A7-ADC4-99A276262CF3}"/>
              </a:ext>
            </a:extLst>
          </p:cNvPr>
          <p:cNvGraphicFramePr/>
          <p:nvPr>
            <p:extLst>
              <p:ext uri="{D42A27DB-BD31-4B8C-83A1-F6EECF244321}">
                <p14:modId xmlns:p14="http://schemas.microsoft.com/office/powerpoint/2010/main" val="2802310485"/>
              </p:ext>
            </p:extLst>
          </p:nvPr>
        </p:nvGraphicFramePr>
        <p:xfrm>
          <a:off x="6479540" y="2519354"/>
          <a:ext cx="5422819" cy="333375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3591697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45" name="文本框 44"/>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46" name="矩形 45"/>
          <p:cNvSpPr/>
          <p:nvPr/>
        </p:nvSpPr>
        <p:spPr>
          <a:xfrm>
            <a:off x="2380204" y="324999"/>
            <a:ext cx="3645029"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BACKGROUNDS</a:t>
            </a:r>
          </a:p>
        </p:txBody>
      </p:sp>
      <p:grpSp>
        <p:nvGrpSpPr>
          <p:cNvPr id="43" name="组 42"/>
          <p:cNvGrpSpPr/>
          <p:nvPr/>
        </p:nvGrpSpPr>
        <p:grpSpPr>
          <a:xfrm>
            <a:off x="11454106" y="252857"/>
            <a:ext cx="737892"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灯片编号占位符 3"/>
          <p:cNvSpPr>
            <a:spLocks noGrp="1"/>
          </p:cNvSpPr>
          <p:nvPr>
            <p:ph type="sldNum" sz="quarter" idx="12"/>
          </p:nvPr>
        </p:nvSpPr>
        <p:spPr/>
        <p:txBody>
          <a:bodyPr/>
          <a:lstStyle/>
          <a:p>
            <a:fld id="{888F8D02-9041-4C59-BC62-13DE0E5C6713}" type="slidenum">
              <a:rPr lang="zh-CN" altLang="en-US" sz="1400" b="1" smtClean="0"/>
              <a:pPr/>
              <a:t>6</a:t>
            </a:fld>
            <a:endParaRPr lang="zh-CN" altLang="en-US" b="1" dirty="0"/>
          </a:p>
        </p:txBody>
      </p:sp>
      <p:sp>
        <p:nvSpPr>
          <p:cNvPr id="12" name="AutoShape 2" descr="https://timgsa.baidu.com/timg?image&amp;quality=80&amp;size=b9999_10000&amp;sec=1555591435233&amp;di=3b938dc0d6caaa0601a59eed1669c242&amp;imgtype=0&amp;src=http%3A%2F%2Fimg009.hc360.cn%2Fm2%2FM04%2F6A%2FD9%2FwKhQcVQ_0A2EM2O0AAAAAJE9nEE324.jpg"/>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文本框 8">
            <a:extLst>
              <a:ext uri="{FF2B5EF4-FFF2-40B4-BE49-F238E27FC236}">
                <a16:creationId xmlns:a16="http://schemas.microsoft.com/office/drawing/2014/main" id="{A2A86138-3525-7AC8-7EE8-0EA12CA3E9BD}"/>
              </a:ext>
            </a:extLst>
          </p:cNvPr>
          <p:cNvSpPr txBox="1">
            <a:spLocks noChangeArrowheads="1"/>
          </p:cNvSpPr>
          <p:nvPr/>
        </p:nvSpPr>
        <p:spPr bwMode="auto">
          <a:xfrm>
            <a:off x="1024736" y="1126439"/>
            <a:ext cx="42084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r>
              <a:rPr lang="zh-CN" altLang="en-US" sz="3200" dirty="0"/>
              <a:t>磁性材料的居里温度</a:t>
            </a:r>
          </a:p>
        </p:txBody>
      </p:sp>
      <p:sp>
        <p:nvSpPr>
          <p:cNvPr id="3" name="文本框 1">
            <a:extLst>
              <a:ext uri="{FF2B5EF4-FFF2-40B4-BE49-F238E27FC236}">
                <a16:creationId xmlns:a16="http://schemas.microsoft.com/office/drawing/2014/main" id="{DEEFB8E6-AF64-2A18-836E-3A59268FB10A}"/>
              </a:ext>
            </a:extLst>
          </p:cNvPr>
          <p:cNvSpPr txBox="1">
            <a:spLocks noChangeArrowheads="1"/>
          </p:cNvSpPr>
          <p:nvPr/>
        </p:nvSpPr>
        <p:spPr bwMode="auto">
          <a:xfrm>
            <a:off x="1269646" y="1896529"/>
            <a:ext cx="63603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marL="342900" indent="-342900" eaLnBrk="1" hangingPunct="1">
              <a:buClr>
                <a:srgbClr val="3366FF"/>
              </a:buClr>
              <a:buFont typeface="Arial" panose="020B0604020202020204" pitchFamily="34" charset="0"/>
              <a:buChar char="•"/>
            </a:pPr>
            <a:r>
              <a:rPr kumimoji="1" lang="zh-CN" altLang="en-US" dirty="0">
                <a:solidFill>
                  <a:srgbClr val="FF0000"/>
                </a:solidFill>
              </a:rPr>
              <a:t>居里温度</a:t>
            </a:r>
            <a:r>
              <a:rPr kumimoji="1" lang="zh-CN" altLang="en-US" dirty="0">
                <a:solidFill>
                  <a:srgbClr val="404040"/>
                </a:solidFill>
              </a:rPr>
              <a:t>： 磁性材料的磁性参数之一。</a:t>
            </a:r>
            <a:endParaRPr lang="en-US" altLang="zh-CN" b="0" dirty="0"/>
          </a:p>
        </p:txBody>
      </p:sp>
      <p:sp>
        <p:nvSpPr>
          <p:cNvPr id="5" name="文本框 1">
            <a:extLst>
              <a:ext uri="{FF2B5EF4-FFF2-40B4-BE49-F238E27FC236}">
                <a16:creationId xmlns:a16="http://schemas.microsoft.com/office/drawing/2014/main" id="{6BC4148B-92CC-5329-152B-20522BE4F930}"/>
              </a:ext>
            </a:extLst>
          </p:cNvPr>
          <p:cNvSpPr txBox="1">
            <a:spLocks noChangeArrowheads="1"/>
          </p:cNvSpPr>
          <p:nvPr/>
        </p:nvSpPr>
        <p:spPr bwMode="auto">
          <a:xfrm>
            <a:off x="758212" y="5692052"/>
            <a:ext cx="106755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marL="342900" indent="-342900">
              <a:buFont typeface="Wingdings" pitchFamily="2" charset="2"/>
              <a:buChar char="Ø"/>
            </a:pPr>
            <a:r>
              <a:rPr lang="zh-CN" altLang="zh-CN" b="0" dirty="0"/>
              <a:t>本实验根据铁磁物质磁矩随温度变化的特性，采用</a:t>
            </a:r>
            <a:r>
              <a:rPr lang="zh-CN" altLang="zh-CN" i="1" dirty="0">
                <a:solidFill>
                  <a:srgbClr val="FF0000"/>
                </a:solidFill>
                <a:latin typeface="华文楷体" panose="02010600040101010101" pitchFamily="2" charset="-122"/>
                <a:ea typeface="华文楷体" panose="02010600040101010101" pitchFamily="2" charset="-122"/>
              </a:rPr>
              <a:t>交流电桥法</a:t>
            </a:r>
            <a:r>
              <a:rPr lang="zh-CN" altLang="zh-CN" b="0" dirty="0"/>
              <a:t>测量</a:t>
            </a:r>
            <a:r>
              <a:rPr lang="zh-CN" altLang="en-US" b="0" dirty="0"/>
              <a:t>居里温度。</a:t>
            </a:r>
          </a:p>
        </p:txBody>
      </p:sp>
      <p:pic>
        <p:nvPicPr>
          <p:cNvPr id="6" name="图片 3">
            <a:extLst>
              <a:ext uri="{FF2B5EF4-FFF2-40B4-BE49-F238E27FC236}">
                <a16:creationId xmlns:a16="http://schemas.microsoft.com/office/drawing/2014/main" id="{47FC0D3E-7A25-68AD-1EEF-98DFC0CCF6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3192" y="2900341"/>
            <a:ext cx="1725613"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4">
            <a:extLst>
              <a:ext uri="{FF2B5EF4-FFF2-40B4-BE49-F238E27FC236}">
                <a16:creationId xmlns:a16="http://schemas.microsoft.com/office/drawing/2014/main" id="{2E4CC8D1-E1A6-830A-492C-8F34A20C0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3500" y="2913239"/>
            <a:ext cx="1800225" cy="241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0C7F5459-4BDB-D682-9A0E-8EDBD91F5B38}"/>
              </a:ext>
            </a:extLst>
          </p:cNvPr>
          <p:cNvSpPr txBox="1"/>
          <p:nvPr/>
        </p:nvSpPr>
        <p:spPr>
          <a:xfrm>
            <a:off x="1269646" y="2380221"/>
            <a:ext cx="10289722" cy="461665"/>
          </a:xfrm>
          <a:prstGeom prst="rect">
            <a:avLst/>
          </a:prstGeom>
          <a:noFill/>
        </p:spPr>
        <p:txBody>
          <a:bodyPr wrap="square">
            <a:spAutoFit/>
          </a:bodyPr>
          <a:lstStyle/>
          <a:p>
            <a:r>
              <a:rPr kumimoji="1" lang="zh-CN" altLang="en-US" sz="2400" dirty="0">
                <a:latin typeface="SimSun" panose="02010600030101010101" pitchFamily="2" charset="-122"/>
                <a:ea typeface="SimSun" panose="02010600030101010101" pitchFamily="2" charset="-122"/>
              </a:rPr>
              <a:t>最早由法国物理学家</a:t>
            </a:r>
            <a:r>
              <a:rPr kumimoji="1" lang="zh-CN" altLang="en-US" sz="2400" dirty="0">
                <a:solidFill>
                  <a:srgbClr val="0052FF"/>
                </a:solidFill>
                <a:latin typeface="SimSun" panose="02010600030101010101" pitchFamily="2" charset="-122"/>
                <a:ea typeface="SimSun" panose="02010600030101010101" pitchFamily="2" charset="-122"/>
              </a:rPr>
              <a:t>皮埃尔</a:t>
            </a:r>
            <a:r>
              <a:rPr kumimoji="1" lang="en-US" altLang="zh-CN" sz="2400" dirty="0">
                <a:solidFill>
                  <a:srgbClr val="0052FF"/>
                </a:solidFill>
                <a:latin typeface="SimSun" panose="02010600030101010101" pitchFamily="2" charset="-122"/>
                <a:ea typeface="SimSun" panose="02010600030101010101" pitchFamily="2" charset="-122"/>
              </a:rPr>
              <a:t>·</a:t>
            </a:r>
            <a:r>
              <a:rPr kumimoji="1" lang="zh-CN" altLang="en-US" sz="2400" dirty="0">
                <a:solidFill>
                  <a:srgbClr val="0052FF"/>
                </a:solidFill>
                <a:latin typeface="SimSun" panose="02010600030101010101" pitchFamily="2" charset="-122"/>
                <a:ea typeface="SimSun" panose="02010600030101010101" pitchFamily="2" charset="-122"/>
              </a:rPr>
              <a:t>居里</a:t>
            </a:r>
            <a:r>
              <a:rPr kumimoji="1" lang="zh-CN" altLang="en-US" sz="2400" dirty="0">
                <a:latin typeface="SimSun" panose="02010600030101010101" pitchFamily="2" charset="-122"/>
                <a:ea typeface="SimSun" panose="02010600030101010101" pitchFamily="2" charset="-122"/>
              </a:rPr>
              <a:t>（</a:t>
            </a:r>
            <a:r>
              <a:rPr kumimoji="1" lang="zh-CN" altLang="zh-CN" sz="2400" dirty="0">
                <a:latin typeface="Times New Roman" panose="02020603050405020304" pitchFamily="18" charset="0"/>
                <a:ea typeface="SimSun" panose="02010600030101010101" pitchFamily="2" charset="-122"/>
                <a:cs typeface="Times New Roman" panose="02020603050405020304" pitchFamily="18" charset="0"/>
              </a:rPr>
              <a:t>Pierre Curie</a:t>
            </a:r>
            <a:r>
              <a:rPr kumimoji="1" lang="zh-CN" altLang="zh-CN" sz="2400" dirty="0">
                <a:latin typeface="SimSun" panose="02010600030101010101" pitchFamily="2" charset="-122"/>
                <a:ea typeface="SimSun" panose="02010600030101010101" pitchFamily="2" charset="-122"/>
              </a:rPr>
              <a:t>）</a:t>
            </a:r>
            <a:r>
              <a:rPr kumimoji="1" lang="zh-CN" altLang="en-US" sz="2400" dirty="0">
                <a:latin typeface="SimSun" panose="02010600030101010101" pitchFamily="2" charset="-122"/>
                <a:ea typeface="SimSun" panose="02010600030101010101" pitchFamily="2" charset="-122"/>
              </a:rPr>
              <a:t>在 </a:t>
            </a:r>
            <a:r>
              <a:rPr kumimoji="1" lang="en-US" altLang="zh-CN" sz="2400" dirty="0">
                <a:latin typeface="SimSun" panose="02010600030101010101" pitchFamily="2" charset="-122"/>
                <a:ea typeface="SimSun" panose="02010600030101010101" pitchFamily="2" charset="-122"/>
              </a:rPr>
              <a:t>19 </a:t>
            </a:r>
            <a:r>
              <a:rPr kumimoji="1" lang="zh-CN" altLang="en-US" sz="2400" dirty="0">
                <a:latin typeface="SimSun" panose="02010600030101010101" pitchFamily="2" charset="-122"/>
                <a:ea typeface="SimSun" panose="02010600030101010101" pitchFamily="2" charset="-122"/>
              </a:rPr>
              <a:t>世纪末提出。</a:t>
            </a:r>
          </a:p>
        </p:txBody>
      </p:sp>
      <p:graphicFrame>
        <p:nvGraphicFramePr>
          <p:cNvPr id="10" name="图示 9">
            <a:extLst>
              <a:ext uri="{FF2B5EF4-FFF2-40B4-BE49-F238E27FC236}">
                <a16:creationId xmlns:a16="http://schemas.microsoft.com/office/drawing/2014/main" id="{084BE0AD-0881-B894-E354-E88F5555857E}"/>
              </a:ext>
            </a:extLst>
          </p:cNvPr>
          <p:cNvGraphicFramePr/>
          <p:nvPr>
            <p:extLst>
              <p:ext uri="{D42A27DB-BD31-4B8C-83A1-F6EECF244321}">
                <p14:modId xmlns:p14="http://schemas.microsoft.com/office/powerpoint/2010/main" val="1302674430"/>
              </p:ext>
            </p:extLst>
          </p:nvPr>
        </p:nvGraphicFramePr>
        <p:xfrm>
          <a:off x="1509488" y="2955618"/>
          <a:ext cx="3337725" cy="225274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4" name="上箭头 13">
            <a:extLst>
              <a:ext uri="{FF2B5EF4-FFF2-40B4-BE49-F238E27FC236}">
                <a16:creationId xmlns:a16="http://schemas.microsoft.com/office/drawing/2014/main" id="{A02E5EBA-4F53-659C-D0B9-504436AEA169}"/>
              </a:ext>
            </a:extLst>
          </p:cNvPr>
          <p:cNvSpPr/>
          <p:nvPr/>
        </p:nvSpPr>
        <p:spPr>
          <a:xfrm>
            <a:off x="1481675" y="3238140"/>
            <a:ext cx="806328" cy="157396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升温</a:t>
            </a:r>
          </a:p>
        </p:txBody>
      </p:sp>
    </p:spTree>
    <p:extLst>
      <p:ext uri="{BB962C8B-B14F-4D97-AF65-F5344CB8AC3E}">
        <p14:creationId xmlns:p14="http://schemas.microsoft.com/office/powerpoint/2010/main" val="100192005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2</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实验目的</a:t>
              </a:r>
            </a:p>
          </p:txBody>
        </p:sp>
        <p:sp>
          <p:nvSpPr>
            <p:cNvPr id="53" name="矩形 52"/>
            <p:cNvSpPr/>
            <p:nvPr/>
          </p:nvSpPr>
          <p:spPr>
            <a:xfrm>
              <a:off x="5139124" y="3264361"/>
              <a:ext cx="3775132"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OBJECTIVE</a:t>
              </a:r>
            </a:p>
          </p:txBody>
        </p:sp>
      </p:grpSp>
    </p:spTree>
    <p:extLst>
      <p:ext uri="{BB962C8B-B14F-4D97-AF65-F5344CB8AC3E}">
        <p14:creationId xmlns:p14="http://schemas.microsoft.com/office/powerpoint/2010/main" val="298953834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5665" y="1663363"/>
            <a:ext cx="12197665" cy="4383821"/>
          </a:xfrm>
          <a:prstGeom prst="roundRect">
            <a:avLst>
              <a:gd name="adj" fmla="val 0"/>
            </a:avLst>
          </a:prstGeom>
          <a:solidFill>
            <a:schemeClr val="accent5">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cxnSp>
        <p:nvCxnSpPr>
          <p:cNvPr id="376" name="直接连接符 375"/>
          <p:cNvCxnSpPr/>
          <p:nvPr/>
        </p:nvCxnSpPr>
        <p:spPr>
          <a:xfrm>
            <a:off x="2231258" y="2828993"/>
            <a:ext cx="2905225" cy="16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381" name="直接连接符 380"/>
          <p:cNvCxnSpPr/>
          <p:nvPr/>
        </p:nvCxnSpPr>
        <p:spPr>
          <a:xfrm>
            <a:off x="2231260" y="3756439"/>
            <a:ext cx="2905225" cy="16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实验目的</a:t>
            </a:r>
          </a:p>
        </p:txBody>
      </p:sp>
      <p:sp>
        <p:nvSpPr>
          <p:cNvPr id="397" name="矩形 396"/>
          <p:cNvSpPr/>
          <p:nvPr/>
        </p:nvSpPr>
        <p:spPr>
          <a:xfrm>
            <a:off x="2615814" y="324999"/>
            <a:ext cx="3173809"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OBJECTIVE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cxnSp>
        <p:nvCxnSpPr>
          <p:cNvPr id="377" name="直接连接符 376"/>
          <p:cNvCxnSpPr/>
          <p:nvPr/>
        </p:nvCxnSpPr>
        <p:spPr>
          <a:xfrm>
            <a:off x="2231257" y="5067610"/>
            <a:ext cx="2905225" cy="16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文本框 2">
            <a:extLst>
              <a:ext uri="{FF2B5EF4-FFF2-40B4-BE49-F238E27FC236}">
                <a16:creationId xmlns:a16="http://schemas.microsoft.com/office/drawing/2014/main" id="{1B22184F-F184-6481-07E7-1FDE4A6BC91E}"/>
              </a:ext>
            </a:extLst>
          </p:cNvPr>
          <p:cNvSpPr txBox="1">
            <a:spLocks noChangeArrowheads="1"/>
          </p:cNvSpPr>
          <p:nvPr/>
        </p:nvSpPr>
        <p:spPr bwMode="auto">
          <a:xfrm>
            <a:off x="1419368" y="2277194"/>
            <a:ext cx="949884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eaLnBrk="1" hangingPunct="1">
              <a:buFont typeface="Wingdings 2" pitchFamily="2" charset="2"/>
              <a:buNone/>
            </a:pPr>
            <a:r>
              <a:rPr lang="en-US" altLang="zh-CN" sz="2800" b="0" dirty="0">
                <a:latin typeface="SimSun" panose="02010600030101010101" pitchFamily="2" charset="-122"/>
              </a:rPr>
              <a:t>1.</a:t>
            </a:r>
            <a:r>
              <a:rPr lang="zh-CN" altLang="en-US" sz="2800" b="0" dirty="0">
                <a:latin typeface="SimSun" panose="02010600030101010101" pitchFamily="2" charset="-122"/>
              </a:rPr>
              <a:t> </a:t>
            </a:r>
            <a:r>
              <a:rPr lang="zh-CN" altLang="zh-CN" sz="2800" b="0" dirty="0">
                <a:latin typeface="SimSun" panose="02010600030101010101" pitchFamily="2" charset="-122"/>
              </a:rPr>
              <a:t>了解铁磁物质由铁磁性转变为顺磁性的微观机理。</a:t>
            </a:r>
            <a:endParaRPr lang="en-US" altLang="zh-CN" sz="2800" b="0" dirty="0">
              <a:latin typeface="SimSun" panose="02010600030101010101" pitchFamily="2" charset="-122"/>
            </a:endParaRPr>
          </a:p>
          <a:p>
            <a:pPr eaLnBrk="1" hangingPunct="1"/>
            <a:endParaRPr lang="en-US" altLang="zh-CN" sz="2800" b="0" dirty="0">
              <a:latin typeface="SimSun" panose="02010600030101010101" pitchFamily="2" charset="-122"/>
            </a:endParaRPr>
          </a:p>
          <a:p>
            <a:pPr eaLnBrk="1" hangingPunct="1">
              <a:buFont typeface="Wingdings 2" pitchFamily="2" charset="2"/>
              <a:buNone/>
            </a:pPr>
            <a:r>
              <a:rPr lang="en-US" altLang="zh-CN" sz="2800" b="0" dirty="0">
                <a:latin typeface="SimSun" panose="02010600030101010101" pitchFamily="2" charset="-122"/>
              </a:rPr>
              <a:t>2</a:t>
            </a:r>
            <a:r>
              <a:rPr lang="zh-CN" altLang="zh-CN" sz="2800" b="0" dirty="0">
                <a:latin typeface="SimSun" panose="02010600030101010101" pitchFamily="2" charset="-122"/>
              </a:rPr>
              <a:t>．利用交流电桥法测定铁磁材料</a:t>
            </a:r>
            <a:r>
              <a:rPr lang="zh-CN" altLang="en-US" sz="2800" b="0" dirty="0">
                <a:latin typeface="SimSun" panose="02010600030101010101" pitchFamily="2" charset="-122"/>
              </a:rPr>
              <a:t>样品</a:t>
            </a:r>
            <a:r>
              <a:rPr lang="zh-CN" altLang="zh-CN" sz="2800" b="0" dirty="0">
                <a:latin typeface="SimSun" panose="02010600030101010101" pitchFamily="2" charset="-122"/>
              </a:rPr>
              <a:t>居里温度。</a:t>
            </a:r>
            <a:endParaRPr lang="en-US" altLang="zh-CN" sz="2800" b="0" dirty="0">
              <a:latin typeface="SimSun" panose="02010600030101010101" pitchFamily="2" charset="-122"/>
            </a:endParaRPr>
          </a:p>
          <a:p>
            <a:pPr eaLnBrk="1" hangingPunct="1">
              <a:buFont typeface="Wingdings 2" pitchFamily="2" charset="2"/>
              <a:buNone/>
            </a:pPr>
            <a:endParaRPr lang="en-US" altLang="zh-CN" sz="2800" b="0" dirty="0">
              <a:latin typeface="SimSun" panose="02010600030101010101" pitchFamily="2" charset="-122"/>
            </a:endParaRPr>
          </a:p>
          <a:p>
            <a:pPr eaLnBrk="1" hangingPunct="1"/>
            <a:r>
              <a:rPr lang="en-US" altLang="zh-CN" sz="2800" b="0" dirty="0">
                <a:latin typeface="SimSun" panose="02010600030101010101" pitchFamily="2" charset="-122"/>
              </a:rPr>
              <a:t>3</a:t>
            </a:r>
            <a:r>
              <a:rPr lang="zh-CN" altLang="zh-CN" sz="2800" b="0" dirty="0">
                <a:latin typeface="SimSun" panose="02010600030101010101" pitchFamily="2" charset="-122"/>
              </a:rPr>
              <a:t>．分析</a:t>
            </a:r>
            <a:r>
              <a:rPr lang="zh-CN" altLang="en-US" sz="2800" b="0" dirty="0">
                <a:latin typeface="SimSun" panose="02010600030101010101" pitchFamily="2" charset="-122"/>
              </a:rPr>
              <a:t>加热速率和</a:t>
            </a:r>
            <a:r>
              <a:rPr lang="zh-CN" altLang="zh-CN" sz="2800" b="0" dirty="0">
                <a:latin typeface="SimSun" panose="02010600030101010101" pitchFamily="2" charset="-122"/>
              </a:rPr>
              <a:t>交流电桥输入信号频率对居里温度测试结果的影响。</a:t>
            </a:r>
            <a:endParaRPr lang="en-US" altLang="zh-CN" sz="2800" b="0" dirty="0">
              <a:latin typeface="SimSun" panose="02010600030101010101" pitchFamily="2" charset="-122"/>
            </a:endParaRPr>
          </a:p>
        </p:txBody>
      </p:sp>
      <p:sp>
        <p:nvSpPr>
          <p:cNvPr id="3" name="矩形 20483">
            <a:extLst>
              <a:ext uri="{FF2B5EF4-FFF2-40B4-BE49-F238E27FC236}">
                <a16:creationId xmlns:a16="http://schemas.microsoft.com/office/drawing/2014/main" id="{F77227EB-C73C-8255-6EB0-3DA9601C3C60}"/>
              </a:ext>
            </a:extLst>
          </p:cNvPr>
          <p:cNvSpPr>
            <a:spLocks noChangeArrowheads="1" noChangeShapeType="1" noTextEdit="1"/>
          </p:cNvSpPr>
          <p:nvPr/>
        </p:nvSpPr>
        <p:spPr bwMode="auto">
          <a:xfrm>
            <a:off x="5016500" y="2794000"/>
            <a:ext cx="2762250" cy="47625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zh-CN" altLang="en-US" sz="3000" kern="10">
                <a:gradFill rotWithShape="1">
                  <a:gsLst>
                    <a:gs pos="0">
                      <a:srgbClr val="FFFF00"/>
                    </a:gs>
                    <a:gs pos="100000">
                      <a:srgbClr val="FF9933"/>
                    </a:gs>
                  </a:gsLst>
                  <a:path path="rect">
                    <a:fillToRect l="50000" t="50000" r="50000" b="50000"/>
                  </a:path>
                </a:gradFill>
                <a:effectLst>
                  <a:outerShdw dist="35921" dir="2700000" algn="ctr" rotWithShape="0">
                    <a:srgbClr val="C0C0C0"/>
                  </a:outerShdw>
                </a:effectLst>
                <a:latin typeface="SimSun" panose="02010600030101010101" pitchFamily="2" charset="-122"/>
              </a:rPr>
              <a:t>   </a:t>
            </a:r>
          </a:p>
        </p:txBody>
      </p:sp>
    </p:spTree>
    <p:extLst>
      <p:ext uri="{BB962C8B-B14F-4D97-AF65-F5344CB8AC3E}">
        <p14:creationId xmlns:p14="http://schemas.microsoft.com/office/powerpoint/2010/main" val="397233532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3</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实验原理</a:t>
              </a:r>
            </a:p>
          </p:txBody>
        </p:sp>
        <p:sp>
          <p:nvSpPr>
            <p:cNvPr id="53" name="矩形 52"/>
            <p:cNvSpPr/>
            <p:nvPr/>
          </p:nvSpPr>
          <p:spPr>
            <a:xfrm>
              <a:off x="5173029" y="3264361"/>
              <a:ext cx="3821620"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PRINCIPLE</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3995968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 name="内容占位符 2">
            <a:extLst>
              <a:ext uri="{FF2B5EF4-FFF2-40B4-BE49-F238E27FC236}">
                <a16:creationId xmlns:a16="http://schemas.microsoft.com/office/drawing/2014/main" id="{4B70EFF0-08D4-1239-D7D0-1328C4E0646A}"/>
              </a:ext>
            </a:extLst>
          </p:cNvPr>
          <p:cNvSpPr>
            <a:spLocks noGrp="1"/>
          </p:cNvSpPr>
          <p:nvPr>
            <p:ph idx="1"/>
          </p:nvPr>
        </p:nvSpPr>
        <p:spPr>
          <a:xfrm>
            <a:off x="647718" y="1227969"/>
            <a:ext cx="5549251" cy="385762"/>
          </a:xfrm>
        </p:spPr>
        <p:txBody>
          <a:bodyPr>
            <a:noAutofit/>
          </a:bodyPr>
          <a:lstStyle/>
          <a:p>
            <a:pPr marL="0" indent="0" eaLnBrk="1" hangingPunct="1">
              <a:buFont typeface="Calibri" panose="020F0502020204030204" pitchFamily="34" charset="0"/>
              <a:buNone/>
            </a:pPr>
            <a:r>
              <a:rPr kumimoji="1" lang="en-US" altLang="zh-CN" b="1" dirty="0">
                <a:solidFill>
                  <a:schemeClr val="tx1"/>
                </a:solidFill>
                <a:latin typeface="SimSun" panose="02010600030101010101" pitchFamily="2" charset="-122"/>
                <a:ea typeface="SimSun" panose="02010600030101010101" pitchFamily="2" charset="-122"/>
              </a:rPr>
              <a:t>3.1</a:t>
            </a:r>
            <a:r>
              <a:rPr kumimoji="1" lang="zh-CN" altLang="en-US" b="1" dirty="0">
                <a:solidFill>
                  <a:schemeClr val="tx1"/>
                </a:solidFill>
                <a:latin typeface="SimSun" panose="02010600030101010101" pitchFamily="2" charset="-122"/>
                <a:ea typeface="SimSun" panose="02010600030101010101" pitchFamily="2" charset="-122"/>
              </a:rPr>
              <a:t> 原子类型决定材料磁化行为</a:t>
            </a:r>
            <a:endParaRPr lang="en-US" altLang="zh-CN" b="1" dirty="0">
              <a:solidFill>
                <a:schemeClr val="tx1"/>
              </a:solidFill>
              <a:latin typeface="SimSun" panose="02010600030101010101" pitchFamily="2" charset="-122"/>
              <a:ea typeface="SimSun" panose="02010600030101010101" pitchFamily="2" charset="-122"/>
            </a:endParaRPr>
          </a:p>
        </p:txBody>
      </p:sp>
      <p:grpSp>
        <p:nvGrpSpPr>
          <p:cNvPr id="4" name="组合 3">
            <a:extLst>
              <a:ext uri="{FF2B5EF4-FFF2-40B4-BE49-F238E27FC236}">
                <a16:creationId xmlns:a16="http://schemas.microsoft.com/office/drawing/2014/main" id="{530C49E5-E4DB-E800-00FA-277A7594CD6C}"/>
              </a:ext>
            </a:extLst>
          </p:cNvPr>
          <p:cNvGrpSpPr>
            <a:grpSpLocks/>
          </p:cNvGrpSpPr>
          <p:nvPr/>
        </p:nvGrpSpPr>
        <p:grpSpPr bwMode="auto">
          <a:xfrm>
            <a:off x="5345896" y="1718221"/>
            <a:ext cx="6039619" cy="3898299"/>
            <a:chOff x="485683" y="1460500"/>
            <a:chExt cx="4836368" cy="3402282"/>
          </a:xfrm>
        </p:grpSpPr>
        <p:pic>
          <p:nvPicPr>
            <p:cNvPr id="5" name="图片 3">
              <a:extLst>
                <a:ext uri="{FF2B5EF4-FFF2-40B4-BE49-F238E27FC236}">
                  <a16:creationId xmlns:a16="http://schemas.microsoft.com/office/drawing/2014/main" id="{939AA3A3-5C97-96F5-2EEB-0CBE01FC48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1453" b="15422"/>
            <a:stretch>
              <a:fillRect/>
            </a:stretch>
          </p:blipFill>
          <p:spPr bwMode="auto">
            <a:xfrm>
              <a:off x="636137" y="1460500"/>
              <a:ext cx="4685914" cy="3402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2">
              <a:extLst>
                <a:ext uri="{FF2B5EF4-FFF2-40B4-BE49-F238E27FC236}">
                  <a16:creationId xmlns:a16="http://schemas.microsoft.com/office/drawing/2014/main" id="{C4FE7DFA-AE0F-E839-9419-B1A6883FAA9C}"/>
                </a:ext>
              </a:extLst>
            </p:cNvPr>
            <p:cNvSpPr txBox="1">
              <a:spLocks noChangeArrowheads="1"/>
            </p:cNvSpPr>
            <p:nvPr/>
          </p:nvSpPr>
          <p:spPr bwMode="auto">
            <a:xfrm>
              <a:off x="549803" y="2225551"/>
              <a:ext cx="882119" cy="40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buFont typeface="Wingdings" pitchFamily="2" charset="2"/>
                <a:buChar char="ü"/>
              </a:pPr>
              <a:r>
                <a:rPr kumimoji="1" lang="zh-CN" altLang="en-US" dirty="0">
                  <a:solidFill>
                    <a:srgbClr val="FF0000"/>
                  </a:solidFill>
                </a:rPr>
                <a:t>铁磁</a:t>
              </a:r>
            </a:p>
          </p:txBody>
        </p:sp>
        <p:sp>
          <p:nvSpPr>
            <p:cNvPr id="7" name="文本框 11">
              <a:extLst>
                <a:ext uri="{FF2B5EF4-FFF2-40B4-BE49-F238E27FC236}">
                  <a16:creationId xmlns:a16="http://schemas.microsoft.com/office/drawing/2014/main" id="{2A7BED99-A617-DDD2-C165-D5D3242EB412}"/>
                </a:ext>
              </a:extLst>
            </p:cNvPr>
            <p:cNvSpPr txBox="1">
              <a:spLocks noChangeArrowheads="1"/>
            </p:cNvSpPr>
            <p:nvPr/>
          </p:nvSpPr>
          <p:spPr bwMode="auto">
            <a:xfrm>
              <a:off x="485683" y="2514830"/>
              <a:ext cx="1133713" cy="40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buFont typeface="Wingdings" pitchFamily="2" charset="2"/>
                <a:buChar char="ü"/>
              </a:pPr>
              <a:r>
                <a:rPr kumimoji="1" lang="zh-CN" altLang="en-US" dirty="0"/>
                <a:t>亚铁磁</a:t>
              </a:r>
            </a:p>
          </p:txBody>
        </p:sp>
        <p:sp>
          <p:nvSpPr>
            <p:cNvPr id="8" name="文本框 12">
              <a:extLst>
                <a:ext uri="{FF2B5EF4-FFF2-40B4-BE49-F238E27FC236}">
                  <a16:creationId xmlns:a16="http://schemas.microsoft.com/office/drawing/2014/main" id="{175086D9-CD99-DFFC-FE53-6B1EB5F0B1E9}"/>
                </a:ext>
              </a:extLst>
            </p:cNvPr>
            <p:cNvSpPr txBox="1">
              <a:spLocks noChangeArrowheads="1"/>
            </p:cNvSpPr>
            <p:nvPr/>
          </p:nvSpPr>
          <p:spPr bwMode="auto">
            <a:xfrm>
              <a:off x="575452" y="3257760"/>
              <a:ext cx="882119" cy="40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buFont typeface="Wingdings" pitchFamily="2" charset="2"/>
                <a:buChar char="ü"/>
              </a:pPr>
              <a:r>
                <a:rPr kumimoji="1" lang="zh-CN" altLang="en-US" dirty="0"/>
                <a:t>顺磁</a:t>
              </a:r>
            </a:p>
          </p:txBody>
        </p:sp>
        <p:sp>
          <p:nvSpPr>
            <p:cNvPr id="9" name="文本框 13">
              <a:extLst>
                <a:ext uri="{FF2B5EF4-FFF2-40B4-BE49-F238E27FC236}">
                  <a16:creationId xmlns:a16="http://schemas.microsoft.com/office/drawing/2014/main" id="{351BEFDE-D34B-764B-3823-B0BFCE47CFF7}"/>
                </a:ext>
              </a:extLst>
            </p:cNvPr>
            <p:cNvSpPr txBox="1">
              <a:spLocks noChangeArrowheads="1"/>
            </p:cNvSpPr>
            <p:nvPr/>
          </p:nvSpPr>
          <p:spPr bwMode="auto">
            <a:xfrm>
              <a:off x="575452" y="4170382"/>
              <a:ext cx="882119" cy="40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buFont typeface="Wingdings" pitchFamily="2" charset="2"/>
                <a:buChar char="ü"/>
              </a:pPr>
              <a:r>
                <a:rPr kumimoji="1" lang="zh-CN" altLang="en-US" dirty="0"/>
                <a:t>抗磁</a:t>
              </a:r>
            </a:p>
          </p:txBody>
        </p:sp>
      </p:grpSp>
      <p:grpSp>
        <p:nvGrpSpPr>
          <p:cNvPr id="10" name="组合 5">
            <a:extLst>
              <a:ext uri="{FF2B5EF4-FFF2-40B4-BE49-F238E27FC236}">
                <a16:creationId xmlns:a16="http://schemas.microsoft.com/office/drawing/2014/main" id="{80B695C3-C5A4-57EA-C73A-8BAEF93F8010}"/>
              </a:ext>
            </a:extLst>
          </p:cNvPr>
          <p:cNvGrpSpPr>
            <a:grpSpLocks/>
          </p:cNvGrpSpPr>
          <p:nvPr/>
        </p:nvGrpSpPr>
        <p:grpSpPr bwMode="auto">
          <a:xfrm>
            <a:off x="740885" y="2640568"/>
            <a:ext cx="4963095" cy="3171221"/>
            <a:chOff x="5328184" y="2201312"/>
            <a:chExt cx="4075658" cy="2436740"/>
          </a:xfrm>
        </p:grpSpPr>
        <p:pic>
          <p:nvPicPr>
            <p:cNvPr id="11" name="图片 5">
              <a:extLst>
                <a:ext uri="{FF2B5EF4-FFF2-40B4-BE49-F238E27FC236}">
                  <a16:creationId xmlns:a16="http://schemas.microsoft.com/office/drawing/2014/main" id="{26AE5844-D0F6-3106-A768-915BD1C809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2693"/>
            <a:stretch>
              <a:fillRect/>
            </a:stretch>
          </p:blipFill>
          <p:spPr bwMode="auto">
            <a:xfrm>
              <a:off x="5328184" y="2201312"/>
              <a:ext cx="3491999"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4">
              <a:extLst>
                <a:ext uri="{FF2B5EF4-FFF2-40B4-BE49-F238E27FC236}">
                  <a16:creationId xmlns:a16="http://schemas.microsoft.com/office/drawing/2014/main" id="{0120EF08-0E40-296D-22B7-B2EB91D75F65}"/>
                </a:ext>
              </a:extLst>
            </p:cNvPr>
            <p:cNvSpPr txBox="1">
              <a:spLocks noChangeArrowheads="1"/>
            </p:cNvSpPr>
            <p:nvPr/>
          </p:nvSpPr>
          <p:spPr bwMode="auto">
            <a:xfrm>
              <a:off x="5382054" y="3999521"/>
              <a:ext cx="4021788" cy="638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buFont typeface="Wingdings" pitchFamily="2" charset="2"/>
                <a:buChar char="ü"/>
              </a:pPr>
              <a:r>
                <a:rPr kumimoji="1" lang="zh-CN" altLang="en-US" dirty="0">
                  <a:solidFill>
                    <a:srgbClr val="0000FF"/>
                  </a:solidFill>
                  <a:latin typeface="Corbel" panose="020B0503020204020204" pitchFamily="34" charset="0"/>
                </a:rPr>
                <a:t>原子磁矩</a:t>
              </a:r>
              <a:endParaRPr kumimoji="1" lang="en-US" altLang="zh-CN" dirty="0">
                <a:solidFill>
                  <a:srgbClr val="0000FF"/>
                </a:solidFill>
                <a:latin typeface="Corbel" panose="020B0503020204020204" pitchFamily="34" charset="0"/>
              </a:endParaRPr>
            </a:p>
            <a:p>
              <a:pPr marL="0" indent="0"/>
              <a:r>
                <a:rPr lang="zh-CN" altLang="en-US" dirty="0">
                  <a:solidFill>
                    <a:srgbClr val="000000"/>
                  </a:solidFill>
                </a:rPr>
                <a:t>（由电子的自旋和轨道运动产生）</a:t>
              </a:r>
              <a:endParaRPr kumimoji="1" lang="zh-CN" altLang="en-US" dirty="0"/>
            </a:p>
          </p:txBody>
        </p:sp>
      </p:grpSp>
    </p:spTree>
    <p:extLst>
      <p:ext uri="{BB962C8B-B14F-4D97-AF65-F5344CB8AC3E}">
        <p14:creationId xmlns:p14="http://schemas.microsoft.com/office/powerpoint/2010/main" val="85223245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pic>
        <p:nvPicPr>
          <p:cNvPr id="3" name="图片 1">
            <a:extLst>
              <a:ext uri="{FF2B5EF4-FFF2-40B4-BE49-F238E27FC236}">
                <a16:creationId xmlns:a16="http://schemas.microsoft.com/office/drawing/2014/main" id="{DA28CE46-CB48-8BF9-DD55-D89D5A38CC63}"/>
              </a:ext>
            </a:extLst>
          </p:cNvPr>
          <p:cNvPicPr>
            <a:picLocks noChangeAspect="1"/>
          </p:cNvPicPr>
          <p:nvPr/>
        </p:nvPicPr>
        <p:blipFill>
          <a:blip r:embed="rId3">
            <a:extLst>
              <a:ext uri="{28A0092B-C50C-407E-A947-70E740481C1C}">
                <a14:useLocalDpi xmlns:a14="http://schemas.microsoft.com/office/drawing/2010/main" val="0"/>
              </a:ext>
            </a:extLst>
          </a:blip>
          <a:srcRect b="7281"/>
          <a:stretch>
            <a:fillRect/>
          </a:stretch>
        </p:blipFill>
        <p:spPr bwMode="auto">
          <a:xfrm>
            <a:off x="1030187" y="1788150"/>
            <a:ext cx="2856437" cy="208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2">
            <a:extLst>
              <a:ext uri="{FF2B5EF4-FFF2-40B4-BE49-F238E27FC236}">
                <a16:creationId xmlns:a16="http://schemas.microsoft.com/office/drawing/2014/main" id="{E25CC2E4-8CE7-CCD7-02B1-2389111F575E}"/>
              </a:ext>
            </a:extLst>
          </p:cNvPr>
          <p:cNvPicPr>
            <a:picLocks noChangeAspect="1"/>
          </p:cNvPicPr>
          <p:nvPr/>
        </p:nvPicPr>
        <p:blipFill>
          <a:blip r:embed="rId4">
            <a:extLst>
              <a:ext uri="{28A0092B-C50C-407E-A947-70E740481C1C}">
                <a14:useLocalDpi xmlns:a14="http://schemas.microsoft.com/office/drawing/2010/main" val="0"/>
              </a:ext>
            </a:extLst>
          </a:blip>
          <a:srcRect t="3198" r="15929" b="20445"/>
          <a:stretch>
            <a:fillRect/>
          </a:stretch>
        </p:blipFill>
        <p:spPr bwMode="auto">
          <a:xfrm>
            <a:off x="3986862" y="1780193"/>
            <a:ext cx="2999570" cy="208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5522A042-90E7-2047-D6FB-ABA7F371BD75}"/>
              </a:ext>
            </a:extLst>
          </p:cNvPr>
          <p:cNvSpPr txBox="1">
            <a:spLocks noChangeArrowheads="1"/>
          </p:cNvSpPr>
          <p:nvPr/>
        </p:nvSpPr>
        <p:spPr bwMode="auto">
          <a:xfrm>
            <a:off x="1185884" y="3868247"/>
            <a:ext cx="9820231" cy="31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r>
              <a:rPr lang="zh-CN" altLang="en-US" sz="1400" dirty="0">
                <a:solidFill>
                  <a:schemeClr val="tx1"/>
                </a:solidFill>
                <a:latin typeface="Corbel" panose="020B0503020204020204" pitchFamily="34" charset="0"/>
              </a:rPr>
              <a:t>左</a:t>
            </a:r>
            <a:r>
              <a:rPr lang="zh-CN" altLang="zh-CN" sz="1400" dirty="0">
                <a:solidFill>
                  <a:schemeClr val="tx1"/>
                </a:solidFill>
                <a:latin typeface="Corbel" panose="020B0503020204020204" pitchFamily="34" charset="0"/>
              </a:rPr>
              <a:t>图</a:t>
            </a:r>
            <a:r>
              <a:rPr lang="zh-CN" altLang="en-US" sz="1400" dirty="0">
                <a:solidFill>
                  <a:schemeClr val="tx1"/>
                </a:solidFill>
                <a:latin typeface="Corbel" panose="020B0503020204020204" pitchFamily="34" charset="0"/>
              </a:rPr>
              <a:t>：</a:t>
            </a:r>
            <a:r>
              <a:rPr lang="en-US" altLang="zh-CN" sz="1400" dirty="0">
                <a:solidFill>
                  <a:schemeClr val="tx1"/>
                </a:solidFill>
                <a:latin typeface="Corbel" panose="020B0503020204020204" pitchFamily="34" charset="0"/>
              </a:rPr>
              <a:t> </a:t>
            </a:r>
            <a:r>
              <a:rPr lang="zh-CN" altLang="zh-CN" sz="1400" dirty="0">
                <a:solidFill>
                  <a:schemeClr val="tx1"/>
                </a:solidFill>
                <a:latin typeface="Corbel" panose="020B0503020204020204" pitchFamily="34" charset="0"/>
              </a:rPr>
              <a:t>未加磁场多晶磁畴结构 </a:t>
            </a:r>
            <a:r>
              <a:rPr lang="en-US" altLang="zh-CN" sz="1400" dirty="0">
                <a:solidFill>
                  <a:schemeClr val="tx1"/>
                </a:solidFill>
                <a:latin typeface="Corbel" panose="020B0503020204020204" pitchFamily="34" charset="0"/>
              </a:rPr>
              <a:t>       </a:t>
            </a:r>
            <a:r>
              <a:rPr lang="zh-CN" altLang="en-US" sz="1400" dirty="0">
                <a:solidFill>
                  <a:schemeClr val="tx1"/>
                </a:solidFill>
                <a:latin typeface="Corbel" panose="020B0503020204020204" pitchFamily="34" charset="0"/>
              </a:rPr>
              <a:t>              中</a:t>
            </a:r>
            <a:r>
              <a:rPr lang="zh-CN" altLang="zh-CN" sz="1400" dirty="0">
                <a:solidFill>
                  <a:schemeClr val="tx1"/>
                </a:solidFill>
                <a:latin typeface="Corbel" panose="020B0503020204020204" pitchFamily="34" charset="0"/>
              </a:rPr>
              <a:t>图：加磁场多晶磁畴结构</a:t>
            </a:r>
            <a:r>
              <a:rPr lang="zh-CN" altLang="en-US" sz="1400" dirty="0">
                <a:solidFill>
                  <a:schemeClr val="tx1"/>
                </a:solidFill>
                <a:latin typeface="Corbel" panose="020B0503020204020204" pitchFamily="34" charset="0"/>
              </a:rPr>
              <a:t>                                                           右图：磁畴照片</a:t>
            </a:r>
            <a:r>
              <a:rPr lang="en-US" altLang="zh-CN" sz="1400" dirty="0">
                <a:solidFill>
                  <a:schemeClr val="tx1"/>
                </a:solidFill>
                <a:latin typeface="Corbel" panose="020B0503020204020204" pitchFamily="34" charset="0"/>
              </a:rPr>
              <a:t> </a:t>
            </a:r>
            <a:endParaRPr kumimoji="1" lang="zh-CN" altLang="en-US" sz="1400" dirty="0">
              <a:solidFill>
                <a:schemeClr val="tx1"/>
              </a:solidFill>
              <a:latin typeface="Corbel" panose="020B0503020204020204" pitchFamily="34" charset="0"/>
            </a:endParaRPr>
          </a:p>
        </p:txBody>
      </p:sp>
      <p:sp>
        <p:nvSpPr>
          <p:cNvPr id="6" name="文本框 7">
            <a:extLst>
              <a:ext uri="{FF2B5EF4-FFF2-40B4-BE49-F238E27FC236}">
                <a16:creationId xmlns:a16="http://schemas.microsoft.com/office/drawing/2014/main" id="{6AD2ADFF-0032-A74C-55CE-46FD2D44ECDE}"/>
              </a:ext>
            </a:extLst>
          </p:cNvPr>
          <p:cNvSpPr txBox="1">
            <a:spLocks noChangeArrowheads="1"/>
          </p:cNvSpPr>
          <p:nvPr/>
        </p:nvSpPr>
        <p:spPr bwMode="auto">
          <a:xfrm>
            <a:off x="924925" y="4303611"/>
            <a:ext cx="10529181" cy="2369880"/>
          </a:xfrm>
          <a:prstGeom prst="rect">
            <a:avLst/>
          </a:prstGeom>
          <a:noFill/>
          <a:ln>
            <a:noFill/>
          </a:ln>
        </p:spPr>
        <p:txBody>
          <a:bodyPr wrap="square">
            <a:spAutoFit/>
          </a:bodyPr>
          <a:lstStyle>
            <a:lvl1pPr>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marL="171450" indent="-171450">
              <a:buFont typeface="Wingdings" pitchFamily="2" charset="2"/>
              <a:buChar char="Ø"/>
              <a:defRPr/>
            </a:pPr>
            <a:r>
              <a:rPr lang="zh-CN" altLang="en-US" sz="2800" dirty="0">
                <a:solidFill>
                  <a:srgbClr val="000000"/>
                </a:solidFill>
              </a:rPr>
              <a:t>铁磁质具有</a:t>
            </a:r>
            <a:r>
              <a:rPr lang="zh-CN" altLang="en-US" sz="2800" dirty="0">
                <a:solidFill>
                  <a:srgbClr val="FF0000"/>
                </a:solidFill>
              </a:rPr>
              <a:t>磁畴</a:t>
            </a:r>
            <a:r>
              <a:rPr lang="zh-CN" altLang="en-US" sz="2800" dirty="0">
                <a:solidFill>
                  <a:srgbClr val="000000"/>
                </a:solidFill>
              </a:rPr>
              <a:t>：</a:t>
            </a:r>
            <a:endParaRPr lang="en-US" altLang="zh-CN" sz="2800" dirty="0">
              <a:solidFill>
                <a:srgbClr val="000000"/>
              </a:solidFill>
            </a:endParaRPr>
          </a:p>
          <a:p>
            <a:pPr>
              <a:defRPr/>
            </a:pPr>
            <a:r>
              <a:rPr lang="zh-CN" altLang="en-US" dirty="0">
                <a:solidFill>
                  <a:srgbClr val="000000"/>
                </a:solidFill>
              </a:rPr>
              <a:t>无外加磁场时，</a:t>
            </a:r>
            <a:r>
              <a:rPr kumimoji="1" lang="zh-CN" altLang="en-US" dirty="0">
                <a:solidFill>
                  <a:srgbClr val="0000FF"/>
                </a:solidFill>
                <a:latin typeface="Corbel" panose="020B0503020204020204" pitchFamily="34" charset="0"/>
              </a:rPr>
              <a:t>原子磁矩</a:t>
            </a:r>
            <a:r>
              <a:rPr lang="zh-CN" altLang="en-US" dirty="0">
                <a:solidFill>
                  <a:srgbClr val="000000"/>
                </a:solidFill>
              </a:rPr>
              <a:t>之间存在</a:t>
            </a:r>
            <a:r>
              <a:rPr kumimoji="1" lang="zh-CN" altLang="en-US" dirty="0">
                <a:solidFill>
                  <a:srgbClr val="0000FF"/>
                </a:solidFill>
                <a:latin typeface="Corbel" panose="020B0503020204020204" pitchFamily="34" charset="0"/>
              </a:rPr>
              <a:t>交换作用</a:t>
            </a:r>
            <a:r>
              <a:rPr lang="zh-CN" altLang="en-US" dirty="0">
                <a:solidFill>
                  <a:srgbClr val="000000"/>
                </a:solidFill>
              </a:rPr>
              <a:t>（量子力学效应：相邻原子的自旋倾向于平行排列，以最小化系统的总能量）而</a:t>
            </a:r>
            <a:r>
              <a:rPr kumimoji="1" lang="zh-CN" altLang="en-US" dirty="0">
                <a:solidFill>
                  <a:srgbClr val="0000FF"/>
                </a:solidFill>
                <a:latin typeface="Corbel" panose="020B0503020204020204" pitchFamily="34" charset="0"/>
              </a:rPr>
              <a:t>自发对齐。</a:t>
            </a:r>
            <a:br>
              <a:rPr lang="en-US" altLang="zh-CN" dirty="0">
                <a:solidFill>
                  <a:srgbClr val="000000"/>
                </a:solidFill>
              </a:rPr>
            </a:br>
            <a:r>
              <a:rPr lang="zh-CN" altLang="en-US" dirty="0">
                <a:solidFill>
                  <a:srgbClr val="000000"/>
                </a:solidFill>
              </a:rPr>
              <a:t>这种作用使得大量磁矩在局部区域（磁畴）中排列一致（强烈的自发磁化）；但整体材料的外部磁场可以很弱（磁化方向不同的磁畴的形成，达到能量最小化状态）。</a:t>
            </a:r>
          </a:p>
        </p:txBody>
      </p:sp>
      <p:sp>
        <p:nvSpPr>
          <p:cNvPr id="7" name="内容占位符 2">
            <a:extLst>
              <a:ext uri="{FF2B5EF4-FFF2-40B4-BE49-F238E27FC236}">
                <a16:creationId xmlns:a16="http://schemas.microsoft.com/office/drawing/2014/main" id="{C2CE4EBA-A360-0AE6-E473-8EF59117FA64}"/>
              </a:ext>
            </a:extLst>
          </p:cNvPr>
          <p:cNvSpPr>
            <a:spLocks noGrp="1"/>
          </p:cNvSpPr>
          <p:nvPr>
            <p:ph idx="1"/>
          </p:nvPr>
        </p:nvSpPr>
        <p:spPr>
          <a:xfrm>
            <a:off x="1030187" y="1086583"/>
            <a:ext cx="4741803" cy="385762"/>
          </a:xfrm>
        </p:spPr>
        <p:txBody>
          <a:bodyPr>
            <a:noAutofit/>
          </a:bodyPr>
          <a:lstStyle/>
          <a:p>
            <a:pPr marL="0" indent="0" eaLnBrk="1" hangingPunct="1">
              <a:buFont typeface="Calibri" panose="020F0502020204030204" pitchFamily="34" charset="0"/>
              <a:buNone/>
            </a:pPr>
            <a:r>
              <a:rPr kumimoji="1" lang="en-US" altLang="zh-CN" b="1" dirty="0">
                <a:solidFill>
                  <a:schemeClr val="tx1"/>
                </a:solidFill>
                <a:latin typeface="SimSun" panose="02010600030101010101" pitchFamily="2" charset="-122"/>
                <a:ea typeface="SimSun" panose="02010600030101010101" pitchFamily="2" charset="-122"/>
              </a:rPr>
              <a:t>3.2</a:t>
            </a:r>
            <a:r>
              <a:rPr kumimoji="1" lang="zh-CN" altLang="en-US" b="1" dirty="0">
                <a:solidFill>
                  <a:schemeClr val="tx1"/>
                </a:solidFill>
                <a:latin typeface="SimSun" panose="02010600030101010101" pitchFamily="2" charset="-122"/>
                <a:ea typeface="SimSun" panose="02010600030101010101" pitchFamily="2" charset="-122"/>
              </a:rPr>
              <a:t> 铁磁质的磁化规律</a:t>
            </a:r>
            <a:endParaRPr kumimoji="1" lang="en-US" altLang="zh-CN" b="1" dirty="0">
              <a:solidFill>
                <a:schemeClr val="tx1"/>
              </a:solidFill>
              <a:latin typeface="SimSun" panose="02010600030101010101" pitchFamily="2" charset="-122"/>
              <a:ea typeface="SimSun" panose="02010600030101010101" pitchFamily="2" charset="-122"/>
            </a:endParaRPr>
          </a:p>
          <a:p>
            <a:pPr marL="0" indent="0" eaLnBrk="1" hangingPunct="1">
              <a:buNone/>
            </a:pPr>
            <a:r>
              <a:rPr lang="en-US" altLang="zh-CN" b="1" dirty="0">
                <a:solidFill>
                  <a:schemeClr val="tx1"/>
                </a:solidFill>
                <a:latin typeface="SimSun" panose="02010600030101010101" pitchFamily="2" charset="-122"/>
                <a:ea typeface="SimSun" panose="02010600030101010101" pitchFamily="2" charset="-122"/>
              </a:rPr>
              <a:t>  </a:t>
            </a:r>
          </a:p>
        </p:txBody>
      </p:sp>
      <p:pic>
        <p:nvPicPr>
          <p:cNvPr id="2050" name="Picture 2">
            <a:extLst>
              <a:ext uri="{FF2B5EF4-FFF2-40B4-BE49-F238E27FC236}">
                <a16:creationId xmlns:a16="http://schemas.microsoft.com/office/drawing/2014/main" id="{70C293CB-900F-2A9A-9B49-FDAE6125EC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2129" y="1848173"/>
            <a:ext cx="4311977" cy="193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89221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 name="内容占位符 2">
            <a:extLst>
              <a:ext uri="{FF2B5EF4-FFF2-40B4-BE49-F238E27FC236}">
                <a16:creationId xmlns:a16="http://schemas.microsoft.com/office/drawing/2014/main" id="{543B5669-82CF-F290-7B67-34E4BB1D5DB3}"/>
              </a:ext>
            </a:extLst>
          </p:cNvPr>
          <p:cNvSpPr>
            <a:spLocks noGrp="1"/>
          </p:cNvSpPr>
          <p:nvPr>
            <p:ph idx="1"/>
          </p:nvPr>
        </p:nvSpPr>
        <p:spPr>
          <a:xfrm>
            <a:off x="647718" y="1773693"/>
            <a:ext cx="10911650" cy="2726639"/>
          </a:xfrm>
        </p:spPr>
        <p:txBody>
          <a:bodyPr>
            <a:noAutofit/>
          </a:bodyPr>
          <a:lstStyle/>
          <a:p>
            <a:pPr>
              <a:lnSpc>
                <a:spcPct val="120000"/>
              </a:lnSpc>
            </a:pPr>
            <a:r>
              <a:rPr lang="zh-CN" altLang="en-US" sz="2400" dirty="0">
                <a:latin typeface="SimSun" panose="02010600030101010101" pitchFamily="2" charset="-122"/>
                <a:ea typeface="SimSun" panose="02010600030101010101" pitchFamily="2" charset="-122"/>
              </a:rPr>
              <a:t>  对于处于外磁场中的磁体，</a:t>
            </a:r>
            <a:r>
              <a:rPr lang="zh-CN" altLang="zh-CN" sz="2400" dirty="0">
                <a:latin typeface="SimSun" panose="02010600030101010101" pitchFamily="2" charset="-122"/>
                <a:ea typeface="SimSun" panose="02010600030101010101" pitchFamily="2" charset="-122"/>
              </a:rPr>
              <a:t>磁介质的磁化规律可用磁感应强度</a:t>
            </a:r>
            <a:r>
              <a:rPr lang="en-US" altLang="zh-CN" sz="2400" dirty="0">
                <a:latin typeface="SimSun" panose="02010600030101010101" pitchFamily="2" charset="-122"/>
                <a:ea typeface="SimSun" panose="02010600030101010101" pitchFamily="2" charset="-122"/>
              </a:rPr>
              <a:t>B</a:t>
            </a:r>
            <a:r>
              <a:rPr lang="zh-CN" altLang="zh-CN" sz="2400" dirty="0">
                <a:latin typeface="SimSun" panose="02010600030101010101" pitchFamily="2" charset="-122"/>
                <a:ea typeface="SimSun" panose="02010600030101010101" pitchFamily="2" charset="-122"/>
              </a:rPr>
              <a:t>、磁化强度</a:t>
            </a:r>
            <a:r>
              <a:rPr lang="en-US" altLang="zh-CN" sz="2400" dirty="0">
                <a:latin typeface="SimSun" panose="02010600030101010101" pitchFamily="2" charset="-122"/>
                <a:ea typeface="SimSun" panose="02010600030101010101" pitchFamily="2" charset="-122"/>
              </a:rPr>
              <a:t>M</a:t>
            </a:r>
            <a:r>
              <a:rPr lang="zh-CN" altLang="zh-CN" sz="2400" dirty="0">
                <a:latin typeface="SimSun" panose="02010600030101010101" pitchFamily="2" charset="-122"/>
                <a:ea typeface="SimSun" panose="02010600030101010101" pitchFamily="2" charset="-122"/>
              </a:rPr>
              <a:t>和磁场强度</a:t>
            </a:r>
            <a:r>
              <a:rPr lang="en-US" altLang="zh-CN" sz="2400" dirty="0">
                <a:latin typeface="SimSun" panose="02010600030101010101" pitchFamily="2" charset="-122"/>
                <a:ea typeface="SimSun" panose="02010600030101010101" pitchFamily="2" charset="-122"/>
              </a:rPr>
              <a:t>H</a:t>
            </a:r>
            <a:r>
              <a:rPr lang="zh-CN" altLang="zh-CN" sz="2400" dirty="0">
                <a:latin typeface="SimSun" panose="02010600030101010101" pitchFamily="2" charset="-122"/>
                <a:ea typeface="SimSun" panose="02010600030101010101" pitchFamily="2" charset="-122"/>
              </a:rPr>
              <a:t>来描述</a:t>
            </a:r>
            <a:r>
              <a:rPr lang="zh-CN" altLang="en-US" sz="2400" dirty="0">
                <a:latin typeface="SimSun" panose="02010600030101010101" pitchFamily="2" charset="-122"/>
                <a:ea typeface="SimSun" panose="02010600030101010101" pitchFamily="2" charset="-122"/>
              </a:rPr>
              <a:t>：</a:t>
            </a:r>
            <a:endParaRPr lang="en-US" altLang="zh-CN" sz="2400" dirty="0">
              <a:latin typeface="SimSun" panose="02010600030101010101" pitchFamily="2" charset="-122"/>
              <a:ea typeface="SimSun" panose="02010600030101010101" pitchFamily="2" charset="-122"/>
            </a:endParaRPr>
          </a:p>
          <a:p>
            <a:pPr>
              <a:lnSpc>
                <a:spcPct val="120000"/>
              </a:lnSpc>
            </a:pPr>
            <a:endParaRPr lang="en-US" altLang="zh-CN" sz="2400" dirty="0">
              <a:latin typeface="SimSun" panose="02010600030101010101" pitchFamily="2" charset="-122"/>
              <a:ea typeface="SimSun" panose="02010600030101010101" pitchFamily="2" charset="-122"/>
              <a:sym typeface="Symbol" pitchFamily="2" charset="2"/>
            </a:endParaRPr>
          </a:p>
          <a:p>
            <a:pPr eaLnBrk="1" hangingPunct="1">
              <a:lnSpc>
                <a:spcPct val="120000"/>
              </a:lnSpc>
              <a:buFont typeface="Calibri" panose="020F0502020204030204" pitchFamily="34" charset="0"/>
              <a:buNone/>
            </a:pPr>
            <a:r>
              <a:rPr lang="zh-CN" altLang="en-US" sz="2400" dirty="0">
                <a:latin typeface="SimSun" panose="02010600030101010101" pitchFamily="2" charset="-122"/>
                <a:ea typeface="SimSun" panose="02010600030101010101" pitchFamily="2" charset="-122"/>
                <a:sym typeface="Symbol" pitchFamily="2" charset="2"/>
              </a:rPr>
              <a:t>其中，参数</a:t>
            </a:r>
            <a:r>
              <a:rPr lang="en-US" altLang="zh-CN" sz="2400" i="1" dirty="0">
                <a:latin typeface="SimSun" panose="02010600030101010101" pitchFamily="2" charset="-122"/>
                <a:ea typeface="SimSun" panose="02010600030101010101" pitchFamily="2" charset="-122"/>
                <a:sym typeface="Symbol" pitchFamily="2" charset="2"/>
              </a:rPr>
              <a:t></a:t>
            </a:r>
            <a:r>
              <a:rPr lang="en-US" altLang="zh-CN" sz="2400" baseline="-25000" dirty="0">
                <a:latin typeface="SimSun" panose="02010600030101010101" pitchFamily="2" charset="-122"/>
                <a:ea typeface="SimSun" panose="02010600030101010101" pitchFamily="2" charset="-122"/>
              </a:rPr>
              <a:t>0</a:t>
            </a:r>
            <a:r>
              <a:rPr lang="en-US" altLang="zh-CN" sz="2400" dirty="0">
                <a:latin typeface="SimSun" panose="02010600030101010101" pitchFamily="2" charset="-122"/>
                <a:ea typeface="SimSun" panose="02010600030101010101" pitchFamily="2" charset="-122"/>
              </a:rPr>
              <a:t> = 4π×10</a:t>
            </a:r>
            <a:r>
              <a:rPr lang="en-US" altLang="zh-CN" sz="2400" baseline="30000" dirty="0">
                <a:latin typeface="SimSun" panose="02010600030101010101" pitchFamily="2" charset="-122"/>
                <a:ea typeface="SimSun" panose="02010600030101010101" pitchFamily="2" charset="-122"/>
              </a:rPr>
              <a:t>-7</a:t>
            </a:r>
            <a:r>
              <a:rPr lang="en-US" altLang="zh-CN" sz="2400" dirty="0">
                <a:latin typeface="SimSun" panose="02010600030101010101" pitchFamily="2" charset="-122"/>
                <a:ea typeface="SimSun" panose="02010600030101010101" pitchFamily="2" charset="-122"/>
              </a:rPr>
              <a:t>H/m</a:t>
            </a:r>
            <a:r>
              <a:rPr lang="zh-CN" altLang="zh-CN" sz="2400" dirty="0">
                <a:latin typeface="SimSun" panose="02010600030101010101" pitchFamily="2" charset="-122"/>
                <a:ea typeface="SimSun" panose="02010600030101010101" pitchFamily="2" charset="-122"/>
              </a:rPr>
              <a:t>为真空磁导率，</a:t>
            </a:r>
            <a:r>
              <a:rPr lang="zh-CN" altLang="zh-CN" sz="2400" i="1" dirty="0">
                <a:solidFill>
                  <a:srgbClr val="0000FF"/>
                </a:solidFill>
                <a:latin typeface="Corbel" panose="020B0503020204020204" pitchFamily="34" charset="0"/>
              </a:rPr>
              <a:t> μ</a:t>
            </a:r>
            <a:r>
              <a:rPr lang="zh-CN" altLang="zh-CN" sz="2400" dirty="0">
                <a:latin typeface="SimSun" panose="02010600030101010101" pitchFamily="2" charset="-122"/>
                <a:ea typeface="SimSun" panose="02010600030101010101" pitchFamily="2" charset="-122"/>
              </a:rPr>
              <a:t>为绝对磁导率</a:t>
            </a:r>
            <a:r>
              <a:rPr lang="zh-CN" altLang="en-US" sz="2400" dirty="0">
                <a:latin typeface="SimSun" panose="02010600030101010101" pitchFamily="2" charset="-122"/>
                <a:ea typeface="SimSun" panose="02010600030101010101" pitchFamily="2" charset="-122"/>
              </a:rPr>
              <a:t>，</a:t>
            </a:r>
            <a:r>
              <a:rPr lang="zh-CN" altLang="zh-CN" sz="2400" dirty="0">
                <a:solidFill>
                  <a:srgbClr val="0000FF"/>
                </a:solidFill>
                <a:latin typeface="Corbel" panose="020B0503020204020204" pitchFamily="34" charset="0"/>
              </a:rPr>
              <a:t> </a:t>
            </a:r>
            <a:r>
              <a:rPr lang="zh-CN" altLang="zh-CN" sz="2400" i="1" dirty="0">
                <a:solidFill>
                  <a:srgbClr val="0000FF"/>
                </a:solidFill>
                <a:latin typeface="Corbel" panose="020B0503020204020204" pitchFamily="34" charset="0"/>
              </a:rPr>
              <a:t>μ</a:t>
            </a:r>
            <a:r>
              <a:rPr lang="en-US" altLang="zh-CN" sz="2400" baseline="-25000" dirty="0">
                <a:solidFill>
                  <a:srgbClr val="0000FF"/>
                </a:solidFill>
                <a:latin typeface="Corbel" panose="020B0503020204020204" pitchFamily="34" charset="0"/>
              </a:rPr>
              <a:t>r</a:t>
            </a:r>
            <a:r>
              <a:rPr lang="zh-CN" altLang="zh-CN" sz="2400" dirty="0">
                <a:latin typeface="SimSun" panose="02010600030101010101" pitchFamily="2" charset="-122"/>
                <a:ea typeface="SimSun" panose="02010600030101010101" pitchFamily="2" charset="-122"/>
              </a:rPr>
              <a:t>为相对磁导率</a:t>
            </a:r>
            <a:r>
              <a:rPr lang="zh-CN" altLang="en-US" sz="2400" dirty="0">
                <a:latin typeface="SimSun" panose="02010600030101010101" pitchFamily="2" charset="-122"/>
                <a:ea typeface="SimSun" panose="02010600030101010101" pitchFamily="2" charset="-122"/>
              </a:rPr>
              <a:t>，是表征磁体磁化难易程度的一个磁学量，</a:t>
            </a:r>
            <a:r>
              <a:rPr lang="en-US" altLang="zh-CN" sz="2400" dirty="0">
                <a:solidFill>
                  <a:srgbClr val="0000FF"/>
                </a:solidFill>
                <a:latin typeface="Corbel" panose="020B0503020204020204" pitchFamily="34" charset="0"/>
              </a:rPr>
              <a:t> </a:t>
            </a:r>
            <a:r>
              <a:rPr lang="en-US" altLang="zh-CN" sz="2400" i="1" dirty="0" err="1">
                <a:solidFill>
                  <a:srgbClr val="0000FF"/>
                </a:solidFill>
                <a:latin typeface="Corbel" panose="020B0503020204020204" pitchFamily="34" charset="0"/>
              </a:rPr>
              <a:t>χ</a:t>
            </a:r>
            <a:r>
              <a:rPr lang="en-US" altLang="zh-CN" sz="2400" baseline="-25000" dirty="0" err="1">
                <a:solidFill>
                  <a:srgbClr val="0000FF"/>
                </a:solidFill>
                <a:latin typeface="Corbel" panose="020B0503020204020204" pitchFamily="34" charset="0"/>
              </a:rPr>
              <a:t>m</a:t>
            </a:r>
            <a:r>
              <a:rPr lang="zh-CN" altLang="zh-CN" sz="2400" dirty="0">
                <a:latin typeface="SimSun" panose="02010600030101010101" pitchFamily="2" charset="-122"/>
                <a:ea typeface="SimSun" panose="02010600030101010101" pitchFamily="2" charset="-122"/>
              </a:rPr>
              <a:t>为磁化率，</a:t>
            </a:r>
            <a:r>
              <a:rPr lang="zh-CN" altLang="en-US" sz="2400" dirty="0">
                <a:latin typeface="SimSun" panose="02010600030101010101" pitchFamily="2" charset="-122"/>
                <a:ea typeface="SimSun" panose="02010600030101010101" pitchFamily="2" charset="-122"/>
              </a:rPr>
              <a:t>表征磁体磁性强弱</a:t>
            </a:r>
            <a:r>
              <a:rPr lang="zh-CN" altLang="zh-CN" sz="2400" dirty="0">
                <a:latin typeface="SimSun" panose="02010600030101010101" pitchFamily="2" charset="-122"/>
                <a:ea typeface="SimSun" panose="02010600030101010101" pitchFamily="2" charset="-122"/>
              </a:rPr>
              <a:t>。</a:t>
            </a:r>
            <a:r>
              <a:rPr lang="en-US" altLang="zh-CN" sz="2400" dirty="0">
                <a:latin typeface="SimSun" panose="02010600030101010101" pitchFamily="2" charset="-122"/>
                <a:ea typeface="SimSun" panose="02010600030101010101" pitchFamily="2" charset="-122"/>
              </a:rPr>
              <a:t> </a:t>
            </a:r>
            <a:endParaRPr lang="en-US" altLang="zh-CN" sz="2400" dirty="0"/>
          </a:p>
        </p:txBody>
      </p:sp>
      <p:graphicFrame>
        <p:nvGraphicFramePr>
          <p:cNvPr id="4" name="Object 75">
            <a:extLst>
              <a:ext uri="{FF2B5EF4-FFF2-40B4-BE49-F238E27FC236}">
                <a16:creationId xmlns:a16="http://schemas.microsoft.com/office/drawing/2014/main" id="{AB0F0DD9-854D-1590-0D65-03B7F9338516}"/>
              </a:ext>
            </a:extLst>
          </p:cNvPr>
          <p:cNvGraphicFramePr>
            <a:graphicFrameLocks noChangeAspect="1"/>
          </p:cNvGraphicFramePr>
          <p:nvPr>
            <p:extLst>
              <p:ext uri="{D42A27DB-BD31-4B8C-83A1-F6EECF244321}">
                <p14:modId xmlns:p14="http://schemas.microsoft.com/office/powerpoint/2010/main" val="147878023"/>
              </p:ext>
            </p:extLst>
          </p:nvPr>
        </p:nvGraphicFramePr>
        <p:xfrm>
          <a:off x="2676112" y="2785305"/>
          <a:ext cx="6555044" cy="527969"/>
        </p:xfrm>
        <a:graphic>
          <a:graphicData uri="http://schemas.openxmlformats.org/presentationml/2006/ole">
            <mc:AlternateContent xmlns:mc="http://schemas.openxmlformats.org/markup-compatibility/2006">
              <mc:Choice xmlns:v="urn:schemas-microsoft-com:vml" Requires="v">
                <p:oleObj name="公式" r:id="rId3" imgW="2679700" imgH="215900" progId="Equation.3">
                  <p:embed/>
                </p:oleObj>
              </mc:Choice>
              <mc:Fallback>
                <p:oleObj name="公式" r:id="rId3" imgW="2679700" imgH="215900" progId="Equation.3">
                  <p:embed/>
                  <p:pic>
                    <p:nvPicPr>
                      <p:cNvPr id="40963" name="Object 75">
                        <a:extLst>
                          <a:ext uri="{FF2B5EF4-FFF2-40B4-BE49-F238E27FC236}">
                            <a16:creationId xmlns:a16="http://schemas.microsoft.com/office/drawing/2014/main" id="{4A60BAA4-6902-E2AA-F006-B2F504D4F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6112" y="2785305"/>
                        <a:ext cx="6555044" cy="527969"/>
                      </a:xfrm>
                      <a:prstGeom prst="rect">
                        <a:avLst/>
                      </a:prstGeom>
                      <a:noFill/>
                      <a:ln>
                        <a:noFill/>
                      </a:ln>
                    </p:spPr>
                  </p:pic>
                </p:oleObj>
              </mc:Fallback>
            </mc:AlternateContent>
          </a:graphicData>
        </a:graphic>
      </p:graphicFrame>
      <p:sp>
        <p:nvSpPr>
          <p:cNvPr id="5" name="文本框 4">
            <a:extLst>
              <a:ext uri="{FF2B5EF4-FFF2-40B4-BE49-F238E27FC236}">
                <a16:creationId xmlns:a16="http://schemas.microsoft.com/office/drawing/2014/main" id="{64CD6368-EAE9-23B4-C5F3-D4A6127D92CF}"/>
              </a:ext>
            </a:extLst>
          </p:cNvPr>
          <p:cNvSpPr txBox="1"/>
          <p:nvPr/>
        </p:nvSpPr>
        <p:spPr>
          <a:xfrm>
            <a:off x="892584" y="4911779"/>
            <a:ext cx="3567056" cy="1200329"/>
          </a:xfrm>
          <a:prstGeom prst="rect">
            <a:avLst/>
          </a:prstGeom>
          <a:noFill/>
          <a:ln w="28575" cmpd="sng">
            <a:solidFill>
              <a:schemeClr val="accent1">
                <a:lumMod val="75000"/>
              </a:schemeClr>
            </a:solidFill>
          </a:ln>
        </p:spPr>
        <p:txBody>
          <a:bodyPr wrap="square">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defRPr/>
            </a:pPr>
            <a:r>
              <a:rPr kumimoji="1" lang="zh-CN" altLang="en-US" sz="2400" dirty="0">
                <a:solidFill>
                  <a:srgbClr val="0000FF"/>
                </a:solidFill>
                <a:latin typeface="Corbel" panose="020B0503020204020204" pitchFamily="34" charset="0"/>
              </a:rPr>
              <a:t>顺磁性：</a:t>
            </a:r>
            <a:r>
              <a:rPr lang="en-US" altLang="zh-CN" sz="2400" i="1" dirty="0" err="1">
                <a:solidFill>
                  <a:srgbClr val="0000FF"/>
                </a:solidFill>
                <a:latin typeface="Corbel" panose="020B0503020204020204" pitchFamily="34" charset="0"/>
              </a:rPr>
              <a:t>χ</a:t>
            </a:r>
            <a:r>
              <a:rPr lang="en-US" altLang="zh-CN" sz="2400" baseline="-25000" dirty="0" err="1">
                <a:solidFill>
                  <a:srgbClr val="0000FF"/>
                </a:solidFill>
                <a:latin typeface="Corbel" panose="020B0503020204020204" pitchFamily="34" charset="0"/>
              </a:rPr>
              <a:t>m</a:t>
            </a:r>
            <a:r>
              <a:rPr kumimoji="1" lang="en-US" altLang="zh-CN" sz="2400" dirty="0">
                <a:solidFill>
                  <a:srgbClr val="0000FF"/>
                </a:solidFill>
                <a:latin typeface="Corbel" panose="020B0503020204020204" pitchFamily="34" charset="0"/>
              </a:rPr>
              <a:t>&gt;0, </a:t>
            </a:r>
            <a:r>
              <a:rPr lang="zh-CN" altLang="zh-CN" sz="2400" i="1" dirty="0">
                <a:solidFill>
                  <a:srgbClr val="0000FF"/>
                </a:solidFill>
                <a:latin typeface="Corbel" panose="020B0503020204020204" pitchFamily="34" charset="0"/>
              </a:rPr>
              <a:t>μ</a:t>
            </a:r>
            <a:r>
              <a:rPr lang="en-US" altLang="zh-CN" sz="2400" baseline="-25000" dirty="0">
                <a:solidFill>
                  <a:srgbClr val="0000FF"/>
                </a:solidFill>
                <a:latin typeface="Corbel" panose="020B0503020204020204" pitchFamily="34" charset="0"/>
              </a:rPr>
              <a:t>r</a:t>
            </a:r>
            <a:r>
              <a:rPr lang="zh-CN" altLang="en-US" sz="2400" dirty="0">
                <a:solidFill>
                  <a:srgbClr val="0000FF"/>
                </a:solidFill>
                <a:latin typeface="Corbel" panose="020B0503020204020204" pitchFamily="34" charset="0"/>
              </a:rPr>
              <a:t>略大于</a:t>
            </a:r>
            <a:r>
              <a:rPr lang="en-US" altLang="zh-CN" sz="2400" dirty="0">
                <a:solidFill>
                  <a:srgbClr val="0000FF"/>
                </a:solidFill>
                <a:latin typeface="Corbel" panose="020B0503020204020204" pitchFamily="34" charset="0"/>
              </a:rPr>
              <a:t>1</a:t>
            </a:r>
            <a:endParaRPr kumimoji="1" lang="en-US" altLang="zh-CN" sz="2400" dirty="0">
              <a:solidFill>
                <a:srgbClr val="0000FF"/>
              </a:solidFill>
              <a:latin typeface="Corbel" panose="020B0503020204020204" pitchFamily="34" charset="0"/>
            </a:endParaRPr>
          </a:p>
          <a:p>
            <a:pPr eaLnBrk="1" hangingPunct="1">
              <a:lnSpc>
                <a:spcPct val="100000"/>
              </a:lnSpc>
              <a:spcBef>
                <a:spcPct val="0"/>
              </a:spcBef>
              <a:spcAft>
                <a:spcPct val="0"/>
              </a:spcAft>
              <a:buClrTx/>
              <a:buSzTx/>
              <a:buFontTx/>
              <a:buNone/>
              <a:defRPr/>
            </a:pPr>
            <a:r>
              <a:rPr kumimoji="1" lang="zh-CN" altLang="en-US" sz="2400" dirty="0">
                <a:solidFill>
                  <a:srgbClr val="0000FF"/>
                </a:solidFill>
                <a:latin typeface="Corbel" panose="020B0503020204020204" pitchFamily="34" charset="0"/>
              </a:rPr>
              <a:t>抗磁性：</a:t>
            </a:r>
            <a:r>
              <a:rPr lang="en-US" altLang="zh-CN" sz="2400" i="1" dirty="0" err="1">
                <a:solidFill>
                  <a:srgbClr val="0000FF"/>
                </a:solidFill>
                <a:latin typeface="Corbel" panose="020B0503020204020204" pitchFamily="34" charset="0"/>
              </a:rPr>
              <a:t>χ</a:t>
            </a:r>
            <a:r>
              <a:rPr lang="en-US" altLang="zh-CN" sz="2400" baseline="-25000" dirty="0" err="1">
                <a:solidFill>
                  <a:srgbClr val="0000FF"/>
                </a:solidFill>
                <a:latin typeface="Corbel" panose="020B0503020204020204" pitchFamily="34" charset="0"/>
              </a:rPr>
              <a:t>m</a:t>
            </a:r>
            <a:r>
              <a:rPr kumimoji="1" lang="en-US" altLang="zh-CN" sz="2400" dirty="0">
                <a:solidFill>
                  <a:srgbClr val="0000FF"/>
                </a:solidFill>
                <a:latin typeface="Corbel" panose="020B0503020204020204" pitchFamily="34" charset="0"/>
              </a:rPr>
              <a:t>&lt;0, </a:t>
            </a:r>
            <a:r>
              <a:rPr lang="zh-CN" altLang="zh-CN" sz="2400" i="1" dirty="0">
                <a:solidFill>
                  <a:srgbClr val="0000FF"/>
                </a:solidFill>
                <a:latin typeface="Corbel" panose="020B0503020204020204" pitchFamily="34" charset="0"/>
              </a:rPr>
              <a:t>μ</a:t>
            </a:r>
            <a:r>
              <a:rPr lang="en-US" altLang="zh-CN" sz="2400" baseline="-25000" dirty="0">
                <a:solidFill>
                  <a:srgbClr val="0000FF"/>
                </a:solidFill>
                <a:latin typeface="Corbel" panose="020B0503020204020204" pitchFamily="34" charset="0"/>
              </a:rPr>
              <a:t>r</a:t>
            </a:r>
            <a:r>
              <a:rPr lang="zh-CN" altLang="en-US" sz="2400" dirty="0">
                <a:solidFill>
                  <a:srgbClr val="0000FF"/>
                </a:solidFill>
                <a:latin typeface="Corbel" panose="020B0503020204020204" pitchFamily="34" charset="0"/>
              </a:rPr>
              <a:t>略小于</a:t>
            </a:r>
            <a:r>
              <a:rPr lang="en-US" altLang="zh-CN" sz="2400" dirty="0">
                <a:solidFill>
                  <a:srgbClr val="0000FF"/>
                </a:solidFill>
                <a:latin typeface="Corbel" panose="020B0503020204020204" pitchFamily="34" charset="0"/>
              </a:rPr>
              <a:t>1</a:t>
            </a:r>
            <a:endParaRPr kumimoji="1" lang="en-US" altLang="zh-CN" sz="2400" dirty="0">
              <a:solidFill>
                <a:srgbClr val="0000FF"/>
              </a:solidFill>
              <a:latin typeface="Corbel" panose="020B0503020204020204" pitchFamily="34" charset="0"/>
            </a:endParaRPr>
          </a:p>
          <a:p>
            <a:pPr eaLnBrk="1" hangingPunct="1">
              <a:lnSpc>
                <a:spcPct val="100000"/>
              </a:lnSpc>
              <a:spcBef>
                <a:spcPct val="0"/>
              </a:spcBef>
              <a:spcAft>
                <a:spcPct val="0"/>
              </a:spcAft>
              <a:buClrTx/>
              <a:buSzTx/>
              <a:buFontTx/>
              <a:buNone/>
              <a:defRPr/>
            </a:pPr>
            <a:r>
              <a:rPr kumimoji="1" lang="zh-CN" altLang="en-US" sz="2400" dirty="0">
                <a:solidFill>
                  <a:srgbClr val="FF0000"/>
                </a:solidFill>
                <a:latin typeface="Corbel" panose="020B0503020204020204" pitchFamily="34" charset="0"/>
              </a:rPr>
              <a:t>铁磁性：</a:t>
            </a:r>
            <a:r>
              <a:rPr lang="en-US" altLang="zh-CN" sz="2400" i="1" dirty="0" err="1">
                <a:solidFill>
                  <a:srgbClr val="FF0000"/>
                </a:solidFill>
                <a:latin typeface="Corbel" panose="020B0503020204020204" pitchFamily="34" charset="0"/>
              </a:rPr>
              <a:t>χ</a:t>
            </a:r>
            <a:r>
              <a:rPr lang="en-US" altLang="zh-CN" sz="2400" baseline="-25000" dirty="0" err="1">
                <a:solidFill>
                  <a:srgbClr val="FF0000"/>
                </a:solidFill>
                <a:latin typeface="Corbel" panose="020B0503020204020204" pitchFamily="34" charset="0"/>
              </a:rPr>
              <a:t>m</a:t>
            </a:r>
            <a:r>
              <a:rPr kumimoji="1" lang="en-US" altLang="zh-CN" sz="2400" dirty="0">
                <a:solidFill>
                  <a:srgbClr val="FF0000"/>
                </a:solidFill>
                <a:latin typeface="Corbel" panose="020B0503020204020204" pitchFamily="34" charset="0"/>
              </a:rPr>
              <a:t>&gt;&gt;1, </a:t>
            </a:r>
            <a:r>
              <a:rPr lang="zh-CN" altLang="zh-CN" sz="2400" i="1" dirty="0">
                <a:solidFill>
                  <a:srgbClr val="FF0000"/>
                </a:solidFill>
                <a:latin typeface="Corbel" panose="020B0503020204020204" pitchFamily="34" charset="0"/>
              </a:rPr>
              <a:t>μ</a:t>
            </a:r>
            <a:r>
              <a:rPr lang="en-US" altLang="zh-CN" sz="2400" baseline="-25000" dirty="0">
                <a:solidFill>
                  <a:srgbClr val="FF0000"/>
                </a:solidFill>
                <a:latin typeface="Corbel" panose="020B0503020204020204" pitchFamily="34" charset="0"/>
              </a:rPr>
              <a:t>r</a:t>
            </a:r>
            <a:r>
              <a:rPr lang="en-US" altLang="zh-CN" sz="2400" dirty="0">
                <a:solidFill>
                  <a:srgbClr val="FF0000"/>
                </a:solidFill>
                <a:latin typeface="Corbel" panose="020B0503020204020204" pitchFamily="34" charset="0"/>
              </a:rPr>
              <a:t>&gt;&gt;1</a:t>
            </a:r>
            <a:endParaRPr kumimoji="1" lang="en-US" altLang="zh-CN" sz="2400" dirty="0">
              <a:solidFill>
                <a:srgbClr val="FF0000"/>
              </a:solidFill>
              <a:latin typeface="Corbel" panose="020B0503020204020204" pitchFamily="34" charset="0"/>
            </a:endParaRPr>
          </a:p>
        </p:txBody>
      </p:sp>
      <p:sp>
        <p:nvSpPr>
          <p:cNvPr id="6" name="文本框 5">
            <a:extLst>
              <a:ext uri="{FF2B5EF4-FFF2-40B4-BE49-F238E27FC236}">
                <a16:creationId xmlns:a16="http://schemas.microsoft.com/office/drawing/2014/main" id="{1BECE15F-AD7D-C3C5-D34B-A549AA78CA34}"/>
              </a:ext>
            </a:extLst>
          </p:cNvPr>
          <p:cNvSpPr txBox="1"/>
          <p:nvPr/>
        </p:nvSpPr>
        <p:spPr>
          <a:xfrm>
            <a:off x="4849462" y="4486784"/>
            <a:ext cx="6492620" cy="2015936"/>
          </a:xfrm>
          <a:prstGeom prst="rect">
            <a:avLst/>
          </a:prstGeom>
          <a:noFill/>
          <a:ln w="28575" cmpd="sng">
            <a:solidFill>
              <a:schemeClr val="tx1">
                <a:lumMod val="75000"/>
                <a:lumOff val="25000"/>
              </a:schemeClr>
            </a:solidFill>
          </a:ln>
        </p:spPr>
        <p:txBody>
          <a:bodyPr wrap="square">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marL="285750" indent="-285750" eaLnBrk="1" hangingPunct="1">
              <a:lnSpc>
                <a:spcPct val="100000"/>
              </a:lnSpc>
              <a:spcBef>
                <a:spcPct val="0"/>
              </a:spcBef>
              <a:spcAft>
                <a:spcPts val="600"/>
              </a:spcAft>
              <a:buClrTx/>
              <a:buSzTx/>
              <a:buFont typeface="Wingdings" pitchFamily="2" charset="2"/>
              <a:buChar char="Ø"/>
              <a:defRPr/>
            </a:pPr>
            <a:r>
              <a:rPr kumimoji="1" lang="zh-CN" altLang="en-US" sz="2400" dirty="0">
                <a:solidFill>
                  <a:srgbClr val="0000FF"/>
                </a:solidFill>
                <a:latin typeface="Corbel" panose="020B0503020204020204" pitchFamily="34" charset="0"/>
              </a:rPr>
              <a:t>非铁磁性各向同性磁介质：  </a:t>
            </a:r>
            <a:br>
              <a:rPr kumimoji="1" lang="en-US" altLang="zh-CN" sz="2400" dirty="0">
                <a:solidFill>
                  <a:srgbClr val="0000FF"/>
                </a:solidFill>
                <a:latin typeface="Corbel" panose="020B0503020204020204" pitchFamily="34" charset="0"/>
              </a:rPr>
            </a:br>
            <a:r>
              <a:rPr kumimoji="1" lang="en-US" altLang="zh-CN" sz="2400" dirty="0">
                <a:solidFill>
                  <a:srgbClr val="0000FF"/>
                </a:solidFill>
                <a:latin typeface="Corbel" panose="020B0503020204020204" pitchFamily="34" charset="0"/>
              </a:rPr>
              <a:t>B=</a:t>
            </a:r>
            <a:r>
              <a:rPr lang="zh-CN" altLang="en-US" sz="2400" dirty="0">
                <a:solidFill>
                  <a:srgbClr val="0000FF"/>
                </a:solidFill>
                <a:latin typeface="Corbel" panose="020B0503020204020204" pitchFamily="34" charset="0"/>
              </a:rPr>
              <a:t>μ</a:t>
            </a:r>
            <a:r>
              <a:rPr lang="en-US" altLang="zh-CN" sz="2400" dirty="0">
                <a:solidFill>
                  <a:srgbClr val="0000FF"/>
                </a:solidFill>
                <a:latin typeface="Corbel" panose="020B0503020204020204" pitchFamily="34" charset="0"/>
              </a:rPr>
              <a:t>H</a:t>
            </a:r>
            <a:r>
              <a:rPr lang="zh-CN" altLang="en-US" sz="2400" dirty="0">
                <a:solidFill>
                  <a:srgbClr val="0000FF"/>
                </a:solidFill>
                <a:latin typeface="Corbel" panose="020B0503020204020204" pitchFamily="34" charset="0"/>
              </a:rPr>
              <a:t> </a:t>
            </a:r>
            <a:r>
              <a:rPr lang="en-US" altLang="zh-CN" sz="2400" dirty="0">
                <a:solidFill>
                  <a:schemeClr val="tx1"/>
                </a:solidFill>
                <a:latin typeface="Corbel" panose="020B0503020204020204" pitchFamily="34" charset="0"/>
              </a:rPr>
              <a:t>(</a:t>
            </a:r>
            <a:r>
              <a:rPr lang="zh-CN" altLang="en-US" sz="2400" dirty="0">
                <a:solidFill>
                  <a:srgbClr val="0000FF"/>
                </a:solidFill>
                <a:latin typeface="Corbel" panose="020B0503020204020204" pitchFamily="34" charset="0"/>
              </a:rPr>
              <a:t>线性</a:t>
            </a:r>
            <a:r>
              <a:rPr lang="zh-CN" altLang="en-US" sz="2400" dirty="0">
                <a:solidFill>
                  <a:schemeClr val="tx1"/>
                </a:solidFill>
                <a:latin typeface="Corbel" panose="020B0503020204020204" pitchFamily="34" charset="0"/>
              </a:rPr>
              <a:t>关系：</a:t>
            </a:r>
            <a:r>
              <a:rPr lang="zh-CN" altLang="zh-CN" sz="2400" dirty="0">
                <a:solidFill>
                  <a:schemeClr val="tx1"/>
                </a:solidFill>
                <a:latin typeface="Corbel" panose="020B0503020204020204" pitchFamily="34" charset="0"/>
              </a:rPr>
              <a:t>μ</a:t>
            </a:r>
            <a:r>
              <a:rPr lang="en-US" altLang="zh-CN" sz="2400" baseline="-25000" dirty="0">
                <a:solidFill>
                  <a:schemeClr val="tx1"/>
                </a:solidFill>
                <a:latin typeface="Corbel" panose="020B0503020204020204" pitchFamily="34" charset="0"/>
              </a:rPr>
              <a:t>r</a:t>
            </a:r>
            <a:r>
              <a:rPr lang="zh-CN" altLang="en-US" sz="2400" dirty="0">
                <a:solidFill>
                  <a:schemeClr val="tx1"/>
                </a:solidFill>
                <a:latin typeface="Corbel" panose="020B0503020204020204" pitchFamily="34" charset="0"/>
              </a:rPr>
              <a:t>接近于</a:t>
            </a:r>
            <a:r>
              <a:rPr lang="en-US" altLang="zh-CN" sz="2400" dirty="0">
                <a:solidFill>
                  <a:schemeClr val="tx1"/>
                </a:solidFill>
                <a:latin typeface="Corbel" panose="020B0503020204020204" pitchFamily="34" charset="0"/>
              </a:rPr>
              <a:t>1</a:t>
            </a:r>
            <a:r>
              <a:rPr lang="zh-CN" altLang="en-US" sz="2400" dirty="0">
                <a:solidFill>
                  <a:schemeClr val="tx1"/>
                </a:solidFill>
                <a:latin typeface="Corbel" panose="020B0503020204020204" pitchFamily="34" charset="0"/>
              </a:rPr>
              <a:t>，且在一定范围内是</a:t>
            </a:r>
            <a:r>
              <a:rPr lang="zh-CN" altLang="en-US" sz="2400" dirty="0">
                <a:solidFill>
                  <a:srgbClr val="0000FF"/>
                </a:solidFill>
                <a:latin typeface="Corbel" panose="020B0503020204020204" pitchFamily="34" charset="0"/>
              </a:rPr>
              <a:t>常数</a:t>
            </a:r>
            <a:r>
              <a:rPr lang="en-US" altLang="zh-CN" sz="2400" dirty="0">
                <a:solidFill>
                  <a:schemeClr val="tx1"/>
                </a:solidFill>
                <a:latin typeface="Corbel" panose="020B0503020204020204" pitchFamily="34" charset="0"/>
              </a:rPr>
              <a:t>)</a:t>
            </a:r>
            <a:endParaRPr kumimoji="1" lang="en-US" altLang="zh-CN" sz="2400" dirty="0">
              <a:solidFill>
                <a:schemeClr val="tx1"/>
              </a:solidFill>
              <a:latin typeface="Corbel" panose="020B0503020204020204" pitchFamily="34" charset="0"/>
            </a:endParaRPr>
          </a:p>
          <a:p>
            <a:pPr marL="285750" indent="-285750" eaLnBrk="1" hangingPunct="1">
              <a:lnSpc>
                <a:spcPct val="100000"/>
              </a:lnSpc>
              <a:spcBef>
                <a:spcPct val="0"/>
              </a:spcBef>
              <a:spcAft>
                <a:spcPct val="0"/>
              </a:spcAft>
              <a:buClrTx/>
              <a:buSzTx/>
              <a:buFont typeface="Wingdings" pitchFamily="2" charset="2"/>
              <a:buChar char="Ø"/>
              <a:defRPr/>
            </a:pPr>
            <a:r>
              <a:rPr kumimoji="1" lang="zh-CN" altLang="en-US" sz="2400" dirty="0">
                <a:solidFill>
                  <a:srgbClr val="FF0000"/>
                </a:solidFill>
                <a:latin typeface="Corbel" panose="020B0503020204020204" pitchFamily="34" charset="0"/>
              </a:rPr>
              <a:t>铁磁性介质：</a:t>
            </a:r>
            <a:br>
              <a:rPr kumimoji="1" lang="en-US" altLang="zh-CN" sz="2400" dirty="0">
                <a:solidFill>
                  <a:srgbClr val="FF0000"/>
                </a:solidFill>
                <a:latin typeface="Corbel" panose="020B0503020204020204" pitchFamily="34" charset="0"/>
              </a:rPr>
            </a:br>
            <a:r>
              <a:rPr kumimoji="1" lang="en-US" altLang="zh-CN" sz="2400" dirty="0">
                <a:solidFill>
                  <a:schemeClr val="tx1"/>
                </a:solidFill>
                <a:latin typeface="Corbel" panose="020B0503020204020204" pitchFamily="34" charset="0"/>
              </a:rPr>
              <a:t>B</a:t>
            </a:r>
            <a:r>
              <a:rPr kumimoji="1" lang="zh-CN" altLang="en-US" sz="2400" dirty="0">
                <a:solidFill>
                  <a:schemeClr val="tx1"/>
                </a:solidFill>
                <a:latin typeface="Corbel" panose="020B0503020204020204" pitchFamily="34" charset="0"/>
              </a:rPr>
              <a:t>，</a:t>
            </a:r>
            <a:r>
              <a:rPr lang="zh-CN" altLang="en-US" sz="2400" dirty="0">
                <a:solidFill>
                  <a:schemeClr val="tx1"/>
                </a:solidFill>
                <a:latin typeface="Corbel" panose="020B0503020204020204" pitchFamily="34" charset="0"/>
              </a:rPr>
              <a:t>μ，</a:t>
            </a:r>
            <a:r>
              <a:rPr lang="en-US" altLang="zh-CN" sz="2400" dirty="0">
                <a:solidFill>
                  <a:schemeClr val="tx1"/>
                </a:solidFill>
                <a:latin typeface="Corbel" panose="020B0503020204020204" pitchFamily="34" charset="0"/>
              </a:rPr>
              <a:t>H</a:t>
            </a:r>
            <a:r>
              <a:rPr lang="zh-CN" altLang="en-US" sz="2400" dirty="0">
                <a:solidFill>
                  <a:schemeClr val="tx1"/>
                </a:solidFill>
                <a:latin typeface="Corbel" panose="020B0503020204020204" pitchFamily="34" charset="0"/>
              </a:rPr>
              <a:t>关系</a:t>
            </a:r>
            <a:r>
              <a:rPr lang="zh-CN" altLang="en-US" sz="2400" dirty="0">
                <a:solidFill>
                  <a:srgbClr val="FF0000"/>
                </a:solidFill>
                <a:latin typeface="Corbel" panose="020B0503020204020204" pitchFamily="34" charset="0"/>
              </a:rPr>
              <a:t>非线性</a:t>
            </a:r>
            <a:endParaRPr kumimoji="1" lang="en-US" altLang="zh-CN" sz="2400" dirty="0">
              <a:solidFill>
                <a:srgbClr val="FF0000"/>
              </a:solidFill>
              <a:latin typeface="Corbel" panose="020B0503020204020204" pitchFamily="34" charset="0"/>
            </a:endParaRPr>
          </a:p>
        </p:txBody>
      </p:sp>
      <p:sp>
        <p:nvSpPr>
          <p:cNvPr id="7" name="内容占位符 2">
            <a:extLst>
              <a:ext uri="{FF2B5EF4-FFF2-40B4-BE49-F238E27FC236}">
                <a16:creationId xmlns:a16="http://schemas.microsoft.com/office/drawing/2014/main" id="{7BAD480F-CDCD-3991-2300-A7C8BFAD0B0E}"/>
              </a:ext>
            </a:extLst>
          </p:cNvPr>
          <p:cNvSpPr txBox="1">
            <a:spLocks/>
          </p:cNvSpPr>
          <p:nvPr/>
        </p:nvSpPr>
        <p:spPr bwMode="auto">
          <a:xfrm>
            <a:off x="1055666" y="1140216"/>
            <a:ext cx="324089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buFont typeface="Calibri" panose="020F0502020204030204" pitchFamily="34" charset="0"/>
              <a:buNone/>
            </a:pPr>
            <a:r>
              <a:rPr kumimoji="1" lang="en-US" altLang="zh-CN" sz="2800" b="1" dirty="0">
                <a:solidFill>
                  <a:schemeClr val="tx1"/>
                </a:solidFill>
                <a:latin typeface="SimSun" panose="02010600030101010101" pitchFamily="2" charset="-122"/>
                <a:ea typeface="SimSun" panose="02010600030101010101" pitchFamily="2" charset="-122"/>
              </a:rPr>
              <a:t>3.3</a:t>
            </a:r>
            <a:r>
              <a:rPr kumimoji="1" lang="zh-CN" altLang="en-US" sz="2800" b="1" dirty="0">
                <a:solidFill>
                  <a:schemeClr val="tx1"/>
                </a:solidFill>
                <a:latin typeface="SimSun" panose="02010600030101010101" pitchFamily="2" charset="-122"/>
                <a:ea typeface="SimSun" panose="02010600030101010101" pitchFamily="2" charset="-122"/>
              </a:rPr>
              <a:t> 基本磁学量</a:t>
            </a:r>
            <a:r>
              <a:rPr lang="en-US" altLang="zh-CN" sz="2800" b="1" dirty="0">
                <a:solidFill>
                  <a:schemeClr val="tx1"/>
                </a:solidFill>
                <a:latin typeface="SimSun" panose="02010600030101010101" pitchFamily="2" charset="-122"/>
                <a:ea typeface="SimSun" panose="02010600030101010101" pitchFamily="2" charset="-122"/>
              </a:rPr>
              <a:t>      </a:t>
            </a:r>
          </a:p>
        </p:txBody>
      </p:sp>
    </p:spTree>
    <p:extLst>
      <p:ext uri="{BB962C8B-B14F-4D97-AF65-F5344CB8AC3E}">
        <p14:creationId xmlns:p14="http://schemas.microsoft.com/office/powerpoint/2010/main" val="282489221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文本框 3">
            <a:extLst>
              <a:ext uri="{FF2B5EF4-FFF2-40B4-BE49-F238E27FC236}">
                <a16:creationId xmlns:a16="http://schemas.microsoft.com/office/drawing/2014/main" id="{5F4ED03E-4031-FA10-FC5E-613358BB4E2C}"/>
              </a:ext>
            </a:extLst>
          </p:cNvPr>
          <p:cNvSpPr txBox="1"/>
          <p:nvPr/>
        </p:nvSpPr>
        <p:spPr bwMode="auto">
          <a:xfrm>
            <a:off x="877991" y="1700780"/>
            <a:ext cx="5218008" cy="1769715"/>
          </a:xfrm>
          <a:prstGeom prst="rect">
            <a:avLst/>
          </a:prstGeom>
          <a:noFill/>
        </p:spPr>
        <p:txBody>
          <a:bodyPr wrap="square">
            <a:spAutoFit/>
          </a:bodyPr>
          <a:lstStyle/>
          <a:p>
            <a:pPr marL="171450" indent="-171450">
              <a:spcAft>
                <a:spcPts val="600"/>
              </a:spcAft>
              <a:buFont typeface="Wingdings" pitchFamily="2" charset="2"/>
              <a:buChar char="Ø"/>
              <a:defRPr/>
            </a:pPr>
            <a:r>
              <a:rPr lang="zh-CN" altLang="en-US" sz="2400" dirty="0">
                <a:solidFill>
                  <a:srgbClr val="0000FF"/>
                </a:solidFill>
              </a:rPr>
              <a:t>磁场强度</a:t>
            </a:r>
            <a:r>
              <a:rPr lang="en-US" altLang="zh-CN" sz="2400" dirty="0">
                <a:solidFill>
                  <a:srgbClr val="0000FF"/>
                </a:solidFill>
              </a:rPr>
              <a:t>H</a:t>
            </a:r>
          </a:p>
          <a:p>
            <a:pPr>
              <a:defRPr/>
            </a:pPr>
            <a:r>
              <a:rPr lang="en" altLang="zh-CN" sz="2000" dirty="0">
                <a:solidFill>
                  <a:prstClr val="black"/>
                </a:solidFill>
              </a:rPr>
              <a:t>H </a:t>
            </a:r>
            <a:r>
              <a:rPr lang="zh-CN" altLang="en-US" sz="2000" dirty="0">
                <a:solidFill>
                  <a:prstClr val="black"/>
                </a:solidFill>
              </a:rPr>
              <a:t>较小时，相对磁导率</a:t>
            </a:r>
            <a:r>
              <a:rPr lang="zh-CN" altLang="zh-CN" sz="2000" dirty="0">
                <a:latin typeface="Corbel" panose="020B0503020204020204" pitchFamily="34" charset="0"/>
              </a:rPr>
              <a:t>μ</a:t>
            </a:r>
            <a:r>
              <a:rPr lang="en-US" altLang="zh-CN" sz="2000" baseline="-25000" dirty="0">
                <a:latin typeface="Corbel" panose="020B0503020204020204" pitchFamily="34" charset="0"/>
              </a:rPr>
              <a:t>r</a:t>
            </a:r>
            <a:r>
              <a:rPr lang="zh-CN" altLang="en-US" sz="2000" dirty="0">
                <a:solidFill>
                  <a:prstClr val="black"/>
                </a:solidFill>
              </a:rPr>
              <a:t>很高，磁畴在外加磁场作用下容易对齐；</a:t>
            </a:r>
            <a:endParaRPr lang="en-US" altLang="zh-CN" sz="2000" dirty="0">
              <a:solidFill>
                <a:prstClr val="black"/>
              </a:solidFill>
            </a:endParaRPr>
          </a:p>
          <a:p>
            <a:pPr>
              <a:defRPr/>
            </a:pPr>
            <a:r>
              <a:rPr lang="zh-CN" altLang="en-US" sz="2000" dirty="0">
                <a:solidFill>
                  <a:prstClr val="black"/>
                </a:solidFill>
              </a:rPr>
              <a:t>随着 </a:t>
            </a:r>
            <a:r>
              <a:rPr lang="en" altLang="zh-CN" sz="2000" dirty="0">
                <a:solidFill>
                  <a:prstClr val="black"/>
                </a:solidFill>
              </a:rPr>
              <a:t>H </a:t>
            </a:r>
            <a:r>
              <a:rPr lang="zh-CN" altLang="en-US" sz="2000" dirty="0">
                <a:solidFill>
                  <a:prstClr val="black"/>
                </a:solidFill>
              </a:rPr>
              <a:t>增加，磁化趋于</a:t>
            </a:r>
            <a:r>
              <a:rPr lang="zh-CN" altLang="en-US" sz="2000" dirty="0"/>
              <a:t>饱和</a:t>
            </a:r>
            <a:r>
              <a:rPr lang="zh-CN" altLang="en-US" sz="2000" dirty="0">
                <a:solidFill>
                  <a:prstClr val="black"/>
                </a:solidFill>
              </a:rPr>
              <a:t>，相对磁导率开始降低并最终趋于常数。</a:t>
            </a:r>
          </a:p>
        </p:txBody>
      </p:sp>
      <p:sp>
        <p:nvSpPr>
          <p:cNvPr id="6" name="内容占位符 2">
            <a:extLst>
              <a:ext uri="{FF2B5EF4-FFF2-40B4-BE49-F238E27FC236}">
                <a16:creationId xmlns:a16="http://schemas.microsoft.com/office/drawing/2014/main" id="{FC99052C-E0AC-A7C9-0BAC-A2B167F6F1C0}"/>
              </a:ext>
            </a:extLst>
          </p:cNvPr>
          <p:cNvSpPr txBox="1">
            <a:spLocks/>
          </p:cNvSpPr>
          <p:nvPr/>
        </p:nvSpPr>
        <p:spPr bwMode="auto">
          <a:xfrm>
            <a:off x="877991" y="1134269"/>
            <a:ext cx="3510911"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buFont typeface="Calibri" panose="020F0502020204030204" pitchFamily="34" charset="0"/>
              <a:buNone/>
            </a:pPr>
            <a:r>
              <a:rPr kumimoji="1" lang="en-US" altLang="zh-CN" sz="2800" b="1" dirty="0">
                <a:solidFill>
                  <a:schemeClr val="tx1"/>
                </a:solidFill>
                <a:latin typeface="SimSun" panose="02010600030101010101" pitchFamily="2" charset="-122"/>
                <a:ea typeface="SimSun" panose="02010600030101010101" pitchFamily="2" charset="-122"/>
              </a:rPr>
              <a:t>3.4</a:t>
            </a:r>
            <a:r>
              <a:rPr kumimoji="1" lang="zh-CN" altLang="en-US" sz="2800" b="1" dirty="0">
                <a:solidFill>
                  <a:schemeClr val="tx1"/>
                </a:solidFill>
                <a:latin typeface="SimSun" panose="02010600030101010101" pitchFamily="2" charset="-122"/>
                <a:ea typeface="SimSun" panose="02010600030101010101" pitchFamily="2" charset="-122"/>
              </a:rPr>
              <a:t> 铁磁质的</a:t>
            </a:r>
            <a:r>
              <a:rPr kumimoji="1" lang="en-US" altLang="zh-CN" sz="2800" b="1" dirty="0">
                <a:solidFill>
                  <a:schemeClr val="tx1"/>
                </a:solidFill>
                <a:latin typeface="SimSun" panose="02010600030101010101" pitchFamily="2" charset="-122"/>
                <a:ea typeface="SimSun" panose="02010600030101010101" pitchFamily="2" charset="-122"/>
              </a:rPr>
              <a:t>B-H</a:t>
            </a:r>
            <a:r>
              <a:rPr kumimoji="1" lang="zh-CN" altLang="en-US" sz="2800" b="1" dirty="0">
                <a:solidFill>
                  <a:schemeClr val="tx1"/>
                </a:solidFill>
                <a:latin typeface="SimSun" panose="02010600030101010101" pitchFamily="2" charset="-122"/>
                <a:ea typeface="SimSun" panose="02010600030101010101" pitchFamily="2" charset="-122"/>
              </a:rPr>
              <a:t>关系</a:t>
            </a:r>
          </a:p>
          <a:p>
            <a:pPr eaLnBrk="1" hangingPunct="1">
              <a:buFont typeface="Calibri" panose="020F0502020204030204" pitchFamily="34" charset="0"/>
              <a:buNone/>
            </a:pPr>
            <a:r>
              <a:rPr lang="en-US" altLang="zh-CN" sz="2800" b="1" dirty="0">
                <a:solidFill>
                  <a:schemeClr val="tx1"/>
                </a:solidFill>
                <a:latin typeface="SimSun" panose="02010600030101010101" pitchFamily="2" charset="-122"/>
                <a:ea typeface="SimSun" panose="02010600030101010101" pitchFamily="2" charset="-122"/>
              </a:rPr>
              <a:t>      </a:t>
            </a:r>
          </a:p>
        </p:txBody>
      </p:sp>
      <p:grpSp>
        <p:nvGrpSpPr>
          <p:cNvPr id="7" name="组合 12">
            <a:extLst>
              <a:ext uri="{FF2B5EF4-FFF2-40B4-BE49-F238E27FC236}">
                <a16:creationId xmlns:a16="http://schemas.microsoft.com/office/drawing/2014/main" id="{6EAAF844-80CE-9B8F-9689-36D4A37CD1B8}"/>
              </a:ext>
            </a:extLst>
          </p:cNvPr>
          <p:cNvGrpSpPr>
            <a:grpSpLocks/>
          </p:cNvGrpSpPr>
          <p:nvPr/>
        </p:nvGrpSpPr>
        <p:grpSpPr bwMode="auto">
          <a:xfrm>
            <a:off x="6383632" y="1700780"/>
            <a:ext cx="4906164" cy="4590132"/>
            <a:chOff x="398223" y="1628146"/>
            <a:chExt cx="3960813" cy="4589981"/>
          </a:xfrm>
        </p:grpSpPr>
        <p:pic>
          <p:nvPicPr>
            <p:cNvPr id="8" name="图片 11">
              <a:extLst>
                <a:ext uri="{FF2B5EF4-FFF2-40B4-BE49-F238E27FC236}">
                  <a16:creationId xmlns:a16="http://schemas.microsoft.com/office/drawing/2014/main" id="{865F5D18-1C90-3C0B-81CE-40E3F4EC87D5}"/>
                </a:ext>
              </a:extLst>
            </p:cNvPr>
            <p:cNvPicPr>
              <a:picLocks noChangeAspect="1"/>
            </p:cNvPicPr>
            <p:nvPr/>
          </p:nvPicPr>
          <p:blipFill>
            <a:blip r:embed="rId3">
              <a:extLst>
                <a:ext uri="{28A0092B-C50C-407E-A947-70E740481C1C}">
                  <a14:useLocalDpi xmlns:a14="http://schemas.microsoft.com/office/drawing/2010/main" val="0"/>
                </a:ext>
              </a:extLst>
            </a:blip>
            <a:srcRect l="5893" t="10542" r="58434" b="8946"/>
            <a:stretch>
              <a:fillRect/>
            </a:stretch>
          </p:blipFill>
          <p:spPr bwMode="auto">
            <a:xfrm>
              <a:off x="806451" y="3011963"/>
              <a:ext cx="3486360" cy="3206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923A6A9E-0893-8047-A53B-9D1FB80D2A94}"/>
                </a:ext>
              </a:extLst>
            </p:cNvPr>
            <p:cNvSpPr txBox="1"/>
            <p:nvPr/>
          </p:nvSpPr>
          <p:spPr>
            <a:xfrm>
              <a:off x="398223" y="1628146"/>
              <a:ext cx="3960813" cy="1384949"/>
            </a:xfrm>
            <a:prstGeom prst="rect">
              <a:avLst/>
            </a:prstGeom>
            <a:noFill/>
          </p:spPr>
          <p:txBody>
            <a:bodyPr>
              <a:spAutoFit/>
            </a:bodyPr>
            <a:lstStyle/>
            <a:p>
              <a:pPr marL="171450" indent="-171450">
                <a:buFont typeface="Wingdings" pitchFamily="2" charset="2"/>
                <a:buChar char="Ø"/>
                <a:defRPr/>
              </a:pPr>
              <a:r>
                <a:rPr lang="zh-CN" altLang="en-US" sz="2400" dirty="0">
                  <a:solidFill>
                    <a:srgbClr val="0000FF"/>
                  </a:solidFill>
                </a:rPr>
                <a:t>磁滞效应</a:t>
              </a:r>
              <a:endParaRPr lang="en-US" altLang="zh-CN" sz="2400" dirty="0">
                <a:solidFill>
                  <a:srgbClr val="0000FF"/>
                </a:solidFill>
              </a:endParaRPr>
            </a:p>
            <a:p>
              <a:pPr>
                <a:defRPr/>
              </a:pPr>
              <a:r>
                <a:rPr lang="en" altLang="zh-CN" sz="2000" dirty="0">
                  <a:solidFill>
                    <a:prstClr val="black"/>
                  </a:solidFill>
                </a:rPr>
                <a:t>B-H </a:t>
              </a:r>
              <a:r>
                <a:rPr lang="zh-CN" altLang="en-US" sz="2000" dirty="0">
                  <a:solidFill>
                    <a:prstClr val="black"/>
                  </a:solidFill>
                </a:rPr>
                <a:t>曲线呈现滞回特性：材料的磁化状态不仅取决于当前的外加磁场，还与</a:t>
              </a:r>
              <a:r>
                <a:rPr lang="zh-CN" altLang="en-US" sz="2000" dirty="0"/>
                <a:t>磁化历史</a:t>
              </a:r>
              <a:r>
                <a:rPr lang="zh-CN" altLang="en-US" sz="2000" dirty="0">
                  <a:solidFill>
                    <a:prstClr val="black"/>
                  </a:solidFill>
                </a:rPr>
                <a:t>有关。</a:t>
              </a:r>
            </a:p>
          </p:txBody>
        </p:sp>
      </p:grpSp>
      <p:pic>
        <p:nvPicPr>
          <p:cNvPr id="10" name="图片 9">
            <a:extLst>
              <a:ext uri="{FF2B5EF4-FFF2-40B4-BE49-F238E27FC236}">
                <a16:creationId xmlns:a16="http://schemas.microsoft.com/office/drawing/2014/main" id="{5C93AC11-CBCC-81DE-82F1-85B36171FC74}"/>
              </a:ext>
            </a:extLst>
          </p:cNvPr>
          <p:cNvPicPr>
            <a:picLocks noChangeAspect="1"/>
          </p:cNvPicPr>
          <p:nvPr/>
        </p:nvPicPr>
        <p:blipFill rotWithShape="1">
          <a:blip r:embed="rId4">
            <a:extLst>
              <a:ext uri="{28A0092B-C50C-407E-A947-70E740481C1C}">
                <a14:useLocalDpi xmlns:a14="http://schemas.microsoft.com/office/drawing/2010/main" val="0"/>
              </a:ext>
            </a:extLst>
          </a:blip>
          <a:srcRect r="51883"/>
          <a:stretch/>
        </p:blipFill>
        <p:spPr>
          <a:xfrm>
            <a:off x="1610811" y="3429000"/>
            <a:ext cx="3752367" cy="3278916"/>
          </a:xfrm>
          <a:prstGeom prst="rect">
            <a:avLst/>
          </a:prstGeom>
        </p:spPr>
      </p:pic>
    </p:spTree>
    <p:extLst>
      <p:ext uri="{BB962C8B-B14F-4D97-AF65-F5344CB8AC3E}">
        <p14:creationId xmlns:p14="http://schemas.microsoft.com/office/powerpoint/2010/main" val="309354889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文本框 8">
            <a:extLst>
              <a:ext uri="{FF2B5EF4-FFF2-40B4-BE49-F238E27FC236}">
                <a16:creationId xmlns:a16="http://schemas.microsoft.com/office/drawing/2014/main" id="{4EC182C8-592F-7906-6EC9-1002374FCA09}"/>
              </a:ext>
            </a:extLst>
          </p:cNvPr>
          <p:cNvSpPr txBox="1">
            <a:spLocks noChangeArrowheads="1"/>
          </p:cNvSpPr>
          <p:nvPr/>
        </p:nvSpPr>
        <p:spPr bwMode="auto">
          <a:xfrm>
            <a:off x="7102570" y="1959445"/>
            <a:ext cx="3573668" cy="1154162"/>
          </a:xfrm>
          <a:prstGeom prst="rect">
            <a:avLst/>
          </a:prstGeom>
          <a:noFill/>
          <a:ln>
            <a:noFill/>
          </a:ln>
        </p:spPr>
        <p:txBody>
          <a:bodyPr wrap="square">
            <a:spAutoFit/>
          </a:bodyPr>
          <a:lstStyle>
            <a:lvl1pPr marL="171450" indent="-171450">
              <a:defRPr sz="2400" b="1">
                <a:solidFill>
                  <a:schemeClr val="tx1"/>
                </a:solidFill>
                <a:latin typeface="Times New Roman" panose="02020603050405020304" pitchFamily="18" charset="0"/>
                <a:ea typeface="SimSun" panose="02010600030101010101" pitchFamily="2" charset="-122"/>
              </a:defRPr>
            </a:lvl1pPr>
            <a:lvl2pPr marL="742950" indent="-285750">
              <a:defRPr sz="2400" b="1">
                <a:solidFill>
                  <a:schemeClr val="tx1"/>
                </a:solidFill>
                <a:latin typeface="Times New Roman" panose="02020603050405020304" pitchFamily="18" charset="0"/>
                <a:ea typeface="SimSun" panose="02010600030101010101" pitchFamily="2" charset="-122"/>
              </a:defRPr>
            </a:lvl2pPr>
            <a:lvl3pPr marL="1143000" indent="-228600">
              <a:defRPr sz="2400" b="1">
                <a:solidFill>
                  <a:schemeClr val="tx1"/>
                </a:solidFill>
                <a:latin typeface="Times New Roman" panose="02020603050405020304" pitchFamily="18" charset="0"/>
                <a:ea typeface="SimSun" panose="02010600030101010101" pitchFamily="2" charset="-122"/>
              </a:defRPr>
            </a:lvl3pPr>
            <a:lvl4pPr marL="1600200" indent="-228600">
              <a:defRPr sz="2400" b="1">
                <a:solidFill>
                  <a:schemeClr val="tx1"/>
                </a:solidFill>
                <a:latin typeface="Times New Roman" panose="02020603050405020304" pitchFamily="18" charset="0"/>
                <a:ea typeface="SimSun" panose="02010600030101010101" pitchFamily="2" charset="-122"/>
              </a:defRPr>
            </a:lvl4pPr>
            <a:lvl5pPr marL="2057400" indent="-228600">
              <a:defRPr sz="2400" b="1">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SimSun" panose="02010600030101010101" pitchFamily="2" charset="-122"/>
              </a:defRPr>
            </a:lvl9pPr>
          </a:lstStyle>
          <a:p>
            <a:pPr>
              <a:spcAft>
                <a:spcPts val="600"/>
              </a:spcAft>
              <a:buFont typeface="Wingdings" pitchFamily="2" charset="2"/>
              <a:buChar char="Ø"/>
              <a:defRPr/>
            </a:pPr>
            <a:r>
              <a:rPr lang="zh-CN" altLang="en-US" dirty="0">
                <a:solidFill>
                  <a:srgbClr val="000000"/>
                </a:solidFill>
              </a:rPr>
              <a:t>材料的微观结构</a:t>
            </a:r>
            <a:endParaRPr lang="en-US" altLang="zh-CN" dirty="0">
              <a:solidFill>
                <a:srgbClr val="000000"/>
              </a:solidFill>
            </a:endParaRPr>
          </a:p>
          <a:p>
            <a:pPr marL="0" indent="0">
              <a:defRPr/>
            </a:pPr>
            <a:r>
              <a:rPr lang="zh-CN" altLang="en-US" sz="2000" dirty="0">
                <a:solidFill>
                  <a:prstClr val="black"/>
                </a:solidFill>
              </a:rPr>
              <a:t>晶粒尺寸、晶体取向、晶界、位错和杂质含量</a:t>
            </a:r>
            <a:r>
              <a:rPr lang="en-US" altLang="zh-CN" sz="2000" dirty="0">
                <a:solidFill>
                  <a:prstClr val="black"/>
                </a:solidFill>
              </a:rPr>
              <a:t>……</a:t>
            </a:r>
            <a:endParaRPr lang="en-US" altLang="zh-CN" sz="2000" dirty="0">
              <a:solidFill>
                <a:srgbClr val="000000"/>
              </a:solidFill>
            </a:endParaRPr>
          </a:p>
        </p:txBody>
      </p:sp>
      <p:grpSp>
        <p:nvGrpSpPr>
          <p:cNvPr id="10" name="组合 9">
            <a:extLst>
              <a:ext uri="{FF2B5EF4-FFF2-40B4-BE49-F238E27FC236}">
                <a16:creationId xmlns:a16="http://schemas.microsoft.com/office/drawing/2014/main" id="{F063B1D6-3C89-F179-87E4-8993F6DA8D0C}"/>
              </a:ext>
            </a:extLst>
          </p:cNvPr>
          <p:cNvGrpSpPr/>
          <p:nvPr/>
        </p:nvGrpSpPr>
        <p:grpSpPr>
          <a:xfrm>
            <a:off x="1139483" y="3429001"/>
            <a:ext cx="3756074" cy="3104000"/>
            <a:chOff x="932167" y="2960281"/>
            <a:chExt cx="2566303" cy="2411412"/>
          </a:xfrm>
        </p:grpSpPr>
        <p:pic>
          <p:nvPicPr>
            <p:cNvPr id="6" name="图片 2">
              <a:extLst>
                <a:ext uri="{FF2B5EF4-FFF2-40B4-BE49-F238E27FC236}">
                  <a16:creationId xmlns:a16="http://schemas.microsoft.com/office/drawing/2014/main" id="{60466433-70C5-DFAC-C3CE-CDDAA930A6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2167" y="2960281"/>
              <a:ext cx="2520950" cy="241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3">
              <a:extLst>
                <a:ext uri="{FF2B5EF4-FFF2-40B4-BE49-F238E27FC236}">
                  <a16:creationId xmlns:a16="http://schemas.microsoft.com/office/drawing/2014/main" id="{ED1CB85A-0235-CE0C-0633-002688F29134}"/>
                </a:ext>
              </a:extLst>
            </p:cNvPr>
            <p:cNvSpPr txBox="1">
              <a:spLocks noChangeArrowheads="1"/>
            </p:cNvSpPr>
            <p:nvPr/>
          </p:nvSpPr>
          <p:spPr bwMode="auto">
            <a:xfrm>
              <a:off x="2110995" y="3010694"/>
              <a:ext cx="1387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r>
                <a:rPr kumimoji="1" lang="en-US" altLang="zh-CN" sz="1600" dirty="0">
                  <a:solidFill>
                    <a:srgbClr val="FF0000"/>
                  </a:solidFill>
                  <a:latin typeface="Corbel" panose="020B0503020204020204" pitchFamily="34" charset="0"/>
                </a:rPr>
                <a:t>Tc:</a:t>
              </a:r>
              <a:r>
                <a:rPr kumimoji="1" lang="zh-CN" altLang="en-US" sz="1600" dirty="0">
                  <a:solidFill>
                    <a:srgbClr val="FF0000"/>
                  </a:solidFill>
                  <a:latin typeface="Corbel" panose="020B0503020204020204" pitchFamily="34" charset="0"/>
                </a:rPr>
                <a:t>居里温度</a:t>
              </a:r>
            </a:p>
          </p:txBody>
        </p:sp>
      </p:grpSp>
      <p:sp>
        <p:nvSpPr>
          <p:cNvPr id="5" name="文本框 4">
            <a:extLst>
              <a:ext uri="{FF2B5EF4-FFF2-40B4-BE49-F238E27FC236}">
                <a16:creationId xmlns:a16="http://schemas.microsoft.com/office/drawing/2014/main" id="{FBD42E6E-C83C-A39A-3930-2698E6B0A356}"/>
              </a:ext>
            </a:extLst>
          </p:cNvPr>
          <p:cNvSpPr txBox="1"/>
          <p:nvPr/>
        </p:nvSpPr>
        <p:spPr>
          <a:xfrm>
            <a:off x="913637" y="1895348"/>
            <a:ext cx="5534025" cy="1769715"/>
          </a:xfrm>
          <a:prstGeom prst="rect">
            <a:avLst/>
          </a:prstGeom>
          <a:noFill/>
        </p:spPr>
        <p:txBody>
          <a:bodyPr>
            <a:spAutoFit/>
          </a:bodyPr>
          <a:lstStyle/>
          <a:p>
            <a:pPr marL="171450" indent="-171450">
              <a:spcAft>
                <a:spcPts val="600"/>
              </a:spcAft>
              <a:buFont typeface="Wingdings" pitchFamily="2" charset="2"/>
              <a:buChar char="Ø"/>
              <a:defRPr/>
            </a:pPr>
            <a:r>
              <a:rPr lang="zh-CN" altLang="en-US" sz="2400" dirty="0">
                <a:solidFill>
                  <a:srgbClr val="FF0000"/>
                </a:solidFill>
              </a:rPr>
              <a:t>温度</a:t>
            </a:r>
            <a:endParaRPr lang="en-US" altLang="zh-CN" sz="2400" dirty="0">
              <a:solidFill>
                <a:srgbClr val="FF0000"/>
              </a:solidFill>
            </a:endParaRPr>
          </a:p>
          <a:p>
            <a:pPr marL="342900" indent="-342900">
              <a:buFont typeface="Arial" panose="020B0604020202020204" pitchFamily="34" charset="0"/>
              <a:buChar char="•"/>
              <a:defRPr/>
            </a:pPr>
            <a:r>
              <a:rPr lang="zh-CN" altLang="en-US" sz="2000" dirty="0">
                <a:solidFill>
                  <a:prstClr val="black"/>
                </a:solidFill>
              </a:rPr>
              <a:t>相对磁导率强烈依赖于温度；</a:t>
            </a:r>
            <a:endParaRPr lang="en-US" altLang="zh-CN" sz="2000" dirty="0">
              <a:solidFill>
                <a:prstClr val="black"/>
              </a:solidFill>
            </a:endParaRPr>
          </a:p>
          <a:p>
            <a:pPr marL="342900" indent="-342900">
              <a:buFont typeface="Arial" panose="020B0604020202020204" pitchFamily="34" charset="0"/>
              <a:buChar char="•"/>
              <a:defRPr/>
            </a:pPr>
            <a:r>
              <a:rPr lang="zh-CN" altLang="en-US" sz="2000" dirty="0">
                <a:solidFill>
                  <a:prstClr val="black"/>
                </a:solidFill>
              </a:rPr>
              <a:t>当温度接近材料的居里温度时，材料</a:t>
            </a:r>
            <a:r>
              <a:rPr lang="zh-CN" altLang="en-US" sz="2000" dirty="0">
                <a:solidFill>
                  <a:srgbClr val="FF0000"/>
                </a:solidFill>
              </a:rPr>
              <a:t>从铁磁态转为顺磁态</a:t>
            </a:r>
            <a:r>
              <a:rPr lang="zh-CN" altLang="en-US" sz="2000" dirty="0">
                <a:solidFill>
                  <a:prstClr val="black"/>
                </a:solidFill>
              </a:rPr>
              <a:t>，导致相对磁导率显著下降至接近 </a:t>
            </a:r>
            <a:r>
              <a:rPr lang="en-US" altLang="zh-CN" sz="2000" dirty="0">
                <a:solidFill>
                  <a:prstClr val="black"/>
                </a:solidFill>
              </a:rPr>
              <a:t>1</a:t>
            </a:r>
            <a:r>
              <a:rPr lang="zh-CN" altLang="en-US" sz="1400" dirty="0">
                <a:solidFill>
                  <a:prstClr val="black"/>
                </a:solidFill>
              </a:rPr>
              <a:t>。</a:t>
            </a:r>
            <a:endParaRPr lang="en-US" altLang="zh-CN" sz="2000" dirty="0">
              <a:solidFill>
                <a:prstClr val="black"/>
              </a:solidFill>
            </a:endParaRPr>
          </a:p>
        </p:txBody>
      </p:sp>
      <p:sp>
        <p:nvSpPr>
          <p:cNvPr id="8" name="文本框 7">
            <a:extLst>
              <a:ext uri="{FF2B5EF4-FFF2-40B4-BE49-F238E27FC236}">
                <a16:creationId xmlns:a16="http://schemas.microsoft.com/office/drawing/2014/main" id="{3107F669-C8B9-A10E-4821-54F37C8219A5}"/>
              </a:ext>
            </a:extLst>
          </p:cNvPr>
          <p:cNvSpPr txBox="1"/>
          <p:nvPr/>
        </p:nvSpPr>
        <p:spPr>
          <a:xfrm>
            <a:off x="5261123" y="3661079"/>
            <a:ext cx="5190486" cy="1115690"/>
          </a:xfrm>
          <a:prstGeom prst="rect">
            <a:avLst/>
          </a:prstGeom>
          <a:solidFill>
            <a:schemeClr val="bg1"/>
          </a:solidFill>
          <a:ln w="25400">
            <a:solidFill>
              <a:schemeClr val="bg1">
                <a:lumMod val="50000"/>
              </a:schemeClr>
            </a:solidFill>
          </a:ln>
        </p:spPr>
        <p:txBody>
          <a:bodyPr wrap="square">
            <a:spAutoFit/>
          </a:bodyPr>
          <a:lstStyle/>
          <a:p>
            <a:pPr marL="285750" indent="-285750">
              <a:spcAft>
                <a:spcPts val="300"/>
              </a:spcAft>
              <a:buFont typeface="Wingdings" pitchFamily="2" charset="2"/>
              <a:buChar char="ü"/>
              <a:defRPr/>
            </a:pPr>
            <a:r>
              <a:rPr kumimoji="1" lang="zh-CN" altLang="en-US" sz="2400" dirty="0">
                <a:solidFill>
                  <a:srgbClr val="AF52DE"/>
                </a:solidFill>
              </a:rPr>
              <a:t>居里温度微观机理：</a:t>
            </a:r>
            <a:endParaRPr kumimoji="1" lang="en-US" altLang="zh-CN" sz="2400" dirty="0">
              <a:solidFill>
                <a:srgbClr val="AF52DE"/>
              </a:solidFill>
            </a:endParaRPr>
          </a:p>
          <a:p>
            <a:pPr>
              <a:defRPr/>
            </a:pPr>
            <a:r>
              <a:rPr lang="zh-CN" altLang="en-US" sz="2000" dirty="0">
                <a:solidFill>
                  <a:srgbClr val="0000FF"/>
                </a:solidFill>
                <a:latin typeface="SimSun" panose="02010600030101010101" pitchFamily="2" charset="-122"/>
              </a:rPr>
              <a:t>交换作用</a:t>
            </a:r>
            <a:r>
              <a:rPr lang="zh-CN" altLang="en-US" sz="2000" dirty="0">
                <a:solidFill>
                  <a:srgbClr val="000000"/>
                </a:solidFill>
                <a:latin typeface="SimSun" panose="02010600030101010101" pitchFamily="2" charset="-122"/>
              </a:rPr>
              <a:t>（促使相邻磁矩平行排列的力）与 </a:t>
            </a:r>
            <a:r>
              <a:rPr lang="zh-CN" altLang="en-US" sz="2000" dirty="0">
                <a:solidFill>
                  <a:srgbClr val="FF0000"/>
                </a:solidFill>
                <a:latin typeface="SimSun" panose="02010600030101010101" pitchFamily="2" charset="-122"/>
              </a:rPr>
              <a:t>随机热振动</a:t>
            </a:r>
            <a:r>
              <a:rPr lang="zh-CN" altLang="en-US" sz="2000" dirty="0">
                <a:solidFill>
                  <a:srgbClr val="000000"/>
                </a:solidFill>
                <a:latin typeface="SimSun" panose="02010600030101010101" pitchFamily="2" charset="-122"/>
              </a:rPr>
              <a:t>（磁矩随机分布）之间的</a:t>
            </a:r>
            <a:r>
              <a:rPr lang="zh-CN" altLang="en-US" sz="2000" dirty="0">
                <a:solidFill>
                  <a:srgbClr val="AF52DE"/>
                </a:solidFill>
                <a:latin typeface="SimSun" panose="02010600030101010101" pitchFamily="2" charset="-122"/>
              </a:rPr>
              <a:t>竞争</a:t>
            </a:r>
            <a:endParaRPr lang="zh-CN" altLang="en-US" sz="2000" dirty="0">
              <a:solidFill>
                <a:srgbClr val="AF52DE"/>
              </a:solidFill>
            </a:endParaRPr>
          </a:p>
        </p:txBody>
      </p:sp>
      <p:pic>
        <p:nvPicPr>
          <p:cNvPr id="9" name="图片 11">
            <a:extLst>
              <a:ext uri="{FF2B5EF4-FFF2-40B4-BE49-F238E27FC236}">
                <a16:creationId xmlns:a16="http://schemas.microsoft.com/office/drawing/2014/main" id="{9B0B41D0-4DDB-DB81-AE89-46BDA9CBFE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5145"/>
          <a:stretch>
            <a:fillRect/>
          </a:stretch>
        </p:blipFill>
        <p:spPr bwMode="auto">
          <a:xfrm>
            <a:off x="6583680" y="4901644"/>
            <a:ext cx="2299005" cy="1283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2">
            <a:extLst>
              <a:ext uri="{FF2B5EF4-FFF2-40B4-BE49-F238E27FC236}">
                <a16:creationId xmlns:a16="http://schemas.microsoft.com/office/drawing/2014/main" id="{BCA9F905-E249-D995-F050-B57B535D2F2C}"/>
              </a:ext>
            </a:extLst>
          </p:cNvPr>
          <p:cNvSpPr txBox="1">
            <a:spLocks/>
          </p:cNvSpPr>
          <p:nvPr/>
        </p:nvSpPr>
        <p:spPr bwMode="auto">
          <a:xfrm>
            <a:off x="877991" y="1134269"/>
            <a:ext cx="3510911"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buFont typeface="Calibri" panose="020F0502020204030204" pitchFamily="34" charset="0"/>
              <a:buNone/>
            </a:pPr>
            <a:r>
              <a:rPr kumimoji="1" lang="en-US" altLang="zh-CN" sz="2800" b="1" dirty="0">
                <a:solidFill>
                  <a:schemeClr val="tx1"/>
                </a:solidFill>
                <a:latin typeface="SimSun" panose="02010600030101010101" pitchFamily="2" charset="-122"/>
                <a:ea typeface="SimSun" panose="02010600030101010101" pitchFamily="2" charset="-122"/>
              </a:rPr>
              <a:t>3.5</a:t>
            </a:r>
            <a:r>
              <a:rPr kumimoji="1" lang="zh-CN" altLang="en-US" sz="2800" b="1" dirty="0">
                <a:solidFill>
                  <a:schemeClr val="tx1"/>
                </a:solidFill>
                <a:latin typeface="SimSun" panose="02010600030101010101" pitchFamily="2" charset="-122"/>
                <a:ea typeface="SimSun" panose="02010600030101010101" pitchFamily="2" charset="-122"/>
              </a:rPr>
              <a:t> 铁磁质的</a:t>
            </a:r>
            <a:r>
              <a:rPr kumimoji="1" lang="en-US" altLang="zh-CN" sz="2800" b="1" dirty="0">
                <a:solidFill>
                  <a:schemeClr val="tx1"/>
                </a:solidFill>
                <a:latin typeface="SimSun" panose="02010600030101010101" pitchFamily="2" charset="-122"/>
                <a:ea typeface="SimSun" panose="02010600030101010101" pitchFamily="2" charset="-122"/>
              </a:rPr>
              <a:t>B-H</a:t>
            </a:r>
            <a:r>
              <a:rPr kumimoji="1" lang="zh-CN" altLang="en-US" sz="2800" b="1" dirty="0">
                <a:solidFill>
                  <a:schemeClr val="tx1"/>
                </a:solidFill>
                <a:latin typeface="SimSun" panose="02010600030101010101" pitchFamily="2" charset="-122"/>
                <a:ea typeface="SimSun" panose="02010600030101010101" pitchFamily="2" charset="-122"/>
              </a:rPr>
              <a:t>关系</a:t>
            </a:r>
          </a:p>
          <a:p>
            <a:pPr eaLnBrk="1" hangingPunct="1">
              <a:buFont typeface="Calibri" panose="020F0502020204030204" pitchFamily="34" charset="0"/>
              <a:buNone/>
            </a:pPr>
            <a:r>
              <a:rPr lang="en-US" altLang="zh-CN" sz="2800" b="1" dirty="0">
                <a:solidFill>
                  <a:schemeClr val="tx1"/>
                </a:solidFill>
                <a:latin typeface="SimSun" panose="02010600030101010101" pitchFamily="2" charset="-122"/>
                <a:ea typeface="SimSun" panose="02010600030101010101" pitchFamily="2" charset="-122"/>
              </a:rPr>
              <a:t>      </a:t>
            </a:r>
          </a:p>
        </p:txBody>
      </p:sp>
    </p:spTree>
    <p:extLst>
      <p:ext uri="{BB962C8B-B14F-4D97-AF65-F5344CB8AC3E}">
        <p14:creationId xmlns:p14="http://schemas.microsoft.com/office/powerpoint/2010/main" val="9250922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 name="内容占位符 2">
            <a:extLst>
              <a:ext uri="{FF2B5EF4-FFF2-40B4-BE49-F238E27FC236}">
                <a16:creationId xmlns:a16="http://schemas.microsoft.com/office/drawing/2014/main" id="{8D491291-4453-22FD-C53E-94B40CE73B5A}"/>
              </a:ext>
            </a:extLst>
          </p:cNvPr>
          <p:cNvSpPr>
            <a:spLocks noGrp="1"/>
          </p:cNvSpPr>
          <p:nvPr>
            <p:ph idx="1"/>
          </p:nvPr>
        </p:nvSpPr>
        <p:spPr>
          <a:xfrm>
            <a:off x="877991" y="2279189"/>
            <a:ext cx="5520066" cy="2887583"/>
          </a:xfrm>
        </p:spPr>
        <p:txBody>
          <a:bodyPr>
            <a:noAutofit/>
          </a:bodyPr>
          <a:lstStyle/>
          <a:p>
            <a:pPr eaLnBrk="1" hangingPunct="1"/>
            <a:r>
              <a:rPr lang="zh-CN" altLang="zh-CN" sz="2400" dirty="0">
                <a:latin typeface="Corbel" panose="020B0503020204020204" pitchFamily="34" charset="0"/>
              </a:rPr>
              <a:t>交流电桥的基本电路</a:t>
            </a:r>
            <a:r>
              <a:rPr lang="en-US" altLang="zh-CN" sz="2400" dirty="0">
                <a:latin typeface="Corbel" panose="020B0503020204020204" pitchFamily="34" charset="0"/>
              </a:rPr>
              <a:t>:</a:t>
            </a:r>
          </a:p>
          <a:p>
            <a:pPr marL="0" indent="0" eaLnBrk="1" hangingPunct="1">
              <a:buNone/>
            </a:pPr>
            <a:r>
              <a:rPr lang="en-US" altLang="zh-CN" sz="2400" dirty="0">
                <a:latin typeface="Corbel" panose="020B0503020204020204" pitchFamily="34" charset="0"/>
              </a:rPr>
              <a:t>                         </a:t>
            </a:r>
            <a:r>
              <a:rPr lang="zh-CN" altLang="en-US" sz="2400" dirty="0">
                <a:latin typeface="Corbel" panose="020B0503020204020204" pitchFamily="34" charset="0"/>
              </a:rPr>
              <a:t>    </a:t>
            </a:r>
            <a:r>
              <a:rPr lang="zh-CN" altLang="en-US" sz="2400" b="1" dirty="0">
                <a:solidFill>
                  <a:srgbClr val="FF0000"/>
                </a:solidFill>
                <a:latin typeface="华文楷体" panose="02010600040101010101" pitchFamily="2" charset="-122"/>
                <a:ea typeface="华文楷体" panose="02010600040101010101" pitchFamily="2" charset="-122"/>
              </a:rPr>
              <a:t>四臂阻抗电路</a:t>
            </a:r>
            <a:endParaRPr kumimoji="1" lang="en-US" altLang="zh-CN" sz="2400" dirty="0"/>
          </a:p>
          <a:p>
            <a:pPr marL="0" indent="0" eaLnBrk="1" hangingPunct="1"/>
            <a:endParaRPr kumimoji="1" lang="en-US" altLang="zh-CN" sz="2400" dirty="0"/>
          </a:p>
          <a:p>
            <a:pPr eaLnBrk="1" hangingPunct="1"/>
            <a:r>
              <a:rPr kumimoji="1" lang="zh-CN" altLang="en-US" sz="2400" dirty="0"/>
              <a:t>电桥达到平衡时，复数等式                的模量和辐角分别相等。</a:t>
            </a:r>
          </a:p>
        </p:txBody>
      </p:sp>
      <p:sp>
        <p:nvSpPr>
          <p:cNvPr id="4" name="文本框 4">
            <a:extLst>
              <a:ext uri="{FF2B5EF4-FFF2-40B4-BE49-F238E27FC236}">
                <a16:creationId xmlns:a16="http://schemas.microsoft.com/office/drawing/2014/main" id="{E1250E2F-E88F-881A-1258-C0589DDDAE52}"/>
              </a:ext>
            </a:extLst>
          </p:cNvPr>
          <p:cNvSpPr txBox="1">
            <a:spLocks noChangeArrowheads="1"/>
          </p:cNvSpPr>
          <p:nvPr/>
        </p:nvSpPr>
        <p:spPr bwMode="auto">
          <a:xfrm>
            <a:off x="7586190" y="5106636"/>
            <a:ext cx="2474913"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r>
              <a:rPr lang="zh-CN" altLang="zh-CN" sz="1300">
                <a:solidFill>
                  <a:schemeClr val="tx1"/>
                </a:solidFill>
                <a:latin typeface="Corbel" panose="020B0503020204020204" pitchFamily="34" charset="0"/>
              </a:rPr>
              <a:t>图</a:t>
            </a:r>
            <a:r>
              <a:rPr lang="zh-CN" altLang="en-US" sz="1300">
                <a:solidFill>
                  <a:schemeClr val="tx1"/>
                </a:solidFill>
                <a:latin typeface="Corbel" panose="020B0503020204020204" pitchFamily="34" charset="0"/>
              </a:rPr>
              <a:t>：</a:t>
            </a:r>
            <a:r>
              <a:rPr lang="en-US" altLang="zh-CN" sz="1300">
                <a:solidFill>
                  <a:schemeClr val="tx1"/>
                </a:solidFill>
                <a:latin typeface="Corbel" panose="020B0503020204020204" pitchFamily="34" charset="0"/>
              </a:rPr>
              <a:t> </a:t>
            </a:r>
            <a:r>
              <a:rPr lang="zh-CN" altLang="zh-CN" sz="1300">
                <a:solidFill>
                  <a:schemeClr val="tx1"/>
                </a:solidFill>
                <a:latin typeface="Corbel" panose="020B0503020204020204" pitchFamily="34" charset="0"/>
              </a:rPr>
              <a:t>交流电桥的基本电路</a:t>
            </a:r>
            <a:endParaRPr kumimoji="1" lang="zh-CN" altLang="en-US" sz="2000">
              <a:solidFill>
                <a:schemeClr val="tx1"/>
              </a:solidFill>
              <a:latin typeface="Corbel" panose="020B0503020204020204" pitchFamily="34" charset="0"/>
            </a:endParaRPr>
          </a:p>
        </p:txBody>
      </p:sp>
      <p:graphicFrame>
        <p:nvGraphicFramePr>
          <p:cNvPr id="5" name="Object 386">
            <a:extLst>
              <a:ext uri="{FF2B5EF4-FFF2-40B4-BE49-F238E27FC236}">
                <a16:creationId xmlns:a16="http://schemas.microsoft.com/office/drawing/2014/main" id="{EBDCB403-DD20-82C7-2162-6ABA5F7C7B06}"/>
              </a:ext>
            </a:extLst>
          </p:cNvPr>
          <p:cNvGraphicFramePr>
            <a:graphicFrameLocks noChangeAspect="1"/>
          </p:cNvGraphicFramePr>
          <p:nvPr>
            <p:extLst>
              <p:ext uri="{D42A27DB-BD31-4B8C-83A1-F6EECF244321}">
                <p14:modId xmlns:p14="http://schemas.microsoft.com/office/powerpoint/2010/main" val="2708519273"/>
              </p:ext>
            </p:extLst>
          </p:nvPr>
        </p:nvGraphicFramePr>
        <p:xfrm>
          <a:off x="4870706" y="3429000"/>
          <a:ext cx="1048180" cy="828991"/>
        </p:xfrm>
        <a:graphic>
          <a:graphicData uri="http://schemas.openxmlformats.org/presentationml/2006/ole">
            <mc:AlternateContent xmlns:mc="http://schemas.openxmlformats.org/markup-compatibility/2006">
              <mc:Choice xmlns:v="urn:schemas-microsoft-com:vml" Requires="v">
                <p:oleObj name="公式" r:id="rId3" imgW="546100" imgH="431800" progId="Equation.3">
                  <p:embed/>
                </p:oleObj>
              </mc:Choice>
              <mc:Fallback>
                <p:oleObj name="公式" r:id="rId3" imgW="546100" imgH="431800" progId="Equation.3">
                  <p:embed/>
                  <p:pic>
                    <p:nvPicPr>
                      <p:cNvPr id="45060" name="Object 386">
                        <a:extLst>
                          <a:ext uri="{FF2B5EF4-FFF2-40B4-BE49-F238E27FC236}">
                            <a16:creationId xmlns:a16="http://schemas.microsoft.com/office/drawing/2014/main" id="{2D30115F-0861-9C3F-DDB4-F671385E6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0706" y="3429000"/>
                        <a:ext cx="1048180" cy="828991"/>
                      </a:xfrm>
                      <a:prstGeom prst="rect">
                        <a:avLst/>
                      </a:prstGeom>
                      <a:noFill/>
                      <a:ln>
                        <a:noFill/>
                      </a:ln>
                    </p:spPr>
                  </p:pic>
                </p:oleObj>
              </mc:Fallback>
            </mc:AlternateContent>
          </a:graphicData>
        </a:graphic>
      </p:graphicFrame>
      <p:pic>
        <p:nvPicPr>
          <p:cNvPr id="6" name="图片 2">
            <a:extLst>
              <a:ext uri="{FF2B5EF4-FFF2-40B4-BE49-F238E27FC236}">
                <a16:creationId xmlns:a16="http://schemas.microsoft.com/office/drawing/2014/main" id="{6B1AD881-02B3-ED93-7205-D42B6EDA677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547618" y="1751364"/>
            <a:ext cx="3843154" cy="327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42AB9BFF-BECA-9368-BD46-CBD9E81EFD61}"/>
              </a:ext>
            </a:extLst>
          </p:cNvPr>
          <p:cNvSpPr txBox="1">
            <a:spLocks/>
          </p:cNvSpPr>
          <p:nvPr/>
        </p:nvSpPr>
        <p:spPr bwMode="auto">
          <a:xfrm>
            <a:off x="731095" y="856904"/>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3.6</a:t>
            </a:r>
            <a:r>
              <a:rPr kumimoji="1" lang="zh-CN" altLang="en-US" sz="2800" b="1" dirty="0">
                <a:solidFill>
                  <a:schemeClr val="tx1"/>
                </a:solidFill>
                <a:latin typeface="SimSun" panose="02010600030101010101" pitchFamily="2" charset="-122"/>
                <a:ea typeface="SimSun" panose="02010600030101010101" pitchFamily="2" charset="-122"/>
              </a:rPr>
              <a:t> 用交流电桥测量居里温度</a:t>
            </a:r>
          </a:p>
        </p:txBody>
      </p:sp>
    </p:spTree>
    <p:extLst>
      <p:ext uri="{BB962C8B-B14F-4D97-AF65-F5344CB8AC3E}">
        <p14:creationId xmlns:p14="http://schemas.microsoft.com/office/powerpoint/2010/main" val="7191961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2" fill="hold"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0-ppt_w/2"/>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6873373-6EDC-C45B-8354-992B6EE2DA73}"/>
                  </a:ext>
                </a:extLst>
              </p:cNvPr>
              <p:cNvSpPr txBox="1"/>
              <p:nvPr/>
            </p:nvSpPr>
            <p:spPr>
              <a:xfrm>
                <a:off x="1341149" y="6008321"/>
                <a:ext cx="1821140" cy="2923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a:rPr kumimoji="1" lang="en-US" altLang="zh-CN" b="0" i="1" smtClean="0">
                              <a:latin typeface="Cambria Math" panose="02040503050406030204" pitchFamily="18" charset="0"/>
                            </a:rPr>
                            <m:t>𝑅</m:t>
                          </m:r>
                        </m:e>
                        <m:sub>
                          <m:r>
                            <m:rPr>
                              <m:sty m:val="p"/>
                            </m:rPr>
                            <a:rPr kumimoji="1" lang="en-US" altLang="zh-CN" b="0" i="0" smtClean="0">
                              <a:latin typeface="Cambria Math" panose="02040503050406030204" pitchFamily="18" charset="0"/>
                            </a:rPr>
                            <m:t>a</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𝑅</m:t>
                          </m:r>
                        </m:e>
                        <m:sub>
                          <m:r>
                            <m:rPr>
                              <m:sty m:val="p"/>
                            </m:rPr>
                            <a:rPr kumimoji="1" lang="en-US" altLang="zh-CN" b="0" i="0" smtClean="0">
                              <a:latin typeface="Cambria Math" panose="02040503050406030204" pitchFamily="18" charset="0"/>
                            </a:rPr>
                            <m:t>b</m:t>
                          </m:r>
                        </m:sub>
                      </m:sSub>
                      <m:r>
                        <a:rPr kumimoji="1" lang="en-US" altLang="zh-CN" b="0" i="1" smtClean="0">
                          <a:latin typeface="Cambria Math" panose="02040503050406030204" pitchFamily="18" charset="0"/>
                        </a:rPr>
                        <m:t>=100</m:t>
                      </m:r>
                      <m:r>
                        <m:rPr>
                          <m:sty m:val="p"/>
                        </m:rPr>
                        <a:rPr kumimoji="1" lang="el-GR" altLang="zh-CN" b="0" i="1" smtClean="0">
                          <a:latin typeface="Cambria Math" panose="02040503050406030204" pitchFamily="18" charset="0"/>
                          <a:ea typeface="Cambria Math" panose="02040503050406030204" pitchFamily="18" charset="0"/>
                        </a:rPr>
                        <m:t>Ω</m:t>
                      </m:r>
                    </m:oMath>
                  </m:oMathPara>
                </a14:m>
                <a:endParaRPr kumimoji="1" lang="zh-CN" altLang="en-US" dirty="0"/>
              </a:p>
            </p:txBody>
          </p:sp>
        </mc:Choice>
        <mc:Fallback xmlns="">
          <p:sp>
            <p:nvSpPr>
              <p:cNvPr id="5" name="文本框 4">
                <a:extLst>
                  <a:ext uri="{FF2B5EF4-FFF2-40B4-BE49-F238E27FC236}">
                    <a16:creationId xmlns:a16="http://schemas.microsoft.com/office/drawing/2014/main" id="{26873373-6EDC-C45B-8354-992B6EE2DA73}"/>
                  </a:ext>
                </a:extLst>
              </p:cNvPr>
              <p:cNvSpPr txBox="1">
                <a:spLocks noRot="1" noChangeAspect="1" noMove="1" noResize="1" noEditPoints="1" noAdjustHandles="1" noChangeArrowheads="1" noChangeShapeType="1" noTextEdit="1"/>
              </p:cNvSpPr>
              <p:nvPr/>
            </p:nvSpPr>
            <p:spPr>
              <a:xfrm>
                <a:off x="1341149" y="6008321"/>
                <a:ext cx="1821140" cy="292388"/>
              </a:xfrm>
              <a:prstGeom prst="rect">
                <a:avLst/>
              </a:prstGeom>
              <a:blipFill>
                <a:blip r:embed="rId3"/>
                <a:stretch>
                  <a:fillRect l="-2069" r="-1379" b="-20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2C4D449-B49D-00B7-EC2F-DF063927A52A}"/>
                  </a:ext>
                </a:extLst>
              </p:cNvPr>
              <p:cNvSpPr txBox="1"/>
              <p:nvPr/>
            </p:nvSpPr>
            <p:spPr>
              <a:xfrm>
                <a:off x="5732998" y="1453008"/>
                <a:ext cx="509628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smtClean="0">
                              <a:latin typeface="Cambria Math" panose="02040503050406030204" pitchFamily="18" charset="0"/>
                            </a:rPr>
                            <m:t>a</m:t>
                          </m:r>
                        </m:sub>
                      </m:sSub>
                      <m:d>
                        <m:dPr>
                          <m:ctrlPr>
                            <a:rPr lang="zh-CN" altLang="en-US" sz="2400" i="1">
                              <a:solidFill>
                                <a:srgbClr val="836967"/>
                              </a:solidFill>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a:latin typeface="Cambria Math" panose="02040503050406030204" pitchFamily="18" charset="0"/>
                                </a:rPr>
                                <m:t>w</m:t>
                              </m:r>
                            </m:sub>
                          </m:sSub>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𝑗</m:t>
                              </m:r>
                              <m:r>
                                <a:rPr lang="zh-CN" altLang="en-US" sz="2400" i="1">
                                  <a:latin typeface="Cambria Math" panose="02040503050406030204" pitchFamily="18" charset="0"/>
                                </a:rPr>
                                <m:t>𝜔</m:t>
                              </m:r>
                              <m:r>
                                <a:rPr lang="zh-CN" altLang="en-US" sz="2400" i="1">
                                  <a:latin typeface="Cambria Math" panose="02040503050406030204" pitchFamily="18" charset="0"/>
                                </a:rPr>
                                <m:t>𝐿</m:t>
                              </m:r>
                            </m:e>
                            <m:sub>
                              <m:r>
                                <a:rPr lang="zh-CN" altLang="en-US" sz="2400" i="0">
                                  <a:latin typeface="Cambria Math" panose="02040503050406030204" pitchFamily="18" charset="0"/>
                                </a:rPr>
                                <m:t>2</m:t>
                              </m:r>
                            </m:sub>
                          </m:sSub>
                        </m:e>
                      </m:d>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i="0">
                              <a:latin typeface="Cambria Math" panose="02040503050406030204" pitchFamily="18" charset="0"/>
                            </a:rPr>
                            <m:t>b</m:t>
                          </m:r>
                        </m:sub>
                      </m:sSub>
                      <m:d>
                        <m:dPr>
                          <m:ctrlPr>
                            <a:rPr lang="zh-CN" altLang="en-US" sz="2400" i="1">
                              <a:solidFill>
                                <a:srgbClr val="836967"/>
                              </a:solidFill>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𝑗</m:t>
                          </m:r>
                          <m:r>
                            <a:rPr lang="zh-CN" altLang="en-US" sz="2400" i="1">
                              <a:latin typeface="Cambria Math" panose="02040503050406030204" pitchFamily="18" charset="0"/>
                            </a:rPr>
                            <m:t>𝜔</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𝐿</m:t>
                              </m:r>
                            </m:e>
                            <m:sub>
                              <m:r>
                                <a:rPr lang="zh-CN" altLang="en-US" sz="2400" i="0">
                                  <a:latin typeface="Cambria Math" panose="02040503050406030204" pitchFamily="18" charset="0"/>
                                </a:rPr>
                                <m:t>1</m:t>
                              </m:r>
                            </m:sub>
                          </m:sSub>
                        </m:e>
                      </m:d>
                    </m:oMath>
                  </m:oMathPara>
                </a14:m>
                <a:endParaRPr lang="zh-CN" altLang="en-US" sz="2400" dirty="0"/>
              </a:p>
            </p:txBody>
          </p:sp>
        </mc:Choice>
        <mc:Fallback xmlns="">
          <p:sp>
            <p:nvSpPr>
              <p:cNvPr id="7" name="文本框 6">
                <a:extLst>
                  <a:ext uri="{FF2B5EF4-FFF2-40B4-BE49-F238E27FC236}">
                    <a16:creationId xmlns:a16="http://schemas.microsoft.com/office/drawing/2014/main" id="{E2C4D449-B49D-00B7-EC2F-DF063927A52A}"/>
                  </a:ext>
                </a:extLst>
              </p:cNvPr>
              <p:cNvSpPr txBox="1">
                <a:spLocks noRot="1" noChangeAspect="1" noMove="1" noResize="1" noEditPoints="1" noAdjustHandles="1" noChangeArrowheads="1" noChangeShapeType="1" noTextEdit="1"/>
              </p:cNvSpPr>
              <p:nvPr/>
            </p:nvSpPr>
            <p:spPr>
              <a:xfrm>
                <a:off x="5732998" y="1453008"/>
                <a:ext cx="5096283" cy="461665"/>
              </a:xfrm>
              <a:prstGeom prst="rect">
                <a:avLst/>
              </a:prstGeom>
              <a:blipFill>
                <a:blip r:embed="rId4"/>
                <a:stretch>
                  <a:fillRect b="-16216"/>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7842F2F0-BE70-5879-2C2A-C0894DF5D4A9}"/>
              </a:ext>
            </a:extLst>
          </p:cNvPr>
          <p:cNvSpPr txBox="1"/>
          <p:nvPr/>
        </p:nvSpPr>
        <p:spPr>
          <a:xfrm>
            <a:off x="3692748" y="1441924"/>
            <a:ext cx="3158836" cy="461665"/>
          </a:xfrm>
          <a:prstGeom prst="rect">
            <a:avLst/>
          </a:prstGeom>
          <a:noFill/>
        </p:spPr>
        <p:txBody>
          <a:bodyPr wrap="square" rtlCol="0">
            <a:spAutoFit/>
          </a:bodyPr>
          <a:lstStyle/>
          <a:p>
            <a:pPr marL="342900" indent="-342900">
              <a:buFont typeface="Wingdings" pitchFamily="2" charset="2"/>
              <a:buChar char="Ø"/>
            </a:pPr>
            <a:r>
              <a:rPr kumimoji="1" lang="zh-CN" altLang="en-US" sz="2400" dirty="0">
                <a:latin typeface="SimSun" panose="02010600030101010101" pitchFamily="2" charset="-122"/>
                <a:ea typeface="SimSun" panose="02010600030101010101" pitchFamily="2" charset="-122"/>
              </a:rPr>
              <a:t>电桥平衡时：</a:t>
            </a:r>
          </a:p>
        </p:txBody>
      </p:sp>
      <p:sp>
        <p:nvSpPr>
          <p:cNvPr id="16" name="Rectangle 2">
            <a:extLst>
              <a:ext uri="{FF2B5EF4-FFF2-40B4-BE49-F238E27FC236}">
                <a16:creationId xmlns:a16="http://schemas.microsoft.com/office/drawing/2014/main" id="{81307120-00AC-2617-2ACC-607A7C6954E2}"/>
              </a:ext>
            </a:extLst>
          </p:cNvPr>
          <p:cNvSpPr>
            <a:spLocks noChangeArrowheads="1"/>
          </p:cNvSpPr>
          <p:nvPr/>
        </p:nvSpPr>
        <p:spPr bwMode="auto">
          <a:xfrm>
            <a:off x="4678549" y="237786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DA31FA18-2513-1937-1EEB-0A1863FC88C6}"/>
              </a:ext>
            </a:extLst>
          </p:cNvPr>
          <p:cNvGraphicFramePr>
            <a:graphicFrameLocks noChangeAspect="1"/>
          </p:cNvGraphicFramePr>
          <p:nvPr>
            <p:extLst>
              <p:ext uri="{D42A27DB-BD31-4B8C-83A1-F6EECF244321}">
                <p14:modId xmlns:p14="http://schemas.microsoft.com/office/powerpoint/2010/main" val="2695326032"/>
              </p:ext>
            </p:extLst>
          </p:nvPr>
        </p:nvGraphicFramePr>
        <p:xfrm>
          <a:off x="5144988" y="1847566"/>
          <a:ext cx="1240338" cy="865897"/>
        </p:xfrm>
        <a:graphic>
          <a:graphicData uri="http://schemas.openxmlformats.org/presentationml/2006/ole">
            <mc:AlternateContent xmlns:mc="http://schemas.openxmlformats.org/markup-compatibility/2006">
              <mc:Choice xmlns:v="urn:schemas-microsoft-com:vml" Requires="v">
                <p:oleObj r:id="rId5" imgW="673100" imgH="469900" progId="Equation.3">
                  <p:embed/>
                </p:oleObj>
              </mc:Choice>
              <mc:Fallback>
                <p:oleObj r:id="rId5" imgW="673100" imgH="4699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4988" y="1847566"/>
                        <a:ext cx="1240338" cy="865897"/>
                      </a:xfrm>
                      <a:prstGeom prst="rect">
                        <a:avLst/>
                      </a:prstGeom>
                      <a:noFill/>
                    </p:spPr>
                  </p:pic>
                </p:oleObj>
              </mc:Fallback>
            </mc:AlternateContent>
          </a:graphicData>
        </a:graphic>
      </p:graphicFrame>
      <p:sp>
        <p:nvSpPr>
          <p:cNvPr id="20" name="Rectangle 6">
            <a:extLst>
              <a:ext uri="{FF2B5EF4-FFF2-40B4-BE49-F238E27FC236}">
                <a16:creationId xmlns:a16="http://schemas.microsoft.com/office/drawing/2014/main" id="{4B9B23C7-BD00-9E80-E06F-F2901C06F152}"/>
              </a:ext>
            </a:extLst>
          </p:cNvPr>
          <p:cNvSpPr>
            <a:spLocks noChangeArrowheads="1"/>
          </p:cNvSpPr>
          <p:nvPr/>
        </p:nvSpPr>
        <p:spPr bwMode="auto">
          <a:xfrm>
            <a:off x="7079673" y="23778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a:extLst>
              <a:ext uri="{FF2B5EF4-FFF2-40B4-BE49-F238E27FC236}">
                <a16:creationId xmlns:a16="http://schemas.microsoft.com/office/drawing/2014/main" id="{698A4A7A-3F6F-2254-730B-6F0443DCBDA0}"/>
              </a:ext>
            </a:extLst>
          </p:cNvPr>
          <p:cNvGraphicFramePr>
            <a:graphicFrameLocks noChangeAspect="1"/>
          </p:cNvGraphicFramePr>
          <p:nvPr>
            <p:extLst>
              <p:ext uri="{D42A27DB-BD31-4B8C-83A1-F6EECF244321}">
                <p14:modId xmlns:p14="http://schemas.microsoft.com/office/powerpoint/2010/main" val="972085119"/>
              </p:ext>
            </p:extLst>
          </p:nvPr>
        </p:nvGraphicFramePr>
        <p:xfrm>
          <a:off x="6962195" y="1925757"/>
          <a:ext cx="1240338" cy="826892"/>
        </p:xfrm>
        <a:graphic>
          <a:graphicData uri="http://schemas.openxmlformats.org/presentationml/2006/ole">
            <mc:AlternateContent xmlns:mc="http://schemas.openxmlformats.org/markup-compatibility/2006">
              <mc:Choice xmlns:v="urn:schemas-microsoft-com:vml" Requires="v">
                <p:oleObj r:id="rId7" imgW="647700" imgH="431800" progId="Equation.3">
                  <p:embed/>
                </p:oleObj>
              </mc:Choice>
              <mc:Fallback>
                <p:oleObj r:id="rId7" imgW="647700" imgH="431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2195" y="1925757"/>
                        <a:ext cx="1240338" cy="82689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8AB504F-713B-6169-A101-F13CF4897620}"/>
                  </a:ext>
                </a:extLst>
              </p:cNvPr>
              <p:cNvSpPr txBox="1"/>
              <p:nvPr/>
            </p:nvSpPr>
            <p:spPr>
              <a:xfrm>
                <a:off x="3674174" y="2652120"/>
                <a:ext cx="6576042" cy="461665"/>
              </a:xfrm>
              <a:prstGeom prst="rect">
                <a:avLst/>
              </a:prstGeom>
              <a:noFill/>
            </p:spPr>
            <p:txBody>
              <a:bodyPr wrap="square" rtlCol="0">
                <a:spAutoFit/>
              </a:bodyPr>
              <a:lstStyle/>
              <a:p>
                <a:pPr marL="342900" indent="-342900">
                  <a:buFont typeface="Wingdings" pitchFamily="2" charset="2"/>
                  <a:buChar char="Ø"/>
                </a:pPr>
                <a:r>
                  <a:rPr kumimoji="1" lang="zh-CN" altLang="en-US" sz="2400" dirty="0">
                    <a:latin typeface="SimSun" panose="02010600030101010101" pitchFamily="2" charset="-122"/>
                    <a:ea typeface="SimSun" panose="02010600030101010101" pitchFamily="2" charset="-122"/>
                  </a:rPr>
                  <a:t>电感</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en-US" altLang="zh-CN" sz="2400" b="0" i="1" smtClean="0">
                            <a:solidFill>
                              <a:srgbClr val="836967"/>
                            </a:solidFill>
                            <a:latin typeface="Cambria Math" panose="02040503050406030204" pitchFamily="18" charset="0"/>
                          </a:rPr>
                          <m:t>𝐿</m:t>
                        </m:r>
                      </m:e>
                      <m:sub>
                        <m:r>
                          <a:rPr lang="en-US" altLang="zh-CN" sz="2400" b="0" i="0" smtClean="0">
                            <a:latin typeface="Cambria Math" panose="02040503050406030204" pitchFamily="18" charset="0"/>
                          </a:rPr>
                          <m:t>2</m:t>
                        </m:r>
                      </m:sub>
                    </m:sSub>
                  </m:oMath>
                </a14:m>
                <a:r>
                  <a:rPr kumimoji="1" lang="zh-CN" altLang="en-US" sz="2400" dirty="0">
                    <a:latin typeface="SimSun" panose="02010600030101010101" pitchFamily="2" charset="-122"/>
                    <a:ea typeface="SimSun" panose="02010600030101010101" pitchFamily="2" charset="-122"/>
                  </a:rPr>
                  <a:t>中插入铁氧体样品后，电桥不平衡：</a:t>
                </a:r>
              </a:p>
            </p:txBody>
          </p:sp>
        </mc:Choice>
        <mc:Fallback xmlns="">
          <p:sp>
            <p:nvSpPr>
              <p:cNvPr id="22" name="文本框 21">
                <a:extLst>
                  <a:ext uri="{FF2B5EF4-FFF2-40B4-BE49-F238E27FC236}">
                    <a16:creationId xmlns:a16="http://schemas.microsoft.com/office/drawing/2014/main" id="{B8AB504F-713B-6169-A101-F13CF4897620}"/>
                  </a:ext>
                </a:extLst>
              </p:cNvPr>
              <p:cNvSpPr txBox="1">
                <a:spLocks noRot="1" noChangeAspect="1" noMove="1" noResize="1" noEditPoints="1" noAdjustHandles="1" noChangeArrowheads="1" noChangeShapeType="1" noTextEdit="1"/>
              </p:cNvSpPr>
              <p:nvPr/>
            </p:nvSpPr>
            <p:spPr>
              <a:xfrm>
                <a:off x="3674174" y="2652120"/>
                <a:ext cx="6576042" cy="461665"/>
              </a:xfrm>
              <a:prstGeom prst="rect">
                <a:avLst/>
              </a:prstGeom>
              <a:blipFill>
                <a:blip r:embed="rId9"/>
                <a:stretch>
                  <a:fillRect l="-1351" t="-10526" b="-26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A3F72B7-D3C5-764E-C0C7-799CA41425DE}"/>
                  </a:ext>
                </a:extLst>
              </p:cNvPr>
              <p:cNvSpPr txBox="1"/>
              <p:nvPr/>
            </p:nvSpPr>
            <p:spPr>
              <a:xfrm>
                <a:off x="4673950" y="3108021"/>
                <a:ext cx="5204519" cy="669992"/>
              </a:xfrm>
              <a:prstGeom prst="rect">
                <a:avLst/>
              </a:prstGeom>
              <a:solidFill>
                <a:schemeClr val="bg1"/>
              </a:solid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en-US" altLang="zh-CN" sz="2400" b="0" i="1" smtClean="0">
                            <a:solidFill>
                              <a:srgbClr val="836967"/>
                            </a:solidFill>
                            <a:latin typeface="Cambria Math" panose="02040503050406030204" pitchFamily="18" charset="0"/>
                          </a:rPr>
                          <m:t>𝑈</m:t>
                        </m:r>
                      </m:e>
                      <m:sub>
                        <m:r>
                          <a:rPr lang="en-US" altLang="zh-CN" sz="2400" b="0" i="1" smtClean="0">
                            <a:latin typeface="Cambria Math" panose="02040503050406030204" pitchFamily="18" charset="0"/>
                          </a:rPr>
                          <m:t>𝐶𝐷</m:t>
                        </m:r>
                      </m:sub>
                    </m:sSub>
                    <m:r>
                      <a:rPr lang="en-US" altLang="zh-CN" sz="2400" b="0" i="1" smtClean="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𝑈</m:t>
                        </m:r>
                      </m:e>
                      <m:sub>
                        <m:r>
                          <a:rPr lang="en-US" altLang="zh-CN" sz="2400" i="1">
                            <a:latin typeface="Cambria Math" panose="02040503050406030204" pitchFamily="18" charset="0"/>
                          </a:rPr>
                          <m:t>0</m:t>
                        </m:r>
                      </m:sub>
                    </m:sSub>
                  </m:oMath>
                </a14:m>
                <a:r>
                  <a:rPr lang="en-US" altLang="zh-CN" sz="2400" dirty="0"/>
                  <a:t>(</a:t>
                </a:r>
                <a14:m>
                  <m:oMath xmlns:m="http://schemas.openxmlformats.org/officeDocument/2006/math">
                    <m:f>
                      <m:fPr>
                        <m:ctrlPr>
                          <a:rPr lang="en-US" altLang="zh-CN" sz="2400" i="1" dirty="0" smtClean="0">
                            <a:latin typeface="Cambria Math" panose="02040503050406030204" pitchFamily="18" charset="0"/>
                          </a:rPr>
                        </m:ctrlPr>
                      </m:fPr>
                      <m:num>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a:latin typeface="Cambria Math" panose="02040503050406030204" pitchFamily="18" charset="0"/>
                              </a:rPr>
                              <m:t>a</m:t>
                            </m:r>
                          </m:sub>
                        </m:sSub>
                      </m:num>
                      <m:den>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zh-CN" altLang="en-US" sz="2400">
                                <a:latin typeface="Cambria Math" panose="02040503050406030204" pitchFamily="18" charset="0"/>
                              </a:rPr>
                              <m:t>a</m:t>
                            </m:r>
                          </m:sub>
                        </m:sSub>
                        <m:r>
                          <a:rPr lang="en-US" altLang="zh-CN" sz="2400" b="0" i="1" smtClean="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𝑗</m:t>
                        </m:r>
                        <m:r>
                          <a:rPr lang="zh-CN" altLang="en-US" sz="2400" i="1">
                            <a:latin typeface="Cambria Math" panose="02040503050406030204" pitchFamily="18" charset="0"/>
                          </a:rPr>
                          <m:t>𝜔</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𝐿</m:t>
                            </m:r>
                          </m:e>
                          <m:sub>
                            <m:r>
                              <a:rPr lang="zh-CN" altLang="en-US" sz="2400">
                                <a:latin typeface="Cambria Math" panose="02040503050406030204" pitchFamily="18" charset="0"/>
                              </a:rPr>
                              <m:t>1</m:t>
                            </m:r>
                          </m:sub>
                        </m:sSub>
                      </m:den>
                    </m:f>
                    <m:r>
                      <a:rPr lang="en-US" altLang="zh-CN" sz="2400" b="0" i="1" dirty="0" smtClean="0">
                        <a:latin typeface="Cambria Math" panose="02040503050406030204" pitchFamily="18" charset="0"/>
                      </a:rPr>
                      <m:t>−</m:t>
                    </m:r>
                  </m:oMath>
                </a14:m>
                <a:r>
                  <a:rPr lang="en-US" altLang="zh-CN" sz="2400" dirty="0"/>
                  <a:t> </a:t>
                </a:r>
                <a14:m>
                  <m:oMath xmlns:m="http://schemas.openxmlformats.org/officeDocument/2006/math">
                    <m:f>
                      <m:fPr>
                        <m:ctrlPr>
                          <a:rPr lang="en-US" altLang="zh-CN" sz="2400" i="1" dirty="0">
                            <a:latin typeface="Cambria Math" panose="02040503050406030204" pitchFamily="18" charset="0"/>
                          </a:rPr>
                        </m:ctrlPr>
                      </m:fPr>
                      <m:num>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en-US" altLang="zh-CN" sz="2400" b="0" i="0" smtClean="0">
                                <a:latin typeface="Cambria Math" panose="02040503050406030204" pitchFamily="18" charset="0"/>
                              </a:rPr>
                              <m:t>b</m:t>
                            </m:r>
                          </m:sub>
                        </m:sSub>
                      </m:num>
                      <m:den>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en-US" altLang="zh-CN" sz="2400" b="0" i="0" smtClean="0">
                                <a:latin typeface="Cambria Math" panose="02040503050406030204" pitchFamily="18" charset="0"/>
                              </a:rPr>
                              <m:t>b</m:t>
                            </m:r>
                          </m:sub>
                        </m:sSub>
                        <m:r>
                          <a:rPr lang="en-US" altLang="zh-CN" sz="2400" i="1">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𝑅</m:t>
                            </m:r>
                          </m:e>
                          <m:sub>
                            <m:r>
                              <m:rPr>
                                <m:sty m:val="p"/>
                              </m:rPr>
                              <a:rPr lang="en-US" altLang="zh-CN" sz="2400" b="0" i="0" smtClean="0">
                                <a:latin typeface="Cambria Math" panose="02040503050406030204" pitchFamily="18" charset="0"/>
                              </a:rPr>
                              <m:t>w</m:t>
                            </m:r>
                          </m:sub>
                        </m:sSub>
                        <m:r>
                          <a:rPr lang="en-US" altLang="zh-CN" sz="2400" i="1">
                            <a:latin typeface="Cambria Math" panose="02040503050406030204" pitchFamily="18" charset="0"/>
                          </a:rPr>
                          <m:t>+</m:t>
                        </m:r>
                        <m:r>
                          <a:rPr lang="zh-CN" altLang="en-US" sz="2400" i="1">
                            <a:latin typeface="Cambria Math" panose="02040503050406030204" pitchFamily="18" charset="0"/>
                          </a:rPr>
                          <m:t>𝑗</m:t>
                        </m:r>
                        <m:r>
                          <a:rPr lang="zh-CN" altLang="en-US" sz="2400" i="1">
                            <a:latin typeface="Cambria Math" panose="02040503050406030204" pitchFamily="18" charset="0"/>
                          </a:rPr>
                          <m:t>𝜔</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𝐿</m:t>
                            </m:r>
                          </m:e>
                          <m:sub>
                            <m:r>
                              <a:rPr lang="en-US" altLang="zh-CN" sz="2400" b="0" i="0" smtClean="0">
                                <a:latin typeface="Cambria Math" panose="02040503050406030204" pitchFamily="18" charset="0"/>
                              </a:rPr>
                              <m:t>2</m:t>
                            </m:r>
                          </m:sub>
                        </m:sSub>
                      </m:den>
                    </m:f>
                  </m:oMath>
                </a14:m>
                <a:r>
                  <a:rPr lang="en-US" altLang="zh-CN" sz="2400" dirty="0"/>
                  <a:t>)</a:t>
                </a:r>
                <a:endParaRPr lang="zh-CN" altLang="en-US" sz="2400" dirty="0"/>
              </a:p>
            </p:txBody>
          </p:sp>
        </mc:Choice>
        <mc:Fallback xmlns="">
          <p:sp>
            <p:nvSpPr>
              <p:cNvPr id="24" name="文本框 23">
                <a:extLst>
                  <a:ext uri="{FF2B5EF4-FFF2-40B4-BE49-F238E27FC236}">
                    <a16:creationId xmlns:a16="http://schemas.microsoft.com/office/drawing/2014/main" id="{EA3F72B7-D3C5-764E-C0C7-799CA41425DE}"/>
                  </a:ext>
                </a:extLst>
              </p:cNvPr>
              <p:cNvSpPr txBox="1">
                <a:spLocks noRot="1" noChangeAspect="1" noMove="1" noResize="1" noEditPoints="1" noAdjustHandles="1" noChangeArrowheads="1" noChangeShapeType="1" noTextEdit="1"/>
              </p:cNvSpPr>
              <p:nvPr/>
            </p:nvSpPr>
            <p:spPr>
              <a:xfrm>
                <a:off x="4673950" y="3108021"/>
                <a:ext cx="5204519" cy="669992"/>
              </a:xfrm>
              <a:prstGeom prst="rect">
                <a:avLst/>
              </a:prstGeom>
              <a:blipFill>
                <a:blip r:embed="rId10"/>
                <a:stretch>
                  <a:fillRect l="-244" b="-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C0B94CB-17A1-A514-1173-D8166DB7F39A}"/>
                  </a:ext>
                </a:extLst>
              </p:cNvPr>
              <p:cNvSpPr txBox="1"/>
              <p:nvPr/>
            </p:nvSpPr>
            <p:spPr>
              <a:xfrm>
                <a:off x="3662705" y="3747660"/>
                <a:ext cx="6576042" cy="461665"/>
              </a:xfrm>
              <a:prstGeom prst="rect">
                <a:avLst/>
              </a:prstGeom>
              <a:noFill/>
            </p:spPr>
            <p:txBody>
              <a:bodyPr wrap="square" rtlCol="0">
                <a:spAutoFit/>
              </a:bodyPr>
              <a:lstStyle/>
              <a:p>
                <a:pPr marL="342900" indent="-342900">
                  <a:buFont typeface="Wingdings" pitchFamily="2" charset="2"/>
                  <a:buChar char="Ø"/>
                </a:pPr>
                <a:r>
                  <a:rPr kumimoji="1" lang="zh-CN" altLang="en-US" sz="2400" dirty="0">
                    <a:latin typeface="SimSun" panose="02010600030101010101" pitchFamily="2" charset="-122"/>
                    <a:ea typeface="SimSun" panose="02010600030101010101" pitchFamily="2" charset="-122"/>
                  </a:rPr>
                  <a:t>电感</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en-US" altLang="zh-CN" sz="2400" b="0" i="1" smtClean="0">
                            <a:solidFill>
                              <a:srgbClr val="836967"/>
                            </a:solidFill>
                            <a:latin typeface="Cambria Math" panose="02040503050406030204" pitchFamily="18" charset="0"/>
                          </a:rPr>
                          <m:t>𝐿</m:t>
                        </m:r>
                      </m:e>
                      <m:sub>
                        <m:r>
                          <a:rPr lang="en-US" altLang="zh-CN" sz="2400" b="0" i="0" smtClean="0">
                            <a:latin typeface="Cambria Math" panose="02040503050406030204" pitchFamily="18" charset="0"/>
                          </a:rPr>
                          <m:t>2</m:t>
                        </m:r>
                      </m:sub>
                    </m:sSub>
                  </m:oMath>
                </a14:m>
                <a:r>
                  <a:rPr kumimoji="1" lang="zh-CN" altLang="en-US" sz="2400" dirty="0">
                    <a:latin typeface="SimSun" panose="02010600030101010101" pitchFamily="2" charset="-122"/>
                    <a:ea typeface="SimSun" panose="02010600030101010101" pitchFamily="2" charset="-122"/>
                  </a:rPr>
                  <a:t>变化</a:t>
                </a:r>
                <a14:m>
                  <m:oMath xmlns:m="http://schemas.openxmlformats.org/officeDocument/2006/math">
                    <m:r>
                      <a:rPr lang="zh-CN" altLang="en-US" sz="2400" i="1" smtClean="0">
                        <a:solidFill>
                          <a:srgbClr val="836967"/>
                        </a:solidFill>
                        <a:latin typeface="Cambria Math" panose="02040503050406030204" pitchFamily="18" charset="0"/>
                      </a:rPr>
                      <m:t>∆</m:t>
                    </m:r>
                    <m:sSub>
                      <m:sSubPr>
                        <m:ctrlPr>
                          <a:rPr lang="zh-CN" altLang="en-US" sz="2400" i="1" smtClean="0">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𝐿</m:t>
                        </m:r>
                      </m:e>
                      <m:sub>
                        <m:r>
                          <a:rPr lang="en-US" altLang="zh-CN" sz="2400">
                            <a:latin typeface="Cambria Math" panose="02040503050406030204" pitchFamily="18" charset="0"/>
                          </a:rPr>
                          <m:t>2</m:t>
                        </m:r>
                      </m:sub>
                    </m:sSub>
                  </m:oMath>
                </a14:m>
                <a:endParaRPr kumimoji="1" lang="zh-CN" altLang="en-US" sz="2400" dirty="0">
                  <a:latin typeface="SimSun" panose="02010600030101010101" pitchFamily="2" charset="-122"/>
                  <a:ea typeface="SimSun" panose="02010600030101010101" pitchFamily="2" charset="-122"/>
                </a:endParaRPr>
              </a:p>
            </p:txBody>
          </p:sp>
        </mc:Choice>
        <mc:Fallback xmlns="">
          <p:sp>
            <p:nvSpPr>
              <p:cNvPr id="25" name="文本框 24">
                <a:extLst>
                  <a:ext uri="{FF2B5EF4-FFF2-40B4-BE49-F238E27FC236}">
                    <a16:creationId xmlns:a16="http://schemas.microsoft.com/office/drawing/2014/main" id="{DC0B94CB-17A1-A514-1173-D8166DB7F39A}"/>
                  </a:ext>
                </a:extLst>
              </p:cNvPr>
              <p:cNvSpPr txBox="1">
                <a:spLocks noRot="1" noChangeAspect="1" noMove="1" noResize="1" noEditPoints="1" noAdjustHandles="1" noChangeArrowheads="1" noChangeShapeType="1" noTextEdit="1"/>
              </p:cNvSpPr>
              <p:nvPr/>
            </p:nvSpPr>
            <p:spPr>
              <a:xfrm>
                <a:off x="3662705" y="3747660"/>
                <a:ext cx="6576042" cy="461665"/>
              </a:xfrm>
              <a:prstGeom prst="rect">
                <a:avLst/>
              </a:prstGeom>
              <a:blipFill>
                <a:blip r:embed="rId11"/>
                <a:stretch>
                  <a:fillRect l="-1349" t="-13514" b="-27027"/>
                </a:stretch>
              </a:blipFill>
            </p:spPr>
            <p:txBody>
              <a:bodyPr/>
              <a:lstStyle/>
              <a:p>
                <a:r>
                  <a:rPr lang="zh-CN" altLang="en-US">
                    <a:noFill/>
                  </a:rPr>
                  <a:t> </a:t>
                </a:r>
              </a:p>
            </p:txBody>
          </p:sp>
        </mc:Fallback>
      </mc:AlternateContent>
      <p:grpSp>
        <p:nvGrpSpPr>
          <p:cNvPr id="38" name="组合 37">
            <a:extLst>
              <a:ext uri="{FF2B5EF4-FFF2-40B4-BE49-F238E27FC236}">
                <a16:creationId xmlns:a16="http://schemas.microsoft.com/office/drawing/2014/main" id="{F59FB00C-7518-A614-375A-47FEB3851274}"/>
              </a:ext>
            </a:extLst>
          </p:cNvPr>
          <p:cNvGrpSpPr/>
          <p:nvPr/>
        </p:nvGrpSpPr>
        <p:grpSpPr>
          <a:xfrm>
            <a:off x="395001" y="1721311"/>
            <a:ext cx="3084023" cy="3379476"/>
            <a:chOff x="647718" y="1944501"/>
            <a:chExt cx="3084023" cy="3379476"/>
          </a:xfrm>
        </p:grpSpPr>
        <p:pic>
          <p:nvPicPr>
            <p:cNvPr id="3" name="图片 1">
              <a:extLst>
                <a:ext uri="{FF2B5EF4-FFF2-40B4-BE49-F238E27FC236}">
                  <a16:creationId xmlns:a16="http://schemas.microsoft.com/office/drawing/2014/main" id="{266FFFFC-3E02-D012-FDB3-4FCD5521130F}"/>
                </a:ext>
              </a:extLst>
            </p:cNvPr>
            <p:cNvPicPr>
              <a:picLocks noChangeAspect="1"/>
            </p:cNvPicPr>
            <p:nvPr/>
          </p:nvPicPr>
          <p:blipFill rotWithShape="1">
            <a:blip r:embed="rId12">
              <a:extLst>
                <a:ext uri="{28A0092B-C50C-407E-A947-70E740481C1C}">
                  <a14:useLocalDpi xmlns:a14="http://schemas.microsoft.com/office/drawing/2010/main" val="0"/>
                </a:ext>
              </a:extLst>
            </a:blip>
            <a:srcRect b="20757"/>
            <a:stretch/>
          </p:blipFill>
          <p:spPr bwMode="auto">
            <a:xfrm>
              <a:off x="647718" y="1944501"/>
              <a:ext cx="3084023" cy="2994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AA3A996-A4D7-B392-2276-64CFF95FB533}"/>
                    </a:ext>
                  </a:extLst>
                </p:cNvPr>
                <p:cNvSpPr txBox="1"/>
                <p:nvPr/>
              </p:nvSpPr>
              <p:spPr>
                <a:xfrm>
                  <a:off x="1073070" y="2302282"/>
                  <a:ext cx="43641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m:rPr>
                                <m:sty m:val="p"/>
                              </m:rPr>
                              <a:rPr lang="zh-CN" altLang="en-US" i="0" smtClean="0">
                                <a:latin typeface="Cambria Math" panose="02040503050406030204" pitchFamily="18" charset="0"/>
                              </a:rPr>
                              <m:t>a</m:t>
                            </m:r>
                          </m:sub>
                        </m:sSub>
                      </m:oMath>
                    </m:oMathPara>
                  </a14:m>
                  <a:endParaRPr lang="zh-CN" altLang="en-US" dirty="0"/>
                </a:p>
              </p:txBody>
            </p:sp>
          </mc:Choice>
          <mc:Fallback xmlns="">
            <p:sp>
              <p:nvSpPr>
                <p:cNvPr id="9" name="文本框 8">
                  <a:extLst>
                    <a:ext uri="{FF2B5EF4-FFF2-40B4-BE49-F238E27FC236}">
                      <a16:creationId xmlns:a16="http://schemas.microsoft.com/office/drawing/2014/main" id="{BAA3A996-A4D7-B392-2276-64CFF95FB533}"/>
                    </a:ext>
                  </a:extLst>
                </p:cNvPr>
                <p:cNvSpPr txBox="1">
                  <a:spLocks noRot="1" noChangeAspect="1" noMove="1" noResize="1" noEditPoints="1" noAdjustHandles="1" noChangeArrowheads="1" noChangeShapeType="1" noTextEdit="1"/>
                </p:cNvSpPr>
                <p:nvPr/>
              </p:nvSpPr>
              <p:spPr>
                <a:xfrm>
                  <a:off x="1073070" y="2302282"/>
                  <a:ext cx="436418" cy="384721"/>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D5A70E7-73A9-5F6F-7DB8-D4102B5EAA8C}"/>
                    </a:ext>
                  </a:extLst>
                </p:cNvPr>
                <p:cNvSpPr txBox="1"/>
                <p:nvPr/>
              </p:nvSpPr>
              <p:spPr>
                <a:xfrm>
                  <a:off x="1172820" y="3635131"/>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m:rPr>
                                <m:sty m:val="p"/>
                              </m:rPr>
                              <a:rPr lang="en-US" altLang="zh-CN" b="0" i="0" smtClean="0">
                                <a:latin typeface="Cambria Math" panose="02040503050406030204" pitchFamily="18" charset="0"/>
                              </a:rPr>
                              <m:t>b</m:t>
                            </m:r>
                          </m:sub>
                        </m:sSub>
                      </m:oMath>
                    </m:oMathPara>
                  </a14:m>
                  <a:endParaRPr lang="zh-CN" altLang="en-US" dirty="0"/>
                </a:p>
              </p:txBody>
            </p:sp>
          </mc:Choice>
          <mc:Fallback xmlns="">
            <p:sp>
              <p:nvSpPr>
                <p:cNvPr id="10" name="文本框 9">
                  <a:extLst>
                    <a:ext uri="{FF2B5EF4-FFF2-40B4-BE49-F238E27FC236}">
                      <a16:creationId xmlns:a16="http://schemas.microsoft.com/office/drawing/2014/main" id="{DD5A70E7-73A9-5F6F-7DB8-D4102B5EAA8C}"/>
                    </a:ext>
                  </a:extLst>
                </p:cNvPr>
                <p:cNvSpPr txBox="1">
                  <a:spLocks noRot="1" noChangeAspect="1" noMove="1" noResize="1" noEditPoints="1" noAdjustHandles="1" noChangeArrowheads="1" noChangeShapeType="1" noTextEdit="1"/>
                </p:cNvSpPr>
                <p:nvPr/>
              </p:nvSpPr>
              <p:spPr>
                <a:xfrm>
                  <a:off x="1172820" y="3635131"/>
                  <a:ext cx="403168" cy="384721"/>
                </a:xfrm>
                <a:prstGeom prst="rect">
                  <a:avLst/>
                </a:prstGeom>
                <a:blipFill>
                  <a:blip r:embed="rId14"/>
                  <a:stretch>
                    <a:fillRect r="-3030"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534EDDF-EC7C-1892-A002-D6D7654573A7}"/>
                    </a:ext>
                  </a:extLst>
                </p:cNvPr>
                <p:cNvSpPr txBox="1"/>
                <p:nvPr/>
              </p:nvSpPr>
              <p:spPr>
                <a:xfrm>
                  <a:off x="2470995" y="1993146"/>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en-US" altLang="zh-CN" b="0" i="0" smtClean="0">
                                <a:latin typeface="Cambria Math" panose="02040503050406030204" pitchFamily="18" charset="0"/>
                              </a:rPr>
                              <m:t>1</m:t>
                            </m:r>
                          </m:sub>
                        </m:sSub>
                      </m:oMath>
                    </m:oMathPara>
                  </a14:m>
                  <a:endParaRPr lang="zh-CN" altLang="en-US" dirty="0"/>
                </a:p>
              </p:txBody>
            </p:sp>
          </mc:Choice>
          <mc:Fallback xmlns="">
            <p:sp>
              <p:nvSpPr>
                <p:cNvPr id="11" name="文本框 10">
                  <a:extLst>
                    <a:ext uri="{FF2B5EF4-FFF2-40B4-BE49-F238E27FC236}">
                      <a16:creationId xmlns:a16="http://schemas.microsoft.com/office/drawing/2014/main" id="{5534EDDF-EC7C-1892-A002-D6D7654573A7}"/>
                    </a:ext>
                  </a:extLst>
                </p:cNvPr>
                <p:cNvSpPr txBox="1">
                  <a:spLocks noRot="1" noChangeAspect="1" noMove="1" noResize="1" noEditPoints="1" noAdjustHandles="1" noChangeArrowheads="1" noChangeShapeType="1" noTextEdit="1"/>
                </p:cNvSpPr>
                <p:nvPr/>
              </p:nvSpPr>
              <p:spPr>
                <a:xfrm>
                  <a:off x="2470995" y="1993146"/>
                  <a:ext cx="403168" cy="384721"/>
                </a:xfrm>
                <a:prstGeom prst="rect">
                  <a:avLst/>
                </a:prstGeom>
                <a:blipFill>
                  <a:blip r:embed="rId15"/>
                  <a:stretch>
                    <a:fillRect b="-3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44C4D0D-1CC7-7206-EA31-C07684BD8F83}"/>
                    </a:ext>
                  </a:extLst>
                </p:cNvPr>
                <p:cNvSpPr txBox="1"/>
                <p:nvPr/>
              </p:nvSpPr>
              <p:spPr>
                <a:xfrm>
                  <a:off x="2470995" y="3840608"/>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m:rPr>
                                <m:sty m:val="p"/>
                              </m:rPr>
                              <a:rPr lang="en-US" altLang="zh-CN" b="0" i="0" smtClean="0">
                                <a:latin typeface="Cambria Math" panose="02040503050406030204" pitchFamily="18" charset="0"/>
                              </a:rPr>
                              <m:t>w</m:t>
                            </m:r>
                          </m:sub>
                        </m:sSub>
                      </m:oMath>
                    </m:oMathPara>
                  </a14:m>
                  <a:endParaRPr lang="zh-CN" altLang="en-US" dirty="0"/>
                </a:p>
              </p:txBody>
            </p:sp>
          </mc:Choice>
          <mc:Fallback xmlns="">
            <p:sp>
              <p:nvSpPr>
                <p:cNvPr id="12" name="文本框 11">
                  <a:extLst>
                    <a:ext uri="{FF2B5EF4-FFF2-40B4-BE49-F238E27FC236}">
                      <a16:creationId xmlns:a16="http://schemas.microsoft.com/office/drawing/2014/main" id="{844C4D0D-1CC7-7206-EA31-C07684BD8F83}"/>
                    </a:ext>
                  </a:extLst>
                </p:cNvPr>
                <p:cNvSpPr txBox="1">
                  <a:spLocks noRot="1" noChangeAspect="1" noMove="1" noResize="1" noEditPoints="1" noAdjustHandles="1" noChangeArrowheads="1" noChangeShapeType="1" noTextEdit="1"/>
                </p:cNvSpPr>
                <p:nvPr/>
              </p:nvSpPr>
              <p:spPr>
                <a:xfrm>
                  <a:off x="2470995" y="3840608"/>
                  <a:ext cx="403168" cy="384721"/>
                </a:xfrm>
                <a:prstGeom prst="rect">
                  <a:avLst/>
                </a:prstGeom>
                <a:blipFill>
                  <a:blip r:embed="rId16"/>
                  <a:stretch>
                    <a:fillRect r="-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2B2E440-8B48-72DA-43A7-4C51B5B87EAA}"/>
                    </a:ext>
                  </a:extLst>
                </p:cNvPr>
                <p:cNvSpPr txBox="1"/>
                <p:nvPr/>
              </p:nvSpPr>
              <p:spPr>
                <a:xfrm>
                  <a:off x="1988145" y="4939256"/>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𝑈</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82B2E440-8B48-72DA-43A7-4C51B5B87EAA}"/>
                    </a:ext>
                  </a:extLst>
                </p:cNvPr>
                <p:cNvSpPr txBox="1">
                  <a:spLocks noRot="1" noChangeAspect="1" noMove="1" noResize="1" noEditPoints="1" noAdjustHandles="1" noChangeArrowheads="1" noChangeShapeType="1" noTextEdit="1"/>
                </p:cNvSpPr>
                <p:nvPr/>
              </p:nvSpPr>
              <p:spPr>
                <a:xfrm>
                  <a:off x="1988145" y="4939256"/>
                  <a:ext cx="403168" cy="384721"/>
                </a:xfrm>
                <a:prstGeom prst="rect">
                  <a:avLst/>
                </a:prstGeom>
                <a:blipFill>
                  <a:blip r:embed="rId17"/>
                  <a:stretch>
                    <a:fillRect b="-3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25F8EA0-5544-0B89-3482-E61CCB6E31AE}"/>
                    </a:ext>
                  </a:extLst>
                </p:cNvPr>
                <p:cNvSpPr txBox="1"/>
                <p:nvPr/>
              </p:nvSpPr>
              <p:spPr>
                <a:xfrm>
                  <a:off x="3045214" y="2491130"/>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𝐿</m:t>
                            </m:r>
                          </m:e>
                          <m:sub>
                            <m:r>
                              <a:rPr lang="en-US" altLang="zh-CN" b="0" i="0" smtClean="0">
                                <a:latin typeface="Cambria Math" panose="02040503050406030204" pitchFamily="18" charset="0"/>
                              </a:rPr>
                              <m:t>1</m:t>
                            </m:r>
                          </m:sub>
                        </m:sSub>
                      </m:oMath>
                    </m:oMathPara>
                  </a14:m>
                  <a:endParaRPr lang="zh-CN" altLang="en-US" dirty="0"/>
                </a:p>
              </p:txBody>
            </p:sp>
          </mc:Choice>
          <mc:Fallback xmlns="">
            <p:sp>
              <p:nvSpPr>
                <p:cNvPr id="26" name="文本框 25">
                  <a:extLst>
                    <a:ext uri="{FF2B5EF4-FFF2-40B4-BE49-F238E27FC236}">
                      <a16:creationId xmlns:a16="http://schemas.microsoft.com/office/drawing/2014/main" id="{025F8EA0-5544-0B89-3482-E61CCB6E31AE}"/>
                    </a:ext>
                  </a:extLst>
                </p:cNvPr>
                <p:cNvSpPr txBox="1">
                  <a:spLocks noRot="1" noChangeAspect="1" noMove="1" noResize="1" noEditPoints="1" noAdjustHandles="1" noChangeArrowheads="1" noChangeShapeType="1" noTextEdit="1"/>
                </p:cNvSpPr>
                <p:nvPr/>
              </p:nvSpPr>
              <p:spPr>
                <a:xfrm>
                  <a:off x="3045214" y="2491130"/>
                  <a:ext cx="403168" cy="384721"/>
                </a:xfrm>
                <a:prstGeom prst="rect">
                  <a:avLst/>
                </a:prstGeom>
                <a:blipFill>
                  <a:blip r:embed="rId18"/>
                  <a:stretch>
                    <a:fillRect b="-3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C7657CB-EBF0-6143-9E08-7874AA274C00}"/>
                    </a:ext>
                  </a:extLst>
                </p:cNvPr>
                <p:cNvSpPr txBox="1"/>
                <p:nvPr/>
              </p:nvSpPr>
              <p:spPr>
                <a:xfrm>
                  <a:off x="2978393" y="3442770"/>
                  <a:ext cx="403168" cy="38472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𝐿</m:t>
                            </m:r>
                          </m:e>
                          <m:sub>
                            <m:r>
                              <a:rPr lang="en-US" altLang="zh-CN" b="0" i="0" smtClean="0">
                                <a:latin typeface="Cambria Math" panose="02040503050406030204" pitchFamily="18" charset="0"/>
                              </a:rPr>
                              <m:t>2</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2C7657CB-EBF0-6143-9E08-7874AA274C00}"/>
                    </a:ext>
                  </a:extLst>
                </p:cNvPr>
                <p:cNvSpPr txBox="1">
                  <a:spLocks noRot="1" noChangeAspect="1" noMove="1" noResize="1" noEditPoints="1" noAdjustHandles="1" noChangeArrowheads="1" noChangeShapeType="1" noTextEdit="1"/>
                </p:cNvSpPr>
                <p:nvPr/>
              </p:nvSpPr>
              <p:spPr>
                <a:xfrm>
                  <a:off x="2978393" y="3442770"/>
                  <a:ext cx="403168" cy="384721"/>
                </a:xfrm>
                <a:prstGeom prst="rect">
                  <a:avLst/>
                </a:prstGeom>
                <a:blipFill>
                  <a:blip r:embed="rId19"/>
                  <a:stretch>
                    <a:fillRect b="-3226"/>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1119863F-C581-3D7E-195D-BF094B228329}"/>
                  </a:ext>
                </a:extLst>
              </p:cNvPr>
              <p:cNvSpPr txBox="1"/>
              <p:nvPr/>
            </p:nvSpPr>
            <p:spPr>
              <a:xfrm>
                <a:off x="4356668" y="4186234"/>
                <a:ext cx="5315148" cy="696922"/>
              </a:xfrm>
              <a:prstGeom prst="rect">
                <a:avLst/>
              </a:prstGeom>
              <a:solidFill>
                <a:schemeClr val="bg1"/>
              </a:solidFill>
            </p:spPr>
            <p:txBody>
              <a:bodyPr wrap="square">
                <a:spAutoFit/>
              </a:bodyPr>
              <a:lstStyle/>
              <a:p>
                <a14:m>
                  <m:oMath xmlns:m="http://schemas.openxmlformats.org/officeDocument/2006/math">
                    <m:r>
                      <a:rPr lang="zh-CN" altLang="en-US" sz="2400" i="1" smtClean="0">
                        <a:solidFill>
                          <a:srgbClr val="836967"/>
                        </a:solidFill>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𝑈</m:t>
                        </m:r>
                      </m:e>
                      <m:sub>
                        <m:r>
                          <a:rPr lang="en-US" altLang="zh-CN" sz="2400" i="1">
                            <a:latin typeface="Cambria Math" panose="02040503050406030204" pitchFamily="18" charset="0"/>
                          </a:rPr>
                          <m:t>𝐶𝐷</m:t>
                        </m:r>
                      </m:sub>
                    </m:sSub>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𝑈</m:t>
                            </m:r>
                          </m:e>
                          <m:sub>
                            <m:r>
                              <a:rPr lang="en-US" altLang="zh-CN" sz="2400" i="1">
                                <a:latin typeface="Cambria Math" panose="02040503050406030204" pitchFamily="18" charset="0"/>
                              </a:rPr>
                              <m:t>𝐶𝐷</m:t>
                            </m:r>
                          </m:sub>
                        </m:sSub>
                      </m:num>
                      <m:den>
                        <m:r>
                          <a:rPr lang="en-US" altLang="zh-CN" sz="2400" b="0" i="1" smtClean="0">
                            <a:latin typeface="Cambria Math" panose="02040503050406030204" pitchFamily="18" charset="0"/>
                            <a:ea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𝐿</m:t>
                            </m:r>
                          </m:e>
                          <m:sub>
                            <m:r>
                              <a:rPr lang="en-US" altLang="zh-CN" sz="2400">
                                <a:latin typeface="Cambria Math" panose="02040503050406030204" pitchFamily="18" charset="0"/>
                              </a:rPr>
                              <m:t>2</m:t>
                            </m:r>
                          </m:sub>
                        </m:sSub>
                      </m:den>
                    </m:f>
                  </m:oMath>
                </a14:m>
                <a:r>
                  <a:rPr lang="zh-CN" altLang="en-US" sz="2400" dirty="0">
                    <a:solidFill>
                      <a:srgbClr val="836967"/>
                    </a:solidFill>
                  </a:rPr>
                  <a:t> </a:t>
                </a:r>
                <a14:m>
                  <m:oMath xmlns:m="http://schemas.openxmlformats.org/officeDocument/2006/math">
                    <m:r>
                      <a:rPr lang="zh-CN" altLang="en-US" sz="2400" i="1">
                        <a:solidFill>
                          <a:srgbClr val="836967"/>
                        </a:solidFill>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𝐿</m:t>
                        </m:r>
                      </m:e>
                      <m:sub>
                        <m:r>
                          <a:rPr lang="en-US" altLang="zh-CN" sz="2400" i="1">
                            <a:solidFill>
                              <a:srgbClr val="836967"/>
                            </a:solidFill>
                            <a:latin typeface="Cambria Math" panose="02040503050406030204" pitchFamily="18" charset="0"/>
                          </a:rPr>
                          <m:t>2</m:t>
                        </m:r>
                      </m:sub>
                    </m:sSub>
                    <m:r>
                      <a:rPr lang="en-US" altLang="zh-CN" sz="2400" i="1">
                        <a:solidFill>
                          <a:srgbClr val="836967"/>
                        </a:solidFill>
                        <a:latin typeface="Cambria Math" panose="02040503050406030204" pitchFamily="18" charset="0"/>
                      </a:rPr>
                      <m:t>∝</m:t>
                    </m:r>
                    <m:r>
                      <a:rPr lang="en-US" altLang="zh-CN" sz="2400" i="1">
                        <a:solidFill>
                          <a:srgbClr val="836967"/>
                        </a:solidFill>
                        <a:latin typeface="Cambria Math" panose="02040503050406030204" pitchFamily="18" charset="0"/>
                      </a:rPr>
                      <m:t>𝜔</m:t>
                    </m:r>
                    <m:f>
                      <m:fPr>
                        <m:ctrlPr>
                          <a:rPr lang="en-US" altLang="zh-CN" sz="2400" i="1">
                            <a:solidFill>
                              <a:srgbClr val="836967"/>
                            </a:solidFill>
                            <a:latin typeface="Cambria Math" panose="02040503050406030204" pitchFamily="18" charset="0"/>
                          </a:rPr>
                        </m:ctrlPr>
                      </m:fPr>
                      <m:num>
                        <m:r>
                          <a:rPr lang="zh-CN" altLang="en-US" sz="2400" i="1">
                            <a:solidFill>
                              <a:srgbClr val="836967"/>
                            </a:solidFill>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en-US" altLang="zh-CN" sz="2400" i="1">
                                <a:solidFill>
                                  <a:srgbClr val="836967"/>
                                </a:solidFill>
                                <a:latin typeface="Cambria Math" panose="02040503050406030204" pitchFamily="18" charset="0"/>
                              </a:rPr>
                              <m:t>𝐿</m:t>
                            </m:r>
                          </m:e>
                          <m:sub>
                            <m:r>
                              <a:rPr lang="en-US" altLang="zh-CN" sz="2400" i="1">
                                <a:solidFill>
                                  <a:srgbClr val="836967"/>
                                </a:solidFill>
                                <a:latin typeface="Cambria Math" panose="02040503050406030204" pitchFamily="18" charset="0"/>
                              </a:rPr>
                              <m:t>2</m:t>
                            </m:r>
                          </m:sub>
                        </m:sSub>
                      </m:num>
                      <m:den>
                        <m:sSup>
                          <m:sSupPr>
                            <m:ctrlPr>
                              <a:rPr lang="en-US" altLang="zh-CN" sz="2400" i="1">
                                <a:solidFill>
                                  <a:srgbClr val="836967"/>
                                </a:solidFill>
                                <a:latin typeface="Cambria Math" panose="02040503050406030204" pitchFamily="18" charset="0"/>
                              </a:rPr>
                            </m:ctrlPr>
                          </m:sSupPr>
                          <m:e>
                            <m:r>
                              <a:rPr lang="zh-CN" altLang="en-US" sz="2400" i="1">
                                <a:solidFill>
                                  <a:srgbClr val="836967"/>
                                </a:solidFill>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solidFill>
                                      <a:srgbClr val="836967"/>
                                    </a:solidFill>
                                    <a:latin typeface="Cambria Math" panose="02040503050406030204" pitchFamily="18" charset="0"/>
                                  </a:rPr>
                                  <m:t>𝑅</m:t>
                                </m:r>
                              </m:e>
                              <m:sub>
                                <m:r>
                                  <m:rPr>
                                    <m:sty m:val="p"/>
                                  </m:rPr>
                                  <a:rPr lang="en-US" altLang="zh-CN" sz="2400" i="1">
                                    <a:solidFill>
                                      <a:srgbClr val="836967"/>
                                    </a:solidFill>
                                    <a:latin typeface="Cambria Math" panose="02040503050406030204" pitchFamily="18" charset="0"/>
                                  </a:rPr>
                                  <m:t>b</m:t>
                                </m:r>
                              </m:sub>
                            </m:sSub>
                            <m:r>
                              <a:rPr lang="en-US" altLang="zh-CN" sz="2400" i="1">
                                <a:solidFill>
                                  <a:srgbClr val="836967"/>
                                </a:solidFill>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solidFill>
                                      <a:srgbClr val="836967"/>
                                    </a:solidFill>
                                    <a:latin typeface="Cambria Math" panose="02040503050406030204" pitchFamily="18" charset="0"/>
                                  </a:rPr>
                                  <m:t>𝑅</m:t>
                                </m:r>
                              </m:e>
                              <m:sub>
                                <m:r>
                                  <m:rPr>
                                    <m:sty m:val="p"/>
                                  </m:rPr>
                                  <a:rPr lang="en-US" altLang="zh-CN" sz="2400" i="1">
                                    <a:solidFill>
                                      <a:srgbClr val="836967"/>
                                    </a:solidFill>
                                    <a:latin typeface="Cambria Math" panose="02040503050406030204" pitchFamily="18" charset="0"/>
                                  </a:rPr>
                                  <m:t>w</m:t>
                                </m:r>
                              </m:sub>
                            </m:sSub>
                            <m:r>
                              <a:rPr lang="en-US" altLang="zh-CN" sz="2400" i="1">
                                <a:solidFill>
                                  <a:srgbClr val="836967"/>
                                </a:solidFill>
                                <a:latin typeface="Cambria Math" panose="02040503050406030204" pitchFamily="18" charset="0"/>
                              </a:rPr>
                              <m:t>+</m:t>
                            </m:r>
                            <m:r>
                              <a:rPr lang="zh-CN" altLang="en-US" sz="2400" i="1">
                                <a:solidFill>
                                  <a:srgbClr val="836967"/>
                                </a:solidFill>
                                <a:latin typeface="Cambria Math" panose="02040503050406030204" pitchFamily="18" charset="0"/>
                              </a:rPr>
                              <m:t>𝑗</m:t>
                            </m:r>
                            <m:r>
                              <a:rPr lang="zh-CN" altLang="en-US" sz="2400" i="1">
                                <a:solidFill>
                                  <a:srgbClr val="836967"/>
                                </a:solidFill>
                                <a:latin typeface="Cambria Math" panose="02040503050406030204" pitchFamily="18" charset="0"/>
                              </a:rPr>
                              <m:t>𝜔</m:t>
                            </m:r>
                            <m:sSub>
                              <m:sSubPr>
                                <m:ctrlPr>
                                  <a:rPr lang="zh-CN" altLang="en-US" sz="2400" i="1">
                                    <a:solidFill>
                                      <a:srgbClr val="836967"/>
                                    </a:solidFill>
                                    <a:latin typeface="Cambria Math" panose="02040503050406030204" pitchFamily="18" charset="0"/>
                                  </a:rPr>
                                </m:ctrlPr>
                              </m:sSubPr>
                              <m:e>
                                <m:r>
                                  <a:rPr lang="zh-CN" altLang="en-US" sz="2400" i="1">
                                    <a:solidFill>
                                      <a:srgbClr val="836967"/>
                                    </a:solidFill>
                                    <a:latin typeface="Cambria Math" panose="02040503050406030204" pitchFamily="18" charset="0"/>
                                  </a:rPr>
                                  <m:t>𝐿</m:t>
                                </m:r>
                              </m:e>
                              <m:sub>
                                <m:r>
                                  <a:rPr lang="en-US" altLang="zh-CN" sz="2400" i="1">
                                    <a:solidFill>
                                      <a:srgbClr val="836967"/>
                                    </a:solidFill>
                                    <a:latin typeface="Cambria Math" panose="02040503050406030204" pitchFamily="18" charset="0"/>
                                  </a:rPr>
                                  <m:t>2</m:t>
                                </m:r>
                              </m:sub>
                            </m:sSub>
                            <m:r>
                              <a:rPr lang="zh-CN" altLang="en-US" sz="2400" b="0" i="1" smtClean="0">
                                <a:solidFill>
                                  <a:srgbClr val="836967"/>
                                </a:solidFill>
                                <a:latin typeface="Cambria Math" panose="02040503050406030204" pitchFamily="18" charset="0"/>
                              </a:rPr>
                              <m:t>）</m:t>
                            </m:r>
                          </m:e>
                          <m:sup>
                            <m:r>
                              <a:rPr lang="en-US" altLang="zh-CN" sz="2400" i="1">
                                <a:solidFill>
                                  <a:srgbClr val="836967"/>
                                </a:solidFill>
                                <a:latin typeface="Cambria Math" panose="02040503050406030204" pitchFamily="18" charset="0"/>
                              </a:rPr>
                              <m:t>2</m:t>
                            </m:r>
                          </m:sup>
                        </m:sSup>
                      </m:den>
                    </m:f>
                  </m:oMath>
                </a14:m>
                <a:endParaRPr lang="zh-CN" altLang="en-US" sz="2400" i="1" dirty="0">
                  <a:solidFill>
                    <a:srgbClr val="836967"/>
                  </a:solidFill>
                  <a:latin typeface="Cambria Math" panose="02040503050406030204" pitchFamily="18" charset="0"/>
                </a:endParaRPr>
              </a:p>
            </p:txBody>
          </p:sp>
        </mc:Choice>
        <mc:Fallback>
          <p:sp>
            <p:nvSpPr>
              <p:cNvPr id="30" name="文本框 29">
                <a:extLst>
                  <a:ext uri="{FF2B5EF4-FFF2-40B4-BE49-F238E27FC236}">
                    <a16:creationId xmlns:a16="http://schemas.microsoft.com/office/drawing/2014/main" id="{1119863F-C581-3D7E-195D-BF094B228329}"/>
                  </a:ext>
                </a:extLst>
              </p:cNvPr>
              <p:cNvSpPr txBox="1">
                <a:spLocks noRot="1" noChangeAspect="1" noMove="1" noResize="1" noEditPoints="1" noAdjustHandles="1" noChangeArrowheads="1" noChangeShapeType="1" noTextEdit="1"/>
              </p:cNvSpPr>
              <p:nvPr/>
            </p:nvSpPr>
            <p:spPr>
              <a:xfrm>
                <a:off x="4356668" y="4186234"/>
                <a:ext cx="5315148" cy="696922"/>
              </a:xfrm>
              <a:prstGeom prst="rect">
                <a:avLst/>
              </a:prstGeom>
              <a:blipFill>
                <a:blip r:embed="rId20"/>
                <a:stretch>
                  <a:fillRect l="-239" b="-142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a:extLst>
                  <a:ext uri="{FF2B5EF4-FFF2-40B4-BE49-F238E27FC236}">
                    <a16:creationId xmlns:a16="http://schemas.microsoft.com/office/drawing/2014/main" id="{53C0B65F-F45D-3893-17C3-046867AB38DA}"/>
                  </a:ext>
                </a:extLst>
              </p:cNvPr>
              <p:cNvSpPr txBox="1"/>
              <p:nvPr/>
            </p:nvSpPr>
            <p:spPr>
              <a:xfrm>
                <a:off x="3726221" y="4794053"/>
                <a:ext cx="6576042" cy="461665"/>
              </a:xfrm>
              <a:prstGeom prst="rect">
                <a:avLst/>
              </a:prstGeom>
              <a:noFill/>
            </p:spPr>
            <p:txBody>
              <a:bodyPr wrap="square" rtlCol="0">
                <a:spAutoFit/>
              </a:bodyPr>
              <a:lstStyle/>
              <a:p>
                <a:pPr marL="342900" indent="-342900">
                  <a:buFont typeface="Wingdings" pitchFamily="2" charset="2"/>
                  <a:buChar char="Ø"/>
                </a:pP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en-US" altLang="zh-CN" sz="2400" b="0" i="1" smtClean="0">
                            <a:solidFill>
                              <a:srgbClr val="836967"/>
                            </a:solidFill>
                            <a:latin typeface="Cambria Math" panose="02040503050406030204" pitchFamily="18" charset="0"/>
                          </a:rPr>
                          <m:t>𝑈</m:t>
                        </m:r>
                      </m:e>
                      <m:sub>
                        <m:r>
                          <a:rPr lang="en-US" altLang="zh-CN" sz="2400" b="0" i="1" smtClean="0">
                            <a:latin typeface="Cambria Math" panose="02040503050406030204" pitchFamily="18" charset="0"/>
                          </a:rPr>
                          <m:t>𝐶𝐷</m:t>
                        </m:r>
                      </m:sub>
                    </m:sSub>
                  </m:oMath>
                </a14:m>
                <a:r>
                  <a:rPr kumimoji="1" lang="zh-CN" altLang="en-US" sz="2400" dirty="0">
                    <a:latin typeface="SimSun" panose="02010600030101010101" pitchFamily="2" charset="-122"/>
                    <a:ea typeface="SimSun" panose="02010600030101010101" pitchFamily="2" charset="-122"/>
                  </a:rPr>
                  <a:t>表达</a:t>
                </a:r>
                <a14:m>
                  <m:oMath xmlns:m="http://schemas.openxmlformats.org/officeDocument/2006/math">
                    <m:r>
                      <a:rPr kumimoji="1" lang="en-US" altLang="zh-CN" sz="2400" i="1">
                        <a:latin typeface="Cambria Math" panose="02040503050406030204" pitchFamily="18" charset="0"/>
                        <a:ea typeface="Cambria Math" panose="02040503050406030204" pitchFamily="18" charset="0"/>
                      </a:rPr>
                      <m:t>𝜇</m:t>
                    </m:r>
                    <m:r>
                      <a:rPr kumimoji="1" lang="zh-CN" altLang="en-US" sz="2400" i="1" smtClean="0">
                        <a:latin typeface="Cambria Math" panose="02040503050406030204" pitchFamily="18" charset="0"/>
                        <a:ea typeface="Cambria Math" panose="02040503050406030204" pitchFamily="18" charset="0"/>
                      </a:rPr>
                      <m:t>随</m:t>
                    </m:r>
                    <m:r>
                      <a:rPr kumimoji="1" lang="zh-CN" altLang="en-US" sz="2400" i="1">
                        <a:latin typeface="Cambria Math" panose="02040503050406030204" pitchFamily="18" charset="0"/>
                        <a:ea typeface="Cambria Math" panose="02040503050406030204" pitchFamily="18" charset="0"/>
                      </a:rPr>
                      <m:t>温度</m:t>
                    </m:r>
                    <m:r>
                      <a:rPr kumimoji="1" lang="zh-CN" altLang="en-US" sz="2400" i="1" smtClean="0">
                        <a:latin typeface="Cambria Math" panose="02040503050406030204" pitchFamily="18" charset="0"/>
                        <a:ea typeface="Cambria Math" panose="02040503050406030204" pitchFamily="18" charset="0"/>
                      </a:rPr>
                      <m:t>的</m:t>
                    </m:r>
                    <m:r>
                      <a:rPr kumimoji="1" lang="zh-CN" altLang="en-US" sz="2400" i="1">
                        <a:latin typeface="Cambria Math" panose="02040503050406030204" pitchFamily="18" charset="0"/>
                        <a:ea typeface="Cambria Math" panose="02040503050406030204" pitchFamily="18" charset="0"/>
                      </a:rPr>
                      <m:t>变化</m:t>
                    </m:r>
                  </m:oMath>
                </a14:m>
                <a:endParaRPr kumimoji="1" lang="zh-CN" altLang="en-US" sz="2400" dirty="0">
                  <a:latin typeface="SimSun" panose="02010600030101010101" pitchFamily="2" charset="-122"/>
                  <a:ea typeface="SimSun" panose="02010600030101010101" pitchFamily="2" charset="-122"/>
                </a:endParaRPr>
              </a:p>
            </p:txBody>
          </p:sp>
        </mc:Choice>
        <mc:Fallback>
          <p:sp>
            <p:nvSpPr>
              <p:cNvPr id="31" name="文本框 30">
                <a:extLst>
                  <a:ext uri="{FF2B5EF4-FFF2-40B4-BE49-F238E27FC236}">
                    <a16:creationId xmlns:a16="http://schemas.microsoft.com/office/drawing/2014/main" id="{53C0B65F-F45D-3893-17C3-046867AB38DA}"/>
                  </a:ext>
                </a:extLst>
              </p:cNvPr>
              <p:cNvSpPr txBox="1">
                <a:spLocks noRot="1" noChangeAspect="1" noMove="1" noResize="1" noEditPoints="1" noAdjustHandles="1" noChangeArrowheads="1" noChangeShapeType="1" noTextEdit="1"/>
              </p:cNvSpPr>
              <p:nvPr/>
            </p:nvSpPr>
            <p:spPr>
              <a:xfrm>
                <a:off x="3726221" y="4794053"/>
                <a:ext cx="6576042" cy="461665"/>
              </a:xfrm>
              <a:prstGeom prst="rect">
                <a:avLst/>
              </a:prstGeom>
              <a:blipFill>
                <a:blip r:embed="rId21"/>
                <a:stretch>
                  <a:fillRect l="-1156" t="-13514" b="-270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DE72C81-053F-2D75-9C26-72DE6F6B5482}"/>
                  </a:ext>
                </a:extLst>
              </p:cNvPr>
              <p:cNvSpPr txBox="1"/>
              <p:nvPr/>
            </p:nvSpPr>
            <p:spPr>
              <a:xfrm>
                <a:off x="9709954" y="3264365"/>
                <a:ext cx="2359519" cy="1503040"/>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kumimoji="1" lang="en-US" altLang="zh-CN" sz="2400" b="0" i="1" smtClean="0">
                        <a:latin typeface="Cambria Math" panose="02040503050406030204" pitchFamily="18" charset="0"/>
                      </a:rPr>
                      <m:t>𝐿</m:t>
                    </m:r>
                    <m:r>
                      <a:rPr kumimoji="1" lang="en-US" altLang="zh-CN" sz="2400" b="0" i="1" smtClean="0">
                        <a:latin typeface="Cambria Math" panose="02040503050406030204" pitchFamily="18" charset="0"/>
                      </a:rPr>
                      <m:t>=</m:t>
                    </m:r>
                    <m:f>
                      <m:fPr>
                        <m:ctrlPr>
                          <a:rPr kumimoji="1" lang="en-US" altLang="zh-CN" sz="2400" b="0" i="1" smtClean="0">
                            <a:latin typeface="Cambria Math" panose="02040503050406030204" pitchFamily="18" charset="0"/>
                          </a:rPr>
                        </m:ctrlPr>
                      </m:fPr>
                      <m:num>
                        <m:r>
                          <a:rPr kumimoji="1" lang="en-US" altLang="zh-CN" sz="2400" b="0" i="1" smtClean="0">
                            <a:latin typeface="Cambria Math" panose="02040503050406030204" pitchFamily="18" charset="0"/>
                            <a:ea typeface="Cambria Math" panose="02040503050406030204" pitchFamily="18" charset="0"/>
                          </a:rPr>
                          <m:t>𝜇</m:t>
                        </m:r>
                        <m:sSup>
                          <m:sSupPr>
                            <m:ctrlPr>
                              <a:rPr kumimoji="1" lang="en-US" altLang="zh-CN" sz="2400" i="1">
                                <a:latin typeface="Cambria Math" panose="02040503050406030204" pitchFamily="18" charset="0"/>
                              </a:rPr>
                            </m:ctrlPr>
                          </m:sSupPr>
                          <m:e>
                            <m:r>
                              <a:rPr kumimoji="1" lang="en-US" altLang="zh-CN" sz="2400" i="1">
                                <a:latin typeface="Cambria Math" panose="02040503050406030204" pitchFamily="18" charset="0"/>
                              </a:rPr>
                              <m:t>𝑁</m:t>
                            </m:r>
                          </m:e>
                          <m:sup>
                            <m:r>
                              <a:rPr kumimoji="1" lang="en-US" altLang="zh-CN" sz="2400" i="1">
                                <a:latin typeface="Cambria Math" panose="02040503050406030204" pitchFamily="18" charset="0"/>
                              </a:rPr>
                              <m:t>2</m:t>
                            </m:r>
                          </m:sup>
                        </m:sSup>
                        <m:r>
                          <a:rPr kumimoji="1" lang="en-US" altLang="zh-CN" sz="2400" b="0" i="1" smtClean="0">
                            <a:latin typeface="Cambria Math" panose="02040503050406030204" pitchFamily="18" charset="0"/>
                          </a:rPr>
                          <m:t>𝐴</m:t>
                        </m:r>
                      </m:num>
                      <m:den>
                        <m:r>
                          <a:rPr kumimoji="1" lang="en-US" altLang="zh-CN" sz="2400" b="0" i="1" smtClean="0">
                            <a:latin typeface="Cambria Math" panose="02040503050406030204" pitchFamily="18" charset="0"/>
                          </a:rPr>
                          <m:t>𝑙</m:t>
                        </m:r>
                      </m:den>
                    </m:f>
                    <m:r>
                      <a:rPr kumimoji="1" lang="en-US" altLang="zh-CN" sz="2400" b="0" i="1"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𝜇</m:t>
                    </m:r>
                  </m:oMath>
                </a14:m>
                <a:r>
                  <a:rPr kumimoji="1" lang="en-US" altLang="zh-CN" sz="2400" dirty="0"/>
                  <a:t>(T)</a:t>
                </a:r>
              </a:p>
              <a:p>
                <a:pPr/>
                <a14:m>
                  <m:oMathPara xmlns:m="http://schemas.openxmlformats.org/officeDocument/2006/math">
                    <m:oMathParaPr>
                      <m:jc m:val="centerGroup"/>
                    </m:oMathParaPr>
                    <m:oMath xmlns:m="http://schemas.openxmlformats.org/officeDocument/2006/math">
                      <m:r>
                        <a:rPr kumimoji="1" lang="en-US" altLang="zh-CN" sz="1800" b="0" i="1" smtClean="0">
                          <a:latin typeface="Cambria Math" panose="02040503050406030204" pitchFamily="18" charset="0"/>
                        </a:rPr>
                        <m:t>𝑁</m:t>
                      </m:r>
                      <m:r>
                        <a:rPr kumimoji="1" lang="en-US" altLang="zh-CN" sz="1800" b="0" i="1" smtClean="0">
                          <a:latin typeface="Cambria Math" panose="02040503050406030204" pitchFamily="18" charset="0"/>
                        </a:rPr>
                        <m:t>:</m:t>
                      </m:r>
                      <m:r>
                        <a:rPr kumimoji="1" lang="zh-CN" altLang="en-US" sz="1800" i="1">
                          <a:latin typeface="Cambria Math" panose="02040503050406030204" pitchFamily="18" charset="0"/>
                        </a:rPr>
                        <m:t>线圈</m:t>
                      </m:r>
                      <m:r>
                        <a:rPr kumimoji="1" lang="zh-CN" altLang="en-US" sz="1800" i="1" smtClean="0">
                          <a:latin typeface="Cambria Math" panose="02040503050406030204" pitchFamily="18" charset="0"/>
                        </a:rPr>
                        <m:t>匝数</m:t>
                      </m:r>
                    </m:oMath>
                  </m:oMathPara>
                </a14:m>
                <a:endParaRPr kumimoji="1" lang="en-US" altLang="zh-CN" sz="1800" dirty="0"/>
              </a:p>
              <a:p>
                <a:pPr/>
                <a14:m>
                  <m:oMathPara xmlns:m="http://schemas.openxmlformats.org/officeDocument/2006/math">
                    <m:oMathParaPr>
                      <m:jc m:val="centerGroup"/>
                    </m:oMathParaPr>
                    <m:oMath xmlns:m="http://schemas.openxmlformats.org/officeDocument/2006/math">
                      <m:r>
                        <a:rPr kumimoji="1" lang="en-US" altLang="zh-CN" sz="1800" b="0" i="1" smtClean="0">
                          <a:latin typeface="Cambria Math" panose="02040503050406030204" pitchFamily="18" charset="0"/>
                        </a:rPr>
                        <m:t>𝐴</m:t>
                      </m:r>
                      <m:r>
                        <a:rPr kumimoji="1" lang="en-US" altLang="zh-CN" sz="1800" b="0" i="1" smtClean="0">
                          <a:latin typeface="Cambria Math" panose="02040503050406030204" pitchFamily="18" charset="0"/>
                        </a:rPr>
                        <m:t>:</m:t>
                      </m:r>
                      <m:r>
                        <a:rPr kumimoji="1" lang="zh-CN" altLang="en-US" sz="1800" i="1">
                          <a:latin typeface="Cambria Math" panose="02040503050406030204" pitchFamily="18" charset="0"/>
                        </a:rPr>
                        <m:t>截面积</m:t>
                      </m:r>
                    </m:oMath>
                  </m:oMathPara>
                </a14:m>
                <a:endParaRPr kumimoji="1" lang="en-US" altLang="zh-CN" sz="1800" dirty="0"/>
              </a:p>
              <a:p>
                <a:pPr/>
                <a14:m>
                  <m:oMathPara xmlns:m="http://schemas.openxmlformats.org/officeDocument/2006/math">
                    <m:oMathParaPr>
                      <m:jc m:val="centerGroup"/>
                    </m:oMathParaPr>
                    <m:oMath xmlns:m="http://schemas.openxmlformats.org/officeDocument/2006/math">
                      <m:r>
                        <a:rPr kumimoji="1" lang="en-US" altLang="zh-CN" sz="1800" b="0" i="1" smtClean="0">
                          <a:latin typeface="Cambria Math" panose="02040503050406030204" pitchFamily="18" charset="0"/>
                        </a:rPr>
                        <m:t>𝑙</m:t>
                      </m:r>
                      <m:r>
                        <a:rPr kumimoji="1" lang="en-US" altLang="zh-CN" sz="1800" b="0" i="1" smtClean="0">
                          <a:latin typeface="Cambria Math" panose="02040503050406030204" pitchFamily="18" charset="0"/>
                        </a:rPr>
                        <m:t>:</m:t>
                      </m:r>
                      <m:r>
                        <a:rPr kumimoji="1" lang="zh-CN" altLang="en-US" sz="1800" i="1">
                          <a:latin typeface="Cambria Math" panose="02040503050406030204" pitchFamily="18" charset="0"/>
                        </a:rPr>
                        <m:t>线圈长度</m:t>
                      </m:r>
                    </m:oMath>
                  </m:oMathPara>
                </a14:m>
                <a:endParaRPr kumimoji="1" lang="en-US" altLang="zh-CN" sz="1800" dirty="0"/>
              </a:p>
            </p:txBody>
          </p:sp>
        </mc:Choice>
        <mc:Fallback xmlns="">
          <p:sp>
            <p:nvSpPr>
              <p:cNvPr id="33" name="文本框 32">
                <a:extLst>
                  <a:ext uri="{FF2B5EF4-FFF2-40B4-BE49-F238E27FC236}">
                    <a16:creationId xmlns:a16="http://schemas.microsoft.com/office/drawing/2014/main" id="{EDE72C81-053F-2D75-9C26-72DE6F6B5482}"/>
                  </a:ext>
                </a:extLst>
              </p:cNvPr>
              <p:cNvSpPr txBox="1">
                <a:spLocks noRot="1" noChangeAspect="1" noMove="1" noResize="1" noEditPoints="1" noAdjustHandles="1" noChangeArrowheads="1" noChangeShapeType="1" noTextEdit="1"/>
              </p:cNvSpPr>
              <p:nvPr/>
            </p:nvSpPr>
            <p:spPr>
              <a:xfrm>
                <a:off x="9709954" y="3264365"/>
                <a:ext cx="2359519" cy="1503040"/>
              </a:xfrm>
              <a:prstGeom prst="rect">
                <a:avLst/>
              </a:prstGeom>
              <a:blipFill>
                <a:blip r:embed="rId22"/>
                <a:stretch>
                  <a:fillRect l="-535" b="-1667"/>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7D1D363E-43C1-360A-6F73-794A656F1F10}"/>
              </a:ext>
            </a:extLst>
          </p:cNvPr>
          <p:cNvGrpSpPr/>
          <p:nvPr/>
        </p:nvGrpSpPr>
        <p:grpSpPr>
          <a:xfrm>
            <a:off x="4337251" y="5187761"/>
            <a:ext cx="2360412" cy="1626669"/>
            <a:chOff x="932167" y="2960281"/>
            <a:chExt cx="2769591" cy="2411412"/>
          </a:xfrm>
        </p:grpSpPr>
        <p:pic>
          <p:nvPicPr>
            <p:cNvPr id="35" name="图片 2">
              <a:extLst>
                <a:ext uri="{FF2B5EF4-FFF2-40B4-BE49-F238E27FC236}">
                  <a16:creationId xmlns:a16="http://schemas.microsoft.com/office/drawing/2014/main" id="{CF4EB101-CBDD-0D57-25FE-8C0AC3C915E2}"/>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932167" y="2960281"/>
              <a:ext cx="2520950" cy="241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文本框 3">
              <a:extLst>
                <a:ext uri="{FF2B5EF4-FFF2-40B4-BE49-F238E27FC236}">
                  <a16:creationId xmlns:a16="http://schemas.microsoft.com/office/drawing/2014/main" id="{64DC9391-EAFF-98BE-9522-CAC39E7E8A2F}"/>
                </a:ext>
              </a:extLst>
            </p:cNvPr>
            <p:cNvSpPr txBox="1">
              <a:spLocks noChangeArrowheads="1"/>
            </p:cNvSpPr>
            <p:nvPr/>
          </p:nvSpPr>
          <p:spPr bwMode="auto">
            <a:xfrm>
              <a:off x="2110994" y="3010694"/>
              <a:ext cx="1590764" cy="5018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r>
                <a:rPr kumimoji="1" lang="en-US" altLang="zh-CN" sz="1600" dirty="0">
                  <a:solidFill>
                    <a:srgbClr val="FF0000"/>
                  </a:solidFill>
                  <a:latin typeface="Corbel" panose="020B0503020204020204" pitchFamily="34" charset="0"/>
                </a:rPr>
                <a:t>Tc:</a:t>
              </a:r>
              <a:r>
                <a:rPr kumimoji="1" lang="zh-CN" altLang="en-US" sz="1600" dirty="0">
                  <a:solidFill>
                    <a:srgbClr val="FF0000"/>
                  </a:solidFill>
                  <a:latin typeface="Corbel" panose="020B0503020204020204" pitchFamily="34" charset="0"/>
                </a:rPr>
                <a:t>居里温度</a:t>
              </a:r>
            </a:p>
          </p:txBody>
        </p:sp>
      </p:grpSp>
      <p:sp>
        <p:nvSpPr>
          <p:cNvPr id="37" name="内容占位符 2">
            <a:extLst>
              <a:ext uri="{FF2B5EF4-FFF2-40B4-BE49-F238E27FC236}">
                <a16:creationId xmlns:a16="http://schemas.microsoft.com/office/drawing/2014/main" id="{E46E49C5-DAFA-D7F2-0D89-95A18E353ECC}"/>
              </a:ext>
            </a:extLst>
          </p:cNvPr>
          <p:cNvSpPr txBox="1">
            <a:spLocks/>
          </p:cNvSpPr>
          <p:nvPr/>
        </p:nvSpPr>
        <p:spPr bwMode="auto">
          <a:xfrm>
            <a:off x="731095" y="856904"/>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3.6</a:t>
            </a:r>
            <a:r>
              <a:rPr kumimoji="1" lang="zh-CN" altLang="en-US" sz="2800" b="1" dirty="0">
                <a:solidFill>
                  <a:schemeClr val="tx1"/>
                </a:solidFill>
                <a:latin typeface="SimSun" panose="02010600030101010101" pitchFamily="2" charset="-122"/>
                <a:ea typeface="SimSun" panose="02010600030101010101" pitchFamily="2" charset="-122"/>
              </a:rPr>
              <a:t> 用交流电桥测量居里温度</a:t>
            </a:r>
          </a:p>
        </p:txBody>
      </p:sp>
      <p:grpSp>
        <p:nvGrpSpPr>
          <p:cNvPr id="39" name="组合 38">
            <a:extLst>
              <a:ext uri="{FF2B5EF4-FFF2-40B4-BE49-F238E27FC236}">
                <a16:creationId xmlns:a16="http://schemas.microsoft.com/office/drawing/2014/main" id="{095E30FF-C2D3-B2CD-06D8-418B9335B6DE}"/>
              </a:ext>
            </a:extLst>
          </p:cNvPr>
          <p:cNvGrpSpPr/>
          <p:nvPr/>
        </p:nvGrpSpPr>
        <p:grpSpPr>
          <a:xfrm>
            <a:off x="7660718" y="5187760"/>
            <a:ext cx="2360412" cy="1626669"/>
            <a:chOff x="932167" y="2960281"/>
            <a:chExt cx="2769591" cy="2411412"/>
          </a:xfrm>
        </p:grpSpPr>
        <p:pic>
          <p:nvPicPr>
            <p:cNvPr id="40" name="图片 2">
              <a:extLst>
                <a:ext uri="{FF2B5EF4-FFF2-40B4-BE49-F238E27FC236}">
                  <a16:creationId xmlns:a16="http://schemas.microsoft.com/office/drawing/2014/main" id="{9B368494-B74A-4349-A17B-CBA427111F00}"/>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932167" y="2960281"/>
              <a:ext cx="2520950" cy="241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文本框 3">
              <a:extLst>
                <a:ext uri="{FF2B5EF4-FFF2-40B4-BE49-F238E27FC236}">
                  <a16:creationId xmlns:a16="http://schemas.microsoft.com/office/drawing/2014/main" id="{A321B6C3-BE3A-DA6E-4606-10E21A5F617E}"/>
                </a:ext>
              </a:extLst>
            </p:cNvPr>
            <p:cNvSpPr txBox="1">
              <a:spLocks noChangeArrowheads="1"/>
            </p:cNvSpPr>
            <p:nvPr/>
          </p:nvSpPr>
          <p:spPr bwMode="auto">
            <a:xfrm>
              <a:off x="2110994" y="3010694"/>
              <a:ext cx="1590764" cy="5018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742950" indent="-28575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11430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16002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2057400" indent="-2286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25146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29718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34290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3886200" indent="-2286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eaLnBrk="1" hangingPunct="1">
                <a:lnSpc>
                  <a:spcPct val="100000"/>
                </a:lnSpc>
                <a:spcBef>
                  <a:spcPct val="0"/>
                </a:spcBef>
                <a:spcAft>
                  <a:spcPct val="0"/>
                </a:spcAft>
                <a:buClrTx/>
                <a:buSzTx/>
                <a:buFontTx/>
                <a:buNone/>
              </a:pPr>
              <a:r>
                <a:rPr kumimoji="1" lang="en-US" altLang="zh-CN" sz="1600" dirty="0">
                  <a:solidFill>
                    <a:srgbClr val="FF0000"/>
                  </a:solidFill>
                  <a:latin typeface="Corbel" panose="020B0503020204020204" pitchFamily="34" charset="0"/>
                </a:rPr>
                <a:t>Tc:</a:t>
              </a:r>
              <a:r>
                <a:rPr kumimoji="1" lang="zh-CN" altLang="en-US" sz="1600" dirty="0">
                  <a:solidFill>
                    <a:srgbClr val="FF0000"/>
                  </a:solidFill>
                  <a:latin typeface="Corbel" panose="020B0503020204020204" pitchFamily="34" charset="0"/>
                </a:rPr>
                <a:t>居里温度</a:t>
              </a:r>
            </a:p>
          </p:txBody>
        </p:sp>
      </p:gr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C1095485-93E8-16F8-8C96-4909F7EC865C}"/>
                  </a:ext>
                </a:extLst>
              </p:cNvPr>
              <p:cNvSpPr txBox="1"/>
              <p:nvPr/>
            </p:nvSpPr>
            <p:spPr>
              <a:xfrm>
                <a:off x="7882804" y="5200619"/>
                <a:ext cx="436550" cy="4001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en-US" altLang="zh-CN" sz="2000" i="1">
                              <a:solidFill>
                                <a:srgbClr val="836967"/>
                              </a:solidFill>
                              <a:latin typeface="Cambria Math" panose="02040503050406030204" pitchFamily="18" charset="0"/>
                            </a:rPr>
                            <m:t>𝑈</m:t>
                          </m:r>
                        </m:e>
                        <m:sub>
                          <m:r>
                            <a:rPr lang="en-US" altLang="zh-CN" sz="2000" i="1">
                              <a:latin typeface="Cambria Math" panose="02040503050406030204" pitchFamily="18" charset="0"/>
                            </a:rPr>
                            <m:t>𝐶𝐷</m:t>
                          </m:r>
                        </m:sub>
                      </m:sSub>
                    </m:oMath>
                  </m:oMathPara>
                </a14:m>
                <a:endParaRPr kumimoji="1" lang="zh-CN" altLang="en-US" dirty="0"/>
              </a:p>
            </p:txBody>
          </p:sp>
        </mc:Choice>
        <mc:Fallback xmlns="">
          <p:sp>
            <p:nvSpPr>
              <p:cNvPr id="42" name="文本框 41">
                <a:extLst>
                  <a:ext uri="{FF2B5EF4-FFF2-40B4-BE49-F238E27FC236}">
                    <a16:creationId xmlns:a16="http://schemas.microsoft.com/office/drawing/2014/main" id="{C1095485-93E8-16F8-8C96-4909F7EC865C}"/>
                  </a:ext>
                </a:extLst>
              </p:cNvPr>
              <p:cNvSpPr txBox="1">
                <a:spLocks noRot="1" noChangeAspect="1" noMove="1" noResize="1" noEditPoints="1" noAdjustHandles="1" noChangeArrowheads="1" noChangeShapeType="1" noTextEdit="1"/>
              </p:cNvSpPr>
              <p:nvPr/>
            </p:nvSpPr>
            <p:spPr>
              <a:xfrm>
                <a:off x="7882804" y="5200619"/>
                <a:ext cx="436550" cy="400110"/>
              </a:xfrm>
              <a:prstGeom prst="rect">
                <a:avLst/>
              </a:prstGeom>
              <a:blipFill>
                <a:blip r:embed="rId24"/>
                <a:stretch>
                  <a:fillRect r="-25000"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EA9CDB5-B423-421E-479D-39A75511E0A3}"/>
                  </a:ext>
                </a:extLst>
              </p:cNvPr>
              <p:cNvSpPr txBox="1"/>
              <p:nvPr/>
            </p:nvSpPr>
            <p:spPr>
              <a:xfrm>
                <a:off x="4576050" y="5224475"/>
                <a:ext cx="436550" cy="38574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zh-CN" altLang="en-US" i="1" smtClean="0">
                          <a:latin typeface="Cambria Math" panose="02040503050406030204" pitchFamily="18" charset="0"/>
                        </a:rPr>
                        <m:t>𝜇</m:t>
                      </m:r>
                    </m:oMath>
                  </m:oMathPara>
                </a14:m>
                <a:endParaRPr kumimoji="1" lang="zh-CN" altLang="en-US" dirty="0"/>
              </a:p>
            </p:txBody>
          </p:sp>
        </mc:Choice>
        <mc:Fallback xmlns="">
          <p:sp>
            <p:nvSpPr>
              <p:cNvPr id="43" name="文本框 42">
                <a:extLst>
                  <a:ext uri="{FF2B5EF4-FFF2-40B4-BE49-F238E27FC236}">
                    <a16:creationId xmlns:a16="http://schemas.microsoft.com/office/drawing/2014/main" id="{0EA9CDB5-B423-421E-479D-39A75511E0A3}"/>
                  </a:ext>
                </a:extLst>
              </p:cNvPr>
              <p:cNvSpPr txBox="1">
                <a:spLocks noRot="1" noChangeAspect="1" noMove="1" noResize="1" noEditPoints="1" noAdjustHandles="1" noChangeArrowheads="1" noChangeShapeType="1" noTextEdit="1"/>
              </p:cNvSpPr>
              <p:nvPr/>
            </p:nvSpPr>
            <p:spPr>
              <a:xfrm>
                <a:off x="4576050" y="5224475"/>
                <a:ext cx="436550" cy="385747"/>
              </a:xfrm>
              <a:prstGeom prst="rect">
                <a:avLst/>
              </a:prstGeom>
              <a:blipFill>
                <a:blip r:embed="rId25"/>
                <a:stretch>
                  <a:fillRect b="-9677"/>
                </a:stretch>
              </a:blipFill>
            </p:spPr>
            <p:txBody>
              <a:bodyPr/>
              <a:lstStyle/>
              <a:p>
                <a:r>
                  <a:rPr lang="zh-CN" altLang="en-US">
                    <a:noFill/>
                  </a:rPr>
                  <a:t> </a:t>
                </a:r>
              </a:p>
            </p:txBody>
          </p:sp>
        </mc:Fallback>
      </mc:AlternateContent>
      <p:sp>
        <p:nvSpPr>
          <p:cNvPr id="44" name="右箭头 43">
            <a:extLst>
              <a:ext uri="{FF2B5EF4-FFF2-40B4-BE49-F238E27FC236}">
                <a16:creationId xmlns:a16="http://schemas.microsoft.com/office/drawing/2014/main" id="{97E2AE47-FAD4-9E5B-69FB-663E1F643B5F}"/>
              </a:ext>
            </a:extLst>
          </p:cNvPr>
          <p:cNvSpPr/>
          <p:nvPr/>
        </p:nvSpPr>
        <p:spPr>
          <a:xfrm>
            <a:off x="6641988" y="5999421"/>
            <a:ext cx="806823" cy="270082"/>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86837857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4</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实验装置</a:t>
              </a:r>
            </a:p>
          </p:txBody>
        </p:sp>
        <p:sp>
          <p:nvSpPr>
            <p:cNvPr id="53" name="矩形 52"/>
            <p:cNvSpPr/>
            <p:nvPr/>
          </p:nvSpPr>
          <p:spPr>
            <a:xfrm>
              <a:off x="5085781" y="3264361"/>
              <a:ext cx="3618744"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EXPERIMENTAL</a:t>
              </a:r>
              <a:r>
                <a:rPr lang="zh-CN" altLang="en-US" sz="2400" dirty="0">
                  <a:solidFill>
                    <a:schemeClr val="bg1"/>
                  </a:solidFill>
                  <a:latin typeface="微软雅黑" panose="020B0503020204020204" pitchFamily="34" charset="-122"/>
                </a:rPr>
                <a:t> </a:t>
              </a:r>
              <a:r>
                <a:rPr lang="en-US" altLang="zh-CN" sz="2400" dirty="0">
                  <a:solidFill>
                    <a:schemeClr val="bg1"/>
                  </a:solidFill>
                  <a:latin typeface="微软雅黑" panose="020B0503020204020204" pitchFamily="34" charset="-122"/>
                </a:rPr>
                <a:t>DEVICE</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78016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实验装置</a:t>
            </a:r>
          </a:p>
        </p:txBody>
      </p:sp>
      <p:sp>
        <p:nvSpPr>
          <p:cNvPr id="397" name="矩形 396"/>
          <p:cNvSpPr/>
          <p:nvPr/>
        </p:nvSpPr>
        <p:spPr>
          <a:xfrm>
            <a:off x="2680702" y="324999"/>
            <a:ext cx="3044030"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DEVICE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pic>
        <p:nvPicPr>
          <p:cNvPr id="5" name="图片 4">
            <a:extLst>
              <a:ext uri="{FF2B5EF4-FFF2-40B4-BE49-F238E27FC236}">
                <a16:creationId xmlns:a16="http://schemas.microsoft.com/office/drawing/2014/main" id="{CF10DA1F-6D13-2F64-8927-CB1B947296ED}"/>
              </a:ext>
            </a:extLst>
          </p:cNvPr>
          <p:cNvPicPr>
            <a:picLocks noChangeAspect="1"/>
          </p:cNvPicPr>
          <p:nvPr/>
        </p:nvPicPr>
        <p:blipFill rotWithShape="1">
          <a:blip r:embed="rId3">
            <a:extLst>
              <a:ext uri="{28A0092B-C50C-407E-A947-70E740481C1C}">
                <a14:useLocalDpi xmlns:a14="http://schemas.microsoft.com/office/drawing/2010/main" val="0"/>
              </a:ext>
            </a:extLst>
          </a:blip>
          <a:srcRect l="9387" r="7548"/>
          <a:stretch/>
        </p:blipFill>
        <p:spPr>
          <a:xfrm rot="16200000">
            <a:off x="3973475" y="252249"/>
            <a:ext cx="4272455" cy="6858000"/>
          </a:xfrm>
          <a:prstGeom prst="rect">
            <a:avLst/>
          </a:prstGeom>
        </p:spPr>
      </p:pic>
      <p:sp>
        <p:nvSpPr>
          <p:cNvPr id="6" name="文本框 5">
            <a:extLst>
              <a:ext uri="{FF2B5EF4-FFF2-40B4-BE49-F238E27FC236}">
                <a16:creationId xmlns:a16="http://schemas.microsoft.com/office/drawing/2014/main" id="{E7B9652C-3D5F-2051-DFE0-65BFE6DF3DA8}"/>
              </a:ext>
            </a:extLst>
          </p:cNvPr>
          <p:cNvSpPr txBox="1"/>
          <p:nvPr/>
        </p:nvSpPr>
        <p:spPr>
          <a:xfrm>
            <a:off x="3878318" y="5990896"/>
            <a:ext cx="4713890" cy="430887"/>
          </a:xfrm>
          <a:prstGeom prst="rect">
            <a:avLst/>
          </a:prstGeom>
          <a:noFill/>
        </p:spPr>
        <p:txBody>
          <a:bodyPr wrap="square" rtlCol="0">
            <a:spAutoFit/>
          </a:bodyPr>
          <a:lstStyle/>
          <a:p>
            <a:r>
              <a:rPr kumimoji="1" lang="zh-CN" altLang="en-US" sz="2200" dirty="0">
                <a:latin typeface="SimSun" panose="02010600030101010101" pitchFamily="2" charset="-122"/>
                <a:ea typeface="SimSun" panose="02010600030101010101" pitchFamily="2" charset="-122"/>
              </a:rPr>
              <a:t>居里温度测量仪、导线、待测样品</a:t>
            </a:r>
          </a:p>
        </p:txBody>
      </p:sp>
      <p:sp>
        <p:nvSpPr>
          <p:cNvPr id="7" name="文本框 6">
            <a:extLst>
              <a:ext uri="{FF2B5EF4-FFF2-40B4-BE49-F238E27FC236}">
                <a16:creationId xmlns:a16="http://schemas.microsoft.com/office/drawing/2014/main" id="{112EAC1C-C7A0-9A7F-BB63-6F19655C9994}"/>
              </a:ext>
            </a:extLst>
          </p:cNvPr>
          <p:cNvSpPr txBox="1"/>
          <p:nvPr/>
        </p:nvSpPr>
        <p:spPr>
          <a:xfrm>
            <a:off x="772510" y="1545021"/>
            <a:ext cx="1723541" cy="707886"/>
          </a:xfrm>
          <a:prstGeom prst="rect">
            <a:avLst/>
          </a:prstGeom>
          <a:noFill/>
        </p:spPr>
        <p:txBody>
          <a:bodyPr wrap="square" rtlCol="0">
            <a:spAutoFit/>
          </a:bodyPr>
          <a:lstStyle/>
          <a:p>
            <a:pPr algn="ctr"/>
            <a:r>
              <a:rPr kumimoji="1" lang="zh-CN" altLang="en-US" sz="2000" dirty="0"/>
              <a:t>励磁交流信号频率调节</a:t>
            </a:r>
          </a:p>
        </p:txBody>
      </p:sp>
      <p:cxnSp>
        <p:nvCxnSpPr>
          <p:cNvPr id="9" name="直线箭头连接符 8">
            <a:extLst>
              <a:ext uri="{FF2B5EF4-FFF2-40B4-BE49-F238E27FC236}">
                <a16:creationId xmlns:a16="http://schemas.microsoft.com/office/drawing/2014/main" id="{727E3083-09C3-70BE-2648-76B7AC275CC1}"/>
              </a:ext>
            </a:extLst>
          </p:cNvPr>
          <p:cNvCxnSpPr>
            <a:cxnSpLocks/>
          </p:cNvCxnSpPr>
          <p:nvPr/>
        </p:nvCxnSpPr>
        <p:spPr>
          <a:xfrm>
            <a:off x="2371259" y="2096814"/>
            <a:ext cx="1175982" cy="4842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文本框 10">
            <a:extLst>
              <a:ext uri="{FF2B5EF4-FFF2-40B4-BE49-F238E27FC236}">
                <a16:creationId xmlns:a16="http://schemas.microsoft.com/office/drawing/2014/main" id="{F31A9565-3D96-F70E-A20A-C2A24F1D7021}"/>
              </a:ext>
            </a:extLst>
          </p:cNvPr>
          <p:cNvSpPr txBox="1"/>
          <p:nvPr/>
        </p:nvSpPr>
        <p:spPr>
          <a:xfrm>
            <a:off x="772509" y="2451282"/>
            <a:ext cx="1723541" cy="707886"/>
          </a:xfrm>
          <a:prstGeom prst="rect">
            <a:avLst/>
          </a:prstGeom>
          <a:noFill/>
        </p:spPr>
        <p:txBody>
          <a:bodyPr wrap="square" rtlCol="0">
            <a:spAutoFit/>
          </a:bodyPr>
          <a:lstStyle/>
          <a:p>
            <a:pPr algn="ctr"/>
            <a:r>
              <a:rPr kumimoji="1" lang="zh-CN" altLang="en-US" sz="2000" dirty="0"/>
              <a:t>励磁交流信号幅度调节</a:t>
            </a:r>
          </a:p>
        </p:txBody>
      </p:sp>
      <p:cxnSp>
        <p:nvCxnSpPr>
          <p:cNvPr id="12" name="直线箭头连接符 11">
            <a:extLst>
              <a:ext uri="{FF2B5EF4-FFF2-40B4-BE49-F238E27FC236}">
                <a16:creationId xmlns:a16="http://schemas.microsoft.com/office/drawing/2014/main" id="{77F417F6-D3B7-CADB-26D6-8BAEB6E98DA2}"/>
              </a:ext>
            </a:extLst>
          </p:cNvPr>
          <p:cNvCxnSpPr>
            <a:cxnSpLocks/>
          </p:cNvCxnSpPr>
          <p:nvPr/>
        </p:nvCxnSpPr>
        <p:spPr>
          <a:xfrm>
            <a:off x="2360161" y="2913322"/>
            <a:ext cx="1187080" cy="4310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a:extLst>
              <a:ext uri="{FF2B5EF4-FFF2-40B4-BE49-F238E27FC236}">
                <a16:creationId xmlns:a16="http://schemas.microsoft.com/office/drawing/2014/main" id="{CD8C2CA2-2A0A-1CBB-B62E-440F8C014D36}"/>
              </a:ext>
            </a:extLst>
          </p:cNvPr>
          <p:cNvSpPr txBox="1"/>
          <p:nvPr/>
        </p:nvSpPr>
        <p:spPr>
          <a:xfrm>
            <a:off x="802439" y="3866721"/>
            <a:ext cx="1723541" cy="400110"/>
          </a:xfrm>
          <a:prstGeom prst="rect">
            <a:avLst/>
          </a:prstGeom>
          <a:noFill/>
        </p:spPr>
        <p:txBody>
          <a:bodyPr wrap="square" rtlCol="0">
            <a:spAutoFit/>
          </a:bodyPr>
          <a:lstStyle/>
          <a:p>
            <a:pPr algn="ctr"/>
            <a:r>
              <a:rPr kumimoji="1" lang="zh-CN" altLang="en-US" sz="2000" dirty="0"/>
              <a:t>交流电桥</a:t>
            </a:r>
          </a:p>
        </p:txBody>
      </p:sp>
      <p:cxnSp>
        <p:nvCxnSpPr>
          <p:cNvPr id="15" name="直线箭头连接符 14">
            <a:extLst>
              <a:ext uri="{FF2B5EF4-FFF2-40B4-BE49-F238E27FC236}">
                <a16:creationId xmlns:a16="http://schemas.microsoft.com/office/drawing/2014/main" id="{D308EB5C-56FF-19D7-50A3-7639BCE57784}"/>
              </a:ext>
            </a:extLst>
          </p:cNvPr>
          <p:cNvCxnSpPr>
            <a:cxnSpLocks/>
          </p:cNvCxnSpPr>
          <p:nvPr/>
        </p:nvCxnSpPr>
        <p:spPr>
          <a:xfrm>
            <a:off x="2241883" y="4066776"/>
            <a:ext cx="1187080" cy="4310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文本框 15">
            <a:extLst>
              <a:ext uri="{FF2B5EF4-FFF2-40B4-BE49-F238E27FC236}">
                <a16:creationId xmlns:a16="http://schemas.microsoft.com/office/drawing/2014/main" id="{5396ADFD-71CC-8359-E8B0-09A4CC2F7843}"/>
              </a:ext>
            </a:extLst>
          </p:cNvPr>
          <p:cNvSpPr txBox="1"/>
          <p:nvPr/>
        </p:nvSpPr>
        <p:spPr>
          <a:xfrm>
            <a:off x="4643970" y="1016869"/>
            <a:ext cx="1723541" cy="400110"/>
          </a:xfrm>
          <a:prstGeom prst="rect">
            <a:avLst/>
          </a:prstGeom>
          <a:noFill/>
        </p:spPr>
        <p:txBody>
          <a:bodyPr wrap="square" rtlCol="0">
            <a:spAutoFit/>
          </a:bodyPr>
          <a:lstStyle/>
          <a:p>
            <a:pPr algn="ctr"/>
            <a:r>
              <a:rPr kumimoji="1" lang="zh-CN" altLang="en-US" sz="2000" dirty="0"/>
              <a:t>电压表</a:t>
            </a:r>
          </a:p>
        </p:txBody>
      </p:sp>
      <p:cxnSp>
        <p:nvCxnSpPr>
          <p:cNvPr id="18" name="直线箭头连接符 17">
            <a:extLst>
              <a:ext uri="{FF2B5EF4-FFF2-40B4-BE49-F238E27FC236}">
                <a16:creationId xmlns:a16="http://schemas.microsoft.com/office/drawing/2014/main" id="{6C9DE44C-75B8-4B43-2144-7399B064750F}"/>
              </a:ext>
            </a:extLst>
          </p:cNvPr>
          <p:cNvCxnSpPr/>
          <p:nvPr/>
        </p:nvCxnSpPr>
        <p:spPr>
          <a:xfrm flipH="1">
            <a:off x="5396244" y="1442538"/>
            <a:ext cx="218992" cy="679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 name="文本框 19">
            <a:extLst>
              <a:ext uri="{FF2B5EF4-FFF2-40B4-BE49-F238E27FC236}">
                <a16:creationId xmlns:a16="http://schemas.microsoft.com/office/drawing/2014/main" id="{D8EC0446-6A1F-9B80-FCD8-1FA1044EC1F5}"/>
              </a:ext>
            </a:extLst>
          </p:cNvPr>
          <p:cNvSpPr txBox="1"/>
          <p:nvPr/>
        </p:nvSpPr>
        <p:spPr>
          <a:xfrm>
            <a:off x="6096000" y="1029649"/>
            <a:ext cx="1723541" cy="400110"/>
          </a:xfrm>
          <a:prstGeom prst="rect">
            <a:avLst/>
          </a:prstGeom>
          <a:noFill/>
        </p:spPr>
        <p:txBody>
          <a:bodyPr wrap="square" rtlCol="0">
            <a:spAutoFit/>
          </a:bodyPr>
          <a:lstStyle/>
          <a:p>
            <a:pPr algn="ctr"/>
            <a:r>
              <a:rPr kumimoji="1" lang="zh-CN" altLang="en-US" sz="2000" dirty="0"/>
              <a:t>温度表</a:t>
            </a:r>
          </a:p>
        </p:txBody>
      </p:sp>
      <p:cxnSp>
        <p:nvCxnSpPr>
          <p:cNvPr id="21" name="直线箭头连接符 20">
            <a:extLst>
              <a:ext uri="{FF2B5EF4-FFF2-40B4-BE49-F238E27FC236}">
                <a16:creationId xmlns:a16="http://schemas.microsoft.com/office/drawing/2014/main" id="{09715271-C6C1-19A7-B78F-0255A20E9007}"/>
              </a:ext>
            </a:extLst>
          </p:cNvPr>
          <p:cNvCxnSpPr/>
          <p:nvPr/>
        </p:nvCxnSpPr>
        <p:spPr>
          <a:xfrm flipH="1">
            <a:off x="6848274" y="1382346"/>
            <a:ext cx="218992" cy="679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文本框 21">
            <a:extLst>
              <a:ext uri="{FF2B5EF4-FFF2-40B4-BE49-F238E27FC236}">
                <a16:creationId xmlns:a16="http://schemas.microsoft.com/office/drawing/2014/main" id="{07D51FF7-0DF2-00CE-D409-D1C6C56F36DE}"/>
              </a:ext>
            </a:extLst>
          </p:cNvPr>
          <p:cNvSpPr txBox="1"/>
          <p:nvPr/>
        </p:nvSpPr>
        <p:spPr>
          <a:xfrm>
            <a:off x="9538703" y="3075057"/>
            <a:ext cx="1723541" cy="707886"/>
          </a:xfrm>
          <a:prstGeom prst="rect">
            <a:avLst/>
          </a:prstGeom>
          <a:noFill/>
        </p:spPr>
        <p:txBody>
          <a:bodyPr wrap="square" rtlCol="0">
            <a:spAutoFit/>
          </a:bodyPr>
          <a:lstStyle/>
          <a:p>
            <a:pPr algn="ctr"/>
            <a:r>
              <a:rPr kumimoji="1" lang="zh-CN" altLang="en-US" sz="2000" dirty="0"/>
              <a:t>电感、</a:t>
            </a:r>
            <a:endParaRPr kumimoji="1" lang="en-US" altLang="zh-CN" sz="2000" dirty="0"/>
          </a:p>
          <a:p>
            <a:pPr algn="ctr"/>
            <a:r>
              <a:rPr kumimoji="1" lang="zh-CN" altLang="en-US" sz="2000" dirty="0"/>
              <a:t>样品加热槽</a:t>
            </a:r>
          </a:p>
        </p:txBody>
      </p:sp>
      <p:cxnSp>
        <p:nvCxnSpPr>
          <p:cNvPr id="23" name="直线箭头连接符 22">
            <a:extLst>
              <a:ext uri="{FF2B5EF4-FFF2-40B4-BE49-F238E27FC236}">
                <a16:creationId xmlns:a16="http://schemas.microsoft.com/office/drawing/2014/main" id="{A3C2417B-ED21-64DF-2151-8608A3DC2EA6}"/>
              </a:ext>
            </a:extLst>
          </p:cNvPr>
          <p:cNvCxnSpPr>
            <a:cxnSpLocks/>
          </p:cNvCxnSpPr>
          <p:nvPr/>
        </p:nvCxnSpPr>
        <p:spPr>
          <a:xfrm flipH="1">
            <a:off x="8592208" y="3351348"/>
            <a:ext cx="124547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文本框 25">
            <a:extLst>
              <a:ext uri="{FF2B5EF4-FFF2-40B4-BE49-F238E27FC236}">
                <a16:creationId xmlns:a16="http://schemas.microsoft.com/office/drawing/2014/main" id="{88062854-FE22-C32B-95F3-B3BD5948CBB3}"/>
              </a:ext>
            </a:extLst>
          </p:cNvPr>
          <p:cNvSpPr txBox="1"/>
          <p:nvPr/>
        </p:nvSpPr>
        <p:spPr>
          <a:xfrm>
            <a:off x="9511298" y="4757566"/>
            <a:ext cx="1723541" cy="400110"/>
          </a:xfrm>
          <a:prstGeom prst="rect">
            <a:avLst/>
          </a:prstGeom>
          <a:noFill/>
        </p:spPr>
        <p:txBody>
          <a:bodyPr wrap="square" rtlCol="0">
            <a:spAutoFit/>
          </a:bodyPr>
          <a:lstStyle/>
          <a:p>
            <a:pPr algn="ctr"/>
            <a:r>
              <a:rPr kumimoji="1" lang="zh-CN" altLang="en-US" sz="2000" dirty="0"/>
              <a:t>待测样品</a:t>
            </a:r>
          </a:p>
        </p:txBody>
      </p:sp>
      <p:cxnSp>
        <p:nvCxnSpPr>
          <p:cNvPr id="27" name="直线箭头连接符 26">
            <a:extLst>
              <a:ext uri="{FF2B5EF4-FFF2-40B4-BE49-F238E27FC236}">
                <a16:creationId xmlns:a16="http://schemas.microsoft.com/office/drawing/2014/main" id="{7340689E-2CEE-9DB7-DFA4-906D88EB253B}"/>
              </a:ext>
            </a:extLst>
          </p:cNvPr>
          <p:cNvCxnSpPr>
            <a:cxnSpLocks/>
          </p:cNvCxnSpPr>
          <p:nvPr/>
        </p:nvCxnSpPr>
        <p:spPr>
          <a:xfrm flipH="1">
            <a:off x="9033641" y="4957621"/>
            <a:ext cx="67266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0419534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5</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实验内容</a:t>
              </a:r>
            </a:p>
          </p:txBody>
        </p:sp>
        <p:sp>
          <p:nvSpPr>
            <p:cNvPr id="53" name="矩形 52"/>
            <p:cNvSpPr/>
            <p:nvPr/>
          </p:nvSpPr>
          <p:spPr>
            <a:xfrm>
              <a:off x="5062666" y="3264361"/>
              <a:ext cx="3664974"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CONTENT</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258043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内容占位符 2"/>
              <p:cNvSpPr>
                <a:spLocks noGrp="1"/>
              </p:cNvSpPr>
              <p:nvPr>
                <p:ph idx="1"/>
              </p:nvPr>
            </p:nvSpPr>
            <p:spPr>
              <a:xfrm>
                <a:off x="776230" y="1248031"/>
                <a:ext cx="10677876" cy="5357110"/>
              </a:xfrm>
            </p:spPr>
            <p:txBody>
              <a:bodyPr>
                <a:normAutofit fontScale="25000" lnSpcReduction="20000"/>
              </a:bodyPr>
              <a:lstStyle/>
              <a:p>
                <a:pPr marL="342900" indent="-342900" eaLnBrk="1" hangingPunct="1">
                  <a:lnSpc>
                    <a:spcPct val="120000"/>
                  </a:lnSpc>
                  <a:buFont typeface="Wingdings" pitchFamily="2" charset="2"/>
                  <a:buChar char="Ø"/>
                </a:pPr>
                <a:r>
                  <a:rPr lang="zh-CN" altLang="en-US" sz="9600" b="1" dirty="0">
                    <a:solidFill>
                      <a:schemeClr val="bg1">
                        <a:lumMod val="75000"/>
                      </a:schemeClr>
                    </a:solidFill>
                    <a:latin typeface="SimSun" panose="02010600030101010101" pitchFamily="2" charset="-122"/>
                    <a:ea typeface="SimSun" panose="02010600030101010101" pitchFamily="2" charset="-122"/>
                  </a:rPr>
                  <a:t>平衡电桥调节</a:t>
                </a:r>
                <a:r>
                  <a:rPr lang="en-US" altLang="zh-CN" sz="9600" b="1" dirty="0">
                    <a:solidFill>
                      <a:schemeClr val="bg1">
                        <a:lumMod val="75000"/>
                      </a:schemeClr>
                    </a:solidFill>
                    <a:latin typeface="SimSun" panose="02010600030101010101" pitchFamily="2" charset="-122"/>
                    <a:ea typeface="SimSun" panose="02010600030101010101" pitchFamily="2" charset="-122"/>
                  </a:rPr>
                  <a:t>(</a:t>
                </a:r>
                <a:r>
                  <a:rPr lang="zh-CN" altLang="en-US" sz="9600" b="1" dirty="0">
                    <a:solidFill>
                      <a:schemeClr val="bg1">
                        <a:lumMod val="75000"/>
                      </a:schemeClr>
                    </a:solidFill>
                    <a:latin typeface="SimSun" panose="02010600030101010101" pitchFamily="2" charset="-122"/>
                    <a:ea typeface="SimSun" panose="02010600030101010101" pitchFamily="2" charset="-122"/>
                  </a:rPr>
                  <a:t>预备实验）</a:t>
                </a:r>
                <a:endParaRPr lang="en-US" altLang="zh-CN" sz="9600" b="1" dirty="0">
                  <a:solidFill>
                    <a:schemeClr val="bg1">
                      <a:lumMod val="75000"/>
                    </a:schemeClr>
                  </a:solidFill>
                  <a:latin typeface="SimSun" panose="02010600030101010101" pitchFamily="2" charset="-122"/>
                  <a:ea typeface="SimSun" panose="02010600030101010101" pitchFamily="2" charset="-122"/>
                </a:endParaRPr>
              </a:p>
              <a:p>
                <a:pPr eaLnBrk="1" hangingPunct="1">
                  <a:lnSpc>
                    <a:spcPct val="120000"/>
                  </a:lnSpc>
                </a:pPr>
                <a:r>
                  <a:rPr lang="en-US" altLang="zh-CN" sz="8800" dirty="0">
                    <a:solidFill>
                      <a:schemeClr val="bg1">
                        <a:lumMod val="75000"/>
                      </a:schemeClr>
                    </a:solidFill>
                    <a:latin typeface="SimSun" panose="02010600030101010101" pitchFamily="2" charset="-122"/>
                    <a:ea typeface="SimSun" panose="02010600030101010101" pitchFamily="2" charset="-122"/>
                  </a:rPr>
                  <a:t>1.</a:t>
                </a:r>
                <a:r>
                  <a:rPr lang="zh-CN" altLang="en-US" sz="8800" dirty="0">
                    <a:solidFill>
                      <a:schemeClr val="bg1">
                        <a:lumMod val="75000"/>
                      </a:schemeClr>
                    </a:solidFill>
                    <a:latin typeface="SimSun" panose="02010600030101010101" pitchFamily="2" charset="-122"/>
                    <a:ea typeface="SimSun" panose="02010600030101010101" pitchFamily="2" charset="-122"/>
                  </a:rPr>
                  <a:t> 接通电源，“频率调节”为</a:t>
                </a:r>
                <a:r>
                  <a:rPr lang="en-US" altLang="zh-CN" sz="8800" dirty="0">
                    <a:solidFill>
                      <a:schemeClr val="bg1">
                        <a:lumMod val="75000"/>
                      </a:schemeClr>
                    </a:solidFill>
                    <a:latin typeface="SimSun" panose="02010600030101010101" pitchFamily="2" charset="-122"/>
                    <a:ea typeface="SimSun" panose="02010600030101010101" pitchFamily="2" charset="-122"/>
                  </a:rPr>
                  <a:t>1000Hz</a:t>
                </a:r>
                <a:r>
                  <a:rPr lang="zh-CN" altLang="en-US" sz="8800" dirty="0">
                    <a:solidFill>
                      <a:schemeClr val="bg1">
                        <a:lumMod val="75000"/>
                      </a:schemeClr>
                    </a:solidFill>
                    <a:latin typeface="SimSun" panose="02010600030101010101" pitchFamily="2" charset="-122"/>
                    <a:ea typeface="SimSun" panose="02010600030101010101" pitchFamily="2" charset="-122"/>
                  </a:rPr>
                  <a:t>，“波形选择”为“正弦波”，“量程选择”开始选择</a:t>
                </a:r>
                <a:r>
                  <a:rPr lang="en-US" altLang="zh-CN" sz="8800" dirty="0">
                    <a:solidFill>
                      <a:schemeClr val="bg1">
                        <a:lumMod val="75000"/>
                      </a:schemeClr>
                    </a:solidFill>
                    <a:latin typeface="SimSun" panose="02010600030101010101" pitchFamily="2" charset="-122"/>
                    <a:ea typeface="SimSun" panose="02010600030101010101" pitchFamily="2" charset="-122"/>
                  </a:rPr>
                  <a:t>2000mV</a:t>
                </a:r>
                <a:r>
                  <a:rPr lang="zh-CN" altLang="en-US" sz="8800" dirty="0">
                    <a:solidFill>
                      <a:schemeClr val="bg1">
                        <a:lumMod val="75000"/>
                      </a:schemeClr>
                    </a:solidFill>
                    <a:latin typeface="SimSun" panose="02010600030101010101" pitchFamily="2" charset="-122"/>
                    <a:ea typeface="SimSun" panose="02010600030101010101" pitchFamily="2" charset="-122"/>
                  </a:rPr>
                  <a:t>，适时更换为</a:t>
                </a:r>
                <a:r>
                  <a:rPr lang="en-US" altLang="zh-CN" sz="8800" dirty="0">
                    <a:solidFill>
                      <a:schemeClr val="bg1">
                        <a:lumMod val="75000"/>
                      </a:schemeClr>
                    </a:solidFill>
                    <a:latin typeface="SimSun" panose="02010600030101010101" pitchFamily="2" charset="-122"/>
                    <a:ea typeface="SimSun" panose="02010600030101010101" pitchFamily="2" charset="-122"/>
                  </a:rPr>
                  <a:t>200mV</a:t>
                </a:r>
                <a:r>
                  <a:rPr lang="zh-CN" altLang="en-US" sz="8800" dirty="0">
                    <a:solidFill>
                      <a:schemeClr val="bg1">
                        <a:lumMod val="75000"/>
                      </a:schemeClr>
                    </a:solidFill>
                    <a:latin typeface="SimSun" panose="02010600030101010101" pitchFamily="2" charset="-122"/>
                    <a:ea typeface="SimSun" panose="02010600030101010101" pitchFamily="2" charset="-122"/>
                  </a:rPr>
                  <a:t>，“幅度调节”基本调至最大。</a:t>
                </a:r>
                <a:endParaRPr lang="en-US" altLang="zh-CN" sz="8800" dirty="0">
                  <a:solidFill>
                    <a:schemeClr val="bg1">
                      <a:lumMod val="75000"/>
                    </a:schemeClr>
                  </a:solidFill>
                  <a:latin typeface="SimSun" panose="02010600030101010101" pitchFamily="2" charset="-122"/>
                  <a:ea typeface="SimSun" panose="02010600030101010101" pitchFamily="2" charset="-122"/>
                </a:endParaRPr>
              </a:p>
              <a:p>
                <a:pPr eaLnBrk="1" hangingPunct="1">
                  <a:lnSpc>
                    <a:spcPct val="120000"/>
                  </a:lnSpc>
                </a:pPr>
                <a:r>
                  <a:rPr lang="en-US" altLang="zh-CN" sz="8800" dirty="0">
                    <a:solidFill>
                      <a:schemeClr val="bg1">
                        <a:lumMod val="75000"/>
                      </a:schemeClr>
                    </a:solidFill>
                    <a:latin typeface="SimSun" panose="02010600030101010101" pitchFamily="2" charset="-122"/>
                    <a:ea typeface="SimSun" panose="02010600030101010101" pitchFamily="2" charset="-122"/>
                  </a:rPr>
                  <a:t>2.</a:t>
                </a:r>
                <a:r>
                  <a:rPr lang="zh-CN" altLang="en-US" sz="8800" dirty="0">
                    <a:solidFill>
                      <a:schemeClr val="bg1">
                        <a:lumMod val="75000"/>
                      </a:schemeClr>
                    </a:solidFill>
                    <a:latin typeface="SimSun" panose="02010600030101010101" pitchFamily="2" charset="-122"/>
                    <a:ea typeface="SimSun" panose="02010600030101010101" pitchFamily="2" charset="-122"/>
                  </a:rPr>
                  <a:t> 调节</a:t>
                </a:r>
                <a:r>
                  <a:rPr lang="en-US" altLang="zh-CN" sz="8800" dirty="0" err="1">
                    <a:solidFill>
                      <a:schemeClr val="bg1">
                        <a:lumMod val="75000"/>
                      </a:schemeClr>
                    </a:solidFill>
                    <a:latin typeface="SimSun" panose="02010600030101010101" pitchFamily="2" charset="-122"/>
                    <a:ea typeface="SimSun" panose="02010600030101010101" pitchFamily="2" charset="-122"/>
                  </a:rPr>
                  <a:t>Rw</a:t>
                </a:r>
                <a:r>
                  <a:rPr lang="zh-CN" altLang="en-US" sz="8800" dirty="0">
                    <a:solidFill>
                      <a:schemeClr val="bg1">
                        <a:lumMod val="75000"/>
                      </a:schemeClr>
                    </a:solidFill>
                    <a:latin typeface="SimSun" panose="02010600030101010101" pitchFamily="2" charset="-122"/>
                    <a:ea typeface="SimSun" panose="02010600030101010101" pitchFamily="2" charset="-122"/>
                  </a:rPr>
                  <a:t>，使交流电压表示值最小（理想情况</a:t>
                </a:r>
                <a:r>
                  <a:rPr lang="en-US" altLang="zh-CN" sz="8800" dirty="0">
                    <a:solidFill>
                      <a:schemeClr val="bg1">
                        <a:lumMod val="75000"/>
                      </a:schemeClr>
                    </a:solidFill>
                    <a:latin typeface="SimSun" panose="02010600030101010101" pitchFamily="2" charset="-122"/>
                    <a:ea typeface="SimSun" panose="02010600030101010101" pitchFamily="2" charset="-122"/>
                  </a:rPr>
                  <a:t>1.0mV</a:t>
                </a:r>
                <a:r>
                  <a:rPr lang="zh-CN" altLang="en-US" sz="8800" dirty="0">
                    <a:solidFill>
                      <a:schemeClr val="bg1">
                        <a:lumMod val="75000"/>
                      </a:schemeClr>
                    </a:solidFill>
                    <a:latin typeface="SimSun" panose="02010600030101010101" pitchFamily="2" charset="-122"/>
                    <a:ea typeface="SimSun" panose="02010600030101010101" pitchFamily="2" charset="-122"/>
                  </a:rPr>
                  <a:t>以下，最低要求</a:t>
                </a:r>
                <a:r>
                  <a:rPr lang="en-US" altLang="zh-CN" sz="8800" dirty="0">
                    <a:solidFill>
                      <a:schemeClr val="bg1">
                        <a:lumMod val="75000"/>
                      </a:schemeClr>
                    </a:solidFill>
                    <a:latin typeface="SimSun" panose="02010600030101010101" pitchFamily="2" charset="-122"/>
                    <a:ea typeface="SimSun" panose="02010600030101010101" pitchFamily="2" charset="-122"/>
                  </a:rPr>
                  <a:t>3.0mV</a:t>
                </a:r>
                <a:r>
                  <a:rPr lang="zh-CN" altLang="en-US" sz="8800" dirty="0">
                    <a:solidFill>
                      <a:schemeClr val="bg1">
                        <a:lumMod val="75000"/>
                      </a:schemeClr>
                    </a:solidFill>
                    <a:latin typeface="SimSun" panose="02010600030101010101" pitchFamily="2" charset="-122"/>
                    <a:ea typeface="SimSun" panose="02010600030101010101" pitchFamily="2" charset="-122"/>
                  </a:rPr>
                  <a:t>以下），此时电桥平衡。</a:t>
                </a:r>
                <a:endParaRPr lang="en-US" altLang="zh-CN" sz="8800" dirty="0">
                  <a:solidFill>
                    <a:schemeClr val="bg1">
                      <a:lumMod val="75000"/>
                    </a:schemeClr>
                  </a:solidFill>
                  <a:latin typeface="SimSun" panose="02010600030101010101" pitchFamily="2" charset="-122"/>
                  <a:ea typeface="SimSun" panose="02010600030101010101" pitchFamily="2" charset="-122"/>
                </a:endParaRPr>
              </a:p>
              <a:p>
                <a:pPr marL="342900" indent="-342900" eaLnBrk="1" hangingPunct="1">
                  <a:lnSpc>
                    <a:spcPct val="120000"/>
                  </a:lnSpc>
                  <a:buFont typeface="Wingdings" pitchFamily="2" charset="2"/>
                  <a:buChar char="Ø"/>
                </a:pPr>
                <a:r>
                  <a:rPr lang="zh-CN" altLang="en-US" sz="9600" b="1" dirty="0">
                    <a:latin typeface="SimSun" panose="02010600030101010101" pitchFamily="2" charset="-122"/>
                    <a:ea typeface="SimSun" panose="02010600030101010101" pitchFamily="2" charset="-122"/>
                  </a:rPr>
                  <a:t>升温曲线测量</a:t>
                </a:r>
                <a:endParaRPr lang="en-US" altLang="zh-CN" sz="9600" b="1" dirty="0">
                  <a:latin typeface="SimSun" panose="02010600030101010101" pitchFamily="2" charset="-122"/>
                  <a:ea typeface="SimSun" panose="02010600030101010101" pitchFamily="2" charset="-122"/>
                </a:endParaRPr>
              </a:p>
              <a:p>
                <a:pPr eaLnBrk="1" hangingPunct="1">
                  <a:lnSpc>
                    <a:spcPct val="120000"/>
                  </a:lnSpc>
                </a:pPr>
                <a:r>
                  <a:rPr lang="en-US" altLang="zh-CN" sz="8800" dirty="0">
                    <a:latin typeface="SimSun" panose="02010600030101010101" pitchFamily="2" charset="-122"/>
                    <a:ea typeface="SimSun" panose="02010600030101010101" pitchFamily="2" charset="-122"/>
                  </a:rPr>
                  <a:t>1.</a:t>
                </a:r>
                <a:r>
                  <a:rPr lang="zh-CN" altLang="en-US" sz="8800" dirty="0">
                    <a:latin typeface="SimSun" panose="02010600030101010101" pitchFamily="2" charset="-122"/>
                    <a:ea typeface="SimSun" panose="02010600030101010101" pitchFamily="2" charset="-122"/>
                  </a:rPr>
                  <a:t> 将待测样品均匀涂上导热硅脂后，插入右侧空心线圈中的加热铜管内，此时电桥不平衡，记录交流电压表示数；</a:t>
                </a:r>
                <a:endParaRPr lang="en-US" altLang="zh-CN" sz="8800" dirty="0">
                  <a:latin typeface="SimSun" panose="02010600030101010101" pitchFamily="2" charset="-122"/>
                  <a:ea typeface="SimSun" panose="02010600030101010101" pitchFamily="2" charset="-122"/>
                </a:endParaRPr>
              </a:p>
              <a:p>
                <a:pPr>
                  <a:lnSpc>
                    <a:spcPct val="120000"/>
                  </a:lnSpc>
                </a:pPr>
                <a:r>
                  <a:rPr lang="en-US" altLang="zh-CN" sz="8800" dirty="0">
                    <a:latin typeface="SimSun" panose="02010600030101010101" pitchFamily="2" charset="-122"/>
                    <a:ea typeface="SimSun" panose="02010600030101010101" pitchFamily="2" charset="-122"/>
                  </a:rPr>
                  <a:t>2.</a:t>
                </a:r>
                <a:r>
                  <a:rPr lang="zh-CN" altLang="en-US" sz="8800" dirty="0">
                    <a:latin typeface="SimSun" panose="02010600030101010101" pitchFamily="2" charset="-122"/>
                    <a:ea typeface="SimSun" panose="02010600030101010101" pitchFamily="2" charset="-122"/>
                  </a:rPr>
                  <a:t> “加热选择”置于“低”档，记录从室温加热至</a:t>
                </a:r>
                <a:r>
                  <a:rPr lang="zh-CN" altLang="en-US" sz="8800" dirty="0">
                    <a:solidFill>
                      <a:srgbClr val="7030A0"/>
                    </a:solidFill>
                    <a:latin typeface="SimSun" panose="02010600030101010101" pitchFamily="2" charset="-122"/>
                    <a:ea typeface="SimSun" panose="02010600030101010101" pitchFamily="2" charset="-122"/>
                  </a:rPr>
                  <a:t>参考居里温度值</a:t>
                </a:r>
                <a14:m>
                  <m:oMath xmlns:m="http://schemas.openxmlformats.org/officeDocument/2006/math">
                    <m:r>
                      <a:rPr lang="en-US" altLang="zh-CN" sz="8800" i="1" dirty="0">
                        <a:solidFill>
                          <a:srgbClr val="7030A0"/>
                        </a:solidFill>
                        <a:latin typeface="Cambria Math" panose="02040503050406030204" pitchFamily="18" charset="0"/>
                        <a:ea typeface="Cambria Math" panose="02040503050406030204" pitchFamily="18" charset="0"/>
                      </a:rPr>
                      <m:t>+</m:t>
                    </m:r>
                    <m:r>
                      <a:rPr lang="en-US" altLang="zh-CN" sz="8800" b="0" i="1" smtClean="0">
                        <a:solidFill>
                          <a:srgbClr val="7030A0"/>
                        </a:solidFill>
                        <a:latin typeface="Cambria Math" panose="02040503050406030204" pitchFamily="18" charset="0"/>
                        <a:ea typeface="Cambria Math" panose="02040503050406030204" pitchFamily="18" charset="0"/>
                      </a:rPr>
                      <m:t>30℃</m:t>
                    </m:r>
                  </m:oMath>
                </a14:m>
                <a:r>
                  <a:rPr lang="zh-CN" altLang="en-US" sz="8800" dirty="0">
                    <a:latin typeface="SimSun" panose="02010600030101010101" pitchFamily="2" charset="-122"/>
                    <a:ea typeface="SimSun" panose="02010600030101010101" pitchFamily="2" charset="-122"/>
                  </a:rPr>
                  <a:t>过程中电压表的读数与对应的温度，其中在</a:t>
                </a:r>
                <a:r>
                  <a:rPr lang="zh-CN" altLang="en-US" sz="8800" dirty="0">
                    <a:solidFill>
                      <a:srgbClr val="0000FF"/>
                    </a:solidFill>
                    <a:latin typeface="SimSun" panose="02010600030101010101" pitchFamily="2" charset="-122"/>
                    <a:ea typeface="SimSun" panose="02010600030101010101" pitchFamily="2" charset="-122"/>
                  </a:rPr>
                  <a:t>参考温度值</a:t>
                </a:r>
                <a14:m>
                  <m:oMath xmlns:m="http://schemas.openxmlformats.org/officeDocument/2006/math">
                    <m:r>
                      <a:rPr lang="en-US" altLang="zh-CN" sz="8800" i="1">
                        <a:solidFill>
                          <a:srgbClr val="0000FF"/>
                        </a:solidFill>
                        <a:latin typeface="Cambria Math" panose="02040503050406030204" pitchFamily="18" charset="0"/>
                        <a:ea typeface="Cambria Math" panose="02040503050406030204" pitchFamily="18" charset="0"/>
                      </a:rPr>
                      <m:t>±</m:t>
                    </m:r>
                    <m:r>
                      <a:rPr lang="en-US" altLang="zh-CN" sz="8800" b="0" i="1" smtClean="0">
                        <a:solidFill>
                          <a:srgbClr val="0000FF"/>
                        </a:solidFill>
                        <a:latin typeface="Cambria Math" panose="02040503050406030204" pitchFamily="18" charset="0"/>
                        <a:ea typeface="Cambria Math" panose="02040503050406030204" pitchFamily="18" charset="0"/>
                      </a:rPr>
                      <m:t>15</m:t>
                    </m:r>
                    <m:r>
                      <a:rPr lang="en-US" altLang="zh-CN" sz="8800" i="1">
                        <a:solidFill>
                          <a:srgbClr val="0000FF"/>
                        </a:solidFill>
                        <a:latin typeface="Cambria Math" panose="02040503050406030204" pitchFamily="18" charset="0"/>
                        <a:ea typeface="Cambria Math" panose="02040503050406030204" pitchFamily="18" charset="0"/>
                      </a:rPr>
                      <m:t>℃</m:t>
                    </m:r>
                  </m:oMath>
                </a14:m>
                <a:r>
                  <a:rPr lang="zh-CN" altLang="en-US" sz="8800" dirty="0">
                    <a:latin typeface="SimSun" panose="02010600030101010101" pitchFamily="2" charset="-122"/>
                    <a:ea typeface="SimSun" panose="02010600030101010101" pitchFamily="2" charset="-122"/>
                  </a:rPr>
                  <a:t>范围内每</a:t>
                </a:r>
                <a:r>
                  <a:rPr lang="en-US" altLang="zh-CN" sz="8800" dirty="0">
                    <a:solidFill>
                      <a:srgbClr val="FF0000"/>
                    </a:solidFill>
                    <a:latin typeface="SimSun" panose="02010600030101010101" pitchFamily="2" charset="-122"/>
                    <a:ea typeface="SimSun" panose="02010600030101010101" pitchFamily="2" charset="-122"/>
                  </a:rPr>
                  <a:t>0.5</a:t>
                </a:r>
                <a:r>
                  <a:rPr lang="en-US" altLang="zh-CN" sz="8800" dirty="0">
                    <a:solidFill>
                      <a:srgbClr val="FF0000"/>
                    </a:solidFill>
                    <a:ea typeface="Cambria Math" panose="02040503050406030204" pitchFamily="18" charset="0"/>
                  </a:rPr>
                  <a:t> </a:t>
                </a:r>
                <a14:m>
                  <m:oMath xmlns:m="http://schemas.openxmlformats.org/officeDocument/2006/math">
                    <m:r>
                      <a:rPr lang="en-US" altLang="zh-CN" sz="8800" i="1">
                        <a:solidFill>
                          <a:srgbClr val="FF0000"/>
                        </a:solidFill>
                        <a:latin typeface="Cambria Math" panose="02040503050406030204" pitchFamily="18" charset="0"/>
                        <a:ea typeface="Cambria Math" panose="02040503050406030204" pitchFamily="18" charset="0"/>
                      </a:rPr>
                      <m:t>℃</m:t>
                    </m:r>
                    <m:r>
                      <a:rPr lang="zh-CN" altLang="en-US" sz="8800" i="1">
                        <a:latin typeface="Cambria Math" panose="02040503050406030204" pitchFamily="18" charset="0"/>
                        <a:ea typeface="Cambria Math" panose="02040503050406030204" pitchFamily="18" charset="0"/>
                      </a:rPr>
                      <m:t>记一次数据</m:t>
                    </m:r>
                  </m:oMath>
                </a14:m>
                <a:r>
                  <a:rPr lang="zh-CN" altLang="en-US" sz="8800" dirty="0">
                    <a:latin typeface="SimSun" panose="02010600030101010101" pitchFamily="2" charset="-122"/>
                    <a:ea typeface="SimSun" panose="02010600030101010101" pitchFamily="2" charset="-122"/>
                  </a:rPr>
                  <a:t>。</a:t>
                </a:r>
                <a:endParaRPr lang="en-US" altLang="zh-CN" sz="8800" dirty="0">
                  <a:latin typeface="SimSun" panose="02010600030101010101" pitchFamily="2" charset="-122"/>
                  <a:ea typeface="SimSun" panose="02010600030101010101" pitchFamily="2" charset="-122"/>
                </a:endParaRPr>
              </a:p>
              <a:p>
                <a:pPr marL="342900" indent="-342900" eaLnBrk="1" hangingPunct="1">
                  <a:lnSpc>
                    <a:spcPct val="120000"/>
                  </a:lnSpc>
                  <a:buFont typeface="Wingdings" pitchFamily="2" charset="2"/>
                  <a:buChar char="Ø"/>
                </a:pPr>
                <a:r>
                  <a:rPr lang="zh-CN" altLang="en-US" sz="9600" b="1" dirty="0">
                    <a:latin typeface="SimSun" panose="02010600030101010101" pitchFamily="2" charset="-122"/>
                    <a:ea typeface="SimSun" panose="02010600030101010101" pitchFamily="2" charset="-122"/>
                  </a:rPr>
                  <a:t>降温曲线测量</a:t>
                </a:r>
                <a:endParaRPr lang="en-US" altLang="zh-CN" sz="9600" b="1" dirty="0">
                  <a:latin typeface="SimSun" panose="02010600030101010101" pitchFamily="2" charset="-122"/>
                  <a:ea typeface="SimSun" panose="02010600030101010101" pitchFamily="2" charset="-122"/>
                </a:endParaRPr>
              </a:p>
              <a:p>
                <a:pPr eaLnBrk="1" hangingPunct="1">
                  <a:lnSpc>
                    <a:spcPct val="120000"/>
                  </a:lnSpc>
                </a:pPr>
                <a:r>
                  <a:rPr lang="zh-CN" altLang="en-US" sz="8800" dirty="0">
                    <a:latin typeface="SimSun" panose="02010600030101010101" pitchFamily="2" charset="-122"/>
                    <a:ea typeface="SimSun" panose="02010600030101010101" pitchFamily="2" charset="-122"/>
                  </a:rPr>
                  <a:t>将“加热选择”置于“断”档，记录降至参考</a:t>
                </a:r>
                <a:r>
                  <a:rPr lang="zh-CN" altLang="en-US" sz="8800" dirty="0">
                    <a:solidFill>
                      <a:srgbClr val="7030A0"/>
                    </a:solidFill>
                    <a:latin typeface="SimSun" panose="02010600030101010101" pitchFamily="2" charset="-122"/>
                    <a:ea typeface="SimSun" panose="02010600030101010101" pitchFamily="2" charset="-122"/>
                  </a:rPr>
                  <a:t>居里温度值温</a:t>
                </a:r>
                <a14:m>
                  <m:oMath xmlns:m="http://schemas.openxmlformats.org/officeDocument/2006/math">
                    <m:r>
                      <a:rPr lang="en-US" altLang="zh-CN" sz="8800" i="1" dirty="0">
                        <a:solidFill>
                          <a:srgbClr val="7030A0"/>
                        </a:solidFill>
                        <a:latin typeface="Cambria Math" panose="02040503050406030204" pitchFamily="18" charset="0"/>
                        <a:ea typeface="Cambria Math" panose="02040503050406030204" pitchFamily="18" charset="0"/>
                      </a:rPr>
                      <m:t>−</m:t>
                    </m:r>
                    <m:r>
                      <a:rPr lang="en-US" altLang="zh-CN" sz="8800" b="0" i="1" smtClean="0">
                        <a:solidFill>
                          <a:srgbClr val="7030A0"/>
                        </a:solidFill>
                        <a:latin typeface="Cambria Math" panose="02040503050406030204" pitchFamily="18" charset="0"/>
                        <a:ea typeface="Cambria Math" panose="02040503050406030204" pitchFamily="18" charset="0"/>
                      </a:rPr>
                      <m:t>30℃</m:t>
                    </m:r>
                  </m:oMath>
                </a14:m>
                <a:r>
                  <a:rPr lang="zh-CN" altLang="en-US" sz="8800" dirty="0">
                    <a:latin typeface="SimSun" panose="02010600030101010101" pitchFamily="2" charset="-122"/>
                    <a:ea typeface="SimSun" panose="02010600030101010101" pitchFamily="2" charset="-122"/>
                  </a:rPr>
                  <a:t>过程中电压表读数和温度。</a:t>
                </a:r>
                <a:endParaRPr kumimoji="1" lang="en-US" altLang="zh-CN" sz="8800" dirty="0">
                  <a:latin typeface="SimSun" panose="02010600030101010101" pitchFamily="2" charset="-122"/>
                  <a:ea typeface="SimSun" panose="02010600030101010101" pitchFamily="2" charset="-122"/>
                </a:endParaRPr>
              </a:p>
              <a:p>
                <a:pPr marL="457200" indent="-457200">
                  <a:buFont typeface="+mj-lt"/>
                  <a:buAutoNum type="arabicParenBoth" startAt="2"/>
                </a:pPr>
                <a:endParaRPr kumimoji="1" lang="en-US" altLang="zh-CN" sz="2000" dirty="0">
                  <a:latin typeface="+mn-ea"/>
                </a:endParaRPr>
              </a:p>
              <a:p>
                <a:pPr marL="457200" indent="-457200">
                  <a:buFont typeface="+mj-lt"/>
                  <a:buAutoNum type="arabicParenBoth" startAt="2"/>
                </a:pPr>
                <a:endParaRPr kumimoji="1" lang="en-US" altLang="zh-CN" sz="2000" dirty="0">
                  <a:latin typeface="+mn-ea"/>
                </a:endParaRPr>
              </a:p>
              <a:p>
                <a:pPr marL="457200" indent="-457200">
                  <a:buFont typeface="+mj-lt"/>
                  <a:buAutoNum type="arabicParenBoth" startAt="2"/>
                </a:pPr>
                <a:endParaRPr kumimoji="1" lang="en-US" altLang="zh-CN" sz="2000" dirty="0">
                  <a:latin typeface="+mn-ea"/>
                </a:endParaRPr>
              </a:p>
              <a:p>
                <a:pPr marL="457200" indent="-457200">
                  <a:buFont typeface="+mj-lt"/>
                  <a:buAutoNum type="arabicParenBoth" startAt="2"/>
                </a:pPr>
                <a:endParaRPr kumimoji="1" lang="en-US" altLang="zh-CN" sz="2000" dirty="0">
                  <a:latin typeface="+mn-ea"/>
                </a:endParaRPr>
              </a:p>
              <a:p>
                <a:pPr marL="0" indent="0">
                  <a:buNone/>
                </a:pPr>
                <a:endParaRPr kumimoji="1" lang="en-US" altLang="zh-CN" sz="2000" dirty="0">
                  <a:latin typeface="+mn-ea"/>
                </a:endParaRPr>
              </a:p>
            </p:txBody>
          </p:sp>
        </mc:Choice>
        <mc:Fallback xmlns="">
          <p:sp>
            <p:nvSpPr>
              <p:cNvPr id="19" name="内容占位符 2"/>
              <p:cNvSpPr>
                <a:spLocks noGrp="1" noRot="1" noChangeAspect="1" noMove="1" noResize="1" noEditPoints="1" noAdjustHandles="1" noChangeArrowheads="1" noChangeShapeType="1" noTextEdit="1"/>
              </p:cNvSpPr>
              <p:nvPr>
                <p:ph idx="1"/>
              </p:nvPr>
            </p:nvSpPr>
            <p:spPr>
              <a:xfrm>
                <a:off x="776230" y="1248031"/>
                <a:ext cx="10677876" cy="5357110"/>
              </a:xfrm>
              <a:blipFill>
                <a:blip r:embed="rId3"/>
                <a:stretch>
                  <a:fillRect l="-713" t="-946" r="-119" b="-3783"/>
                </a:stretch>
              </a:blipFill>
            </p:spPr>
            <p:txBody>
              <a:bodyPr/>
              <a:lstStyle/>
              <a:p>
                <a:r>
                  <a:rPr lang="zh-CN" altLang="en-US">
                    <a:noFill/>
                  </a:rPr>
                  <a:t> </a:t>
                </a:r>
              </a:p>
            </p:txBody>
          </p:sp>
        </mc:Fallback>
      </mc:AlternateContent>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2" name="内容占位符 2">
            <a:extLst>
              <a:ext uri="{FF2B5EF4-FFF2-40B4-BE49-F238E27FC236}">
                <a16:creationId xmlns:a16="http://schemas.microsoft.com/office/drawing/2014/main" id="{F1AF64F7-CD11-EBA0-1B6D-D37436F70120}"/>
              </a:ext>
            </a:extLst>
          </p:cNvPr>
          <p:cNvSpPr txBox="1">
            <a:spLocks/>
          </p:cNvSpPr>
          <p:nvPr/>
        </p:nvSpPr>
        <p:spPr bwMode="auto">
          <a:xfrm>
            <a:off x="861349" y="809284"/>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5.1</a:t>
            </a:r>
            <a:r>
              <a:rPr kumimoji="1" lang="zh-CN" altLang="en-US" sz="2800" b="1" dirty="0">
                <a:solidFill>
                  <a:schemeClr val="tx1"/>
                </a:solidFill>
                <a:latin typeface="SimSun" panose="02010600030101010101" pitchFamily="2" charset="-122"/>
                <a:ea typeface="SimSun" panose="02010600030101010101" pitchFamily="2" charset="-122"/>
              </a:rPr>
              <a:t> 实验内容</a:t>
            </a:r>
          </a:p>
        </p:txBody>
      </p:sp>
    </p:spTree>
    <p:extLst>
      <p:ext uri="{BB962C8B-B14F-4D97-AF65-F5344CB8AC3E}">
        <p14:creationId xmlns:p14="http://schemas.microsoft.com/office/powerpoint/2010/main" val="321041955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4E154E-DF36-ACD8-A5D7-86D0D9097BE2}"/>
                  </a:ext>
                </a:extLst>
              </p:cNvPr>
              <p:cNvSpPr>
                <a:spLocks noGrp="1"/>
              </p:cNvSpPr>
              <p:nvPr>
                <p:ph idx="1"/>
              </p:nvPr>
            </p:nvSpPr>
            <p:spPr>
              <a:xfrm>
                <a:off x="647718" y="1543051"/>
                <a:ext cx="10911650" cy="4776726"/>
              </a:xfrm>
            </p:spPr>
            <p:txBody>
              <a:bodyPr>
                <a:noAutofit/>
              </a:bodyPr>
              <a:lstStyle/>
              <a:p>
                <a:pPr eaLnBrk="1" hangingPunct="1"/>
                <a:r>
                  <a:rPr lang="en-US" altLang="zh-CN" sz="2000" dirty="0">
                    <a:latin typeface="SimSun" panose="02010600030101010101" pitchFamily="2" charset="-122"/>
                    <a:ea typeface="SimSun" panose="02010600030101010101" pitchFamily="2" charset="-122"/>
                  </a:rPr>
                  <a:t> </a:t>
                </a:r>
                <a:r>
                  <a:rPr lang="zh-CN" altLang="en-US" sz="2200" dirty="0">
                    <a:latin typeface="SimSun" panose="02010600030101010101" pitchFamily="2" charset="-122"/>
                    <a:ea typeface="SimSun" panose="02010600030101010101" pitchFamily="2" charset="-122"/>
                  </a:rPr>
                  <a:t>样品加热后，不要用手触碰加热线圈和样品，以免烫伤。</a:t>
                </a:r>
                <a:endParaRPr lang="en-US" altLang="zh-CN" sz="2200" dirty="0">
                  <a:latin typeface="SimSun" panose="02010600030101010101" pitchFamily="2" charset="-122"/>
                  <a:ea typeface="SimSun" panose="02010600030101010101" pitchFamily="2" charset="-122"/>
                </a:endParaRPr>
              </a:p>
              <a:p>
                <a:pPr eaLnBrk="1" hangingPunct="1"/>
                <a:endParaRPr lang="en-US" altLang="zh-CN" sz="2200" dirty="0">
                  <a:latin typeface="SimSun" panose="02010600030101010101" pitchFamily="2" charset="-122"/>
                  <a:ea typeface="SimSun" panose="02010600030101010101" pitchFamily="2" charset="-122"/>
                </a:endParaRPr>
              </a:p>
              <a:p>
                <a:pPr eaLnBrk="1" hangingPunct="1"/>
                <a:r>
                  <a:rPr lang="zh-CN" altLang="zh-CN" sz="2200" dirty="0">
                    <a:latin typeface="SimSun" panose="02010600030101010101" pitchFamily="2" charset="-122"/>
                    <a:ea typeface="SimSun" panose="02010600030101010101" pitchFamily="2" charset="-122"/>
                  </a:rPr>
                  <a:t>实验过程中，</a:t>
                </a:r>
                <a:r>
                  <a:rPr lang="zh-CN" altLang="en-US" sz="2200" dirty="0">
                    <a:latin typeface="SimSun" panose="02010600030101010101" pitchFamily="2" charset="-122"/>
                    <a:ea typeface="SimSun" panose="02010600030101010101" pitchFamily="2" charset="-122"/>
                  </a:rPr>
                  <a:t>保持</a:t>
                </a:r>
                <a:r>
                  <a:rPr lang="zh-CN" altLang="zh-CN" sz="2200" b="1" dirty="0">
                    <a:latin typeface="SimSun" panose="02010600030101010101" pitchFamily="2" charset="-122"/>
                    <a:ea typeface="SimSun" panose="02010600030101010101" pitchFamily="2" charset="-122"/>
                  </a:rPr>
                  <a:t>信号发生器的幅度</a:t>
                </a:r>
                <a:r>
                  <a:rPr lang="zh-CN" altLang="en-US" sz="2200" b="1" dirty="0">
                    <a:latin typeface="SimSun" panose="02010600030101010101" pitchFamily="2" charset="-122"/>
                    <a:ea typeface="SimSun" panose="02010600030101010101" pitchFamily="2" charset="-122"/>
                  </a:rPr>
                  <a:t>和样品在</a:t>
                </a:r>
                <a:r>
                  <a:rPr lang="zh-CN" altLang="zh-CN" sz="2200" b="1" dirty="0">
                    <a:latin typeface="SimSun" panose="02010600030101010101" pitchFamily="2" charset="-122"/>
                    <a:ea typeface="SimSun" panose="02010600030101010101" pitchFamily="2" charset="-122"/>
                  </a:rPr>
                  <a:t>电感线圈</a:t>
                </a:r>
                <a:r>
                  <a:rPr lang="zh-CN" altLang="en-US" sz="2200" b="1" dirty="0">
                    <a:latin typeface="SimSun" panose="02010600030101010101" pitchFamily="2" charset="-122"/>
                    <a:ea typeface="SimSun" panose="02010600030101010101" pitchFamily="2" charset="-122"/>
                  </a:rPr>
                  <a:t>中</a:t>
                </a:r>
                <a:r>
                  <a:rPr lang="zh-CN" altLang="zh-CN" sz="2200" b="1" dirty="0">
                    <a:latin typeface="SimSun" panose="02010600030101010101" pitchFamily="2" charset="-122"/>
                    <a:ea typeface="SimSun" panose="02010600030101010101" pitchFamily="2" charset="-122"/>
                  </a:rPr>
                  <a:t>的位置</a:t>
                </a:r>
                <a:r>
                  <a:rPr lang="zh-CN" altLang="en-US" sz="2200" b="1" dirty="0">
                    <a:solidFill>
                      <a:srgbClr val="FF0000"/>
                    </a:solidFill>
                    <a:latin typeface="SimSun" panose="02010600030101010101" pitchFamily="2" charset="-122"/>
                    <a:ea typeface="SimSun" panose="02010600030101010101" pitchFamily="2" charset="-122"/>
                  </a:rPr>
                  <a:t>不变</a:t>
                </a:r>
                <a:r>
                  <a:rPr lang="zh-CN" altLang="zh-CN" sz="2200" b="1" dirty="0">
                    <a:latin typeface="SimSun" panose="02010600030101010101" pitchFamily="2" charset="-122"/>
                    <a:ea typeface="SimSun" panose="02010600030101010101" pitchFamily="2" charset="-122"/>
                  </a:rPr>
                  <a:t>。</a:t>
                </a:r>
                <a:endParaRPr lang="en-US" altLang="zh-CN" sz="2200" b="1" dirty="0">
                  <a:latin typeface="SimSun" panose="02010600030101010101" pitchFamily="2" charset="-122"/>
                  <a:ea typeface="SimSun" panose="02010600030101010101" pitchFamily="2" charset="-122"/>
                </a:endParaRPr>
              </a:p>
              <a:p>
                <a:pPr eaLnBrk="1" hangingPunct="1"/>
                <a:endParaRPr lang="en-US" altLang="zh-CN" sz="2200" b="1" dirty="0">
                  <a:latin typeface="SimSun" panose="02010600030101010101" pitchFamily="2" charset="-122"/>
                  <a:ea typeface="SimSun" panose="02010600030101010101" pitchFamily="2" charset="-122"/>
                </a:endParaRPr>
              </a:p>
              <a:p>
                <a:pPr eaLnBrk="1" hangingPunct="1"/>
                <a:r>
                  <a:rPr lang="zh-CN" altLang="en-US" sz="2200" b="1" dirty="0">
                    <a:latin typeface="SimSun" panose="02010600030101010101" pitchFamily="2" charset="-122"/>
                    <a:ea typeface="SimSun" panose="02010600030101010101" pitchFamily="2" charset="-122"/>
                  </a:rPr>
                  <a:t>注意电压表量程选择，开始实验时选择</a:t>
                </a:r>
                <a:r>
                  <a:rPr lang="en-US" altLang="zh-CN" sz="2200" b="1" dirty="0">
                    <a:latin typeface="SimSun" panose="02010600030101010101" pitchFamily="2" charset="-122"/>
                    <a:ea typeface="SimSun" panose="02010600030101010101" pitchFamily="2" charset="-122"/>
                  </a:rPr>
                  <a:t>2000mV</a:t>
                </a:r>
                <a:r>
                  <a:rPr lang="zh-CN" altLang="en-US" sz="2200" b="1" dirty="0">
                    <a:latin typeface="SimSun" panose="02010600030101010101" pitchFamily="2" charset="-122"/>
                    <a:ea typeface="SimSun" panose="02010600030101010101" pitchFamily="2" charset="-122"/>
                  </a:rPr>
                  <a:t>，当电压值下降至</a:t>
                </a:r>
                <a:r>
                  <a:rPr lang="en-US" altLang="zh-CN" sz="2200" b="1" dirty="0">
                    <a:latin typeface="SimSun" panose="02010600030101010101" pitchFamily="2" charset="-122"/>
                    <a:ea typeface="SimSun" panose="02010600030101010101" pitchFamily="2" charset="-122"/>
                  </a:rPr>
                  <a:t>200mV</a:t>
                </a:r>
                <a:r>
                  <a:rPr lang="zh-CN" altLang="en-US" sz="2200" b="1" dirty="0">
                    <a:latin typeface="SimSun" panose="02010600030101010101" pitchFamily="2" charset="-122"/>
                    <a:ea typeface="SimSun" panose="02010600030101010101" pitchFamily="2" charset="-122"/>
                  </a:rPr>
                  <a:t>以下，应切换</a:t>
                </a:r>
                <a:r>
                  <a:rPr lang="zh-CN" altLang="en-US" sz="2200" b="1" dirty="0">
                    <a:solidFill>
                      <a:srgbClr val="FF0000"/>
                    </a:solidFill>
                    <a:latin typeface="SimSun" panose="02010600030101010101" pitchFamily="2" charset="-122"/>
                    <a:ea typeface="SimSun" panose="02010600030101010101" pitchFamily="2" charset="-122"/>
                  </a:rPr>
                  <a:t>量程至</a:t>
                </a:r>
                <a:r>
                  <a:rPr lang="en-US" altLang="zh-CN" sz="2200" b="1" dirty="0">
                    <a:solidFill>
                      <a:srgbClr val="FF0000"/>
                    </a:solidFill>
                    <a:latin typeface="SimSun" panose="02010600030101010101" pitchFamily="2" charset="-122"/>
                    <a:ea typeface="SimSun" panose="02010600030101010101" pitchFamily="2" charset="-122"/>
                  </a:rPr>
                  <a:t>200mV</a:t>
                </a:r>
                <a:r>
                  <a:rPr lang="zh-CN" altLang="en-US" sz="2200" b="1" dirty="0">
                    <a:latin typeface="SimSun" panose="02010600030101010101" pitchFamily="2" charset="-122"/>
                    <a:ea typeface="SimSun" panose="02010600030101010101" pitchFamily="2" charset="-122"/>
                  </a:rPr>
                  <a:t>，</a:t>
                </a:r>
                <a:r>
                  <a:rPr lang="zh-CN" altLang="en-US" sz="2200" dirty="0">
                    <a:latin typeface="SimSun" panose="02010600030101010101" pitchFamily="2" charset="-122"/>
                    <a:ea typeface="SimSun" panose="02010600030101010101" pitchFamily="2" charset="-122"/>
                  </a:rPr>
                  <a:t>以获得更高的电压测量精度。请注意，调节电桥平衡时，尽量调到</a:t>
                </a:r>
                <a:r>
                  <a:rPr lang="en-US" altLang="zh-CN" sz="2200" b="1" dirty="0">
                    <a:solidFill>
                      <a:srgbClr val="FF0000"/>
                    </a:solidFill>
                    <a:latin typeface="SimSun" panose="02010600030101010101" pitchFamily="2" charset="-122"/>
                    <a:ea typeface="SimSun" panose="02010600030101010101" pitchFamily="2" charset="-122"/>
                  </a:rPr>
                  <a:t>1.0mV</a:t>
                </a:r>
                <a:r>
                  <a:rPr lang="zh-CN" altLang="en-US" sz="2200" dirty="0">
                    <a:latin typeface="SimSun" panose="02010600030101010101" pitchFamily="2" charset="-122"/>
                    <a:ea typeface="SimSun" panose="02010600030101010101" pitchFamily="2" charset="-122"/>
                  </a:rPr>
                  <a:t>以下，</a:t>
                </a:r>
                <a:r>
                  <a:rPr lang="zh-CN" altLang="en-US" sz="2200" b="1" dirty="0">
                    <a:latin typeface="SimSun" panose="02010600030101010101" pitchFamily="2" charset="-122"/>
                    <a:ea typeface="SimSun" panose="02010600030101010101" pitchFamily="2" charset="-122"/>
                  </a:rPr>
                  <a:t>需要耐心地左右微调。（如果难以调至</a:t>
                </a:r>
                <a:r>
                  <a:rPr lang="en-US" altLang="zh-CN" sz="2200" b="1" dirty="0">
                    <a:latin typeface="SimSun" panose="02010600030101010101" pitchFamily="2" charset="-122"/>
                    <a:ea typeface="SimSun" panose="02010600030101010101" pitchFamily="2" charset="-122"/>
                  </a:rPr>
                  <a:t>1.0mV</a:t>
                </a:r>
                <a:r>
                  <a:rPr lang="zh-CN" altLang="en-US" sz="2200" b="1" dirty="0">
                    <a:latin typeface="SimSun" panose="02010600030101010101" pitchFamily="2" charset="-122"/>
                    <a:ea typeface="SimSun" panose="02010600030101010101" pitchFamily="2" charset="-122"/>
                  </a:rPr>
                  <a:t>，调至</a:t>
                </a:r>
                <a:r>
                  <a:rPr lang="en-US" altLang="zh-CN" sz="2200" b="1" dirty="0">
                    <a:latin typeface="SimSun" panose="02010600030101010101" pitchFamily="2" charset="-122"/>
                    <a:ea typeface="SimSun" panose="02010600030101010101" pitchFamily="2" charset="-122"/>
                  </a:rPr>
                  <a:t>3.0mV</a:t>
                </a:r>
                <a:r>
                  <a:rPr lang="zh-CN" altLang="en-US" sz="2200" b="1" dirty="0">
                    <a:latin typeface="SimSun" panose="02010600030101010101" pitchFamily="2" charset="-122"/>
                    <a:ea typeface="SimSun" panose="02010600030101010101" pitchFamily="2" charset="-122"/>
                  </a:rPr>
                  <a:t>以下也可开始实验，请思考会对结果会造成怎样的影响？）</a:t>
                </a:r>
                <a:endParaRPr lang="en-US" altLang="zh-CN" sz="2200" b="1" dirty="0">
                  <a:latin typeface="SimSun" panose="02010600030101010101" pitchFamily="2" charset="-122"/>
                  <a:ea typeface="SimSun" panose="02010600030101010101" pitchFamily="2" charset="-122"/>
                </a:endParaRPr>
              </a:p>
              <a:p>
                <a:pPr eaLnBrk="1" hangingPunct="1"/>
                <a:endParaRPr lang="en-US" altLang="zh-CN" sz="2200" b="1" dirty="0">
                  <a:latin typeface="SimSun" panose="02010600030101010101" pitchFamily="2" charset="-122"/>
                  <a:ea typeface="SimSun" panose="02010600030101010101" pitchFamily="2" charset="-122"/>
                </a:endParaRPr>
              </a:p>
              <a:p>
                <a:pPr eaLnBrk="1" hangingPunct="1"/>
                <a:r>
                  <a:rPr lang="zh-CN" altLang="en-US" sz="2200" b="1" dirty="0">
                    <a:latin typeface="SimSun" panose="02010600030101010101" pitchFamily="2" charset="-122"/>
                    <a:ea typeface="SimSun" panose="02010600030101010101" pitchFamily="2" charset="-122"/>
                  </a:rPr>
                  <a:t>在居里温度标称值的正负</a:t>
                </a:r>
                <a:r>
                  <a:rPr lang="en-US" altLang="zh-CN" sz="2200" baseline="30000" dirty="0">
                    <a:latin typeface="SimSun" panose="02010600030101010101" pitchFamily="2" charset="-122"/>
                    <a:ea typeface="SimSun" panose="02010600030101010101" pitchFamily="2" charset="-122"/>
                  </a:rPr>
                  <a:t> </a:t>
                </a:r>
                <a14:m>
                  <m:oMath xmlns:m="http://schemas.openxmlformats.org/officeDocument/2006/math">
                    <m:r>
                      <a:rPr lang="en-US" altLang="zh-CN" sz="2200" b="0" i="0" smtClean="0">
                        <a:latin typeface="Cambria Math" panose="02040503050406030204" pitchFamily="18" charset="0"/>
                        <a:ea typeface="Cambria Math" panose="02040503050406030204" pitchFamily="18" charset="0"/>
                      </a:rPr>
                      <m:t>15</m:t>
                    </m:r>
                    <m:r>
                      <a:rPr lang="en-US" altLang="zh-CN" sz="2200" i="1" smtClean="0">
                        <a:latin typeface="Cambria Math" panose="02040503050406030204" pitchFamily="18" charset="0"/>
                        <a:ea typeface="Cambria Math" panose="02040503050406030204" pitchFamily="18" charset="0"/>
                      </a:rPr>
                      <m:t>℃</m:t>
                    </m:r>
                  </m:oMath>
                </a14:m>
                <a:r>
                  <a:rPr lang="en-US" altLang="zh-CN" sz="2200" dirty="0">
                    <a:latin typeface="SimSun" panose="02010600030101010101" pitchFamily="2" charset="-122"/>
                    <a:ea typeface="SimSun" panose="02010600030101010101" pitchFamily="2" charset="-122"/>
                  </a:rPr>
                  <a:t> </a:t>
                </a:r>
                <a:r>
                  <a:rPr lang="zh-CN" altLang="en-US" sz="2200" b="1" dirty="0">
                    <a:latin typeface="SimSun" panose="02010600030101010101" pitchFamily="2" charset="-122"/>
                    <a:ea typeface="SimSun" panose="02010600030101010101" pitchFamily="2" charset="-122"/>
                  </a:rPr>
                  <a:t>，电压值会快速变化，</a:t>
                </a:r>
                <a:r>
                  <a:rPr lang="zh-CN" altLang="en-US" sz="2200" b="1" dirty="0">
                    <a:solidFill>
                      <a:srgbClr val="FF0000"/>
                    </a:solidFill>
                    <a:latin typeface="SimSun" panose="02010600030101010101" pitchFamily="2" charset="-122"/>
                    <a:ea typeface="SimSun" panose="02010600030101010101" pitchFamily="2" charset="-122"/>
                  </a:rPr>
                  <a:t>应合理调整温度间隔</a:t>
                </a:r>
                <a:r>
                  <a:rPr lang="zh-CN" altLang="en-US" sz="2200" b="1" dirty="0">
                    <a:latin typeface="SimSun" panose="02010600030101010101" pitchFamily="2" charset="-122"/>
                    <a:ea typeface="SimSun" panose="02010600030101010101" pitchFamily="2" charset="-122"/>
                  </a:rPr>
                  <a:t>，比如</a:t>
                </a:r>
                <a:r>
                  <a:rPr lang="en-US" altLang="zh-CN" sz="2200" dirty="0">
                    <a:latin typeface="SimSun" panose="02010600030101010101" pitchFamily="2" charset="-122"/>
                    <a:ea typeface="SimSun" panose="02010600030101010101" pitchFamily="2" charset="-122"/>
                  </a:rPr>
                  <a:t> </a:t>
                </a:r>
                <a14:m>
                  <m:oMath xmlns:m="http://schemas.openxmlformats.org/officeDocument/2006/math">
                    <m:r>
                      <a:rPr lang="en-US" altLang="zh-CN" sz="2200" b="0" i="0" smtClean="0">
                        <a:latin typeface="Cambria Math" panose="02040503050406030204" pitchFamily="18" charset="0"/>
                        <a:ea typeface="Cambria Math" panose="02040503050406030204" pitchFamily="18" charset="0"/>
                      </a:rPr>
                      <m:t>1</m:t>
                    </m:r>
                    <m:r>
                      <a:rPr lang="en-US" altLang="zh-CN" sz="2200" i="1">
                        <a:latin typeface="Cambria Math" panose="02040503050406030204" pitchFamily="18" charset="0"/>
                        <a:ea typeface="Cambria Math" panose="02040503050406030204" pitchFamily="18" charset="0"/>
                      </a:rPr>
                      <m:t>℃ </m:t>
                    </m:r>
                  </m:oMath>
                </a14:m>
                <a:r>
                  <a:rPr lang="zh-CN" altLang="en-US" sz="2200" b="1" dirty="0">
                    <a:latin typeface="SimSun" panose="02010600030101010101" pitchFamily="2" charset="-122"/>
                    <a:ea typeface="SimSun" panose="02010600030101010101" pitchFamily="2" charset="-122"/>
                  </a:rPr>
                  <a:t>，</a:t>
                </a:r>
                <a:r>
                  <a:rPr lang="en-US" altLang="zh-CN" sz="2200" b="1" dirty="0">
                    <a:latin typeface="SimSun" panose="02010600030101010101" pitchFamily="2" charset="-122"/>
                    <a:ea typeface="SimSun" panose="02010600030101010101" pitchFamily="2" charset="-122"/>
                  </a:rPr>
                  <a:t> </a:t>
                </a:r>
                <a14:m>
                  <m:oMath xmlns:m="http://schemas.openxmlformats.org/officeDocument/2006/math">
                    <m:r>
                      <a:rPr lang="en-US" altLang="zh-CN" sz="2200" b="1" i="0" smtClean="0">
                        <a:solidFill>
                          <a:srgbClr val="FF0000"/>
                        </a:solidFill>
                        <a:latin typeface="Cambria Math" panose="02040503050406030204" pitchFamily="18" charset="0"/>
                        <a:ea typeface="Cambria Math" panose="02040503050406030204" pitchFamily="18" charset="0"/>
                      </a:rPr>
                      <m:t>𝟎</m:t>
                    </m:r>
                    <m:r>
                      <a:rPr lang="en-US" altLang="zh-CN" sz="2200" b="1" i="0" smtClean="0">
                        <a:solidFill>
                          <a:srgbClr val="FF0000"/>
                        </a:solidFill>
                        <a:latin typeface="Cambria Math" panose="02040503050406030204" pitchFamily="18" charset="0"/>
                        <a:ea typeface="Cambria Math" panose="02040503050406030204" pitchFamily="18" charset="0"/>
                      </a:rPr>
                      <m:t>.</m:t>
                    </m:r>
                    <m:r>
                      <a:rPr lang="en-US" altLang="zh-CN" sz="2200" b="1" i="0" smtClean="0">
                        <a:solidFill>
                          <a:srgbClr val="FF0000"/>
                        </a:solidFill>
                        <a:latin typeface="Cambria Math" panose="02040503050406030204" pitchFamily="18" charset="0"/>
                        <a:ea typeface="Cambria Math" panose="02040503050406030204" pitchFamily="18" charset="0"/>
                      </a:rPr>
                      <m:t>𝟓</m:t>
                    </m:r>
                    <m:r>
                      <a:rPr lang="en-US" altLang="zh-CN" sz="2200" i="1">
                        <a:solidFill>
                          <a:srgbClr val="FF0000"/>
                        </a:solidFill>
                        <a:latin typeface="Cambria Math" panose="02040503050406030204" pitchFamily="18" charset="0"/>
                        <a:ea typeface="Cambria Math" panose="02040503050406030204" pitchFamily="18" charset="0"/>
                      </a:rPr>
                      <m:t>℃</m:t>
                    </m:r>
                  </m:oMath>
                </a14:m>
                <a:r>
                  <a:rPr lang="en-US" altLang="zh-CN" sz="2200" dirty="0">
                    <a:solidFill>
                      <a:srgbClr val="FF0000"/>
                    </a:solidFill>
                    <a:latin typeface="SimSun" panose="02010600030101010101" pitchFamily="2" charset="-122"/>
                    <a:ea typeface="SimSun" panose="02010600030101010101" pitchFamily="2" charset="-122"/>
                  </a:rPr>
                  <a:t> </a:t>
                </a:r>
                <a:r>
                  <a:rPr lang="zh-CN" altLang="en-US" sz="2200" b="1" dirty="0">
                    <a:latin typeface="SimSun" panose="02010600030101010101" pitchFamily="2" charset="-122"/>
                    <a:ea typeface="SimSun" panose="02010600030101010101" pitchFamily="2" charset="-122"/>
                  </a:rPr>
                  <a:t>，在这个区间可以用手机拍摄视频。</a:t>
                </a:r>
                <a:endParaRPr lang="en-US" altLang="zh-CN" sz="2200" b="1" dirty="0">
                  <a:latin typeface="SimSun" panose="02010600030101010101" pitchFamily="2" charset="-122"/>
                  <a:ea typeface="SimSun" panose="02010600030101010101" pitchFamily="2" charset="-122"/>
                </a:endParaRPr>
              </a:p>
            </p:txBody>
          </p:sp>
        </mc:Choice>
        <mc:Fallback xmlns="">
          <p:sp>
            <p:nvSpPr>
              <p:cNvPr id="3" name="内容占位符 2">
                <a:extLst>
                  <a:ext uri="{FF2B5EF4-FFF2-40B4-BE49-F238E27FC236}">
                    <a16:creationId xmlns:a16="http://schemas.microsoft.com/office/drawing/2014/main" id="{644E154E-DF36-ACD8-A5D7-86D0D9097BE2}"/>
                  </a:ext>
                </a:extLst>
              </p:cNvPr>
              <p:cNvSpPr>
                <a:spLocks noGrp="1" noRot="1" noChangeAspect="1" noMove="1" noResize="1" noEditPoints="1" noAdjustHandles="1" noChangeArrowheads="1" noChangeShapeType="1" noTextEdit="1"/>
              </p:cNvSpPr>
              <p:nvPr>
                <p:ph idx="1"/>
              </p:nvPr>
            </p:nvSpPr>
            <p:spPr>
              <a:xfrm>
                <a:off x="647718" y="1543051"/>
                <a:ext cx="10911650" cy="4776726"/>
              </a:xfrm>
              <a:blipFill>
                <a:blip r:embed="rId3"/>
                <a:stretch>
                  <a:fillRect l="-581" t="-1592"/>
                </a:stretch>
              </a:blipFill>
            </p:spPr>
            <p:txBody>
              <a:bodyPr/>
              <a:lstStyle/>
              <a:p>
                <a:r>
                  <a:rPr lang="zh-CN" altLang="en-US">
                    <a:noFill/>
                  </a:rPr>
                  <a:t> </a:t>
                </a:r>
              </a:p>
            </p:txBody>
          </p:sp>
        </mc:Fallback>
      </mc:AlternateContent>
      <p:sp>
        <p:nvSpPr>
          <p:cNvPr id="2" name="内容占位符 2">
            <a:extLst>
              <a:ext uri="{FF2B5EF4-FFF2-40B4-BE49-F238E27FC236}">
                <a16:creationId xmlns:a16="http://schemas.microsoft.com/office/drawing/2014/main" id="{99DED40B-F7A3-03D9-2B3E-BEEDA1E99EE3}"/>
              </a:ext>
            </a:extLst>
          </p:cNvPr>
          <p:cNvSpPr txBox="1">
            <a:spLocks/>
          </p:cNvSpPr>
          <p:nvPr/>
        </p:nvSpPr>
        <p:spPr bwMode="auto">
          <a:xfrm>
            <a:off x="861349" y="809284"/>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5.2</a:t>
            </a:r>
            <a:r>
              <a:rPr kumimoji="1" lang="zh-CN" altLang="en-US" sz="2800" b="1" dirty="0">
                <a:solidFill>
                  <a:schemeClr val="tx1"/>
                </a:solidFill>
                <a:latin typeface="SimSun" panose="02010600030101010101" pitchFamily="2" charset="-122"/>
                <a:ea typeface="SimSun" panose="02010600030101010101" pitchFamily="2" charset="-122"/>
              </a:rPr>
              <a:t> 注意事项</a:t>
            </a:r>
          </a:p>
        </p:txBody>
      </p:sp>
    </p:spTree>
    <p:extLst>
      <p:ext uri="{BB962C8B-B14F-4D97-AF65-F5344CB8AC3E}">
        <p14:creationId xmlns:p14="http://schemas.microsoft.com/office/powerpoint/2010/main" val="150668403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7C07C2C-468C-6542-731E-B37602D3436E}"/>
              </a:ext>
            </a:extLst>
          </p:cNvPr>
          <p:cNvSpPr txBox="1">
            <a:spLocks/>
          </p:cNvSpPr>
          <p:nvPr/>
        </p:nvSpPr>
        <p:spPr bwMode="auto">
          <a:xfrm>
            <a:off x="877990" y="100812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5.3</a:t>
            </a:r>
            <a:r>
              <a:rPr kumimoji="1" lang="zh-CN" altLang="en-US" sz="2800" b="1" dirty="0">
                <a:solidFill>
                  <a:schemeClr val="tx1"/>
                </a:solidFill>
                <a:latin typeface="SimSun" panose="02010600030101010101" pitchFamily="2" charset="-122"/>
                <a:ea typeface="SimSun" panose="02010600030101010101" pitchFamily="2" charset="-122"/>
              </a:rPr>
              <a:t> 居里温度的不同定义方式</a:t>
            </a:r>
          </a:p>
        </p:txBody>
      </p:sp>
      <p:sp>
        <p:nvSpPr>
          <p:cNvPr id="6" name="文本框 5">
            <a:extLst>
              <a:ext uri="{FF2B5EF4-FFF2-40B4-BE49-F238E27FC236}">
                <a16:creationId xmlns:a16="http://schemas.microsoft.com/office/drawing/2014/main" id="{379DAC42-F785-E4D2-A7A7-DF84D121AF18}"/>
              </a:ext>
            </a:extLst>
          </p:cNvPr>
          <p:cNvSpPr txBox="1"/>
          <p:nvPr/>
        </p:nvSpPr>
        <p:spPr>
          <a:xfrm>
            <a:off x="833221" y="1549982"/>
            <a:ext cx="10681377" cy="1200329"/>
          </a:xfrm>
          <a:prstGeom prst="rect">
            <a:avLst/>
          </a:prstGeom>
          <a:noFill/>
        </p:spPr>
        <p:txBody>
          <a:bodyPr wrap="square">
            <a:spAutoFit/>
          </a:bodyPr>
          <a:lstStyle/>
          <a:p>
            <a:pPr marL="342900" indent="-342900">
              <a:buFont typeface="Arial" panose="020B0604020202020204" pitchFamily="34" charset="0"/>
              <a:buChar char="•"/>
            </a:pPr>
            <a:r>
              <a:rPr lang="zh-CN" altLang="en-US" sz="2400" dirty="0">
                <a:latin typeface="SimSun" panose="02010600030101010101" pitchFamily="2" charset="-122"/>
                <a:ea typeface="SimSun" panose="02010600030101010101" pitchFamily="2" charset="-122"/>
              </a:rPr>
              <a:t>实际材料经常存在缺陷或微观组织不均匀，材料各部分的相变点并非在同一温度点，而是分布在</a:t>
            </a:r>
            <a:r>
              <a:rPr lang="zh-CN" altLang="en-US" sz="2400" dirty="0">
                <a:solidFill>
                  <a:srgbClr val="0000FF"/>
                </a:solidFill>
                <a:latin typeface="SimSun" panose="02010600030101010101" pitchFamily="2" charset="-122"/>
                <a:ea typeface="SimSun" panose="02010600030101010101" pitchFamily="2" charset="-122"/>
              </a:rPr>
              <a:t>小温度区间</a:t>
            </a:r>
            <a:r>
              <a:rPr lang="zh-CN" altLang="en-US" sz="2400" dirty="0">
                <a:latin typeface="SimSun" panose="02010600030101010101" pitchFamily="2" charset="-122"/>
                <a:ea typeface="SimSun" panose="02010600030101010101" pitchFamily="2" charset="-122"/>
              </a:rPr>
              <a:t>内。</a:t>
            </a:r>
            <a:endParaRPr lang="en-US" altLang="zh-CN" sz="2400" dirty="0">
              <a:latin typeface="SimSun" panose="02010600030101010101" pitchFamily="2" charset="-122"/>
              <a:ea typeface="SimSun" panose="02010600030101010101" pitchFamily="2" charset="-122"/>
            </a:endParaRPr>
          </a:p>
          <a:p>
            <a:pPr marL="342900" indent="-342900">
              <a:buFont typeface="Arial" panose="020B0604020202020204" pitchFamily="34" charset="0"/>
              <a:buChar char="•"/>
            </a:pPr>
            <a:r>
              <a:rPr lang="zh-CN" altLang="en-US" sz="2400" dirty="0">
                <a:latin typeface="SimSun" panose="02010600030101010101" pitchFamily="2" charset="-122"/>
                <a:ea typeface="SimSun" panose="02010600030101010101" pitchFamily="2" charset="-122"/>
              </a:rPr>
              <a:t>实验测量中可以选择不同的方式定义居里温度：</a:t>
            </a:r>
          </a:p>
        </p:txBody>
      </p:sp>
      <p:pic>
        <p:nvPicPr>
          <p:cNvPr id="8" name="图片 8">
            <a:extLst>
              <a:ext uri="{FF2B5EF4-FFF2-40B4-BE49-F238E27FC236}">
                <a16:creationId xmlns:a16="http://schemas.microsoft.com/office/drawing/2014/main" id="{5C415072-EC94-38FA-471D-9E3CC5DE85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073"/>
          <a:stretch/>
        </p:blipFill>
        <p:spPr bwMode="auto">
          <a:xfrm>
            <a:off x="717656" y="3133986"/>
            <a:ext cx="3678479" cy="29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0">
            <a:extLst>
              <a:ext uri="{FF2B5EF4-FFF2-40B4-BE49-F238E27FC236}">
                <a16:creationId xmlns:a16="http://schemas.microsoft.com/office/drawing/2014/main" id="{4F3AE09B-3A8E-72D5-66CF-DCADD381B8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5968"/>
          <a:stretch>
            <a:fillRect/>
          </a:stretch>
        </p:blipFill>
        <p:spPr bwMode="auto">
          <a:xfrm>
            <a:off x="4334671" y="3187986"/>
            <a:ext cx="3678479" cy="28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2">
            <a:extLst>
              <a:ext uri="{FF2B5EF4-FFF2-40B4-BE49-F238E27FC236}">
                <a16:creationId xmlns:a16="http://schemas.microsoft.com/office/drawing/2014/main" id="{4AC0BA70-34AB-BC29-9428-CC78B3F2BE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11635"/>
          <a:stretch>
            <a:fillRect/>
          </a:stretch>
        </p:blipFill>
        <p:spPr bwMode="auto">
          <a:xfrm>
            <a:off x="8024921" y="3109272"/>
            <a:ext cx="3861001" cy="30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892E954A-F315-A937-1B28-DBED115F210C}"/>
              </a:ext>
            </a:extLst>
          </p:cNvPr>
          <p:cNvSpPr txBox="1"/>
          <p:nvPr/>
        </p:nvSpPr>
        <p:spPr>
          <a:xfrm>
            <a:off x="1749045" y="2882197"/>
            <a:ext cx="1940620" cy="400110"/>
          </a:xfrm>
          <a:prstGeom prst="rect">
            <a:avLst/>
          </a:prstGeom>
          <a:solidFill>
            <a:schemeClr val="accent4">
              <a:lumMod val="20000"/>
              <a:lumOff val="80000"/>
            </a:schemeClr>
          </a:solidFill>
        </p:spPr>
        <p:txBody>
          <a:bodyPr wrap="square" rtlCol="0">
            <a:spAutoFit/>
          </a:bodyPr>
          <a:lstStyle/>
          <a:p>
            <a:r>
              <a:rPr kumimoji="1" lang="zh-CN" altLang="en-US" sz="2000" b="1" dirty="0">
                <a:latin typeface="SimSun" panose="02010600030101010101" pitchFamily="2" charset="-122"/>
                <a:ea typeface="SimSun" panose="02010600030101010101" pitchFamily="2" charset="-122"/>
              </a:rPr>
              <a:t>区间上</a:t>
            </a:r>
            <a:r>
              <a:rPr kumimoji="1" lang="en-US" altLang="zh-CN" sz="2000" b="1" dirty="0">
                <a:latin typeface="SimSun" panose="02010600030101010101" pitchFamily="2" charset="-122"/>
                <a:ea typeface="SimSun" panose="02010600030101010101" pitchFamily="2" charset="-122"/>
              </a:rPr>
              <a:t>/</a:t>
            </a:r>
            <a:r>
              <a:rPr kumimoji="1" lang="zh-CN" altLang="en-US" sz="2000" b="1" dirty="0">
                <a:latin typeface="SimSun" panose="02010600030101010101" pitchFamily="2" charset="-122"/>
                <a:ea typeface="SimSun" panose="02010600030101010101" pitchFamily="2" charset="-122"/>
              </a:rPr>
              <a:t>下限法</a:t>
            </a:r>
          </a:p>
        </p:txBody>
      </p:sp>
      <p:sp>
        <p:nvSpPr>
          <p:cNvPr id="12" name="文本框 11">
            <a:extLst>
              <a:ext uri="{FF2B5EF4-FFF2-40B4-BE49-F238E27FC236}">
                <a16:creationId xmlns:a16="http://schemas.microsoft.com/office/drawing/2014/main" id="{47EC5C16-EF99-F4D4-5DE4-D601D3F7E7A1}"/>
              </a:ext>
            </a:extLst>
          </p:cNvPr>
          <p:cNvSpPr txBox="1"/>
          <p:nvPr/>
        </p:nvSpPr>
        <p:spPr>
          <a:xfrm>
            <a:off x="5489911" y="2882197"/>
            <a:ext cx="1940620" cy="400110"/>
          </a:xfrm>
          <a:prstGeom prst="rect">
            <a:avLst/>
          </a:prstGeom>
          <a:solidFill>
            <a:schemeClr val="accent6">
              <a:lumMod val="20000"/>
              <a:lumOff val="80000"/>
            </a:schemeClr>
          </a:solidFill>
        </p:spPr>
        <p:txBody>
          <a:bodyPr wrap="square" rtlCol="0">
            <a:spAutoFit/>
          </a:bodyPr>
          <a:lstStyle/>
          <a:p>
            <a:pPr algn="ctr"/>
            <a:r>
              <a:rPr kumimoji="1" lang="zh-CN" altLang="en-US" sz="2000" b="1" dirty="0">
                <a:latin typeface="SimSun" panose="02010600030101010101" pitchFamily="2" charset="-122"/>
                <a:ea typeface="SimSun" panose="02010600030101010101" pitchFamily="2" charset="-122"/>
              </a:rPr>
              <a:t>拐点法</a:t>
            </a:r>
          </a:p>
        </p:txBody>
      </p:sp>
      <p:sp>
        <p:nvSpPr>
          <p:cNvPr id="13" name="文本框 12">
            <a:extLst>
              <a:ext uri="{FF2B5EF4-FFF2-40B4-BE49-F238E27FC236}">
                <a16:creationId xmlns:a16="http://schemas.microsoft.com/office/drawing/2014/main" id="{BD0189B1-08DB-EE71-99F6-735E0FECF635}"/>
              </a:ext>
            </a:extLst>
          </p:cNvPr>
          <p:cNvSpPr txBox="1"/>
          <p:nvPr/>
        </p:nvSpPr>
        <p:spPr>
          <a:xfrm>
            <a:off x="8985111" y="2858306"/>
            <a:ext cx="1940620" cy="400110"/>
          </a:xfrm>
          <a:prstGeom prst="rect">
            <a:avLst/>
          </a:prstGeom>
          <a:solidFill>
            <a:schemeClr val="accent1">
              <a:lumMod val="20000"/>
              <a:lumOff val="80000"/>
            </a:schemeClr>
          </a:solidFill>
        </p:spPr>
        <p:txBody>
          <a:bodyPr wrap="square" rtlCol="0">
            <a:spAutoFit/>
          </a:bodyPr>
          <a:lstStyle/>
          <a:p>
            <a:pPr algn="ctr"/>
            <a:r>
              <a:rPr kumimoji="1" lang="zh-CN" altLang="en-US" sz="2000" b="1" dirty="0">
                <a:latin typeface="SimSun" panose="02010600030101010101" pitchFamily="2" charset="-122"/>
                <a:ea typeface="SimSun" panose="02010600030101010101" pitchFamily="2" charset="-122"/>
              </a:rPr>
              <a:t>切线外推法</a:t>
            </a:r>
          </a:p>
        </p:txBody>
      </p:sp>
      <p:sp>
        <p:nvSpPr>
          <p:cNvPr id="14" name="文本框 13">
            <a:extLst>
              <a:ext uri="{FF2B5EF4-FFF2-40B4-BE49-F238E27FC236}">
                <a16:creationId xmlns:a16="http://schemas.microsoft.com/office/drawing/2014/main" id="{AA7D4D0D-3B45-EF6B-B895-F2C08B160BD2}"/>
              </a:ext>
            </a:extLst>
          </p:cNvPr>
          <p:cNvSpPr txBox="1"/>
          <p:nvPr/>
        </p:nvSpPr>
        <p:spPr>
          <a:xfrm>
            <a:off x="1326318" y="6461561"/>
            <a:ext cx="9539363" cy="338554"/>
          </a:xfrm>
          <a:prstGeom prst="rect">
            <a:avLst/>
          </a:prstGeom>
          <a:noFill/>
        </p:spPr>
        <p:txBody>
          <a:bodyPr wrap="square" rtlCol="0">
            <a:spAutoFit/>
          </a:bodyPr>
          <a:lstStyle/>
          <a:p>
            <a:r>
              <a:rPr kumimoji="1" lang="en-US" altLang="zh-CN" sz="1600" dirty="0">
                <a:solidFill>
                  <a:srgbClr val="0070C0"/>
                </a:solidFill>
                <a:latin typeface="KaiTi" panose="02010609060101010101" pitchFamily="49" charset="-122"/>
                <a:ea typeface="KaiTi" panose="02010609060101010101" pitchFamily="49" charset="-122"/>
              </a:rPr>
              <a:t>Ref:</a:t>
            </a:r>
            <a:r>
              <a:rPr kumimoji="1" lang="zh-CN" altLang="en-US" sz="1600" dirty="0">
                <a:solidFill>
                  <a:srgbClr val="0070C0"/>
                </a:solidFill>
                <a:latin typeface="KaiTi" panose="02010609060101010101" pitchFamily="49" charset="-122"/>
                <a:ea typeface="KaiTi" panose="02010609060101010101" pitchFamily="49" charset="-122"/>
              </a:rPr>
              <a:t>王昊</a:t>
            </a:r>
            <a:r>
              <a:rPr kumimoji="1" lang="en-US" altLang="zh-CN" sz="1600" dirty="0">
                <a:solidFill>
                  <a:srgbClr val="0070C0"/>
                </a:solidFill>
                <a:latin typeface="KaiTi" panose="02010609060101010101" pitchFamily="49" charset="-122"/>
                <a:ea typeface="KaiTi" panose="02010609060101010101" pitchFamily="49" charset="-122"/>
              </a:rPr>
              <a:t>,</a:t>
            </a:r>
            <a:r>
              <a:rPr kumimoji="1" lang="zh-CN" altLang="en-US" sz="1600" dirty="0">
                <a:solidFill>
                  <a:srgbClr val="0070C0"/>
                </a:solidFill>
                <a:latin typeface="KaiTi" panose="02010609060101010101" pitchFamily="49" charset="-122"/>
                <a:ea typeface="KaiTi" panose="02010609060101010101" pitchFamily="49" charset="-122"/>
              </a:rPr>
              <a:t>何春娟</a:t>
            </a:r>
            <a:r>
              <a:rPr kumimoji="1" lang="en-US" altLang="zh-CN" sz="1600" dirty="0">
                <a:solidFill>
                  <a:srgbClr val="0070C0"/>
                </a:solidFill>
                <a:latin typeface="KaiTi" panose="02010609060101010101" pitchFamily="49" charset="-122"/>
                <a:ea typeface="KaiTi" panose="02010609060101010101" pitchFamily="49" charset="-122"/>
              </a:rPr>
              <a:t>.</a:t>
            </a:r>
            <a:r>
              <a:rPr kumimoji="1" lang="zh-CN" altLang="en-US" sz="1600" dirty="0">
                <a:solidFill>
                  <a:srgbClr val="0070C0"/>
                </a:solidFill>
                <a:latin typeface="KaiTi" panose="02010609060101010101" pitchFamily="49" charset="-122"/>
                <a:ea typeface="KaiTi" panose="02010609060101010101" pitchFamily="49" charset="-122"/>
              </a:rPr>
              <a:t>铁磁材料居里温度测量的近似分析及居里转换的意义</a:t>
            </a:r>
            <a:r>
              <a:rPr kumimoji="1" lang="en-US" altLang="zh-CN" sz="1600" dirty="0">
                <a:solidFill>
                  <a:srgbClr val="0070C0"/>
                </a:solidFill>
                <a:latin typeface="KaiTi" panose="02010609060101010101" pitchFamily="49" charset="-122"/>
                <a:ea typeface="KaiTi" panose="02010609060101010101" pitchFamily="49" charset="-122"/>
              </a:rPr>
              <a:t>[J].</a:t>
            </a:r>
            <a:r>
              <a:rPr kumimoji="1" lang="zh-CN" altLang="en-US" sz="1600" dirty="0">
                <a:solidFill>
                  <a:srgbClr val="0070C0"/>
                </a:solidFill>
                <a:latin typeface="KaiTi" panose="02010609060101010101" pitchFamily="49" charset="-122"/>
                <a:ea typeface="KaiTi" panose="02010609060101010101" pitchFamily="49" charset="-122"/>
              </a:rPr>
              <a:t>物理实验</a:t>
            </a:r>
            <a:r>
              <a:rPr kumimoji="1" lang="en-US" altLang="zh-CN" sz="1600" dirty="0">
                <a:solidFill>
                  <a:srgbClr val="0070C0"/>
                </a:solidFill>
                <a:latin typeface="KaiTi" panose="02010609060101010101" pitchFamily="49" charset="-122"/>
                <a:ea typeface="KaiTi" panose="02010609060101010101" pitchFamily="49" charset="-122"/>
              </a:rPr>
              <a:t>,2021,41(10):55-58.</a:t>
            </a:r>
            <a:endParaRPr kumimoji="1" lang="zh-CN" altLang="en-US" sz="1600" dirty="0">
              <a:solidFill>
                <a:srgbClr val="0070C0"/>
              </a:solidFill>
              <a:latin typeface="KaiTi" panose="02010609060101010101" pitchFamily="49" charset="-122"/>
              <a:ea typeface="KaiTi" panose="02010609060101010101" pitchFamily="49" charset="-122"/>
            </a:endParaRPr>
          </a:p>
        </p:txBody>
      </p:sp>
      <p:sp>
        <p:nvSpPr>
          <p:cNvPr id="15" name="文本框 14">
            <a:extLst>
              <a:ext uri="{FF2B5EF4-FFF2-40B4-BE49-F238E27FC236}">
                <a16:creationId xmlns:a16="http://schemas.microsoft.com/office/drawing/2014/main" id="{F98DB5A6-F11B-6651-1510-118C99BD7901}"/>
              </a:ext>
            </a:extLst>
          </p:cNvPr>
          <p:cNvSpPr txBox="1"/>
          <p:nvPr/>
        </p:nvSpPr>
        <p:spPr>
          <a:xfrm>
            <a:off x="1618736" y="6039850"/>
            <a:ext cx="2432759" cy="384721"/>
          </a:xfrm>
          <a:prstGeom prst="rect">
            <a:avLst/>
          </a:prstGeom>
          <a:noFill/>
        </p:spPr>
        <p:txBody>
          <a:bodyPr wrap="square" rtlCol="0">
            <a:spAutoFit/>
          </a:bodyPr>
          <a:lstStyle/>
          <a:p>
            <a:r>
              <a:rPr kumimoji="1" lang="zh-CN" altLang="en-US" dirty="0"/>
              <a:t>快速判断，存在偏差</a:t>
            </a:r>
          </a:p>
        </p:txBody>
      </p:sp>
      <p:sp>
        <p:nvSpPr>
          <p:cNvPr id="18" name="文本框 17">
            <a:extLst>
              <a:ext uri="{FF2B5EF4-FFF2-40B4-BE49-F238E27FC236}">
                <a16:creationId xmlns:a16="http://schemas.microsoft.com/office/drawing/2014/main" id="{A74803A3-FDD5-8E56-ABC7-975CB12625DD}"/>
              </a:ext>
            </a:extLst>
          </p:cNvPr>
          <p:cNvSpPr txBox="1"/>
          <p:nvPr/>
        </p:nvSpPr>
        <p:spPr>
          <a:xfrm>
            <a:off x="5297215" y="6039650"/>
            <a:ext cx="2371295" cy="384721"/>
          </a:xfrm>
          <a:prstGeom prst="rect">
            <a:avLst/>
          </a:prstGeom>
          <a:noFill/>
        </p:spPr>
        <p:txBody>
          <a:bodyPr wrap="square" rtlCol="0">
            <a:spAutoFit/>
          </a:bodyPr>
          <a:lstStyle/>
          <a:p>
            <a:r>
              <a:rPr kumimoji="1" lang="zh-CN" altLang="en-US" dirty="0">
                <a:solidFill>
                  <a:srgbClr val="FF0000"/>
                </a:solidFill>
                <a:highlight>
                  <a:srgbClr val="FFFF00"/>
                </a:highlight>
              </a:rPr>
              <a:t>斜率最大，推荐方法</a:t>
            </a:r>
          </a:p>
        </p:txBody>
      </p:sp>
      <p:sp>
        <p:nvSpPr>
          <p:cNvPr id="19" name="文本框 18">
            <a:extLst>
              <a:ext uri="{FF2B5EF4-FFF2-40B4-BE49-F238E27FC236}">
                <a16:creationId xmlns:a16="http://schemas.microsoft.com/office/drawing/2014/main" id="{F6D19ECA-BA9E-2998-53BD-E880C1B45EFC}"/>
              </a:ext>
            </a:extLst>
          </p:cNvPr>
          <p:cNvSpPr txBox="1"/>
          <p:nvPr/>
        </p:nvSpPr>
        <p:spPr>
          <a:xfrm>
            <a:off x="9347788" y="6039848"/>
            <a:ext cx="1940620" cy="384721"/>
          </a:xfrm>
          <a:prstGeom prst="rect">
            <a:avLst/>
          </a:prstGeom>
          <a:noFill/>
        </p:spPr>
        <p:txBody>
          <a:bodyPr wrap="square" rtlCol="0">
            <a:spAutoFit/>
          </a:bodyPr>
          <a:lstStyle/>
          <a:p>
            <a:r>
              <a:rPr kumimoji="1" lang="zh-CN" altLang="en-US" dirty="0"/>
              <a:t>高精度测量</a:t>
            </a:r>
          </a:p>
        </p:txBody>
      </p:sp>
      <p:sp>
        <p:nvSpPr>
          <p:cNvPr id="2" name="矩形 1">
            <a:extLst>
              <a:ext uri="{FF2B5EF4-FFF2-40B4-BE49-F238E27FC236}">
                <a16:creationId xmlns:a16="http://schemas.microsoft.com/office/drawing/2014/main" id="{DA4DC5FF-4C31-1B19-D992-A6DA5418C521}"/>
              </a:ext>
            </a:extLst>
          </p:cNvPr>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 name="圆角矩形 2">
            <a:extLst>
              <a:ext uri="{FF2B5EF4-FFF2-40B4-BE49-F238E27FC236}">
                <a16:creationId xmlns:a16="http://schemas.microsoft.com/office/drawing/2014/main" id="{2BDEB2DF-14B1-0FB7-891D-DFE89556BD0A}"/>
              </a:ext>
            </a:extLst>
          </p:cNvPr>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5" name="文本框 4">
            <a:extLst>
              <a:ext uri="{FF2B5EF4-FFF2-40B4-BE49-F238E27FC236}">
                <a16:creationId xmlns:a16="http://schemas.microsoft.com/office/drawing/2014/main" id="{AF4B8999-5BE8-CB4F-502C-85C7EBE0DBC6}"/>
              </a:ext>
            </a:extLst>
          </p:cNvPr>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7" name="矩形 6">
            <a:extLst>
              <a:ext uri="{FF2B5EF4-FFF2-40B4-BE49-F238E27FC236}">
                <a16:creationId xmlns:a16="http://schemas.microsoft.com/office/drawing/2014/main" id="{1C8B443A-6EA3-3FFC-E8CD-E017925071FE}"/>
              </a:ext>
            </a:extLst>
          </p:cNvPr>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16" name="组 398">
            <a:extLst>
              <a:ext uri="{FF2B5EF4-FFF2-40B4-BE49-F238E27FC236}">
                <a16:creationId xmlns:a16="http://schemas.microsoft.com/office/drawing/2014/main" id="{CD1D17D2-9A61-33F1-04BA-052A6B402B74}"/>
              </a:ext>
            </a:extLst>
          </p:cNvPr>
          <p:cNvGrpSpPr/>
          <p:nvPr/>
        </p:nvGrpSpPr>
        <p:grpSpPr>
          <a:xfrm>
            <a:off x="11454106" y="252857"/>
            <a:ext cx="737892" cy="484288"/>
            <a:chOff x="11454105" y="252856"/>
            <a:chExt cx="737892" cy="484288"/>
          </a:xfrm>
        </p:grpSpPr>
        <p:grpSp>
          <p:nvGrpSpPr>
            <p:cNvPr id="17" name="组 400">
              <a:extLst>
                <a:ext uri="{FF2B5EF4-FFF2-40B4-BE49-F238E27FC236}">
                  <a16:creationId xmlns:a16="http://schemas.microsoft.com/office/drawing/2014/main" id="{5AF8D307-CD42-B9F1-1072-EDF9440F7EC2}"/>
                </a:ext>
              </a:extLst>
            </p:cNvPr>
            <p:cNvGrpSpPr/>
            <p:nvPr/>
          </p:nvGrpSpPr>
          <p:grpSpPr>
            <a:xfrm>
              <a:off x="12039604" y="252856"/>
              <a:ext cx="152393" cy="484287"/>
              <a:chOff x="12039604" y="252856"/>
              <a:chExt cx="152393" cy="484287"/>
            </a:xfrm>
          </p:grpSpPr>
          <p:sp>
            <p:nvSpPr>
              <p:cNvPr id="23" name="圆角矩形 22">
                <a:extLst>
                  <a:ext uri="{FF2B5EF4-FFF2-40B4-BE49-F238E27FC236}">
                    <a16:creationId xmlns:a16="http://schemas.microsoft.com/office/drawing/2014/main" id="{1EF2CA55-E89B-2776-4CBA-BE246B2185B4}"/>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a:extLst>
                  <a:ext uri="{FF2B5EF4-FFF2-40B4-BE49-F238E27FC236}">
                    <a16:creationId xmlns:a16="http://schemas.microsoft.com/office/drawing/2014/main" id="{0F2BE4F9-C696-0986-C69A-089A30CFF47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a:extLst>
                  <a:ext uri="{FF2B5EF4-FFF2-40B4-BE49-F238E27FC236}">
                    <a16:creationId xmlns:a16="http://schemas.microsoft.com/office/drawing/2014/main" id="{A6E338C2-D429-AC5F-BCE6-52F51B43B422}"/>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a:extLst>
                  <a:ext uri="{FF2B5EF4-FFF2-40B4-BE49-F238E27FC236}">
                    <a16:creationId xmlns:a16="http://schemas.microsoft.com/office/drawing/2014/main" id="{3296DB63-8FCB-C046-A757-1CB5D5586CE7}"/>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a:extLst>
                  <a:ext uri="{FF2B5EF4-FFF2-40B4-BE49-F238E27FC236}">
                    <a16:creationId xmlns:a16="http://schemas.microsoft.com/office/drawing/2014/main" id="{1BAD27DB-08E9-EBAA-3D2A-96B4CBBE2BF1}"/>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99">
              <a:extLst>
                <a:ext uri="{FF2B5EF4-FFF2-40B4-BE49-F238E27FC236}">
                  <a16:creationId xmlns:a16="http://schemas.microsoft.com/office/drawing/2014/main" id="{C6154F83-90D2-EB05-1224-D7DAD7D5529B}"/>
                </a:ext>
              </a:extLst>
            </p:cNvPr>
            <p:cNvGrpSpPr/>
            <p:nvPr/>
          </p:nvGrpSpPr>
          <p:grpSpPr>
            <a:xfrm>
              <a:off x="11454105" y="252857"/>
              <a:ext cx="491115" cy="484287"/>
              <a:chOff x="1528923" y="220268"/>
              <a:chExt cx="1284096" cy="1266241"/>
            </a:xfrm>
          </p:grpSpPr>
          <p:sp>
            <p:nvSpPr>
              <p:cNvPr id="21" name="圆角矩形 20">
                <a:extLst>
                  <a:ext uri="{FF2B5EF4-FFF2-40B4-BE49-F238E27FC236}">
                    <a16:creationId xmlns:a16="http://schemas.microsoft.com/office/drawing/2014/main" id="{A3FAB271-91AA-5E32-670C-1B6A709FF98E}"/>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Freeform 96">
                <a:extLst>
                  <a:ext uri="{FF2B5EF4-FFF2-40B4-BE49-F238E27FC236}">
                    <a16:creationId xmlns:a16="http://schemas.microsoft.com/office/drawing/2014/main" id="{CBB5DB9A-1B37-2B9E-212F-8D5B63E659ED}"/>
                  </a:ext>
                </a:extLst>
              </p:cNvPr>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81857108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7C07C2C-468C-6542-731E-B37602D3436E}"/>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en-US" altLang="zh-CN" sz="2800" b="1" dirty="0">
                <a:solidFill>
                  <a:schemeClr val="tx1"/>
                </a:solidFill>
                <a:latin typeface="SimSun" panose="02010600030101010101" pitchFamily="2" charset="-122"/>
                <a:ea typeface="SimSun" panose="02010600030101010101" pitchFamily="2" charset="-122"/>
              </a:rPr>
              <a:t>5.4</a:t>
            </a:r>
            <a:r>
              <a:rPr kumimoji="1" lang="zh-CN" altLang="en-US" sz="2800" b="1" dirty="0">
                <a:solidFill>
                  <a:schemeClr val="tx1"/>
                </a:solidFill>
                <a:latin typeface="SimSun" panose="02010600030101010101" pitchFamily="2" charset="-122"/>
                <a:ea typeface="SimSun" panose="02010600030101010101" pitchFamily="2" charset="-122"/>
              </a:rPr>
              <a:t> 数据处理要求：</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3" name="文本框 2">
            <a:extLst>
              <a:ext uri="{FF2B5EF4-FFF2-40B4-BE49-F238E27FC236}">
                <a16:creationId xmlns:a16="http://schemas.microsoft.com/office/drawing/2014/main" id="{5ABFB3F6-9AF6-54A1-9C96-DF2E7D12A7FC}"/>
              </a:ext>
            </a:extLst>
          </p:cNvPr>
          <p:cNvSpPr txBox="1"/>
          <p:nvPr/>
        </p:nvSpPr>
        <p:spPr>
          <a:xfrm>
            <a:off x="877990" y="1797784"/>
            <a:ext cx="10376163" cy="2677656"/>
          </a:xfrm>
          <a:prstGeom prst="rect">
            <a:avLst/>
          </a:prstGeom>
          <a:noFill/>
        </p:spPr>
        <p:txBody>
          <a:bodyPr wrap="square">
            <a:spAutoFit/>
          </a:bodyPr>
          <a:lstStyle/>
          <a:p>
            <a:pPr>
              <a:buFontTx/>
              <a:buAutoNum type="arabicPeriod"/>
            </a:pPr>
            <a:r>
              <a:rPr lang="zh-CN" altLang="en-US" sz="2400" b="0" dirty="0">
                <a:latin typeface="SimSun" panose="02010600030101010101" pitchFamily="2" charset="-122"/>
                <a:ea typeface="SimSun" panose="02010600030101010101" pitchFamily="2" charset="-122"/>
              </a:rPr>
              <a:t>利用表格记录数据，用绘图软件绘制</a:t>
            </a:r>
            <a:r>
              <a:rPr lang="zh-CN" altLang="en-US" sz="2400" b="1" dirty="0">
                <a:solidFill>
                  <a:srgbClr val="0000FF"/>
                </a:solidFill>
                <a:latin typeface="SimSun" panose="02010600030101010101" pitchFamily="2" charset="-122"/>
                <a:ea typeface="SimSun" panose="02010600030101010101" pitchFamily="2" charset="-122"/>
              </a:rPr>
              <a:t>升温和降温的</a:t>
            </a:r>
            <a:r>
              <a:rPr lang="en-US" altLang="zh-CN" sz="2400" b="1" dirty="0">
                <a:solidFill>
                  <a:srgbClr val="0000FF"/>
                </a:solidFill>
                <a:latin typeface="SimSun" panose="02010600030101010101" pitchFamily="2" charset="-122"/>
                <a:ea typeface="SimSun" panose="02010600030101010101" pitchFamily="2" charset="-122"/>
              </a:rPr>
              <a:t>U-T</a:t>
            </a:r>
            <a:r>
              <a:rPr lang="zh-CN" altLang="en-US" sz="2400" b="1" dirty="0">
                <a:solidFill>
                  <a:srgbClr val="0000FF"/>
                </a:solidFill>
                <a:latin typeface="SimSun" panose="02010600030101010101" pitchFamily="2" charset="-122"/>
                <a:ea typeface="SimSun" panose="02010600030101010101" pitchFamily="2" charset="-122"/>
              </a:rPr>
              <a:t>曲线图（在同一图表中）</a:t>
            </a:r>
            <a:r>
              <a:rPr lang="zh-CN" altLang="en-US" sz="2400" b="0" dirty="0">
                <a:latin typeface="SimSun" panose="02010600030101010101" pitchFamily="2" charset="-122"/>
                <a:ea typeface="SimSun" panose="02010600030101010101" pitchFamily="2" charset="-122"/>
              </a:rPr>
              <a:t>，</a:t>
            </a:r>
            <a:r>
              <a:rPr lang="zh-CN" altLang="en-US" sz="2400" dirty="0">
                <a:solidFill>
                  <a:srgbClr val="0000FF"/>
                </a:solidFill>
                <a:latin typeface="SimSun" panose="02010600030101010101" pitchFamily="2" charset="-122"/>
                <a:ea typeface="SimSun" panose="02010600030101010101" pitchFamily="2" charset="-122"/>
              </a:rPr>
              <a:t>分析比较</a:t>
            </a:r>
            <a:r>
              <a:rPr lang="zh-CN" altLang="en-US" sz="2400" b="0" dirty="0">
                <a:latin typeface="SimSun" panose="02010600030101010101" pitchFamily="2" charset="-122"/>
                <a:ea typeface="SimSun" panose="02010600030101010101" pitchFamily="2" charset="-122"/>
              </a:rPr>
              <a:t>升温和降温曲线的不同之处。注意作图规范。</a:t>
            </a:r>
            <a:endParaRPr lang="en-US" altLang="zh-CN" sz="2400" b="0" dirty="0">
              <a:latin typeface="SimSun" panose="02010600030101010101" pitchFamily="2" charset="-122"/>
              <a:ea typeface="SimSun" panose="02010600030101010101" pitchFamily="2" charset="-122"/>
            </a:endParaRPr>
          </a:p>
          <a:p>
            <a:pPr>
              <a:buFontTx/>
              <a:buAutoNum type="arabicPeriod"/>
            </a:pPr>
            <a:endParaRPr lang="en-US" altLang="zh-CN" sz="2400" b="0" dirty="0">
              <a:latin typeface="SimSun" panose="02010600030101010101" pitchFamily="2" charset="-122"/>
              <a:ea typeface="SimSun" panose="02010600030101010101" pitchFamily="2" charset="-122"/>
            </a:endParaRPr>
          </a:p>
          <a:p>
            <a:pPr>
              <a:buFontTx/>
              <a:buAutoNum type="arabicPeriod"/>
            </a:pPr>
            <a:r>
              <a:rPr lang="zh-CN" altLang="en-US" sz="2400" b="0" dirty="0">
                <a:latin typeface="SimSun" panose="02010600030101010101" pitchFamily="2" charset="-122"/>
                <a:ea typeface="SimSun" panose="02010600030101010101" pitchFamily="2" charset="-122"/>
              </a:rPr>
              <a:t>利用测量数据</a:t>
            </a:r>
            <a:r>
              <a:rPr lang="zh-CN" altLang="en-US" sz="2400" dirty="0">
                <a:solidFill>
                  <a:srgbClr val="0000FF"/>
                </a:solidFill>
                <a:latin typeface="SimSun" panose="02010600030101010101" pitchFamily="2" charset="-122"/>
                <a:ea typeface="SimSun" panose="02010600030101010101" pitchFamily="2" charset="-122"/>
              </a:rPr>
              <a:t>求得</a:t>
            </a:r>
            <a:r>
              <a:rPr lang="zh-CN" altLang="en-US" sz="2400" b="1" dirty="0">
                <a:solidFill>
                  <a:srgbClr val="0000FF"/>
                </a:solidFill>
                <a:latin typeface="SimSun" panose="02010600030101010101" pitchFamily="2" charset="-122"/>
                <a:ea typeface="SimSun" panose="02010600030101010101" pitchFamily="2" charset="-122"/>
              </a:rPr>
              <a:t>居里温度</a:t>
            </a:r>
            <a:r>
              <a:rPr lang="zh-CN" altLang="en-US" sz="2400" b="1" dirty="0">
                <a:latin typeface="SimSun" panose="02010600030101010101" pitchFamily="2" charset="-122"/>
                <a:ea typeface="SimSun" panose="02010600030101010101" pitchFamily="2" charset="-122"/>
              </a:rPr>
              <a:t>（如拐点法）</a:t>
            </a:r>
            <a:r>
              <a:rPr lang="zh-CN" altLang="en-US" sz="2400" b="0" dirty="0">
                <a:latin typeface="SimSun" panose="02010600030101010101" pitchFamily="2" charset="-122"/>
                <a:ea typeface="SimSun" panose="02010600030101010101" pitchFamily="2" charset="-122"/>
              </a:rPr>
              <a:t>。</a:t>
            </a:r>
            <a:endParaRPr lang="en-US" altLang="zh-CN" sz="2400" b="0" dirty="0">
              <a:latin typeface="SimSun" panose="02010600030101010101" pitchFamily="2" charset="-122"/>
              <a:ea typeface="SimSun" panose="02010600030101010101" pitchFamily="2" charset="-122"/>
            </a:endParaRPr>
          </a:p>
          <a:p>
            <a:pPr>
              <a:buFontTx/>
              <a:buAutoNum type="arabicPeriod"/>
            </a:pPr>
            <a:endParaRPr lang="en-US" altLang="zh-CN" sz="2400" dirty="0">
              <a:latin typeface="SimSun" panose="02010600030101010101" pitchFamily="2" charset="-122"/>
              <a:ea typeface="SimSun" panose="02010600030101010101" pitchFamily="2" charset="-122"/>
            </a:endParaRPr>
          </a:p>
          <a:p>
            <a:pPr>
              <a:buFontTx/>
              <a:buAutoNum type="arabicPeriod"/>
            </a:pPr>
            <a:r>
              <a:rPr lang="zh-CN" altLang="en-US" sz="2400" b="0" dirty="0">
                <a:latin typeface="SimSun" panose="02010600030101010101" pitchFamily="2" charset="-122"/>
                <a:ea typeface="SimSun" panose="02010600030101010101" pitchFamily="2" charset="-122"/>
              </a:rPr>
              <a:t>按照绪论课上讲的误差种类分析本实验的误差。</a:t>
            </a:r>
            <a:endParaRPr lang="en-US" altLang="zh-CN" sz="2400" b="0" dirty="0">
              <a:latin typeface="SimSun" panose="02010600030101010101" pitchFamily="2" charset="-122"/>
              <a:ea typeface="SimSun" panose="02010600030101010101" pitchFamily="2" charset="-122"/>
            </a:endParaRPr>
          </a:p>
          <a:p>
            <a:pPr>
              <a:buFontTx/>
              <a:buAutoNum type="arabicPeriod"/>
            </a:pPr>
            <a:endParaRPr lang="en-US" altLang="zh-CN" sz="2400" b="0" dirty="0">
              <a:latin typeface="SimSun" panose="02010600030101010101" pitchFamily="2" charset="-122"/>
              <a:ea typeface="SimSun" panose="02010600030101010101" pitchFamily="2" charset="-122"/>
            </a:endParaRPr>
          </a:p>
        </p:txBody>
      </p:sp>
      <p:sp>
        <p:nvSpPr>
          <p:cNvPr id="5" name="矩形 4">
            <a:extLst>
              <a:ext uri="{FF2B5EF4-FFF2-40B4-BE49-F238E27FC236}">
                <a16:creationId xmlns:a16="http://schemas.microsoft.com/office/drawing/2014/main" id="{EA73D3B8-BEAB-D6AF-AA1F-8AE5EB42A4BE}"/>
              </a:ext>
            </a:extLst>
          </p:cNvPr>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5">
            <a:extLst>
              <a:ext uri="{FF2B5EF4-FFF2-40B4-BE49-F238E27FC236}">
                <a16:creationId xmlns:a16="http://schemas.microsoft.com/office/drawing/2014/main" id="{98F3744F-AB2F-824D-B767-50FC3A4A8203}"/>
              </a:ext>
            </a:extLst>
          </p:cNvPr>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7" name="文本框 6">
            <a:extLst>
              <a:ext uri="{FF2B5EF4-FFF2-40B4-BE49-F238E27FC236}">
                <a16:creationId xmlns:a16="http://schemas.microsoft.com/office/drawing/2014/main" id="{CE01074B-AD13-3D14-51A5-900EE8B6EC29}"/>
              </a:ext>
            </a:extLst>
          </p:cNvPr>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8" name="矩形 7">
            <a:extLst>
              <a:ext uri="{FF2B5EF4-FFF2-40B4-BE49-F238E27FC236}">
                <a16:creationId xmlns:a16="http://schemas.microsoft.com/office/drawing/2014/main" id="{3D7226E7-C5E2-4DCF-8810-952937BE2E70}"/>
              </a:ext>
            </a:extLst>
          </p:cNvPr>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9" name="组 398">
            <a:extLst>
              <a:ext uri="{FF2B5EF4-FFF2-40B4-BE49-F238E27FC236}">
                <a16:creationId xmlns:a16="http://schemas.microsoft.com/office/drawing/2014/main" id="{CE405E16-57B2-2400-E15B-6B5364F6280B}"/>
              </a:ext>
            </a:extLst>
          </p:cNvPr>
          <p:cNvGrpSpPr/>
          <p:nvPr/>
        </p:nvGrpSpPr>
        <p:grpSpPr>
          <a:xfrm>
            <a:off x="11454106" y="252857"/>
            <a:ext cx="737892" cy="484288"/>
            <a:chOff x="11454105" y="252856"/>
            <a:chExt cx="737892" cy="484288"/>
          </a:xfrm>
        </p:grpSpPr>
        <p:grpSp>
          <p:nvGrpSpPr>
            <p:cNvPr id="10" name="组 400">
              <a:extLst>
                <a:ext uri="{FF2B5EF4-FFF2-40B4-BE49-F238E27FC236}">
                  <a16:creationId xmlns:a16="http://schemas.microsoft.com/office/drawing/2014/main" id="{69F56CDE-F91E-42B5-6C3F-654222408E27}"/>
                </a:ext>
              </a:extLst>
            </p:cNvPr>
            <p:cNvGrpSpPr/>
            <p:nvPr/>
          </p:nvGrpSpPr>
          <p:grpSpPr>
            <a:xfrm>
              <a:off x="12039604" y="252856"/>
              <a:ext cx="152393" cy="484287"/>
              <a:chOff x="12039604" y="252856"/>
              <a:chExt cx="152393" cy="484287"/>
            </a:xfrm>
          </p:grpSpPr>
          <p:sp>
            <p:nvSpPr>
              <p:cNvPr id="14" name="圆角矩形 13">
                <a:extLst>
                  <a:ext uri="{FF2B5EF4-FFF2-40B4-BE49-F238E27FC236}">
                    <a16:creationId xmlns:a16="http://schemas.microsoft.com/office/drawing/2014/main" id="{BAE39BF2-49D2-65E2-7D71-7F036FEAD8DF}"/>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a:extLst>
                  <a:ext uri="{FF2B5EF4-FFF2-40B4-BE49-F238E27FC236}">
                    <a16:creationId xmlns:a16="http://schemas.microsoft.com/office/drawing/2014/main" id="{379DEB63-B6EB-49E6-492B-6CAF4FF64F8E}"/>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a:extLst>
                  <a:ext uri="{FF2B5EF4-FFF2-40B4-BE49-F238E27FC236}">
                    <a16:creationId xmlns:a16="http://schemas.microsoft.com/office/drawing/2014/main" id="{2B0E0471-9CDB-995C-9075-AC8F2CB115FC}"/>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a:extLst>
                  <a:ext uri="{FF2B5EF4-FFF2-40B4-BE49-F238E27FC236}">
                    <a16:creationId xmlns:a16="http://schemas.microsoft.com/office/drawing/2014/main" id="{FC488F87-B244-7DC1-D9A0-5868416B1C08}"/>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a:extLst>
                  <a:ext uri="{FF2B5EF4-FFF2-40B4-BE49-F238E27FC236}">
                    <a16:creationId xmlns:a16="http://schemas.microsoft.com/office/drawing/2014/main" id="{B3F3DE49-EBEB-B249-CB83-85ECB91453DE}"/>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99">
              <a:extLst>
                <a:ext uri="{FF2B5EF4-FFF2-40B4-BE49-F238E27FC236}">
                  <a16:creationId xmlns:a16="http://schemas.microsoft.com/office/drawing/2014/main" id="{841F80DB-CE3F-7251-A478-ABE71F098ED8}"/>
                </a:ext>
              </a:extLst>
            </p:cNvPr>
            <p:cNvGrpSpPr/>
            <p:nvPr/>
          </p:nvGrpSpPr>
          <p:grpSpPr>
            <a:xfrm>
              <a:off x="11454105" y="252857"/>
              <a:ext cx="491115" cy="484287"/>
              <a:chOff x="1528923" y="220268"/>
              <a:chExt cx="1284096" cy="1266241"/>
            </a:xfrm>
          </p:grpSpPr>
          <p:sp>
            <p:nvSpPr>
              <p:cNvPr id="12" name="圆角矩形 11">
                <a:extLst>
                  <a:ext uri="{FF2B5EF4-FFF2-40B4-BE49-F238E27FC236}">
                    <a16:creationId xmlns:a16="http://schemas.microsoft.com/office/drawing/2014/main" id="{BA2F06A7-F742-1F9A-6CE0-B80C254EF2ED}"/>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96">
                <a:extLst>
                  <a:ext uri="{FF2B5EF4-FFF2-40B4-BE49-F238E27FC236}">
                    <a16:creationId xmlns:a16="http://schemas.microsoft.com/office/drawing/2014/main" id="{6D92B409-4E8E-4FE6-143A-E59F74BD5EAF}"/>
                  </a:ext>
                </a:extLst>
              </p:cNvPr>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320113059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6</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实验拓展</a:t>
              </a:r>
            </a:p>
          </p:txBody>
        </p:sp>
        <p:sp>
          <p:nvSpPr>
            <p:cNvPr id="53" name="矩形 52"/>
            <p:cNvSpPr/>
            <p:nvPr/>
          </p:nvSpPr>
          <p:spPr>
            <a:xfrm>
              <a:off x="4824671" y="3323907"/>
              <a:ext cx="4281104"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EXPERIMENTAL</a:t>
              </a:r>
              <a:r>
                <a:rPr lang="zh-CN" altLang="en-US" sz="2400" dirty="0">
                  <a:solidFill>
                    <a:schemeClr val="bg1"/>
                  </a:solidFill>
                  <a:latin typeface="微软雅黑" panose="020B0503020204020204" pitchFamily="34" charset="-122"/>
                  <a:ea typeface="微软雅黑" panose="020B0503020204020204" pitchFamily="34" charset="-122"/>
                </a:rPr>
                <a:t> </a:t>
              </a:r>
              <a:r>
                <a:rPr lang="en-US" altLang="zh-CN" sz="2400" dirty="0">
                  <a:solidFill>
                    <a:schemeClr val="bg1"/>
                  </a:solidFill>
                  <a:latin typeface="微软雅黑" panose="020B0503020204020204" pitchFamily="34" charset="-122"/>
                  <a:ea typeface="微软雅黑" panose="020B0503020204020204" pitchFamily="34" charset="-122"/>
                </a:rPr>
                <a:t>EXTENSION</a:t>
              </a:r>
            </a:p>
          </p:txBody>
        </p:sp>
      </p:grpSp>
    </p:spTree>
    <p:extLst>
      <p:ext uri="{BB962C8B-B14F-4D97-AF65-F5344CB8AC3E}">
        <p14:creationId xmlns:p14="http://schemas.microsoft.com/office/powerpoint/2010/main" val="937867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sp>
        <p:nvSpPr>
          <p:cNvPr id="397" name="矩形 396"/>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 name="内容占位符 2">
            <a:extLst>
              <a:ext uri="{FF2B5EF4-FFF2-40B4-BE49-F238E27FC236}">
                <a16:creationId xmlns:a16="http://schemas.microsoft.com/office/drawing/2014/main" id="{211AF24E-3455-75AA-9674-F96745FC08E2}"/>
              </a:ext>
            </a:extLst>
          </p:cNvPr>
          <p:cNvSpPr>
            <a:spLocks noGrp="1"/>
          </p:cNvSpPr>
          <p:nvPr>
            <p:ph idx="1"/>
          </p:nvPr>
        </p:nvSpPr>
        <p:spPr/>
        <p:txBody>
          <a:bodyPr/>
          <a:lstStyle/>
          <a:p>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 升温和降温曲线是否有区别？如有区别，原因是什么？</a:t>
            </a:r>
            <a:endParaRPr lang="en-US" altLang="zh-CN" dirty="0">
              <a:latin typeface="SimSun" panose="02010600030101010101" pitchFamily="2" charset="-122"/>
              <a:ea typeface="SimSun" panose="02010600030101010101" pitchFamily="2" charset="-122"/>
            </a:endParaRPr>
          </a:p>
          <a:p>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2.</a:t>
            </a:r>
            <a:r>
              <a:rPr lang="zh-CN" altLang="en-US" dirty="0">
                <a:latin typeface="SimSun" panose="02010600030101010101" pitchFamily="2" charset="-122"/>
                <a:ea typeface="SimSun" panose="02010600030101010101" pitchFamily="2" charset="-122"/>
              </a:rPr>
              <a:t> </a:t>
            </a:r>
            <a:r>
              <a:rPr lang="zh-CN" altLang="en-US" sz="2800" b="0" dirty="0">
                <a:latin typeface="SimSun" panose="02010600030101010101" pitchFamily="2" charset="-122"/>
                <a:ea typeface="SimSun" panose="02010600030101010101" pitchFamily="2" charset="-122"/>
              </a:rPr>
              <a:t>测出的</a:t>
            </a:r>
            <a:r>
              <a:rPr lang="en-US" altLang="zh-CN" sz="2800" b="0" dirty="0">
                <a:latin typeface="SimSun" panose="02010600030101010101" pitchFamily="2" charset="-122"/>
                <a:ea typeface="SimSun" panose="02010600030101010101" pitchFamily="2" charset="-122"/>
              </a:rPr>
              <a:t>U</a:t>
            </a:r>
            <a:r>
              <a:rPr lang="zh-CN" altLang="en-US" sz="2800" b="0" dirty="0">
                <a:latin typeface="SimSun" panose="02010600030101010101" pitchFamily="2" charset="-122"/>
                <a:ea typeface="SimSun" panose="02010600030101010101" pitchFamily="2" charset="-122"/>
              </a:rPr>
              <a:t>～</a:t>
            </a:r>
            <a:r>
              <a:rPr lang="en-US" altLang="zh-CN" sz="2800" b="0" dirty="0">
                <a:latin typeface="SimSun" panose="02010600030101010101" pitchFamily="2" charset="-122"/>
                <a:ea typeface="SimSun" panose="02010600030101010101" pitchFamily="2" charset="-122"/>
              </a:rPr>
              <a:t>T</a:t>
            </a:r>
            <a:r>
              <a:rPr lang="zh-CN" altLang="en-US" sz="2800" b="0" dirty="0">
                <a:latin typeface="SimSun" panose="02010600030101010101" pitchFamily="2" charset="-122"/>
                <a:ea typeface="SimSun" panose="02010600030101010101" pitchFamily="2" charset="-122"/>
              </a:rPr>
              <a:t>曲线，为什么与横坐标没有交点？</a:t>
            </a:r>
            <a:endParaRPr lang="en-US" altLang="zh-CN" sz="2800" b="0" dirty="0">
              <a:latin typeface="SimSun" panose="02010600030101010101" pitchFamily="2" charset="-122"/>
              <a:ea typeface="SimSun" panose="02010600030101010101" pitchFamily="2" charset="-122"/>
            </a:endParaRPr>
          </a:p>
          <a:p>
            <a:endParaRPr lang="en-US" altLang="zh-CN" dirty="0">
              <a:latin typeface="SimSun" panose="02010600030101010101" pitchFamily="2" charset="-122"/>
              <a:ea typeface="SimSun" panose="02010600030101010101" pitchFamily="2" charset="-122"/>
            </a:endParaRPr>
          </a:p>
          <a:p>
            <a:r>
              <a:rPr lang="en-US" altLang="zh-CN" sz="2800" b="0" dirty="0">
                <a:latin typeface="SimSun" panose="02010600030101010101" pitchFamily="2" charset="-122"/>
                <a:ea typeface="SimSun" panose="02010600030101010101" pitchFamily="2" charset="-122"/>
              </a:rPr>
              <a:t>3.</a:t>
            </a:r>
            <a:r>
              <a:rPr lang="zh-CN" altLang="en-US" sz="2800" b="0" dirty="0">
                <a:latin typeface="SimSun" panose="02010600030101010101" pitchFamily="2" charset="-122"/>
                <a:ea typeface="SimSun" panose="02010600030101010101" pitchFamily="2" charset="-122"/>
              </a:rPr>
              <a:t> 除了交流电桥法，还有哪些测量居里温度的方法？</a:t>
            </a:r>
            <a:endParaRPr lang="en-US" altLang="zh-CN" sz="2800" b="0" dirty="0">
              <a:latin typeface="SimSun" panose="02010600030101010101" pitchFamily="2" charset="-122"/>
              <a:ea typeface="SimSun" panose="02010600030101010101" pitchFamily="2" charset="-122"/>
            </a:endParaRPr>
          </a:p>
          <a:p>
            <a:endParaRPr lang="en-US" altLang="zh-CN" sz="2800" b="0" dirty="0">
              <a:latin typeface="SimSun" panose="02010600030101010101" pitchFamily="2" charset="-122"/>
              <a:ea typeface="SimSun" panose="02010600030101010101" pitchFamily="2" charset="-122"/>
            </a:endParaRPr>
          </a:p>
          <a:p>
            <a:endParaRPr lang="zh-CN" altLang="en-US" dirty="0">
              <a:latin typeface="SimSun" panose="02010600030101010101" pitchFamily="2" charset="-122"/>
              <a:ea typeface="SimSun" panose="02010600030101010101" pitchFamily="2" charset="-122"/>
            </a:endParaRPr>
          </a:p>
        </p:txBody>
      </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思考题：</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2" name="圆角矩形 1">
            <a:extLst>
              <a:ext uri="{FF2B5EF4-FFF2-40B4-BE49-F238E27FC236}">
                <a16:creationId xmlns:a16="http://schemas.microsoft.com/office/drawing/2014/main" id="{FD5C1C54-8681-74B2-BC8C-D2AD0406CA33}"/>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Tree>
    <p:extLst>
      <p:ext uri="{BB962C8B-B14F-4D97-AF65-F5344CB8AC3E}">
        <p14:creationId xmlns:p14="http://schemas.microsoft.com/office/powerpoint/2010/main" val="335961363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3" name="内容占位符 2">
            <a:extLst>
              <a:ext uri="{FF2B5EF4-FFF2-40B4-BE49-F238E27FC236}">
                <a16:creationId xmlns:a16="http://schemas.microsoft.com/office/drawing/2014/main" id="{211AF24E-3455-75AA-9674-F96745FC08E2}"/>
              </a:ext>
            </a:extLst>
          </p:cNvPr>
          <p:cNvSpPr>
            <a:spLocks noGrp="1"/>
          </p:cNvSpPr>
          <p:nvPr>
            <p:ph idx="1"/>
          </p:nvPr>
        </p:nvSpPr>
        <p:spPr/>
        <p:txBody>
          <a:bodyPr/>
          <a:lstStyle/>
          <a:p>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 升温和降温曲线是否有区别？如有区别，原因是什么？</a:t>
            </a:r>
            <a:endParaRPr lang="en-US" altLang="zh-CN" dirty="0">
              <a:latin typeface="SimSun" panose="02010600030101010101" pitchFamily="2" charset="-122"/>
              <a:ea typeface="SimSun" panose="02010600030101010101" pitchFamily="2" charset="-122"/>
            </a:endParaRPr>
          </a:p>
          <a:p>
            <a:endParaRPr lang="en-US" altLang="zh-CN" dirty="0">
              <a:latin typeface="SimSun" panose="02010600030101010101" pitchFamily="2" charset="-122"/>
              <a:ea typeface="SimSun" panose="02010600030101010101" pitchFamily="2" charset="-122"/>
            </a:endParaRPr>
          </a:p>
          <a:p>
            <a:endParaRPr lang="en-US" altLang="zh-CN" sz="2800" b="0" dirty="0">
              <a:latin typeface="SimSun" panose="02010600030101010101" pitchFamily="2" charset="-122"/>
              <a:ea typeface="SimSun" panose="02010600030101010101" pitchFamily="2" charset="-122"/>
            </a:endParaRPr>
          </a:p>
          <a:p>
            <a:endParaRPr lang="zh-CN" altLang="en-US" dirty="0">
              <a:latin typeface="SimSun" panose="02010600030101010101" pitchFamily="2" charset="-122"/>
              <a:ea typeface="SimSun" panose="02010600030101010101" pitchFamily="2" charset="-122"/>
            </a:endParaRPr>
          </a:p>
        </p:txBody>
      </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思考题：</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pic>
        <p:nvPicPr>
          <p:cNvPr id="5" name="图片 4">
            <a:extLst>
              <a:ext uri="{FF2B5EF4-FFF2-40B4-BE49-F238E27FC236}">
                <a16:creationId xmlns:a16="http://schemas.microsoft.com/office/drawing/2014/main" id="{E8F73CF5-5B3E-22A4-1C56-C6760A02D0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1027" y="2422024"/>
            <a:ext cx="4728272" cy="3600000"/>
          </a:xfrm>
          <a:prstGeom prst="rect">
            <a:avLst/>
          </a:prstGeom>
        </p:spPr>
      </p:pic>
      <p:pic>
        <p:nvPicPr>
          <p:cNvPr id="7" name="图片 6">
            <a:extLst>
              <a:ext uri="{FF2B5EF4-FFF2-40B4-BE49-F238E27FC236}">
                <a16:creationId xmlns:a16="http://schemas.microsoft.com/office/drawing/2014/main" id="{78AB01BD-D97A-FE63-0DE1-A70455E71C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211" y="2440535"/>
            <a:ext cx="4726806" cy="3600000"/>
          </a:xfrm>
          <a:prstGeom prst="rect">
            <a:avLst/>
          </a:prstGeom>
        </p:spPr>
      </p:pic>
      <p:sp>
        <p:nvSpPr>
          <p:cNvPr id="8" name="文本框 7">
            <a:extLst>
              <a:ext uri="{FF2B5EF4-FFF2-40B4-BE49-F238E27FC236}">
                <a16:creationId xmlns:a16="http://schemas.microsoft.com/office/drawing/2014/main" id="{BA368BBC-9D83-07E9-3765-50E3F18341F2}"/>
              </a:ext>
            </a:extLst>
          </p:cNvPr>
          <p:cNvSpPr txBox="1"/>
          <p:nvPr/>
        </p:nvSpPr>
        <p:spPr>
          <a:xfrm>
            <a:off x="1034321" y="6176964"/>
            <a:ext cx="10118361" cy="461665"/>
          </a:xfrm>
          <a:prstGeom prst="rect">
            <a:avLst/>
          </a:prstGeom>
          <a:noFill/>
        </p:spPr>
        <p:txBody>
          <a:bodyPr wrap="square" rtlCol="0">
            <a:spAutoFit/>
          </a:bodyPr>
          <a:lstStyle/>
          <a:p>
            <a:pPr marL="342900" indent="-342900">
              <a:buFont typeface="Wingdings" pitchFamily="2" charset="2"/>
              <a:buChar char="ü"/>
            </a:pPr>
            <a:r>
              <a:rPr kumimoji="1" lang="zh-CN" altLang="en-US" sz="2400" dirty="0">
                <a:latin typeface="SimSun" panose="02010600030101010101" pitchFamily="2" charset="-122"/>
                <a:ea typeface="SimSun" panose="02010600030101010101" pitchFamily="2" charset="-122"/>
              </a:rPr>
              <a:t>对本实验装置，利用降温曲线测居里温度更加准确。</a:t>
            </a:r>
          </a:p>
        </p:txBody>
      </p:sp>
      <p:sp>
        <p:nvSpPr>
          <p:cNvPr id="2" name="圆角矩形 1">
            <a:extLst>
              <a:ext uri="{FF2B5EF4-FFF2-40B4-BE49-F238E27FC236}">
                <a16:creationId xmlns:a16="http://schemas.microsoft.com/office/drawing/2014/main" id="{9B0F1DAA-0F3B-4DE6-9C3C-B8572559CFC6}"/>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6" name="矩形 5">
            <a:extLst>
              <a:ext uri="{FF2B5EF4-FFF2-40B4-BE49-F238E27FC236}">
                <a16:creationId xmlns:a16="http://schemas.microsoft.com/office/drawing/2014/main" id="{3F7872F2-282B-60FD-6BC6-77C5FACF05E8}"/>
              </a:ext>
            </a:extLst>
          </p:cNvPr>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spTree>
    <p:extLst>
      <p:ext uri="{BB962C8B-B14F-4D97-AF65-F5344CB8AC3E}">
        <p14:creationId xmlns:p14="http://schemas.microsoft.com/office/powerpoint/2010/main" val="16547290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拓展实验</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5" name="内容占位符 4">
            <a:extLst>
              <a:ext uri="{FF2B5EF4-FFF2-40B4-BE49-F238E27FC236}">
                <a16:creationId xmlns:a16="http://schemas.microsoft.com/office/drawing/2014/main" id="{71D9A438-2998-F58D-473E-22C37A5A3B3F}"/>
              </a:ext>
            </a:extLst>
          </p:cNvPr>
          <p:cNvSpPr>
            <a:spLocks noGrp="1"/>
          </p:cNvSpPr>
          <p:nvPr>
            <p:ph idx="1"/>
          </p:nvPr>
        </p:nvSpPr>
        <p:spPr/>
        <p:txBody>
          <a:bodyPr/>
          <a:lstStyle/>
          <a:p>
            <a:pPr>
              <a:buFont typeface="Wingdings" pitchFamily="2" charset="2"/>
              <a:buChar char="Ø"/>
            </a:pP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 交流电频率对实验的影响</a:t>
            </a:r>
            <a:endParaRPr lang="en-US" altLang="zh-CN" dirty="0">
              <a:latin typeface="SimSun" panose="02010600030101010101" pitchFamily="2" charset="-122"/>
              <a:ea typeface="SimSun" panose="02010600030101010101" pitchFamily="2" charset="-122"/>
            </a:endParaRPr>
          </a:p>
          <a:p>
            <a:pPr>
              <a:buFont typeface="Wingdings" pitchFamily="2" charset="2"/>
              <a:buChar char="Ø"/>
            </a:pPr>
            <a:endParaRPr lang="en-US" altLang="zh-CN" dirty="0">
              <a:latin typeface="SimSun" panose="02010600030101010101" pitchFamily="2" charset="-122"/>
              <a:ea typeface="SimSun" panose="02010600030101010101" pitchFamily="2" charset="-122"/>
            </a:endParaRPr>
          </a:p>
          <a:p>
            <a:pPr>
              <a:buFont typeface="Wingdings" pitchFamily="2" charset="2"/>
              <a:buChar char="Ø"/>
            </a:pPr>
            <a:r>
              <a:rPr lang="en-US" altLang="zh-CN" dirty="0">
                <a:latin typeface="SimSun" panose="02010600030101010101" pitchFamily="2" charset="-122"/>
                <a:ea typeface="SimSun" panose="02010600030101010101" pitchFamily="2" charset="-122"/>
              </a:rPr>
              <a:t>2.</a:t>
            </a:r>
            <a:r>
              <a:rPr lang="zh-CN" altLang="en-US" dirty="0">
                <a:latin typeface="SimSun" panose="02010600030101010101" pitchFamily="2" charset="-122"/>
                <a:ea typeface="SimSun" panose="02010600030101010101" pitchFamily="2" charset="-122"/>
              </a:rPr>
              <a:t> 加热速率对实验的影响</a:t>
            </a:r>
            <a:endParaRPr lang="en-US" altLang="zh-CN" dirty="0">
              <a:latin typeface="SimSun" panose="02010600030101010101" pitchFamily="2" charset="-122"/>
              <a:ea typeface="SimSun" panose="02010600030101010101" pitchFamily="2" charset="-122"/>
            </a:endParaRPr>
          </a:p>
          <a:p>
            <a:pPr>
              <a:buFont typeface="Wingdings" pitchFamily="2" charset="2"/>
              <a:buChar char="Ø"/>
            </a:pPr>
            <a:endParaRPr lang="en-US" altLang="zh-CN" dirty="0">
              <a:latin typeface="SimSun" panose="02010600030101010101" pitchFamily="2" charset="-122"/>
              <a:ea typeface="SimSun" panose="02010600030101010101" pitchFamily="2" charset="-122"/>
            </a:endParaRPr>
          </a:p>
          <a:p>
            <a:pPr>
              <a:buFont typeface="Wingdings" pitchFamily="2" charset="2"/>
              <a:buChar char="Ø"/>
            </a:pPr>
            <a:r>
              <a:rPr lang="en-US" altLang="zh-CN" dirty="0">
                <a:latin typeface="SimSun" panose="02010600030101010101" pitchFamily="2" charset="-122"/>
                <a:ea typeface="SimSun" panose="02010600030101010101" pitchFamily="2" charset="-122"/>
              </a:rPr>
              <a:t>3.</a:t>
            </a:r>
            <a:r>
              <a:rPr lang="zh-CN" altLang="en-US" dirty="0">
                <a:latin typeface="SimSun" panose="02010600030101010101" pitchFamily="2" charset="-122"/>
                <a:ea typeface="SimSun" panose="02010600030101010101" pitchFamily="2" charset="-122"/>
              </a:rPr>
              <a:t> 电桥调平对实验的影响</a:t>
            </a:r>
          </a:p>
        </p:txBody>
      </p:sp>
      <p:sp>
        <p:nvSpPr>
          <p:cNvPr id="2" name="圆角矩形 1">
            <a:extLst>
              <a:ext uri="{FF2B5EF4-FFF2-40B4-BE49-F238E27FC236}">
                <a16:creationId xmlns:a16="http://schemas.microsoft.com/office/drawing/2014/main" id="{469BCF16-9052-87DA-26CC-1985C47C43F8}"/>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 name="矩形 2">
            <a:extLst>
              <a:ext uri="{FF2B5EF4-FFF2-40B4-BE49-F238E27FC236}">
                <a16:creationId xmlns:a16="http://schemas.microsoft.com/office/drawing/2014/main" id="{596B1BE8-A154-E9C7-DF7D-463BC23D7195}"/>
              </a:ext>
            </a:extLst>
          </p:cNvPr>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spTree>
    <p:extLst>
      <p:ext uri="{BB962C8B-B14F-4D97-AF65-F5344CB8AC3E}">
        <p14:creationId xmlns:p14="http://schemas.microsoft.com/office/powerpoint/2010/main" val="43490415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拓展实验</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5" name="内容占位符 4">
            <a:extLst>
              <a:ext uri="{FF2B5EF4-FFF2-40B4-BE49-F238E27FC236}">
                <a16:creationId xmlns:a16="http://schemas.microsoft.com/office/drawing/2014/main" id="{71D9A438-2998-F58D-473E-22C37A5A3B3F}"/>
              </a:ext>
            </a:extLst>
          </p:cNvPr>
          <p:cNvSpPr>
            <a:spLocks noGrp="1"/>
          </p:cNvSpPr>
          <p:nvPr>
            <p:ph idx="1"/>
          </p:nvPr>
        </p:nvSpPr>
        <p:spPr/>
        <p:txBody>
          <a:bodyPr/>
          <a:lstStyle/>
          <a:p>
            <a:pPr>
              <a:buFont typeface="Wingdings" pitchFamily="2" charset="2"/>
              <a:buChar char="Ø"/>
            </a:pP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 交流电频率对实验的影响</a:t>
            </a:r>
            <a:endParaRPr lang="en-US" altLang="zh-CN" dirty="0">
              <a:latin typeface="SimSun" panose="02010600030101010101" pitchFamily="2" charset="-122"/>
              <a:ea typeface="SimSun" panose="02010600030101010101" pitchFamily="2" charset="-122"/>
            </a:endParaRPr>
          </a:p>
          <a:p>
            <a:pPr>
              <a:buFont typeface="Wingdings" pitchFamily="2" charset="2"/>
              <a:buChar char="Ø"/>
            </a:pPr>
            <a:endParaRPr lang="en-US" altLang="zh-CN" dirty="0">
              <a:latin typeface="SimSun" panose="02010600030101010101" pitchFamily="2" charset="-122"/>
              <a:ea typeface="SimSun" panose="02010600030101010101" pitchFamily="2" charset="-122"/>
            </a:endParaRPr>
          </a:p>
        </p:txBody>
      </p:sp>
      <p:pic>
        <p:nvPicPr>
          <p:cNvPr id="7" name="图片 6">
            <a:extLst>
              <a:ext uri="{FF2B5EF4-FFF2-40B4-BE49-F238E27FC236}">
                <a16:creationId xmlns:a16="http://schemas.microsoft.com/office/drawing/2014/main" id="{A69F0D25-BCD8-ADE6-5713-1DA790D3B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8536" y="2500876"/>
            <a:ext cx="4728272" cy="3600000"/>
          </a:xfrm>
          <a:prstGeom prst="rect">
            <a:avLst/>
          </a:prstGeom>
        </p:spPr>
      </p:pic>
      <p:pic>
        <p:nvPicPr>
          <p:cNvPr id="9" name="图片 8">
            <a:extLst>
              <a:ext uri="{FF2B5EF4-FFF2-40B4-BE49-F238E27FC236}">
                <a16:creationId xmlns:a16="http://schemas.microsoft.com/office/drawing/2014/main" id="{F33A19E0-1E68-D7CF-A0FF-A7F5DB0B34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9965" y="2527771"/>
            <a:ext cx="4726806" cy="3600000"/>
          </a:xfrm>
          <a:prstGeom prst="rect">
            <a:avLst/>
          </a:prstGeom>
        </p:spPr>
      </p:pic>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1FDAD629-BB81-AA3C-CB6F-048189D137CF}"/>
                  </a:ext>
                </a:extLst>
              </p:cNvPr>
              <p:cNvGraphicFramePr>
                <a:graphicFrameLocks noGrp="1"/>
              </p:cNvGraphicFramePr>
              <p:nvPr>
                <p:extLst>
                  <p:ext uri="{D42A27DB-BD31-4B8C-83A1-F6EECF244321}">
                    <p14:modId xmlns:p14="http://schemas.microsoft.com/office/powerpoint/2010/main" val="4144508840"/>
                  </p:ext>
                </p:extLst>
              </p:nvPr>
            </p:nvGraphicFramePr>
            <p:xfrm>
              <a:off x="6948039" y="775700"/>
              <a:ext cx="3764784" cy="1635566"/>
            </p:xfrm>
            <a:graphic>
              <a:graphicData uri="http://schemas.openxmlformats.org/drawingml/2006/table">
                <a:tbl>
                  <a:tblPr firstRow="1" bandRow="1">
                    <a:tableStyleId>{5C22544A-7EE6-4342-B048-85BDC9FD1C3A}</a:tableStyleId>
                  </a:tblPr>
                  <a:tblGrid>
                    <a:gridCol w="1746018">
                      <a:extLst>
                        <a:ext uri="{9D8B030D-6E8A-4147-A177-3AD203B41FA5}">
                          <a16:colId xmlns:a16="http://schemas.microsoft.com/office/drawing/2014/main" val="3438015533"/>
                        </a:ext>
                      </a:extLst>
                    </a:gridCol>
                    <a:gridCol w="1030514">
                      <a:extLst>
                        <a:ext uri="{9D8B030D-6E8A-4147-A177-3AD203B41FA5}">
                          <a16:colId xmlns:a16="http://schemas.microsoft.com/office/drawing/2014/main" val="1195207352"/>
                        </a:ext>
                      </a:extLst>
                    </a:gridCol>
                    <a:gridCol w="988252">
                      <a:extLst>
                        <a:ext uri="{9D8B030D-6E8A-4147-A177-3AD203B41FA5}">
                          <a16:colId xmlns:a16="http://schemas.microsoft.com/office/drawing/2014/main" val="760418847"/>
                        </a:ext>
                      </a:extLst>
                    </a:gridCol>
                  </a:tblGrid>
                  <a:tr h="482503">
                    <a:tc>
                      <a:txBody>
                        <a:bodyPr/>
                        <a:lstStyle/>
                        <a:p>
                          <a:r>
                            <a:rPr lang="en-US" altLang="zh-CN" dirty="0"/>
                            <a:t>78</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t>样品</a:t>
                          </a:r>
                          <a:endParaRPr lang="en-US" altLang="zh-CN" dirty="0"/>
                        </a:p>
                        <a:p>
                          <a:r>
                            <a:rPr lang="zh-CN" altLang="en-US" dirty="0"/>
                            <a:t>低档加热</a:t>
                          </a:r>
                        </a:p>
                      </a:txBody>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en-US" altLang="zh-CN" dirty="0"/>
                            <a:t>500Hz</a:t>
                          </a:r>
                          <a:endParaRPr lang="zh-CN" altLang="en-US" dirty="0"/>
                        </a:p>
                      </a:txBody>
                      <a:tcPr/>
                    </a:tc>
                    <a:tc>
                      <a:txBody>
                        <a:bodyPr/>
                        <a:lstStyle/>
                        <a:p>
                          <a:r>
                            <a:rPr lang="en-US" altLang="zh-CN" dirty="0"/>
                            <a:t>74.0</a:t>
                          </a:r>
                          <a:endParaRPr lang="zh-CN" altLang="en-US" dirty="0"/>
                        </a:p>
                      </a:txBody>
                      <a:tcPr/>
                    </a:tc>
                    <a:tc>
                      <a:txBody>
                        <a:bodyPr/>
                        <a:lstStyle/>
                        <a:p>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r>
                            <a:rPr lang="en-US" altLang="zh-CN" dirty="0"/>
                            <a:t>1000Hz</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74.5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76.0</a:t>
                          </a:r>
                          <a:endParaRPr lang="zh-CN" altLang="en-US" dirty="0"/>
                        </a:p>
                      </a:txBody>
                      <a:tcPr/>
                    </a:tc>
                    <a:extLst>
                      <a:ext uri="{0D108BD9-81ED-4DB2-BD59-A6C34878D82A}">
                        <a16:rowId xmlns:a16="http://schemas.microsoft.com/office/drawing/2014/main" val="2999873786"/>
                      </a:ext>
                    </a:extLst>
                  </a:tr>
                </a:tbl>
              </a:graphicData>
            </a:graphic>
          </p:graphicFrame>
        </mc:Choice>
        <mc:Fallback xmlns="">
          <p:graphicFrame>
            <p:nvGraphicFramePr>
              <p:cNvPr id="10" name="表格 9">
                <a:extLst>
                  <a:ext uri="{FF2B5EF4-FFF2-40B4-BE49-F238E27FC236}">
                    <a16:creationId xmlns:a16="http://schemas.microsoft.com/office/drawing/2014/main" id="{1FDAD629-BB81-AA3C-CB6F-048189D137CF}"/>
                  </a:ext>
                </a:extLst>
              </p:cNvPr>
              <p:cNvGraphicFramePr>
                <a:graphicFrameLocks noGrp="1"/>
              </p:cNvGraphicFramePr>
              <p:nvPr>
                <p:extLst>
                  <p:ext uri="{D42A27DB-BD31-4B8C-83A1-F6EECF244321}">
                    <p14:modId xmlns:p14="http://schemas.microsoft.com/office/powerpoint/2010/main" val="4144508840"/>
                  </p:ext>
                </p:extLst>
              </p:nvPr>
            </p:nvGraphicFramePr>
            <p:xfrm>
              <a:off x="6948039" y="775700"/>
              <a:ext cx="3764784" cy="1635566"/>
            </p:xfrm>
            <a:graphic>
              <a:graphicData uri="http://schemas.openxmlformats.org/drawingml/2006/table">
                <a:tbl>
                  <a:tblPr firstRow="1" bandRow="1">
                    <a:tableStyleId>{5C22544A-7EE6-4342-B048-85BDC9FD1C3A}</a:tableStyleId>
                  </a:tblPr>
                  <a:tblGrid>
                    <a:gridCol w="1746018">
                      <a:extLst>
                        <a:ext uri="{9D8B030D-6E8A-4147-A177-3AD203B41FA5}">
                          <a16:colId xmlns:a16="http://schemas.microsoft.com/office/drawing/2014/main" val="3438015533"/>
                        </a:ext>
                      </a:extLst>
                    </a:gridCol>
                    <a:gridCol w="1030514">
                      <a:extLst>
                        <a:ext uri="{9D8B030D-6E8A-4147-A177-3AD203B41FA5}">
                          <a16:colId xmlns:a16="http://schemas.microsoft.com/office/drawing/2014/main" val="1195207352"/>
                        </a:ext>
                      </a:extLst>
                    </a:gridCol>
                    <a:gridCol w="988252">
                      <a:extLst>
                        <a:ext uri="{9D8B030D-6E8A-4147-A177-3AD203B41FA5}">
                          <a16:colId xmlns:a16="http://schemas.microsoft.com/office/drawing/2014/main" val="760418847"/>
                        </a:ext>
                      </a:extLst>
                    </a:gridCol>
                  </a:tblGrid>
                  <a:tr h="670560">
                    <a:tc>
                      <a:txBody>
                        <a:bodyPr/>
                        <a:lstStyle/>
                        <a:p>
                          <a:endParaRPr lang="zh-CN"/>
                        </a:p>
                      </a:txBody>
                      <a:tcPr>
                        <a:blipFill>
                          <a:blip r:embed="rId5"/>
                          <a:stretch>
                            <a:fillRect l="-725" t="-7547" r="-116667" b="-147170"/>
                          </a:stretch>
                        </a:blipFill>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en-US" altLang="zh-CN" dirty="0"/>
                            <a:t>500Hz</a:t>
                          </a:r>
                          <a:endParaRPr lang="zh-CN" altLang="en-US" dirty="0"/>
                        </a:p>
                      </a:txBody>
                      <a:tcPr/>
                    </a:tc>
                    <a:tc>
                      <a:txBody>
                        <a:bodyPr/>
                        <a:lstStyle/>
                        <a:p>
                          <a:r>
                            <a:rPr lang="en-US" altLang="zh-CN" dirty="0"/>
                            <a:t>74.0</a:t>
                          </a:r>
                          <a:endParaRPr lang="zh-CN" altLang="en-US" dirty="0"/>
                        </a:p>
                      </a:txBody>
                      <a:tcPr/>
                    </a:tc>
                    <a:tc>
                      <a:txBody>
                        <a:bodyPr/>
                        <a:lstStyle/>
                        <a:p>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r>
                            <a:rPr lang="en-US" altLang="zh-CN" dirty="0"/>
                            <a:t>1000Hz</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74.5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76.0</a:t>
                          </a:r>
                          <a:endParaRPr lang="zh-CN" altLang="en-US" dirty="0"/>
                        </a:p>
                      </a:txBody>
                      <a:tcPr/>
                    </a:tc>
                    <a:extLst>
                      <a:ext uri="{0D108BD9-81ED-4DB2-BD59-A6C34878D82A}">
                        <a16:rowId xmlns:a16="http://schemas.microsoft.com/office/drawing/2014/main" val="2999873786"/>
                      </a:ext>
                    </a:extLst>
                  </a:tr>
                </a:tbl>
              </a:graphicData>
            </a:graphic>
          </p:graphicFrame>
        </mc:Fallback>
      </mc:AlternateContent>
      <p:sp>
        <p:nvSpPr>
          <p:cNvPr id="11" name="文本框 10">
            <a:extLst>
              <a:ext uri="{FF2B5EF4-FFF2-40B4-BE49-F238E27FC236}">
                <a16:creationId xmlns:a16="http://schemas.microsoft.com/office/drawing/2014/main" id="{60769790-B4DC-6454-926E-2234B3135C22}"/>
              </a:ext>
            </a:extLst>
          </p:cNvPr>
          <p:cNvSpPr txBox="1"/>
          <p:nvPr/>
        </p:nvSpPr>
        <p:spPr>
          <a:xfrm>
            <a:off x="1034321" y="6087024"/>
            <a:ext cx="10118361" cy="461665"/>
          </a:xfrm>
          <a:prstGeom prst="rect">
            <a:avLst/>
          </a:prstGeom>
          <a:noFill/>
        </p:spPr>
        <p:txBody>
          <a:bodyPr wrap="square" rtlCol="0">
            <a:spAutoFit/>
          </a:bodyPr>
          <a:lstStyle/>
          <a:p>
            <a:pPr marL="342900" indent="-342900">
              <a:buFont typeface="Wingdings" pitchFamily="2" charset="2"/>
              <a:buChar char="ü"/>
            </a:pPr>
            <a:r>
              <a:rPr kumimoji="1" lang="zh-CN" altLang="en-US" sz="2400" dirty="0">
                <a:latin typeface="SimSun" panose="02010600030101010101" pitchFamily="2" charset="-122"/>
                <a:ea typeface="SimSun" panose="02010600030101010101" pitchFamily="2" charset="-122"/>
              </a:rPr>
              <a:t>高频交流电条件下测量更准确。</a:t>
            </a:r>
          </a:p>
        </p:txBody>
      </p:sp>
      <p:sp>
        <p:nvSpPr>
          <p:cNvPr id="13" name="文本框 12">
            <a:extLst>
              <a:ext uri="{FF2B5EF4-FFF2-40B4-BE49-F238E27FC236}">
                <a16:creationId xmlns:a16="http://schemas.microsoft.com/office/drawing/2014/main" id="{541E7E1F-8079-AC48-E843-B2B226A935DA}"/>
              </a:ext>
            </a:extLst>
          </p:cNvPr>
          <p:cNvSpPr txBox="1"/>
          <p:nvPr/>
        </p:nvSpPr>
        <p:spPr>
          <a:xfrm>
            <a:off x="121773" y="6533001"/>
            <a:ext cx="12093526" cy="338554"/>
          </a:xfrm>
          <a:prstGeom prst="rect">
            <a:avLst/>
          </a:prstGeom>
          <a:noFill/>
        </p:spPr>
        <p:txBody>
          <a:bodyPr wrap="square">
            <a:spAutoFit/>
          </a:bodyPr>
          <a:lstStyle/>
          <a:p>
            <a:r>
              <a:rPr kumimoji="1" lang="en-US" altLang="zh-CN" sz="1600" dirty="0">
                <a:solidFill>
                  <a:srgbClr val="0070C0"/>
                </a:solidFill>
                <a:latin typeface="KaiTi" panose="02010609060101010101" pitchFamily="49" charset="-122"/>
                <a:ea typeface="KaiTi" panose="02010609060101010101" pitchFamily="49" charset="-122"/>
              </a:rPr>
              <a:t>Ref: </a:t>
            </a:r>
            <a:r>
              <a:rPr lang="zh-CN" altLang="en-US" sz="1600" dirty="0">
                <a:solidFill>
                  <a:srgbClr val="2F5597"/>
                </a:solidFill>
                <a:latin typeface="KaiTi" panose="02010609060101010101" pitchFamily="49" charset="-122"/>
                <a:ea typeface="KaiTi" panose="02010609060101010101" pitchFamily="49" charset="-122"/>
              </a:rPr>
              <a:t>高喜梅</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胡健</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黄耀清</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工作频率对测量磁性材料居里温度的影响</a:t>
            </a:r>
            <a:r>
              <a:rPr lang="en-US" altLang="zh-CN" sz="1600" dirty="0">
                <a:solidFill>
                  <a:srgbClr val="2F5597"/>
                </a:solidFill>
                <a:latin typeface="KaiTi" panose="02010609060101010101" pitchFamily="49" charset="-122"/>
                <a:ea typeface="KaiTi" panose="02010609060101010101" pitchFamily="49" charset="-122"/>
              </a:rPr>
              <a:t>[J].</a:t>
            </a:r>
            <a:r>
              <a:rPr lang="zh-CN" altLang="en-US" sz="1600" dirty="0">
                <a:solidFill>
                  <a:srgbClr val="2F5597"/>
                </a:solidFill>
                <a:latin typeface="KaiTi" panose="02010609060101010101" pitchFamily="49" charset="-122"/>
                <a:ea typeface="KaiTi" panose="02010609060101010101" pitchFamily="49" charset="-122"/>
              </a:rPr>
              <a:t>上海应用技术学院学报</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自然科学版</a:t>
            </a:r>
            <a:r>
              <a:rPr lang="en-US" altLang="zh-CN" sz="1600" dirty="0">
                <a:solidFill>
                  <a:srgbClr val="2F5597"/>
                </a:solidFill>
                <a:latin typeface="KaiTi" panose="02010609060101010101" pitchFamily="49" charset="-122"/>
                <a:ea typeface="KaiTi" panose="02010609060101010101" pitchFamily="49" charset="-122"/>
              </a:rPr>
              <a:t>),2011,11(02):164-166.</a:t>
            </a:r>
          </a:p>
        </p:txBody>
      </p:sp>
      <p:sp>
        <p:nvSpPr>
          <p:cNvPr id="2" name="圆角矩形 1">
            <a:extLst>
              <a:ext uri="{FF2B5EF4-FFF2-40B4-BE49-F238E27FC236}">
                <a16:creationId xmlns:a16="http://schemas.microsoft.com/office/drawing/2014/main" id="{F06C9820-8E86-E70A-E812-3F4B9A5466AE}"/>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 name="矩形 2">
            <a:extLst>
              <a:ext uri="{FF2B5EF4-FFF2-40B4-BE49-F238E27FC236}">
                <a16:creationId xmlns:a16="http://schemas.microsoft.com/office/drawing/2014/main" id="{E26683F0-8C55-9F95-96F1-B1F07343A2F5}"/>
              </a:ext>
            </a:extLst>
          </p:cNvPr>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spTree>
    <p:extLst>
      <p:ext uri="{BB962C8B-B14F-4D97-AF65-F5344CB8AC3E}">
        <p14:creationId xmlns:p14="http://schemas.microsoft.com/office/powerpoint/2010/main" val="3978792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拓展实验</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5" name="内容占位符 4">
            <a:extLst>
              <a:ext uri="{FF2B5EF4-FFF2-40B4-BE49-F238E27FC236}">
                <a16:creationId xmlns:a16="http://schemas.microsoft.com/office/drawing/2014/main" id="{71D9A438-2998-F58D-473E-22C37A5A3B3F}"/>
              </a:ext>
            </a:extLst>
          </p:cNvPr>
          <p:cNvSpPr>
            <a:spLocks noGrp="1"/>
          </p:cNvSpPr>
          <p:nvPr>
            <p:ph idx="1"/>
          </p:nvPr>
        </p:nvSpPr>
        <p:spPr/>
        <p:txBody>
          <a:bodyPr/>
          <a:lstStyle/>
          <a:p>
            <a:pPr>
              <a:buFont typeface="Wingdings" pitchFamily="2" charset="2"/>
              <a:buChar char="Ø"/>
            </a:pPr>
            <a:r>
              <a:rPr lang="en-US" altLang="zh-CN" dirty="0">
                <a:latin typeface="SimSun" panose="02010600030101010101" pitchFamily="2" charset="-122"/>
                <a:ea typeface="SimSun" panose="02010600030101010101" pitchFamily="2" charset="-122"/>
              </a:rPr>
              <a:t>2.</a:t>
            </a:r>
            <a:r>
              <a:rPr lang="zh-CN" altLang="en-US" dirty="0">
                <a:latin typeface="SimSun" panose="02010600030101010101" pitchFamily="2" charset="-122"/>
                <a:ea typeface="SimSun" panose="02010600030101010101" pitchFamily="2" charset="-122"/>
              </a:rPr>
              <a:t> 加热速率对实验的影响</a:t>
            </a:r>
            <a:endParaRPr lang="en-US" altLang="zh-CN" dirty="0">
              <a:latin typeface="SimSun" panose="02010600030101010101" pitchFamily="2" charset="-122"/>
              <a:ea typeface="SimSun" panose="02010600030101010101" pitchFamily="2" charset="-122"/>
            </a:endParaRPr>
          </a:p>
          <a:p>
            <a:pPr>
              <a:buFont typeface="Wingdings" pitchFamily="2" charset="2"/>
              <a:buChar char="Ø"/>
            </a:pPr>
            <a:endParaRPr lang="en-US" altLang="zh-CN" dirty="0">
              <a:latin typeface="SimSun" panose="02010600030101010101" pitchFamily="2" charset="-122"/>
              <a:ea typeface="SimSun" panose="02010600030101010101" pitchFamily="2" charset="-122"/>
            </a:endParaRPr>
          </a:p>
        </p:txBody>
      </p:sp>
      <p:pic>
        <p:nvPicPr>
          <p:cNvPr id="3" name="图片 2">
            <a:extLst>
              <a:ext uri="{FF2B5EF4-FFF2-40B4-BE49-F238E27FC236}">
                <a16:creationId xmlns:a16="http://schemas.microsoft.com/office/drawing/2014/main" id="{FEC64B74-3468-5320-499F-1C9FF4DA7E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514450"/>
            <a:ext cx="4728272" cy="3600000"/>
          </a:xfrm>
          <a:prstGeom prst="rect">
            <a:avLst/>
          </a:prstGeom>
        </p:spPr>
      </p:pic>
      <p:pic>
        <p:nvPicPr>
          <p:cNvPr id="7" name="图片 6">
            <a:extLst>
              <a:ext uri="{FF2B5EF4-FFF2-40B4-BE49-F238E27FC236}">
                <a16:creationId xmlns:a16="http://schemas.microsoft.com/office/drawing/2014/main" id="{FE669894-82FC-F272-BA57-6460E98B44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5035" y="2534349"/>
            <a:ext cx="4726806" cy="3600000"/>
          </a:xfrm>
          <a:prstGeom prst="rect">
            <a:avLst/>
          </a:prstGeom>
        </p:spPr>
      </p:pic>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17E107E4-70F9-08C0-7EE2-04F9CDEBF4D1}"/>
                  </a:ext>
                </a:extLst>
              </p:cNvPr>
              <p:cNvGraphicFramePr>
                <a:graphicFrameLocks noGrp="1"/>
              </p:cNvGraphicFramePr>
              <p:nvPr>
                <p:extLst>
                  <p:ext uri="{D42A27DB-BD31-4B8C-83A1-F6EECF244321}">
                    <p14:modId xmlns:p14="http://schemas.microsoft.com/office/powerpoint/2010/main" val="1331692371"/>
                  </p:ext>
                </p:extLst>
              </p:nvPr>
            </p:nvGraphicFramePr>
            <p:xfrm>
              <a:off x="6948039" y="790214"/>
              <a:ext cx="3764784" cy="1635566"/>
            </p:xfrm>
            <a:graphic>
              <a:graphicData uri="http://schemas.openxmlformats.org/drawingml/2006/table">
                <a:tbl>
                  <a:tblPr firstRow="1" bandRow="1">
                    <a:tableStyleId>{93296810-A885-4BE3-A3E7-6D5BEEA58F35}</a:tableStyleId>
                  </a:tblPr>
                  <a:tblGrid>
                    <a:gridCol w="1789561">
                      <a:extLst>
                        <a:ext uri="{9D8B030D-6E8A-4147-A177-3AD203B41FA5}">
                          <a16:colId xmlns:a16="http://schemas.microsoft.com/office/drawing/2014/main" val="3438015533"/>
                        </a:ext>
                      </a:extLst>
                    </a:gridCol>
                    <a:gridCol w="1001486">
                      <a:extLst>
                        <a:ext uri="{9D8B030D-6E8A-4147-A177-3AD203B41FA5}">
                          <a16:colId xmlns:a16="http://schemas.microsoft.com/office/drawing/2014/main" val="1195207352"/>
                        </a:ext>
                      </a:extLst>
                    </a:gridCol>
                    <a:gridCol w="973737">
                      <a:extLst>
                        <a:ext uri="{9D8B030D-6E8A-4147-A177-3AD203B41FA5}">
                          <a16:colId xmlns:a16="http://schemas.microsoft.com/office/drawing/2014/main" val="760418847"/>
                        </a:ext>
                      </a:extLst>
                    </a:gridCol>
                  </a:tblGrid>
                  <a:tr h="482503">
                    <a:tc>
                      <a:txBody>
                        <a:bodyPr/>
                        <a:lstStyle/>
                        <a:p>
                          <a:r>
                            <a:rPr lang="en-US" altLang="zh-CN" dirty="0"/>
                            <a:t>78</a:t>
                          </a:r>
                          <a14:m>
                            <m:oMath xmlns:m="http://schemas.openxmlformats.org/officeDocument/2006/math">
                              <m:r>
                                <a:rPr lang="en-US" altLang="zh-CN" smtClean="0">
                                  <a:latin typeface="Cambria Math" panose="02040503050406030204" pitchFamily="18" charset="0"/>
                                </a:rPr>
                                <m:t>℃</m:t>
                              </m:r>
                            </m:oMath>
                          </a14:m>
                          <a:r>
                            <a:rPr lang="zh-CN" altLang="en-US" dirty="0"/>
                            <a:t>样品</a:t>
                          </a:r>
                          <a:endParaRPr lang="en-US" altLang="zh-CN" dirty="0"/>
                        </a:p>
                        <a:p>
                          <a:r>
                            <a:rPr lang="en-US" altLang="zh-CN" dirty="0"/>
                            <a:t>1000Hz</a:t>
                          </a:r>
                          <a:endParaRPr lang="zh-CN" altLang="en-US" dirty="0"/>
                        </a:p>
                      </a:txBody>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zh-CN" altLang="en-US" dirty="0"/>
                            <a:t>高档加热</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79.0</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r>
                            <a:rPr lang="zh-CN" altLang="en-US" dirty="0"/>
                            <a:t>低档加热</a:t>
                          </a:r>
                        </a:p>
                      </a:txBody>
                      <a:tcPr/>
                    </a:tc>
                    <a:tc>
                      <a:txBody>
                        <a:bodyPr/>
                        <a:lstStyle/>
                        <a:p>
                          <a:r>
                            <a:rPr lang="en-US" altLang="zh-CN" dirty="0"/>
                            <a:t>74.5</a:t>
                          </a:r>
                          <a:endParaRPr lang="zh-CN" altLang="en-US" dirty="0"/>
                        </a:p>
                      </a:txBody>
                      <a:tcPr/>
                    </a:tc>
                    <a:tc>
                      <a:txBody>
                        <a:bodyPr/>
                        <a:lstStyle/>
                        <a:p>
                          <a:r>
                            <a:rPr lang="en-US" altLang="zh-CN" dirty="0"/>
                            <a:t>76.0</a:t>
                          </a:r>
                          <a:endParaRPr lang="zh-CN" altLang="en-US" dirty="0"/>
                        </a:p>
                      </a:txBody>
                      <a:tcPr/>
                    </a:tc>
                    <a:extLst>
                      <a:ext uri="{0D108BD9-81ED-4DB2-BD59-A6C34878D82A}">
                        <a16:rowId xmlns:a16="http://schemas.microsoft.com/office/drawing/2014/main" val="2101572489"/>
                      </a:ext>
                    </a:extLst>
                  </a:tr>
                </a:tbl>
              </a:graphicData>
            </a:graphic>
          </p:graphicFrame>
        </mc:Choice>
        <mc:Fallback xmlns="">
          <p:graphicFrame>
            <p:nvGraphicFramePr>
              <p:cNvPr id="8" name="表格 7">
                <a:extLst>
                  <a:ext uri="{FF2B5EF4-FFF2-40B4-BE49-F238E27FC236}">
                    <a16:creationId xmlns:a16="http://schemas.microsoft.com/office/drawing/2014/main" id="{17E107E4-70F9-08C0-7EE2-04F9CDEBF4D1}"/>
                  </a:ext>
                </a:extLst>
              </p:cNvPr>
              <p:cNvGraphicFramePr>
                <a:graphicFrameLocks noGrp="1"/>
              </p:cNvGraphicFramePr>
              <p:nvPr>
                <p:extLst>
                  <p:ext uri="{D42A27DB-BD31-4B8C-83A1-F6EECF244321}">
                    <p14:modId xmlns:p14="http://schemas.microsoft.com/office/powerpoint/2010/main" val="1331692371"/>
                  </p:ext>
                </p:extLst>
              </p:nvPr>
            </p:nvGraphicFramePr>
            <p:xfrm>
              <a:off x="6948039" y="790214"/>
              <a:ext cx="3764784" cy="1635566"/>
            </p:xfrm>
            <a:graphic>
              <a:graphicData uri="http://schemas.openxmlformats.org/drawingml/2006/table">
                <a:tbl>
                  <a:tblPr firstRow="1" bandRow="1">
                    <a:tableStyleId>{93296810-A885-4BE3-A3E7-6D5BEEA58F35}</a:tableStyleId>
                  </a:tblPr>
                  <a:tblGrid>
                    <a:gridCol w="1789561">
                      <a:extLst>
                        <a:ext uri="{9D8B030D-6E8A-4147-A177-3AD203B41FA5}">
                          <a16:colId xmlns:a16="http://schemas.microsoft.com/office/drawing/2014/main" val="3438015533"/>
                        </a:ext>
                      </a:extLst>
                    </a:gridCol>
                    <a:gridCol w="1001486">
                      <a:extLst>
                        <a:ext uri="{9D8B030D-6E8A-4147-A177-3AD203B41FA5}">
                          <a16:colId xmlns:a16="http://schemas.microsoft.com/office/drawing/2014/main" val="1195207352"/>
                        </a:ext>
                      </a:extLst>
                    </a:gridCol>
                    <a:gridCol w="973737">
                      <a:extLst>
                        <a:ext uri="{9D8B030D-6E8A-4147-A177-3AD203B41FA5}">
                          <a16:colId xmlns:a16="http://schemas.microsoft.com/office/drawing/2014/main" val="760418847"/>
                        </a:ext>
                      </a:extLst>
                    </a:gridCol>
                  </a:tblGrid>
                  <a:tr h="670560">
                    <a:tc>
                      <a:txBody>
                        <a:bodyPr/>
                        <a:lstStyle/>
                        <a:p>
                          <a:endParaRPr lang="zh-CN"/>
                        </a:p>
                      </a:txBody>
                      <a:tcPr>
                        <a:blipFill>
                          <a:blip r:embed="rId5"/>
                          <a:stretch>
                            <a:fillRect l="-709" t="-5660" r="-112057" b="-147170"/>
                          </a:stretch>
                        </a:blipFill>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zh-CN" altLang="en-US" dirty="0"/>
                            <a:t>高档加热</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79.0</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r>
                            <a:rPr lang="zh-CN" altLang="en-US" dirty="0"/>
                            <a:t>低档加热</a:t>
                          </a:r>
                        </a:p>
                      </a:txBody>
                      <a:tcPr/>
                    </a:tc>
                    <a:tc>
                      <a:txBody>
                        <a:bodyPr/>
                        <a:lstStyle/>
                        <a:p>
                          <a:r>
                            <a:rPr lang="en-US" altLang="zh-CN" dirty="0"/>
                            <a:t>74.5</a:t>
                          </a:r>
                          <a:endParaRPr lang="zh-CN" altLang="en-US" dirty="0"/>
                        </a:p>
                      </a:txBody>
                      <a:tcPr/>
                    </a:tc>
                    <a:tc>
                      <a:txBody>
                        <a:bodyPr/>
                        <a:lstStyle/>
                        <a:p>
                          <a:r>
                            <a:rPr lang="en-US" altLang="zh-CN" dirty="0"/>
                            <a:t>76.0</a:t>
                          </a:r>
                          <a:endParaRPr lang="zh-CN" altLang="en-US" dirty="0"/>
                        </a:p>
                      </a:txBody>
                      <a:tcPr/>
                    </a:tc>
                    <a:extLst>
                      <a:ext uri="{0D108BD9-81ED-4DB2-BD59-A6C34878D82A}">
                        <a16:rowId xmlns:a16="http://schemas.microsoft.com/office/drawing/2014/main" val="2101572489"/>
                      </a:ext>
                    </a:extLst>
                  </a:tr>
                </a:tbl>
              </a:graphicData>
            </a:graphic>
          </p:graphicFrame>
        </mc:Fallback>
      </mc:AlternateContent>
      <p:sp>
        <p:nvSpPr>
          <p:cNvPr id="9" name="文本框 8">
            <a:extLst>
              <a:ext uri="{FF2B5EF4-FFF2-40B4-BE49-F238E27FC236}">
                <a16:creationId xmlns:a16="http://schemas.microsoft.com/office/drawing/2014/main" id="{0177FE43-22B0-E703-234D-836D98482979}"/>
              </a:ext>
            </a:extLst>
          </p:cNvPr>
          <p:cNvSpPr txBox="1"/>
          <p:nvPr/>
        </p:nvSpPr>
        <p:spPr>
          <a:xfrm>
            <a:off x="1034321" y="6087024"/>
            <a:ext cx="10118361" cy="461665"/>
          </a:xfrm>
          <a:prstGeom prst="rect">
            <a:avLst/>
          </a:prstGeom>
          <a:noFill/>
        </p:spPr>
        <p:txBody>
          <a:bodyPr wrap="square" rtlCol="0">
            <a:spAutoFit/>
          </a:bodyPr>
          <a:lstStyle/>
          <a:p>
            <a:pPr marL="342900" indent="-342900">
              <a:buFont typeface="Wingdings" pitchFamily="2" charset="2"/>
              <a:buChar char="ü"/>
            </a:pPr>
            <a:r>
              <a:rPr kumimoji="1" lang="zh-CN" altLang="en-US" sz="2400" dirty="0">
                <a:latin typeface="SimSun" panose="02010600030101010101" pitchFamily="2" charset="-122"/>
                <a:ea typeface="SimSun" panose="02010600030101010101" pitchFamily="2" charset="-122"/>
              </a:rPr>
              <a:t>加热速率快，测得居里温度偏高。</a:t>
            </a:r>
            <a:r>
              <a:rPr kumimoji="1" lang="zh-CN" altLang="en-US" sz="2400" dirty="0">
                <a:solidFill>
                  <a:srgbClr val="FF0000"/>
                </a:solidFill>
                <a:latin typeface="SimSun" panose="02010600030101010101" pitchFamily="2" charset="-122"/>
                <a:ea typeface="SimSun" panose="02010600030101010101" pitchFamily="2" charset="-122"/>
              </a:rPr>
              <a:t>低档加热测量更准确。</a:t>
            </a:r>
          </a:p>
        </p:txBody>
      </p:sp>
      <p:sp>
        <p:nvSpPr>
          <p:cNvPr id="2" name="圆角矩形 1">
            <a:extLst>
              <a:ext uri="{FF2B5EF4-FFF2-40B4-BE49-F238E27FC236}">
                <a16:creationId xmlns:a16="http://schemas.microsoft.com/office/drawing/2014/main" id="{1C2CB2C5-309D-A8EF-92E5-0571773200DA}"/>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10" name="文本框 9">
            <a:extLst>
              <a:ext uri="{FF2B5EF4-FFF2-40B4-BE49-F238E27FC236}">
                <a16:creationId xmlns:a16="http://schemas.microsoft.com/office/drawing/2014/main" id="{5AA335D5-6484-BF39-A00A-92D0F65E8E4A}"/>
              </a:ext>
            </a:extLst>
          </p:cNvPr>
          <p:cNvSpPr txBox="1"/>
          <p:nvPr/>
        </p:nvSpPr>
        <p:spPr>
          <a:xfrm>
            <a:off x="732126" y="6487261"/>
            <a:ext cx="10806388" cy="338554"/>
          </a:xfrm>
          <a:prstGeom prst="rect">
            <a:avLst/>
          </a:prstGeom>
          <a:noFill/>
        </p:spPr>
        <p:txBody>
          <a:bodyPr wrap="square">
            <a:spAutoFit/>
          </a:bodyPr>
          <a:lstStyle/>
          <a:p>
            <a:r>
              <a:rPr kumimoji="1" lang="en-US" altLang="zh-CN" sz="1600" dirty="0">
                <a:solidFill>
                  <a:srgbClr val="0070C0"/>
                </a:solidFill>
                <a:latin typeface="KaiTi" panose="02010609060101010101" pitchFamily="49" charset="-122"/>
                <a:ea typeface="KaiTi" panose="02010609060101010101" pitchFamily="49" charset="-122"/>
              </a:rPr>
              <a:t>Ref:</a:t>
            </a:r>
            <a:r>
              <a:rPr lang="zh-CN" altLang="en-US" sz="1600" dirty="0">
                <a:solidFill>
                  <a:srgbClr val="2F5597"/>
                </a:solidFill>
                <a:latin typeface="KaiTi" panose="02010609060101010101" pitchFamily="49" charset="-122"/>
                <a:ea typeface="KaiTi" panose="02010609060101010101" pitchFamily="49" charset="-122"/>
              </a:rPr>
              <a:t>吴梓坚</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谢昊</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王子生</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等</a:t>
            </a:r>
            <a:r>
              <a:rPr lang="en-US" altLang="zh-CN" sz="1600" dirty="0">
                <a:solidFill>
                  <a:srgbClr val="2F5597"/>
                </a:solidFill>
                <a:latin typeface="KaiTi" panose="02010609060101010101" pitchFamily="49" charset="-122"/>
                <a:ea typeface="KaiTi" panose="02010609060101010101" pitchFamily="49" charset="-122"/>
              </a:rPr>
              <a:t>.</a:t>
            </a:r>
            <a:r>
              <a:rPr lang="zh-CN" altLang="en-US" sz="1600" dirty="0">
                <a:solidFill>
                  <a:srgbClr val="2F5597"/>
                </a:solidFill>
                <a:latin typeface="KaiTi" panose="02010609060101010101" pitchFamily="49" charset="-122"/>
                <a:ea typeface="KaiTi" panose="02010609060101010101" pitchFamily="49" charset="-122"/>
              </a:rPr>
              <a:t>磁性材料居里温度测量结果影响因素分析</a:t>
            </a:r>
            <a:r>
              <a:rPr lang="en-US" altLang="zh-CN" sz="1600" dirty="0">
                <a:solidFill>
                  <a:srgbClr val="2F5597"/>
                </a:solidFill>
                <a:latin typeface="KaiTi" panose="02010609060101010101" pitchFamily="49" charset="-122"/>
                <a:ea typeface="KaiTi" panose="02010609060101010101" pitchFamily="49" charset="-122"/>
              </a:rPr>
              <a:t>[J].</a:t>
            </a:r>
            <a:r>
              <a:rPr lang="zh-CN" altLang="en-US" sz="1600" dirty="0">
                <a:solidFill>
                  <a:srgbClr val="2F5597"/>
                </a:solidFill>
                <a:latin typeface="KaiTi" panose="02010609060101010101" pitchFamily="49" charset="-122"/>
                <a:ea typeface="KaiTi" panose="02010609060101010101" pitchFamily="49" charset="-122"/>
              </a:rPr>
              <a:t>稀有金属</a:t>
            </a:r>
            <a:r>
              <a:rPr lang="en-US" altLang="zh-CN" sz="1600" dirty="0">
                <a:solidFill>
                  <a:srgbClr val="2F5597"/>
                </a:solidFill>
                <a:latin typeface="KaiTi" panose="02010609060101010101" pitchFamily="49" charset="-122"/>
                <a:ea typeface="KaiTi" panose="02010609060101010101" pitchFamily="49" charset="-122"/>
              </a:rPr>
              <a:t>,2025,49(01):146-152.</a:t>
            </a:r>
            <a:endParaRPr lang="zh-CN" altLang="en-US" sz="1600" dirty="0">
              <a:solidFill>
                <a:srgbClr val="2F5597"/>
              </a:solidFill>
              <a:latin typeface="KaiTi" panose="02010609060101010101" pitchFamily="49" charset="-122"/>
              <a:ea typeface="KaiTi" panose="02010609060101010101" pitchFamily="49" charset="-122"/>
            </a:endParaRPr>
          </a:p>
        </p:txBody>
      </p:sp>
      <p:sp>
        <p:nvSpPr>
          <p:cNvPr id="6" name="矩形 5">
            <a:extLst>
              <a:ext uri="{FF2B5EF4-FFF2-40B4-BE49-F238E27FC236}">
                <a16:creationId xmlns:a16="http://schemas.microsoft.com/office/drawing/2014/main" id="{3E1ACC80-78F3-C262-45AE-02A695BC56BF}"/>
              </a:ext>
            </a:extLst>
          </p:cNvPr>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spTree>
    <p:extLst>
      <p:ext uri="{BB962C8B-B14F-4D97-AF65-F5344CB8AC3E}">
        <p14:creationId xmlns:p14="http://schemas.microsoft.com/office/powerpoint/2010/main" val="326538295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1" y="298630"/>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实验拓展</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4" name="内容占位符 2">
            <a:extLst>
              <a:ext uri="{FF2B5EF4-FFF2-40B4-BE49-F238E27FC236}">
                <a16:creationId xmlns:a16="http://schemas.microsoft.com/office/drawing/2014/main" id="{F9628046-3980-F464-2B0A-596475BD9D46}"/>
              </a:ext>
            </a:extLst>
          </p:cNvPr>
          <p:cNvSpPr txBox="1">
            <a:spLocks/>
          </p:cNvSpPr>
          <p:nvPr/>
        </p:nvSpPr>
        <p:spPr bwMode="auto">
          <a:xfrm>
            <a:off x="877991" y="1134269"/>
            <a:ext cx="50408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defTabSz="685800">
              <a:lnSpc>
                <a:spcPct val="90000"/>
              </a:lnSpc>
              <a:spcBef>
                <a:spcPts val="900"/>
              </a:spcBef>
              <a:spcAft>
                <a:spcPts val="150"/>
              </a:spcAft>
              <a:buClr>
                <a:schemeClr val="accent1"/>
              </a:buClr>
              <a:buSzPct val="100000"/>
              <a:buFont typeface="Calibri" panose="020F0502020204030204" pitchFamily="34" charset="0"/>
              <a:buChar char=" "/>
              <a:defRPr sz="1500">
                <a:solidFill>
                  <a:srgbClr val="404040"/>
                </a:solidFill>
                <a:latin typeface="Calibri" panose="020F0502020204030204" pitchFamily="34" charset="0"/>
              </a:defRPr>
            </a:lvl1pPr>
            <a:lvl2pPr marL="287338" indent="-136525" defTabSz="685800">
              <a:lnSpc>
                <a:spcPct val="90000"/>
              </a:lnSpc>
              <a:spcBef>
                <a:spcPts val="150"/>
              </a:spcBef>
              <a:spcAft>
                <a:spcPts val="300"/>
              </a:spcAft>
              <a:buClr>
                <a:schemeClr val="accent1"/>
              </a:buClr>
              <a:buFont typeface="Calibri" panose="020F0502020204030204" pitchFamily="34" charset="0"/>
              <a:buChar char="◦"/>
              <a:defRPr sz="1300">
                <a:solidFill>
                  <a:srgbClr val="404040"/>
                </a:solidFill>
                <a:latin typeface="Calibri" panose="020F0502020204030204" pitchFamily="34" charset="0"/>
              </a:defRPr>
            </a:lvl2pPr>
            <a:lvl3pPr marL="423863"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3pPr>
            <a:lvl4pPr marL="561975"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4pPr>
            <a:lvl5pPr marL="698500" indent="-136525" defTabSz="68580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5pPr>
            <a:lvl6pPr marL="11557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6pPr>
            <a:lvl7pPr marL="16129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7pPr>
            <a:lvl8pPr marL="20701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8pPr>
            <a:lvl9pPr marL="2527300" indent="-136525" defTabSz="685800" eaLnBrk="0" fontAlgn="base" hangingPunct="0">
              <a:lnSpc>
                <a:spcPct val="90000"/>
              </a:lnSpc>
              <a:spcBef>
                <a:spcPts val="150"/>
              </a:spcBef>
              <a:spcAft>
                <a:spcPts val="300"/>
              </a:spcAft>
              <a:buClr>
                <a:schemeClr val="accent1"/>
              </a:buClr>
              <a:buFont typeface="Calibri" panose="020F0502020204030204" pitchFamily="34" charset="0"/>
              <a:buChar char="◦"/>
              <a:defRPr sz="1000">
                <a:solidFill>
                  <a:srgbClr val="404040"/>
                </a:solidFill>
                <a:latin typeface="Calibri" panose="020F0502020204030204" pitchFamily="34" charset="0"/>
              </a:defRPr>
            </a:lvl9pPr>
          </a:lstStyle>
          <a:p>
            <a:pPr>
              <a:buNone/>
            </a:pPr>
            <a:r>
              <a:rPr kumimoji="1" lang="zh-CN" altLang="en-US" sz="2800" b="1" dirty="0">
                <a:solidFill>
                  <a:schemeClr val="tx1"/>
                </a:solidFill>
                <a:latin typeface="SimSun" panose="02010600030101010101" pitchFamily="2" charset="-122"/>
                <a:ea typeface="SimSun" panose="02010600030101010101" pitchFamily="2" charset="-122"/>
              </a:rPr>
              <a:t>拓展实验</a:t>
            </a:r>
            <a:endParaRPr kumimoji="1" lang="en-US" altLang="zh-CN" sz="2800" b="1" dirty="0">
              <a:solidFill>
                <a:schemeClr val="tx1"/>
              </a:solidFill>
              <a:latin typeface="SimSun" panose="02010600030101010101" pitchFamily="2" charset="-122"/>
              <a:ea typeface="SimSun" panose="02010600030101010101" pitchFamily="2" charset="-122"/>
            </a:endParaRPr>
          </a:p>
          <a:p>
            <a:pPr>
              <a:buNone/>
            </a:pPr>
            <a:endParaRPr kumimoji="1" lang="zh-CN" altLang="en-US" sz="2800" b="1" dirty="0">
              <a:solidFill>
                <a:schemeClr val="tx1"/>
              </a:solidFill>
              <a:latin typeface="SimSun" panose="02010600030101010101" pitchFamily="2" charset="-122"/>
              <a:ea typeface="SimSun" panose="02010600030101010101" pitchFamily="2" charset="-122"/>
            </a:endParaRPr>
          </a:p>
        </p:txBody>
      </p:sp>
      <p:sp>
        <p:nvSpPr>
          <p:cNvPr id="5" name="内容占位符 4">
            <a:extLst>
              <a:ext uri="{FF2B5EF4-FFF2-40B4-BE49-F238E27FC236}">
                <a16:creationId xmlns:a16="http://schemas.microsoft.com/office/drawing/2014/main" id="{71D9A438-2998-F58D-473E-22C37A5A3B3F}"/>
              </a:ext>
            </a:extLst>
          </p:cNvPr>
          <p:cNvSpPr>
            <a:spLocks noGrp="1"/>
          </p:cNvSpPr>
          <p:nvPr>
            <p:ph idx="1"/>
          </p:nvPr>
        </p:nvSpPr>
        <p:spPr/>
        <p:txBody>
          <a:bodyPr/>
          <a:lstStyle/>
          <a:p>
            <a:pPr>
              <a:buFont typeface="Wingdings" pitchFamily="2" charset="2"/>
              <a:buChar char="Ø"/>
            </a:pPr>
            <a:r>
              <a:rPr lang="en-US" altLang="zh-CN" dirty="0">
                <a:latin typeface="SimSun" panose="02010600030101010101" pitchFamily="2" charset="-122"/>
                <a:ea typeface="SimSun" panose="02010600030101010101" pitchFamily="2" charset="-122"/>
              </a:rPr>
              <a:t>3.</a:t>
            </a:r>
            <a:r>
              <a:rPr lang="zh-CN" altLang="en-US" dirty="0">
                <a:latin typeface="SimSun" panose="02010600030101010101" pitchFamily="2" charset="-122"/>
                <a:ea typeface="SimSun" panose="02010600030101010101" pitchFamily="2" charset="-122"/>
              </a:rPr>
              <a:t> 电桥调平对实验的影响</a:t>
            </a:r>
          </a:p>
        </p:txBody>
      </p:sp>
      <p:pic>
        <p:nvPicPr>
          <p:cNvPr id="3" name="图片 2">
            <a:extLst>
              <a:ext uri="{FF2B5EF4-FFF2-40B4-BE49-F238E27FC236}">
                <a16:creationId xmlns:a16="http://schemas.microsoft.com/office/drawing/2014/main" id="{2996E0BF-6F93-4572-3192-B2E93A5F8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3684" y="2467310"/>
            <a:ext cx="4728272" cy="3600000"/>
          </a:xfrm>
          <a:prstGeom prst="rect">
            <a:avLst/>
          </a:prstGeom>
        </p:spPr>
      </p:pic>
      <p:pic>
        <p:nvPicPr>
          <p:cNvPr id="7" name="图片 6">
            <a:extLst>
              <a:ext uri="{FF2B5EF4-FFF2-40B4-BE49-F238E27FC236}">
                <a16:creationId xmlns:a16="http://schemas.microsoft.com/office/drawing/2014/main" id="{D644E9DE-3781-8065-2361-0C7683B49D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5035" y="2469322"/>
            <a:ext cx="4726806" cy="3600000"/>
          </a:xfrm>
          <a:prstGeom prst="rect">
            <a:avLst/>
          </a:prstGeom>
        </p:spPr>
      </p:pic>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1AE55805-9B44-6158-F44A-E433C4F67C95}"/>
                  </a:ext>
                </a:extLst>
              </p:cNvPr>
              <p:cNvGraphicFramePr>
                <a:graphicFrameLocks noGrp="1"/>
              </p:cNvGraphicFramePr>
              <p:nvPr>
                <p:extLst>
                  <p:ext uri="{D42A27DB-BD31-4B8C-83A1-F6EECF244321}">
                    <p14:modId xmlns:p14="http://schemas.microsoft.com/office/powerpoint/2010/main" val="840101446"/>
                  </p:ext>
                </p:extLst>
              </p:nvPr>
            </p:nvGraphicFramePr>
            <p:xfrm>
              <a:off x="6193684" y="790214"/>
              <a:ext cx="4519139" cy="1635566"/>
            </p:xfrm>
            <a:graphic>
              <a:graphicData uri="http://schemas.openxmlformats.org/drawingml/2006/table">
                <a:tbl>
                  <a:tblPr firstRow="1" bandRow="1">
                    <a:tableStyleId>{21E4AEA4-8DFA-4A89-87EB-49C32662AFE0}</a:tableStyleId>
                  </a:tblPr>
                  <a:tblGrid>
                    <a:gridCol w="2618638">
                      <a:extLst>
                        <a:ext uri="{9D8B030D-6E8A-4147-A177-3AD203B41FA5}">
                          <a16:colId xmlns:a16="http://schemas.microsoft.com/office/drawing/2014/main" val="3438015533"/>
                        </a:ext>
                      </a:extLst>
                    </a:gridCol>
                    <a:gridCol w="918944">
                      <a:extLst>
                        <a:ext uri="{9D8B030D-6E8A-4147-A177-3AD203B41FA5}">
                          <a16:colId xmlns:a16="http://schemas.microsoft.com/office/drawing/2014/main" val="1195207352"/>
                        </a:ext>
                      </a:extLst>
                    </a:gridCol>
                    <a:gridCol w="981557">
                      <a:extLst>
                        <a:ext uri="{9D8B030D-6E8A-4147-A177-3AD203B41FA5}">
                          <a16:colId xmlns:a16="http://schemas.microsoft.com/office/drawing/2014/main" val="760418847"/>
                        </a:ext>
                      </a:extLst>
                    </a:gridCol>
                  </a:tblGrid>
                  <a:tr h="482503">
                    <a:tc>
                      <a:txBody>
                        <a:bodyPr/>
                        <a:lstStyle/>
                        <a:p>
                          <a:r>
                            <a:rPr lang="en-US" altLang="zh-CN" dirty="0"/>
                            <a:t>78</a:t>
                          </a:r>
                          <a14:m>
                            <m:oMath xmlns:m="http://schemas.openxmlformats.org/officeDocument/2006/math">
                              <m:r>
                                <a:rPr lang="en-US" altLang="zh-CN" smtClean="0">
                                  <a:latin typeface="Cambria Math" panose="02040503050406030204" pitchFamily="18" charset="0"/>
                                </a:rPr>
                                <m:t>℃</m:t>
                              </m:r>
                            </m:oMath>
                          </a14:m>
                          <a:r>
                            <a:rPr lang="zh-CN" altLang="en-US" dirty="0"/>
                            <a:t>样品</a:t>
                          </a:r>
                          <a:endParaRPr lang="en-US" altLang="zh-CN" dirty="0"/>
                        </a:p>
                        <a:p>
                          <a:r>
                            <a:rPr lang="en-US" altLang="zh-CN" dirty="0"/>
                            <a:t>1000Hz</a:t>
                          </a:r>
                          <a:endParaRPr lang="zh-CN" altLang="en-US" dirty="0"/>
                        </a:p>
                      </a:txBody>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zh-CN" altLang="en-US" dirty="0"/>
                            <a:t>调平电压</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𝑈</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=10.0</m:t>
                              </m:r>
                              <m:r>
                                <m:rPr>
                                  <m:sty m:val="p"/>
                                </m:rPr>
                                <a:rPr lang="en-US" altLang="zh-CN" b="0" i="1" smtClean="0">
                                  <a:latin typeface="Cambria Math" panose="02040503050406030204" pitchFamily="18" charset="0"/>
                                </a:rPr>
                                <m:t>mV</m:t>
                              </m:r>
                            </m:oMath>
                          </a14:m>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77.5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r>
                            <a:rPr lang="zh-CN" altLang="en-US" i="0" dirty="0">
                              <a:latin typeface="+mn-lt"/>
                            </a:rPr>
                            <a:t>调平电压</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𝑈</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0" smtClean="0">
                                  <a:latin typeface="Cambria Math" panose="02040503050406030204" pitchFamily="18" charset="0"/>
                                </a:rPr>
                                <m:t>1.3</m:t>
                              </m:r>
                              <m:r>
                                <m:rPr>
                                  <m:sty m:val="p"/>
                                </m:rPr>
                                <a:rPr lang="en-US" altLang="zh-CN" b="0" i="0" smtClean="0">
                                  <a:latin typeface="Cambria Math" panose="02040503050406030204" pitchFamily="18" charset="0"/>
                                </a:rPr>
                                <m:t>mV</m:t>
                              </m:r>
                            </m:oMath>
                          </a14:m>
                          <a:endParaRPr lang="zh-CN" altLang="en-US" dirty="0"/>
                        </a:p>
                      </a:txBody>
                      <a:tcPr/>
                    </a:tc>
                    <a:tc>
                      <a:txBody>
                        <a:bodyPr/>
                        <a:lstStyle/>
                        <a:p>
                          <a:r>
                            <a:rPr lang="en-US" altLang="zh-CN" dirty="0"/>
                            <a:t>74.5</a:t>
                          </a:r>
                          <a:endParaRPr lang="zh-CN" altLang="en-US" dirty="0"/>
                        </a:p>
                      </a:txBody>
                      <a:tcPr/>
                    </a:tc>
                    <a:tc>
                      <a:txBody>
                        <a:bodyPr/>
                        <a:lstStyle/>
                        <a:p>
                          <a:r>
                            <a:rPr lang="en-US" altLang="zh-CN" dirty="0"/>
                            <a:t>76.0</a:t>
                          </a:r>
                          <a:endParaRPr lang="zh-CN" altLang="en-US" dirty="0"/>
                        </a:p>
                      </a:txBody>
                      <a:tcPr/>
                    </a:tc>
                    <a:extLst>
                      <a:ext uri="{0D108BD9-81ED-4DB2-BD59-A6C34878D82A}">
                        <a16:rowId xmlns:a16="http://schemas.microsoft.com/office/drawing/2014/main" val="2101572489"/>
                      </a:ext>
                    </a:extLst>
                  </a:tr>
                </a:tbl>
              </a:graphicData>
            </a:graphic>
          </p:graphicFrame>
        </mc:Choice>
        <mc:Fallback xmlns="">
          <p:graphicFrame>
            <p:nvGraphicFramePr>
              <p:cNvPr id="8" name="表格 7">
                <a:extLst>
                  <a:ext uri="{FF2B5EF4-FFF2-40B4-BE49-F238E27FC236}">
                    <a16:creationId xmlns:a16="http://schemas.microsoft.com/office/drawing/2014/main" id="{1AE55805-9B44-6158-F44A-E433C4F67C95}"/>
                  </a:ext>
                </a:extLst>
              </p:cNvPr>
              <p:cNvGraphicFramePr>
                <a:graphicFrameLocks noGrp="1"/>
              </p:cNvGraphicFramePr>
              <p:nvPr>
                <p:extLst>
                  <p:ext uri="{D42A27DB-BD31-4B8C-83A1-F6EECF244321}">
                    <p14:modId xmlns:p14="http://schemas.microsoft.com/office/powerpoint/2010/main" val="840101446"/>
                  </p:ext>
                </p:extLst>
              </p:nvPr>
            </p:nvGraphicFramePr>
            <p:xfrm>
              <a:off x="6193684" y="790214"/>
              <a:ext cx="4519139" cy="1635566"/>
            </p:xfrm>
            <a:graphic>
              <a:graphicData uri="http://schemas.openxmlformats.org/drawingml/2006/table">
                <a:tbl>
                  <a:tblPr firstRow="1" bandRow="1">
                    <a:tableStyleId>{21E4AEA4-8DFA-4A89-87EB-49C32662AFE0}</a:tableStyleId>
                  </a:tblPr>
                  <a:tblGrid>
                    <a:gridCol w="2618638">
                      <a:extLst>
                        <a:ext uri="{9D8B030D-6E8A-4147-A177-3AD203B41FA5}">
                          <a16:colId xmlns:a16="http://schemas.microsoft.com/office/drawing/2014/main" val="3438015533"/>
                        </a:ext>
                      </a:extLst>
                    </a:gridCol>
                    <a:gridCol w="918944">
                      <a:extLst>
                        <a:ext uri="{9D8B030D-6E8A-4147-A177-3AD203B41FA5}">
                          <a16:colId xmlns:a16="http://schemas.microsoft.com/office/drawing/2014/main" val="1195207352"/>
                        </a:ext>
                      </a:extLst>
                    </a:gridCol>
                    <a:gridCol w="981557">
                      <a:extLst>
                        <a:ext uri="{9D8B030D-6E8A-4147-A177-3AD203B41FA5}">
                          <a16:colId xmlns:a16="http://schemas.microsoft.com/office/drawing/2014/main" val="760418847"/>
                        </a:ext>
                      </a:extLst>
                    </a:gridCol>
                  </a:tblGrid>
                  <a:tr h="670560">
                    <a:tc>
                      <a:txBody>
                        <a:bodyPr/>
                        <a:lstStyle/>
                        <a:p>
                          <a:endParaRPr lang="zh-CN"/>
                        </a:p>
                      </a:txBody>
                      <a:tcPr>
                        <a:blipFill>
                          <a:blip r:embed="rId5"/>
                          <a:stretch>
                            <a:fillRect l="-483" t="-5660" r="-73430" b="-147170"/>
                          </a:stretch>
                        </a:blipFill>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endParaRPr lang="zh-CN"/>
                        </a:p>
                      </a:txBody>
                      <a:tcPr>
                        <a:blipFill>
                          <a:blip r:embed="rId5"/>
                          <a:stretch>
                            <a:fillRect l="-483" t="-143590" r="-73430" b="-100000"/>
                          </a:stretch>
                        </a:blipFill>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77.5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75.5</a:t>
                          </a:r>
                          <a:endParaRPr lang="zh-CN" altLang="en-US" dirty="0"/>
                        </a:p>
                      </a:txBody>
                      <a:tcPr/>
                    </a:tc>
                    <a:extLst>
                      <a:ext uri="{0D108BD9-81ED-4DB2-BD59-A6C34878D82A}">
                        <a16:rowId xmlns:a16="http://schemas.microsoft.com/office/drawing/2014/main" val="290740306"/>
                      </a:ext>
                    </a:extLst>
                  </a:tr>
                  <a:tr h="482503">
                    <a:tc>
                      <a:txBody>
                        <a:bodyPr/>
                        <a:lstStyle/>
                        <a:p>
                          <a:endParaRPr lang="zh-CN"/>
                        </a:p>
                      </a:txBody>
                      <a:tcPr>
                        <a:blipFill>
                          <a:blip r:embed="rId5"/>
                          <a:stretch>
                            <a:fillRect l="-483" t="-250000" r="-73430" b="-2632"/>
                          </a:stretch>
                        </a:blipFill>
                      </a:tcPr>
                    </a:tc>
                    <a:tc>
                      <a:txBody>
                        <a:bodyPr/>
                        <a:lstStyle/>
                        <a:p>
                          <a:r>
                            <a:rPr lang="en-US" altLang="zh-CN" dirty="0"/>
                            <a:t>74.5</a:t>
                          </a:r>
                          <a:endParaRPr lang="zh-CN" altLang="en-US" dirty="0"/>
                        </a:p>
                      </a:txBody>
                      <a:tcPr/>
                    </a:tc>
                    <a:tc>
                      <a:txBody>
                        <a:bodyPr/>
                        <a:lstStyle/>
                        <a:p>
                          <a:r>
                            <a:rPr lang="en-US" altLang="zh-CN" dirty="0"/>
                            <a:t>76.0</a:t>
                          </a:r>
                          <a:endParaRPr lang="zh-CN" altLang="en-US" dirty="0"/>
                        </a:p>
                      </a:txBody>
                      <a:tcPr/>
                    </a:tc>
                    <a:extLst>
                      <a:ext uri="{0D108BD9-81ED-4DB2-BD59-A6C34878D82A}">
                        <a16:rowId xmlns:a16="http://schemas.microsoft.com/office/drawing/2014/main" val="2101572489"/>
                      </a:ext>
                    </a:extLst>
                  </a:tr>
                </a:tbl>
              </a:graphicData>
            </a:graphic>
          </p:graphicFrame>
        </mc:Fallback>
      </mc:AlternateContent>
      <p:sp>
        <p:nvSpPr>
          <p:cNvPr id="9" name="文本框 8">
            <a:extLst>
              <a:ext uri="{FF2B5EF4-FFF2-40B4-BE49-F238E27FC236}">
                <a16:creationId xmlns:a16="http://schemas.microsoft.com/office/drawing/2014/main" id="{AF900F50-9C60-7525-8911-5A6C5D72CF19}"/>
              </a:ext>
            </a:extLst>
          </p:cNvPr>
          <p:cNvSpPr txBox="1"/>
          <p:nvPr/>
        </p:nvSpPr>
        <p:spPr>
          <a:xfrm>
            <a:off x="1034321" y="6042054"/>
            <a:ext cx="10118361" cy="461665"/>
          </a:xfrm>
          <a:prstGeom prst="rect">
            <a:avLst/>
          </a:prstGeom>
          <a:noFill/>
        </p:spPr>
        <p:txBody>
          <a:bodyPr wrap="square" rtlCol="0">
            <a:spAutoFit/>
          </a:bodyPr>
          <a:lstStyle/>
          <a:p>
            <a:pPr marL="342900" indent="-342900">
              <a:buFont typeface="Wingdings" pitchFamily="2" charset="2"/>
              <a:buChar char="ü"/>
            </a:pPr>
            <a:r>
              <a:rPr kumimoji="1" lang="zh-CN" altLang="en-US" sz="2400" dirty="0">
                <a:latin typeface="SimSun" panose="02010600030101010101" pitchFamily="2" charset="-122"/>
                <a:ea typeface="SimSun" panose="02010600030101010101" pitchFamily="2" charset="-122"/>
              </a:rPr>
              <a:t>引入系统误差，少量偏置对降温曲线上测量居里温度影响不大。</a:t>
            </a:r>
          </a:p>
        </p:txBody>
      </p:sp>
      <p:sp>
        <p:nvSpPr>
          <p:cNvPr id="2" name="圆角矩形 1">
            <a:extLst>
              <a:ext uri="{FF2B5EF4-FFF2-40B4-BE49-F238E27FC236}">
                <a16:creationId xmlns:a16="http://schemas.microsoft.com/office/drawing/2014/main" id="{729E63DD-FACD-F075-1D36-D3C0526E7C80}"/>
              </a:ext>
            </a:extLst>
          </p:cNvPr>
          <p:cNvSpPr/>
          <p:nvPr/>
        </p:nvSpPr>
        <p:spPr>
          <a:xfrm rot="10800000" flipV="1">
            <a:off x="-5664" y="291645"/>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6" name="矩形 5">
            <a:extLst>
              <a:ext uri="{FF2B5EF4-FFF2-40B4-BE49-F238E27FC236}">
                <a16:creationId xmlns:a16="http://schemas.microsoft.com/office/drawing/2014/main" id="{0FD52181-A330-D638-2452-ADC58D3AAF17}"/>
              </a:ext>
            </a:extLst>
          </p:cNvPr>
          <p:cNvSpPr/>
          <p:nvPr/>
        </p:nvSpPr>
        <p:spPr>
          <a:xfrm>
            <a:off x="2527762" y="324999"/>
            <a:ext cx="3957444" cy="400105"/>
          </a:xfrm>
          <a:prstGeom prst="rect">
            <a:avLst/>
          </a:prstGeom>
        </p:spPr>
        <p:txBody>
          <a:bodyPr wrap="square" lIns="91436" tIns="45718" rIns="91436" bIns="45718">
            <a:spAutoFit/>
          </a:bodyPr>
          <a:lstStyle/>
          <a:p>
            <a:pPr algn="ctr"/>
            <a:r>
              <a:rPr lang="en-US" altLang="zh-CN" sz="2000" dirty="0">
                <a:solidFill>
                  <a:schemeClr val="bg1"/>
                </a:solidFill>
                <a:latin typeface="微软雅黑" panose="020B0503020204020204" pitchFamily="34" charset="-122"/>
              </a:rPr>
              <a:t>EXPERIMENTAL</a:t>
            </a:r>
            <a:r>
              <a:rPr lang="zh-CN" altLang="en-US" sz="2000" dirty="0">
                <a:solidFill>
                  <a:schemeClr val="bg1"/>
                </a:solidFill>
                <a:latin typeface="微软雅黑" panose="020B0503020204020204" pitchFamily="34" charset="-122"/>
              </a:rPr>
              <a:t> </a:t>
            </a:r>
            <a:r>
              <a:rPr lang="en-US" altLang="zh-CN" sz="2000" dirty="0">
                <a:solidFill>
                  <a:schemeClr val="bg1"/>
                </a:solidFill>
                <a:latin typeface="微软雅黑" panose="020B0503020204020204" pitchFamily="34" charset="-122"/>
              </a:rPr>
              <a:t>EXTENSTION</a:t>
            </a:r>
          </a:p>
        </p:txBody>
      </p:sp>
    </p:spTree>
    <p:extLst>
      <p:ext uri="{BB962C8B-B14F-4D97-AF65-F5344CB8AC3E}">
        <p14:creationId xmlns:p14="http://schemas.microsoft.com/office/powerpoint/2010/main" val="779988438"/>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45"/>
          <p:cNvSpPr txBox="1"/>
          <p:nvPr/>
        </p:nvSpPr>
        <p:spPr>
          <a:xfrm>
            <a:off x="4743572" y="2334007"/>
            <a:ext cx="2441690" cy="1446548"/>
          </a:xfrm>
          <a:prstGeom prst="rect">
            <a:avLst/>
          </a:prstGeom>
          <a:noFill/>
        </p:spPr>
        <p:txBody>
          <a:bodyPr wrap="none" lIns="91438" tIns="45719" rIns="91438" bIns="45719" rtlCol="0">
            <a:spAutoFit/>
          </a:bodyPr>
          <a:lstStyle/>
          <a:p>
            <a:r>
              <a:rPr lang="zh-CN" altLang="en-US" sz="8800" dirty="0">
                <a:ln w="0"/>
                <a:solidFill>
                  <a:schemeClr val="tx2"/>
                </a:solidFill>
                <a:latin typeface="微软雅黑" panose="020B0503020204020204" pitchFamily="34" charset="-122"/>
                <a:ea typeface="微软雅黑" panose="020B0503020204020204" pitchFamily="34" charset="-122"/>
              </a:rPr>
              <a:t>谢谢</a:t>
            </a:r>
          </a:p>
        </p:txBody>
      </p:sp>
      <p:sp>
        <p:nvSpPr>
          <p:cNvPr id="51" name="文本框 50"/>
          <p:cNvSpPr txBox="1"/>
          <p:nvPr/>
        </p:nvSpPr>
        <p:spPr>
          <a:xfrm>
            <a:off x="5325780" y="4080796"/>
            <a:ext cx="184666" cy="461665"/>
          </a:xfrm>
          <a:prstGeom prst="rect">
            <a:avLst/>
          </a:prstGeom>
          <a:noFill/>
        </p:spPr>
        <p:txBody>
          <a:bodyPr wrap="none" rtlCol="0">
            <a:spAutoFit/>
          </a:bodyPr>
          <a:lstStyle/>
          <a:p>
            <a:pPr algn="r"/>
            <a:endParaRPr lang="en-US" altLang="zh-CN" sz="2400" dirty="0">
              <a:solidFill>
                <a:schemeClr val="tx2"/>
              </a:solidFill>
              <a:latin typeface="楷体" panose="02010609060101010101" pitchFamily="49" charset="-122"/>
              <a:ea typeface="楷体" panose="02010609060101010101" pitchFamily="49" charset="-122"/>
            </a:endParaRPr>
          </a:p>
        </p:txBody>
      </p:sp>
      <p:sp>
        <p:nvSpPr>
          <p:cNvPr id="53" name="文本框 52"/>
          <p:cNvSpPr txBox="1"/>
          <p:nvPr/>
        </p:nvSpPr>
        <p:spPr>
          <a:xfrm>
            <a:off x="3097457" y="4629286"/>
            <a:ext cx="5910620" cy="369328"/>
          </a:xfrm>
          <a:prstGeom prst="rect">
            <a:avLst/>
          </a:prstGeom>
          <a:noFill/>
        </p:spPr>
        <p:txBody>
          <a:bodyPr wrap="square" lIns="91436" tIns="45718" rIns="91436" bIns="45718" rtlCol="0">
            <a:spAutoFit/>
          </a:bodyPr>
          <a:lstStyle/>
          <a:p>
            <a:pPr algn="ctr"/>
            <a:r>
              <a:rPr lang="zh-CN" altLang="en-US" sz="1800" b="1" spc="600" dirty="0">
                <a:solidFill>
                  <a:schemeClr val="bg1">
                    <a:lumMod val="50000"/>
                    <a:alpha val="78000"/>
                  </a:schemeClr>
                </a:solidFill>
                <a:latin typeface="Calibri" panose="020F0502020204030204" pitchFamily="34" charset="0"/>
                <a:cs typeface="Segoe UI Semilight" panose="020B0402040204020203" pitchFamily="34" charset="0"/>
              </a:rPr>
              <a:t>铁磁材料居里温度测量</a:t>
            </a:r>
          </a:p>
        </p:txBody>
      </p:sp>
      <p:cxnSp>
        <p:nvCxnSpPr>
          <p:cNvPr id="54" name="直接连接符 53"/>
          <p:cNvCxnSpPr/>
          <p:nvPr/>
        </p:nvCxnSpPr>
        <p:spPr>
          <a:xfrm flipV="1">
            <a:off x="4230668" y="3853601"/>
            <a:ext cx="3660629" cy="432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8551" y="5623749"/>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73" name="组合 60"/>
          <p:cNvGrpSpPr/>
          <p:nvPr/>
        </p:nvGrpSpPr>
        <p:grpSpPr>
          <a:xfrm rot="16200000">
            <a:off x="11436485" y="6057840"/>
            <a:ext cx="1271471" cy="363349"/>
            <a:chOff x="6507038" y="462977"/>
            <a:chExt cx="2430800" cy="471379"/>
          </a:xfrm>
        </p:grpSpPr>
        <p:grpSp>
          <p:nvGrpSpPr>
            <p:cNvPr id="74" name="组合 61"/>
            <p:cNvGrpSpPr/>
            <p:nvPr/>
          </p:nvGrpSpPr>
          <p:grpSpPr>
            <a:xfrm flipV="1">
              <a:off x="6507038" y="462977"/>
              <a:ext cx="1917435" cy="471379"/>
              <a:chOff x="810775" y="1533962"/>
              <a:chExt cx="7782374" cy="1913206"/>
            </a:xfrm>
          </p:grpSpPr>
          <p:sp>
            <p:nvSpPr>
              <p:cNvPr id="76" name="圆角矩形 75"/>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圆角矩形 78"/>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圆角矩形 74"/>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文本框 79"/>
          <p:cNvSpPr txBox="1"/>
          <p:nvPr/>
        </p:nvSpPr>
        <p:spPr>
          <a:xfrm>
            <a:off x="403710" y="5713686"/>
            <a:ext cx="10034254" cy="1015659"/>
          </a:xfrm>
          <a:prstGeom prst="rect">
            <a:avLst/>
          </a:prstGeom>
          <a:noFill/>
        </p:spPr>
        <p:txBody>
          <a:bodyPr wrap="square" lIns="91436" tIns="45718" rIns="91436" bIns="45718" rtlCol="0">
            <a:spAutoFit/>
          </a:bodyPr>
          <a:lstStyle/>
          <a:p>
            <a:r>
              <a:rPr lang="en-US" altLang="zh-CN" sz="6000" dirty="0">
                <a:solidFill>
                  <a:schemeClr val="bg1"/>
                </a:solidFill>
                <a:latin typeface="微软雅黑" panose="020B0503020204020204" pitchFamily="34" charset="-122"/>
                <a:ea typeface="微软雅黑" panose="020B0503020204020204" pitchFamily="34" charset="-122"/>
              </a:rPr>
              <a:t>THANKS FOR LISTENING </a:t>
            </a:r>
            <a:endParaRPr lang="zh-CN" altLang="en-US" sz="6000" dirty="0">
              <a:solidFill>
                <a:schemeClr val="bg1"/>
              </a:solidFill>
              <a:latin typeface="Segoe UI Semilight" panose="020B0402040204020203" pitchFamily="34" charset="0"/>
              <a:ea typeface="微软雅黑" panose="020B0503020204020204" pitchFamily="34" charset="-122"/>
              <a:cs typeface="Segoe UI Semilight" panose="020B0402040204020203" pitchFamily="34" charset="0"/>
            </a:endParaRPr>
          </a:p>
        </p:txBody>
      </p:sp>
      <p:sp>
        <p:nvSpPr>
          <p:cNvPr id="81" name="圆角矩形 80"/>
          <p:cNvSpPr/>
          <p:nvPr/>
        </p:nvSpPr>
        <p:spPr>
          <a:xfrm rot="16200000" flipV="1">
            <a:off x="10447003" y="5586366"/>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2" name="Freeform 96"/>
          <p:cNvSpPr>
            <a:spLocks/>
          </p:cNvSpPr>
          <p:nvPr/>
        </p:nvSpPr>
        <p:spPr bwMode="auto">
          <a:xfrm>
            <a:off x="10716633" y="5878142"/>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prstTxWarp prst="textNoShape">
              <a:avLst/>
            </a:prstTxWarp>
          </a:bodyPr>
          <a:lstStyle/>
          <a:p>
            <a:endParaRPr lang="zh-CN" altLang="en-US">
              <a:solidFill>
                <a:srgbClr val="AD1C21"/>
              </a:solidFill>
            </a:endParaRPr>
          </a:p>
        </p:txBody>
      </p:sp>
    </p:spTree>
    <p:extLst>
      <p:ext uri="{BB962C8B-B14F-4D97-AF65-F5344CB8AC3E}">
        <p14:creationId xmlns:p14="http://schemas.microsoft.com/office/powerpoint/2010/main" val="3341494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zh-CN" sz="3600" dirty="0"/>
              <a:t>7</a:t>
            </a:r>
            <a:endParaRPr lang="zh-CN" altLang="en-US" sz="3600" dirty="0"/>
          </a:p>
        </p:txBody>
      </p:sp>
      <p:sp>
        <p:nvSpPr>
          <p:cNvPr id="396" name="文本框 395"/>
          <p:cNvSpPr txBox="1"/>
          <p:nvPr/>
        </p:nvSpPr>
        <p:spPr>
          <a:xfrm>
            <a:off x="999990" y="281856"/>
            <a:ext cx="877155"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附录</a:t>
            </a:r>
          </a:p>
        </p:txBody>
      </p:sp>
      <p:sp>
        <p:nvSpPr>
          <p:cNvPr id="397" name="矩形 396"/>
          <p:cNvSpPr/>
          <p:nvPr/>
        </p:nvSpPr>
        <p:spPr>
          <a:xfrm>
            <a:off x="2683765" y="304007"/>
            <a:ext cx="1358607"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Appendix</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pic>
        <p:nvPicPr>
          <p:cNvPr id="3" name="图片 2">
            <a:extLst>
              <a:ext uri="{FF2B5EF4-FFF2-40B4-BE49-F238E27FC236}">
                <a16:creationId xmlns:a16="http://schemas.microsoft.com/office/drawing/2014/main" id="{4066E345-12FD-6112-7795-9701358AB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1020" y="2466735"/>
            <a:ext cx="5233086" cy="3960000"/>
          </a:xfrm>
          <a:prstGeom prst="rect">
            <a:avLst/>
          </a:prstGeom>
        </p:spPr>
      </p:pic>
      <p:pic>
        <p:nvPicPr>
          <p:cNvPr id="5" name="图片 4">
            <a:extLst>
              <a:ext uri="{FF2B5EF4-FFF2-40B4-BE49-F238E27FC236}">
                <a16:creationId xmlns:a16="http://schemas.microsoft.com/office/drawing/2014/main" id="{87007427-3250-091A-43ED-5099520E43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18" y="2506110"/>
            <a:ext cx="5237625" cy="3960000"/>
          </a:xfrm>
          <a:prstGeom prst="rect">
            <a:avLst/>
          </a:prstGeom>
        </p:spPr>
      </p:pic>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8382B189-2EA2-8781-1191-E86C85A74326}"/>
                  </a:ext>
                </a:extLst>
              </p:cNvPr>
              <p:cNvGraphicFramePr>
                <a:graphicFrameLocks noGrp="1"/>
              </p:cNvGraphicFramePr>
              <p:nvPr>
                <p:extLst>
                  <p:ext uri="{D42A27DB-BD31-4B8C-83A1-F6EECF244321}">
                    <p14:modId xmlns:p14="http://schemas.microsoft.com/office/powerpoint/2010/main" val="111388981"/>
                  </p:ext>
                </p:extLst>
              </p:nvPr>
            </p:nvGraphicFramePr>
            <p:xfrm>
              <a:off x="6948039" y="775700"/>
              <a:ext cx="3764784" cy="1635566"/>
            </p:xfrm>
            <a:graphic>
              <a:graphicData uri="http://schemas.openxmlformats.org/drawingml/2006/table">
                <a:tbl>
                  <a:tblPr firstRow="1" bandRow="1">
                    <a:tableStyleId>{5C22544A-7EE6-4342-B048-85BDC9FD1C3A}</a:tableStyleId>
                  </a:tblPr>
                  <a:tblGrid>
                    <a:gridCol w="1746018">
                      <a:extLst>
                        <a:ext uri="{9D8B030D-6E8A-4147-A177-3AD203B41FA5}">
                          <a16:colId xmlns:a16="http://schemas.microsoft.com/office/drawing/2014/main" val="3438015533"/>
                        </a:ext>
                      </a:extLst>
                    </a:gridCol>
                    <a:gridCol w="1030514">
                      <a:extLst>
                        <a:ext uri="{9D8B030D-6E8A-4147-A177-3AD203B41FA5}">
                          <a16:colId xmlns:a16="http://schemas.microsoft.com/office/drawing/2014/main" val="1195207352"/>
                        </a:ext>
                      </a:extLst>
                    </a:gridCol>
                    <a:gridCol w="988252">
                      <a:extLst>
                        <a:ext uri="{9D8B030D-6E8A-4147-A177-3AD203B41FA5}">
                          <a16:colId xmlns:a16="http://schemas.microsoft.com/office/drawing/2014/main" val="760418847"/>
                        </a:ext>
                      </a:extLst>
                    </a:gridCol>
                  </a:tblGrid>
                  <a:tr h="482503">
                    <a:tc>
                      <a:txBody>
                        <a:bodyPr/>
                        <a:lstStyle/>
                        <a:p>
                          <a:r>
                            <a:rPr lang="en-US" altLang="zh-CN" i="0" dirty="0">
                              <a:latin typeface="+mn-lt"/>
                              <a:ea typeface="+mn-ea"/>
                            </a:rPr>
                            <a:t>50</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dirty="0"/>
                            <a:t>样品</a:t>
                          </a:r>
                          <a:endParaRPr lang="en-US" altLang="zh-CN" dirty="0"/>
                        </a:p>
                        <a:p>
                          <a:r>
                            <a:rPr lang="zh-CN" altLang="en-US" dirty="0"/>
                            <a:t>低档加热</a:t>
                          </a:r>
                        </a:p>
                      </a:txBody>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en-US" altLang="zh-CN" dirty="0"/>
                            <a:t>500Hz</a:t>
                          </a:r>
                          <a:endParaRPr lang="zh-CN" altLang="en-US" dirty="0"/>
                        </a:p>
                      </a:txBody>
                      <a:tcPr/>
                    </a:tc>
                    <a:tc>
                      <a:txBody>
                        <a:bodyPr/>
                        <a:lstStyle/>
                        <a:p>
                          <a:r>
                            <a:rPr lang="en-US" altLang="zh-CN" dirty="0"/>
                            <a:t>53.0</a:t>
                          </a:r>
                          <a:endParaRPr lang="zh-CN" altLang="en-US" dirty="0"/>
                        </a:p>
                      </a:txBody>
                      <a:tcPr/>
                    </a:tc>
                    <a:tc>
                      <a:txBody>
                        <a:bodyPr/>
                        <a:lstStyle/>
                        <a:p>
                          <a:r>
                            <a:rPr lang="en-US" altLang="zh-CN" dirty="0"/>
                            <a:t>51.5</a:t>
                          </a:r>
                          <a:endParaRPr lang="zh-CN" altLang="en-US" dirty="0"/>
                        </a:p>
                      </a:txBody>
                      <a:tcPr/>
                    </a:tc>
                    <a:extLst>
                      <a:ext uri="{0D108BD9-81ED-4DB2-BD59-A6C34878D82A}">
                        <a16:rowId xmlns:a16="http://schemas.microsoft.com/office/drawing/2014/main" val="290740306"/>
                      </a:ext>
                    </a:extLst>
                  </a:tr>
                  <a:tr h="482503">
                    <a:tc>
                      <a:txBody>
                        <a:bodyPr/>
                        <a:lstStyle/>
                        <a:p>
                          <a:r>
                            <a:rPr lang="en-US" altLang="zh-CN" dirty="0"/>
                            <a:t>1000Hz</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53.5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51.5</a:t>
                          </a:r>
                          <a:endParaRPr lang="zh-CN" altLang="en-US" dirty="0"/>
                        </a:p>
                      </a:txBody>
                      <a:tcPr/>
                    </a:tc>
                    <a:extLst>
                      <a:ext uri="{0D108BD9-81ED-4DB2-BD59-A6C34878D82A}">
                        <a16:rowId xmlns:a16="http://schemas.microsoft.com/office/drawing/2014/main" val="2999873786"/>
                      </a:ext>
                    </a:extLst>
                  </a:tr>
                </a:tbl>
              </a:graphicData>
            </a:graphic>
          </p:graphicFrame>
        </mc:Choice>
        <mc:Fallback xmlns="">
          <p:graphicFrame>
            <p:nvGraphicFramePr>
              <p:cNvPr id="6" name="表格 5">
                <a:extLst>
                  <a:ext uri="{FF2B5EF4-FFF2-40B4-BE49-F238E27FC236}">
                    <a16:creationId xmlns:a16="http://schemas.microsoft.com/office/drawing/2014/main" id="{8382B189-2EA2-8781-1191-E86C85A74326}"/>
                  </a:ext>
                </a:extLst>
              </p:cNvPr>
              <p:cNvGraphicFramePr>
                <a:graphicFrameLocks noGrp="1"/>
              </p:cNvGraphicFramePr>
              <p:nvPr>
                <p:extLst>
                  <p:ext uri="{D42A27DB-BD31-4B8C-83A1-F6EECF244321}">
                    <p14:modId xmlns:p14="http://schemas.microsoft.com/office/powerpoint/2010/main" val="111388981"/>
                  </p:ext>
                </p:extLst>
              </p:nvPr>
            </p:nvGraphicFramePr>
            <p:xfrm>
              <a:off x="6948039" y="775700"/>
              <a:ext cx="3764784" cy="1635566"/>
            </p:xfrm>
            <a:graphic>
              <a:graphicData uri="http://schemas.openxmlformats.org/drawingml/2006/table">
                <a:tbl>
                  <a:tblPr firstRow="1" bandRow="1">
                    <a:tableStyleId>{5C22544A-7EE6-4342-B048-85BDC9FD1C3A}</a:tableStyleId>
                  </a:tblPr>
                  <a:tblGrid>
                    <a:gridCol w="1746018">
                      <a:extLst>
                        <a:ext uri="{9D8B030D-6E8A-4147-A177-3AD203B41FA5}">
                          <a16:colId xmlns:a16="http://schemas.microsoft.com/office/drawing/2014/main" val="3438015533"/>
                        </a:ext>
                      </a:extLst>
                    </a:gridCol>
                    <a:gridCol w="1030514">
                      <a:extLst>
                        <a:ext uri="{9D8B030D-6E8A-4147-A177-3AD203B41FA5}">
                          <a16:colId xmlns:a16="http://schemas.microsoft.com/office/drawing/2014/main" val="1195207352"/>
                        </a:ext>
                      </a:extLst>
                    </a:gridCol>
                    <a:gridCol w="988252">
                      <a:extLst>
                        <a:ext uri="{9D8B030D-6E8A-4147-A177-3AD203B41FA5}">
                          <a16:colId xmlns:a16="http://schemas.microsoft.com/office/drawing/2014/main" val="760418847"/>
                        </a:ext>
                      </a:extLst>
                    </a:gridCol>
                  </a:tblGrid>
                  <a:tr h="670560">
                    <a:tc>
                      <a:txBody>
                        <a:bodyPr/>
                        <a:lstStyle/>
                        <a:p>
                          <a:endParaRPr lang="zh-CN"/>
                        </a:p>
                      </a:txBody>
                      <a:tcPr>
                        <a:blipFill>
                          <a:blip r:embed="rId5"/>
                          <a:stretch>
                            <a:fillRect l="-725" t="-7547" r="-116667" b="-147170"/>
                          </a:stretch>
                        </a:blipFill>
                      </a:tcPr>
                    </a:tc>
                    <a:tc>
                      <a:txBody>
                        <a:bodyPr/>
                        <a:lstStyle/>
                        <a:p>
                          <a:r>
                            <a:rPr lang="zh-CN" altLang="en-US" dirty="0"/>
                            <a:t>升温</a:t>
                          </a:r>
                        </a:p>
                      </a:txBody>
                      <a:tcPr/>
                    </a:tc>
                    <a:tc>
                      <a:txBody>
                        <a:bodyPr/>
                        <a:lstStyle/>
                        <a:p>
                          <a:r>
                            <a:rPr lang="zh-CN" altLang="en-US" dirty="0"/>
                            <a:t>降温</a:t>
                          </a:r>
                        </a:p>
                      </a:txBody>
                      <a:tcPr/>
                    </a:tc>
                    <a:extLst>
                      <a:ext uri="{0D108BD9-81ED-4DB2-BD59-A6C34878D82A}">
                        <a16:rowId xmlns:a16="http://schemas.microsoft.com/office/drawing/2014/main" val="1534488883"/>
                      </a:ext>
                    </a:extLst>
                  </a:tr>
                  <a:tr h="482503">
                    <a:tc>
                      <a:txBody>
                        <a:bodyPr/>
                        <a:lstStyle/>
                        <a:p>
                          <a:r>
                            <a:rPr lang="en-US" altLang="zh-CN" dirty="0"/>
                            <a:t>500Hz</a:t>
                          </a:r>
                          <a:endParaRPr lang="zh-CN" altLang="en-US" dirty="0"/>
                        </a:p>
                      </a:txBody>
                      <a:tcPr/>
                    </a:tc>
                    <a:tc>
                      <a:txBody>
                        <a:bodyPr/>
                        <a:lstStyle/>
                        <a:p>
                          <a:r>
                            <a:rPr lang="en-US" altLang="zh-CN" dirty="0"/>
                            <a:t>53.0</a:t>
                          </a:r>
                          <a:endParaRPr lang="zh-CN" altLang="en-US" dirty="0"/>
                        </a:p>
                      </a:txBody>
                      <a:tcPr/>
                    </a:tc>
                    <a:tc>
                      <a:txBody>
                        <a:bodyPr/>
                        <a:lstStyle/>
                        <a:p>
                          <a:r>
                            <a:rPr lang="en-US" altLang="zh-CN" dirty="0"/>
                            <a:t>51.5</a:t>
                          </a:r>
                          <a:endParaRPr lang="zh-CN" altLang="en-US" dirty="0"/>
                        </a:p>
                      </a:txBody>
                      <a:tcPr/>
                    </a:tc>
                    <a:extLst>
                      <a:ext uri="{0D108BD9-81ED-4DB2-BD59-A6C34878D82A}">
                        <a16:rowId xmlns:a16="http://schemas.microsoft.com/office/drawing/2014/main" val="290740306"/>
                      </a:ext>
                    </a:extLst>
                  </a:tr>
                  <a:tr h="482503">
                    <a:tc>
                      <a:txBody>
                        <a:bodyPr/>
                        <a:lstStyle/>
                        <a:p>
                          <a:r>
                            <a:rPr lang="en-US" altLang="zh-CN" dirty="0"/>
                            <a:t>1000Hz</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53.5</a:t>
                          </a:r>
                          <a:endParaRPr lang="zh-CN" altLang="en-US" dirty="0"/>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altLang="zh-CN" dirty="0"/>
                            <a:t>51.5</a:t>
                          </a:r>
                          <a:endParaRPr lang="zh-CN" altLang="en-US" dirty="0"/>
                        </a:p>
                      </a:txBody>
                      <a:tcPr/>
                    </a:tc>
                    <a:extLst>
                      <a:ext uri="{0D108BD9-81ED-4DB2-BD59-A6C34878D82A}">
                        <a16:rowId xmlns:a16="http://schemas.microsoft.com/office/drawing/2014/main" val="2999873786"/>
                      </a:ext>
                    </a:extLst>
                  </a:tr>
                </a:tbl>
              </a:graphicData>
            </a:graphic>
          </p:graphicFrame>
        </mc:Fallback>
      </mc:AlternateContent>
      <p:sp>
        <p:nvSpPr>
          <p:cNvPr id="8" name="文本框 7">
            <a:extLst>
              <a:ext uri="{FF2B5EF4-FFF2-40B4-BE49-F238E27FC236}">
                <a16:creationId xmlns:a16="http://schemas.microsoft.com/office/drawing/2014/main" id="{10582E9C-2AD5-B734-4972-79803CED594B}"/>
              </a:ext>
            </a:extLst>
          </p:cNvPr>
          <p:cNvSpPr txBox="1"/>
          <p:nvPr/>
        </p:nvSpPr>
        <p:spPr>
          <a:xfrm>
            <a:off x="1086295" y="1385941"/>
            <a:ext cx="6378314" cy="523220"/>
          </a:xfrm>
          <a:prstGeom prst="rect">
            <a:avLst/>
          </a:prstGeom>
          <a:noFill/>
        </p:spPr>
        <p:txBody>
          <a:bodyPr wrap="square">
            <a:spAutoFit/>
          </a:bodyPr>
          <a:lstStyle/>
          <a:p>
            <a:pPr>
              <a:buFont typeface="Wingdings" pitchFamily="2" charset="2"/>
              <a:buChar char="Ø"/>
            </a:pPr>
            <a:r>
              <a:rPr lang="zh-CN" altLang="en-US" sz="2800" dirty="0">
                <a:latin typeface="SimSun" panose="02010600030101010101" pitchFamily="2" charset="-122"/>
                <a:ea typeface="SimSun" panose="02010600030101010101" pitchFamily="2" charset="-122"/>
              </a:rPr>
              <a:t>交流电频率对实验的影响</a:t>
            </a:r>
            <a:endParaRPr lang="en-US" altLang="zh-CN" sz="28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07376209"/>
      </p:ext>
    </p:extLst>
  </p:cSld>
  <p:clrMapOvr>
    <a:masterClrMapping/>
  </p:clrMapOvr>
  <p:transition spd="med">
    <p:pull/>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34404</TotalTime>
  <Words>3709</Words>
  <Application>Microsoft Macintosh PowerPoint</Application>
  <PresentationFormat>宽屏</PresentationFormat>
  <Paragraphs>395</Paragraphs>
  <Slides>32</Slides>
  <Notes>23</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54" baseType="lpstr">
      <vt:lpstr>DeepSeek-CJK-patch</vt:lpstr>
      <vt:lpstr>华文楷体</vt:lpstr>
      <vt:lpstr>SimSun</vt:lpstr>
      <vt:lpstr>SimSun</vt:lpstr>
      <vt:lpstr>微软雅黑</vt:lpstr>
      <vt:lpstr>KaiTi</vt:lpstr>
      <vt:lpstr>KaiTi</vt:lpstr>
      <vt:lpstr>黑体</vt:lpstr>
      <vt:lpstr>Arial</vt:lpstr>
      <vt:lpstr>Calibri</vt:lpstr>
      <vt:lpstr>Cambria Math</vt:lpstr>
      <vt:lpstr>Century Gothic</vt:lpstr>
      <vt:lpstr>Corbel</vt:lpstr>
      <vt:lpstr>Eras Light ITC</vt:lpstr>
      <vt:lpstr>Helvetica Neue</vt:lpstr>
      <vt:lpstr>Segoe UI Semilight</vt:lpstr>
      <vt:lpstr>Times New Roman</vt:lpstr>
      <vt:lpstr>Wingdings</vt:lpstr>
      <vt:lpstr>Wingdings 2</vt:lpstr>
      <vt:lpstr>Office 主题</vt:lpstr>
      <vt:lpstr>公式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 PLUS</dc:creator>
  <cp:keywords/>
  <dc:description/>
  <cp:lastModifiedBy>Microsoft Office User</cp:lastModifiedBy>
  <cp:revision>865</cp:revision>
  <dcterms:created xsi:type="dcterms:W3CDTF">2015-04-07T16:28:23Z</dcterms:created>
  <dcterms:modified xsi:type="dcterms:W3CDTF">2025-09-15T07:23:16Z</dcterms:modified>
  <cp:category/>
</cp:coreProperties>
</file>