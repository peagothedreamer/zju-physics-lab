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70" r:id="rId4"/>
    <p:sldId id="329" r:id="rId5"/>
    <p:sldId id="257" r:id="rId6"/>
    <p:sldId id="276" r:id="rId7"/>
    <p:sldId id="260" r:id="rId8"/>
    <p:sldId id="262" r:id="rId9"/>
    <p:sldId id="265" r:id="rId10"/>
    <p:sldId id="266" r:id="rId11"/>
    <p:sldId id="273" r:id="rId12"/>
    <p:sldId id="298" r:id="rId13"/>
    <p:sldId id="309" r:id="rId14"/>
    <p:sldId id="308" r:id="rId15"/>
    <p:sldId id="268" r:id="rId16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376"/>
    <a:srgbClr val="4A6B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28" d="100"/>
          <a:sy n="128" d="100"/>
        </p:scale>
        <p:origin x="456" y="176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2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EB991C-A667-4C77-A9B1-919900937702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FD608-BE46-4A9F-BB3A-8678B8AF4FE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8E59F-AD79-457A-A20D-A9F8E2DEF501}" type="datetime1">
              <a:rPr lang="en-US" altLang="zh-CN" smtClean="0"/>
              <a:t>7/16/25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342CF-21E2-43B9-A6AD-28B38984ED7C}" type="datetime1">
              <a:rPr lang="en-US" altLang="zh-CN" smtClean="0"/>
              <a:t>7/16/25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B9671-CCD1-408C-84C0-DFDFCE68F454}" type="datetime1">
              <a:rPr lang="en-US" altLang="zh-CN" smtClean="0"/>
              <a:t>7/16/25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79B2-A865-4FC5-9E95-AF3BBEEE7192}" type="datetime1">
              <a:rPr lang="en-US" altLang="zh-CN" smtClean="0"/>
              <a:t>7/16/25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B32BA-38E0-4CE3-8AA0-C90317FE1AB4}" type="datetime1">
              <a:rPr lang="en-US" altLang="zh-CN" smtClean="0"/>
              <a:t>7/16/25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5D15A-6A25-49EC-9CE9-7703FEED5A05}" type="datetime1">
              <a:rPr lang="en-US" altLang="zh-CN" smtClean="0"/>
              <a:t>7/16/25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8D1B-5629-4744-8947-A9064ECE98F2}" type="datetime1">
              <a:rPr lang="en-US" altLang="zh-CN" smtClean="0"/>
              <a:t>7/16/25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C6A19-78D0-48FB-A498-A3E07D11C791}" type="datetime1">
              <a:rPr lang="en-US" altLang="zh-CN" smtClean="0"/>
              <a:t>7/16/25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48C1-0749-4E22-82FC-288ABEB47E84}" type="datetime1">
              <a:rPr lang="en-US" altLang="zh-CN" smtClean="0"/>
              <a:t>7/16/25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AB3D3-D09E-425C-B27D-99AE699B3B31}" type="datetime1">
              <a:rPr lang="en-US" altLang="zh-CN" smtClean="0"/>
              <a:t>7/16/25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92DD9-BADF-4AF6-97DD-840C5787C1EA}" type="datetime1">
              <a:rPr lang="en-US" altLang="zh-CN" smtClean="0"/>
              <a:t>7/16/25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885F-1995-451E-8299-024C028FDD3A}" type="datetime1">
              <a:rPr lang="en-US" altLang="zh-CN" smtClean="0"/>
              <a:t>7/16/25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42909-FE2B-4087-A600-697DD86325B8}" type="datetime1">
              <a:rPr lang="en-US" altLang="zh-CN" smtClean="0"/>
              <a:t>7/16/25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4714-8E11-452F-808C-1DE87AD66F55}" type="datetime1">
              <a:rPr lang="en-US" altLang="zh-CN" smtClean="0"/>
              <a:t>7/16/25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7E5A5-40DF-438A-8D78-BB9A34ED2821}" type="datetime1">
              <a:rPr lang="en-US" altLang="zh-CN" smtClean="0"/>
              <a:t>7/16/25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E88A0-4370-43BB-962C-3BEA270032C9}" type="datetime1">
              <a:rPr lang="en-US" altLang="zh-CN" smtClean="0"/>
              <a:t>7/16/25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DA2F7F-B45B-4071-9C19-9A3B1E15B9B6}" type="datetime1">
              <a:rPr lang="en-US" altLang="zh-CN" smtClean="0"/>
              <a:t>7/16/25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36" name="图片 35" descr="图片1.jpg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5.wmf"/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4.wmf"/><Relationship Id="rId5" Type="http://schemas.openxmlformats.org/officeDocument/2006/relationships/image" Target="../media/image11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3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99415" y="1227455"/>
            <a:ext cx="11507470" cy="1577340"/>
          </a:xfrm>
        </p:spPr>
        <p:txBody>
          <a:bodyPr>
            <a:noAutofit/>
          </a:bodyPr>
          <a:lstStyle/>
          <a:p>
            <a:pPr algn="ctr"/>
            <a:r>
              <a:rPr lang="zh-CN" altLang="en-US" sz="6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用霍尔传感器测量磁场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矩形 4"/>
          <p:cNvSpPr/>
          <p:nvPr/>
        </p:nvSpPr>
        <p:spPr>
          <a:xfrm>
            <a:off x="-8551" y="4672004"/>
            <a:ext cx="12192000" cy="123425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 rot="16200000" flipV="1">
            <a:off x="10447003" y="4634619"/>
            <a:ext cx="1282079" cy="1300156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7" name="Freeform 96"/>
          <p:cNvSpPr/>
          <p:nvPr/>
        </p:nvSpPr>
        <p:spPr bwMode="auto">
          <a:xfrm>
            <a:off x="10716633" y="4926395"/>
            <a:ext cx="742823" cy="716604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6" tIns="45718" rIns="91436" bIns="45718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  <p:sp>
        <p:nvSpPr>
          <p:cNvPr id="8" name="文本框 16"/>
          <p:cNvSpPr txBox="1"/>
          <p:nvPr/>
        </p:nvSpPr>
        <p:spPr>
          <a:xfrm>
            <a:off x="3094869" y="4985385"/>
            <a:ext cx="5669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浙江大学物理实验教学中心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E66192C-720C-7C97-19BC-F39483E60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9" y="209688"/>
            <a:ext cx="4712251" cy="8134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5" name="圆角矩形 3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0</a:t>
            </a:r>
          </a:p>
        </p:txBody>
      </p:sp>
      <p:sp>
        <p:nvSpPr>
          <p:cNvPr id="36" name="文本框 44"/>
          <p:cNvSpPr txBox="1"/>
          <p:nvPr/>
        </p:nvSpPr>
        <p:spPr>
          <a:xfrm>
            <a:off x="647718" y="267581"/>
            <a:ext cx="1705610" cy="459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预备实验</a:t>
            </a:r>
          </a:p>
        </p:txBody>
      </p:sp>
      <p:sp>
        <p:nvSpPr>
          <p:cNvPr id="37" name="矩形 36"/>
          <p:cNvSpPr/>
          <p:nvPr/>
        </p:nvSpPr>
        <p:spPr>
          <a:xfrm>
            <a:off x="2573626" y="324999"/>
            <a:ext cx="3258185" cy="367030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PRELIMINARY EXPERIMENT </a:t>
            </a:r>
          </a:p>
        </p:txBody>
      </p:sp>
      <p:grpSp>
        <p:nvGrpSpPr>
          <p:cNvPr id="38" name="组 42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39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3" name="圆角矩形 42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圆角矩形 43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圆角矩形 44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圆角矩形 45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圆角矩形 46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1" name="圆角矩形 40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矩形 1"/>
          <p:cNvSpPr/>
          <p:nvPr/>
        </p:nvSpPr>
        <p:spPr>
          <a:xfrm>
            <a:off x="4709981" y="842365"/>
            <a:ext cx="2735580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地磁场测量</a:t>
            </a:r>
          </a:p>
        </p:txBody>
      </p:sp>
      <p:sp>
        <p:nvSpPr>
          <p:cNvPr id="3" name="任意多边形 2"/>
          <p:cNvSpPr/>
          <p:nvPr/>
        </p:nvSpPr>
        <p:spPr>
          <a:xfrm>
            <a:off x="1718310" y="1654810"/>
            <a:ext cx="9306560" cy="0"/>
          </a:xfrm>
          <a:custGeom>
            <a:avLst/>
            <a:gdLst>
              <a:gd name="connisteX0" fmla="*/ 0 w 9306560"/>
              <a:gd name="connsiteY0" fmla="*/ 0 h 107315"/>
              <a:gd name="connisteX1" fmla="*/ 9306560 w 9306560"/>
              <a:gd name="connsiteY1" fmla="*/ 107315 h 10731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9306560" h="107315">
                <a:moveTo>
                  <a:pt x="0" y="0"/>
                </a:moveTo>
                <a:cubicBezTo>
                  <a:pt x="3101975" y="35560"/>
                  <a:pt x="6204585" y="71755"/>
                  <a:pt x="9306560" y="107315"/>
                </a:cubicBezTo>
              </a:path>
            </a:pathLst>
          </a:custGeom>
          <a:noFill/>
          <a:ln w="12700">
            <a:solidFill>
              <a:schemeClr val="accent5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44"/>
          <p:cNvSpPr txBox="1"/>
          <p:nvPr/>
        </p:nvSpPr>
        <p:spPr>
          <a:xfrm>
            <a:off x="855345" y="2147570"/>
            <a:ext cx="6379210" cy="347535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altLang="zh-CN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1.</a:t>
            </a:r>
            <a:r>
              <a:rPr lang="zh-CN" altLang="en-US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利用手机下载</a:t>
            </a:r>
            <a:r>
              <a:rPr lang="en-US" altLang="zh-CN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“</a:t>
            </a:r>
            <a:r>
              <a:rPr lang="zh-CN" altLang="en-US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指南针</a:t>
            </a:r>
            <a:r>
              <a:rPr lang="en-US" altLang="zh-CN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”APP</a:t>
            </a:r>
            <a:r>
              <a:rPr lang="zh-CN" altLang="en-US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，将手机放置的实验仪器上，手机长边方向尽量与霍尔片</a:t>
            </a:r>
            <a:r>
              <a:rPr lang="en-US" altLang="zh-CN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Z</a:t>
            </a:r>
            <a:r>
              <a:rPr lang="zh-CN" altLang="en-US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轴方向一致。</a:t>
            </a:r>
          </a:p>
          <a:p>
            <a:r>
              <a:rPr lang="en-US" altLang="zh-CN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2.</a:t>
            </a:r>
            <a:r>
              <a:rPr lang="zh-CN" altLang="en-US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设置</a:t>
            </a:r>
            <a:r>
              <a:rPr lang="en-US" altLang="zh-CN" sz="2200" b="1" i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I</a:t>
            </a:r>
            <a:r>
              <a:rPr lang="en-US" altLang="zh-CN" sz="2200" b="1" baseline="-25000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M</a:t>
            </a:r>
            <a:r>
              <a:rPr lang="en-US" altLang="zh-CN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=0mA</a:t>
            </a:r>
            <a:r>
              <a:rPr lang="zh-CN" altLang="en-US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。</a:t>
            </a:r>
          </a:p>
          <a:p>
            <a:r>
              <a:rPr lang="en-US" altLang="zh-CN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3.</a:t>
            </a:r>
            <a:r>
              <a:rPr lang="zh-CN" altLang="en-US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然后转动实验仪器下的平台，使</a:t>
            </a:r>
            <a:r>
              <a:rPr lang="en-US" altLang="zh-CN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“</a:t>
            </a:r>
            <a:r>
              <a:rPr lang="zh-CN" altLang="en-US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指南针</a:t>
            </a:r>
            <a:r>
              <a:rPr lang="en-US" altLang="zh-CN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”</a:t>
            </a:r>
            <a:r>
              <a:rPr lang="zh-CN" altLang="en-US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指向东</a:t>
            </a:r>
            <a:r>
              <a:rPr lang="en-US" altLang="zh-CN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90</a:t>
            </a:r>
            <a:r>
              <a:rPr lang="en-US" altLang="en-US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°</a:t>
            </a:r>
            <a:r>
              <a:rPr lang="zh-CN" altLang="en-US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，使得地磁场方向与霍尔片</a:t>
            </a:r>
            <a:r>
              <a:rPr lang="en-US" altLang="zh-CN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轴方向平行，并把微特斯拉计调为零。</a:t>
            </a:r>
          </a:p>
          <a:p>
            <a:r>
              <a:rPr lang="en-US" altLang="zh-CN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4.</a:t>
            </a:r>
            <a:r>
              <a:rPr lang="zh-CN" altLang="en-US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继续转动平台，使</a:t>
            </a:r>
            <a:r>
              <a:rPr lang="en-US" altLang="zh-CN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“</a:t>
            </a:r>
            <a:r>
              <a:rPr lang="zh-CN" altLang="en-US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指南针</a:t>
            </a:r>
            <a:r>
              <a:rPr lang="en-US" altLang="zh-CN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”</a:t>
            </a:r>
            <a:r>
              <a:rPr lang="zh-CN" altLang="en-US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指向南</a:t>
            </a:r>
            <a:r>
              <a:rPr lang="en-US" altLang="zh-CN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180</a:t>
            </a:r>
            <a:r>
              <a:rPr lang="en-US" altLang="en-US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°</a:t>
            </a:r>
            <a:r>
              <a:rPr lang="zh-CN" altLang="en-US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，此时地磁场方向与霍尔传感器</a:t>
            </a:r>
            <a:r>
              <a:rPr lang="en-US" altLang="zh-CN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轴方向垂直。记录特斯拉计示值，这个示值就是地磁场的强度大小</a:t>
            </a:r>
            <a:r>
              <a:rPr lang="en-US" altLang="zh-CN" sz="2200" b="1" i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B</a:t>
            </a:r>
            <a:r>
              <a:rPr lang="zh-CN" altLang="en-US" sz="2200" b="1" baseline="-25000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地</a:t>
            </a:r>
            <a:r>
              <a:rPr lang="zh-CN" altLang="en-US" sz="2200" b="1" dirty="0">
                <a:solidFill>
                  <a:schemeClr val="tx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。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39063" t="31694" r="35911" b="23704"/>
          <a:stretch>
            <a:fillRect/>
          </a:stretch>
        </p:blipFill>
        <p:spPr>
          <a:xfrm>
            <a:off x="7730490" y="1897380"/>
            <a:ext cx="3966210" cy="39763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1215" y="2073910"/>
            <a:ext cx="7094220" cy="3999230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</a:pPr>
            <a:r>
              <a:rPr lang="en-US" altLang="zh-CN" sz="3200" b="1" dirty="0">
                <a:latin typeface="+mn-ea"/>
              </a:rPr>
              <a:t> 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霍尔做实验：</a:t>
            </a:r>
            <a:r>
              <a:rPr lang="zh-CN" altLang="en-US" sz="3200" b="1" dirty="0">
                <a:latin typeface="+mn-ea"/>
              </a:rPr>
              <a:t>他将附有黄铜的金箔固定，金箔两端接入电源，另两端附近放置磁体两极，将金箔与黄铜间接入电流计，使得元件两侧产生电势差。</a:t>
            </a:r>
          </a:p>
          <a:p>
            <a:pPr fontAlgn="auto">
              <a:lnSpc>
                <a:spcPct val="100000"/>
              </a:lnSpc>
            </a:pPr>
            <a:r>
              <a:rPr lang="en-US" altLang="zh-CN" sz="3200" b="1" dirty="0">
                <a:latin typeface="+mn-ea"/>
                <a:sym typeface="+mn-ea"/>
              </a:rPr>
              <a:t> 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+mn-ea"/>
              </a:rPr>
              <a:t>霍尔效应</a:t>
            </a:r>
            <a:r>
              <a:rPr lang="zh-CN" altLang="en-US" sz="3200" b="1" dirty="0">
                <a:latin typeface="+mn-ea"/>
              </a:rPr>
              <a:t>：当电流垂直于外磁场并通过导体时，导体两端产生电势差。</a:t>
            </a:r>
          </a:p>
          <a:p>
            <a:pPr fontAlgn="auto">
              <a:lnSpc>
                <a:spcPct val="100000"/>
              </a:lnSpc>
            </a:pPr>
            <a:r>
              <a:rPr lang="en-US" altLang="zh-CN" sz="3200" b="1" dirty="0">
                <a:latin typeface="+mn-ea"/>
              </a:rPr>
              <a:t> 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+mn-ea"/>
              </a:rPr>
              <a:t>霍尔效应器件</a:t>
            </a:r>
            <a:r>
              <a:rPr lang="zh-CN" altLang="en-US" sz="3200" b="1" dirty="0">
                <a:latin typeface="+mn-ea"/>
                <a:sym typeface="+mn-ea"/>
              </a:rPr>
              <a:t>：</a:t>
            </a:r>
            <a:r>
              <a:rPr lang="zh-CN" altLang="en-US" sz="3200" b="1" dirty="0">
                <a:latin typeface="+mn-ea"/>
              </a:rPr>
              <a:t>霍尔传感器。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230870" y="5515610"/>
            <a:ext cx="32226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埃德温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幼圆" panose="02010509060101010101" charset="-122"/>
                <a:sym typeface="+mn-ea"/>
              </a:rPr>
              <a:t>·</a:t>
            </a:r>
            <a:r>
              <a:rPr lang="zh-CN" altLang="en-US" b="1" dirty="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霍尔</a:t>
            </a:r>
            <a:r>
              <a:rPr lang="zh-CN" b="1" dirty="0"/>
              <a:t>（美国）</a:t>
            </a:r>
            <a:endParaRPr lang="zh-CN" altLang="en-US" b="1" dirty="0"/>
          </a:p>
          <a:p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）发现霍尔效应。</a:t>
            </a:r>
          </a:p>
          <a:p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）研究热电效应。</a:t>
            </a:r>
          </a:p>
        </p:txBody>
      </p:sp>
      <p:sp>
        <p:nvSpPr>
          <p:cNvPr id="22" name="矩形 21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24" name="文本框 44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实验背景</a:t>
            </a:r>
          </a:p>
        </p:txBody>
      </p:sp>
      <p:sp>
        <p:nvSpPr>
          <p:cNvPr id="25" name="矩形 24"/>
          <p:cNvSpPr/>
          <p:nvPr/>
        </p:nvSpPr>
        <p:spPr>
          <a:xfrm>
            <a:off x="2380204" y="324999"/>
            <a:ext cx="3645029" cy="384717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EXPERIMENT BACKGROUNDS</a:t>
            </a:r>
          </a:p>
        </p:txBody>
      </p:sp>
      <p:grpSp>
        <p:nvGrpSpPr>
          <p:cNvPr id="26" name="组 42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27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31" name="圆角矩形 30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圆角矩形 31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圆角矩形 32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圆角矩形 33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圆角矩形 3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8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29" name="圆角矩形 28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9" name="矩形 18"/>
          <p:cNvSpPr/>
          <p:nvPr/>
        </p:nvSpPr>
        <p:spPr>
          <a:xfrm>
            <a:off x="3490317" y="842764"/>
            <a:ext cx="5288280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霍尔效应法磁场测量者</a:t>
            </a:r>
          </a:p>
        </p:txBody>
      </p:sp>
      <p:sp>
        <p:nvSpPr>
          <p:cNvPr id="7" name="任意多边形 6"/>
          <p:cNvSpPr/>
          <p:nvPr/>
        </p:nvSpPr>
        <p:spPr>
          <a:xfrm>
            <a:off x="1718310" y="1654810"/>
            <a:ext cx="9306560" cy="0"/>
          </a:xfrm>
          <a:custGeom>
            <a:avLst/>
            <a:gdLst>
              <a:gd name="connisteX0" fmla="*/ 0 w 9306560"/>
              <a:gd name="connsiteY0" fmla="*/ 0 h 107315"/>
              <a:gd name="connisteX1" fmla="*/ 9306560 w 9306560"/>
              <a:gd name="connsiteY1" fmla="*/ 107315 h 10731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9306560" h="107315">
                <a:moveTo>
                  <a:pt x="0" y="0"/>
                </a:moveTo>
                <a:cubicBezTo>
                  <a:pt x="3101975" y="35560"/>
                  <a:pt x="6204585" y="71755"/>
                  <a:pt x="9306560" y="107315"/>
                </a:cubicBezTo>
              </a:path>
            </a:pathLst>
          </a:custGeom>
          <a:noFill/>
          <a:ln w="12700">
            <a:solidFill>
              <a:schemeClr val="accent5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src=http_%2F%2Ftxt22262.book118.com%2F2017%2F0422%2Fbook101064%2F101063003.jpg&amp;refer=http_%2F%2Ftxt22262.book118.jpg"/>
          <p:cNvPicPr>
            <a:picLocks noChangeAspect="1"/>
          </p:cNvPicPr>
          <p:nvPr/>
        </p:nvPicPr>
        <p:blipFill>
          <a:blip r:embed="rId2" cstate="print"/>
          <a:srcRect b="24628"/>
          <a:stretch>
            <a:fillRect/>
          </a:stretch>
        </p:blipFill>
        <p:spPr>
          <a:xfrm>
            <a:off x="8134350" y="1891030"/>
            <a:ext cx="3217545" cy="35960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35685" y="2142490"/>
            <a:ext cx="4946015" cy="3835400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</a:pPr>
            <a:r>
              <a:rPr lang="en-US" altLang="zh-CN" sz="3200" b="1" dirty="0">
                <a:latin typeface="+mn-ea"/>
              </a:rPr>
              <a:t> </a:t>
            </a:r>
            <a:r>
              <a:rPr lang="zh-CN" altLang="en-US" sz="3200" b="1" dirty="0">
                <a:latin typeface="+mn-ea"/>
              </a:rPr>
              <a:t>反常霍尔效应</a:t>
            </a:r>
          </a:p>
          <a:p>
            <a:pPr fontAlgn="auto">
              <a:lnSpc>
                <a:spcPct val="100000"/>
              </a:lnSpc>
            </a:pPr>
            <a:r>
              <a:rPr lang="en-US" altLang="zh-CN" sz="3200" b="1" dirty="0">
                <a:latin typeface="+mn-ea"/>
                <a:sym typeface="+mn-ea"/>
              </a:rPr>
              <a:t> </a:t>
            </a:r>
            <a:r>
              <a:rPr lang="zh-CN" altLang="en-US" sz="3200" b="1" dirty="0">
                <a:latin typeface="+mn-ea"/>
              </a:rPr>
              <a:t>量子霍尔效应</a:t>
            </a:r>
          </a:p>
          <a:p>
            <a:pPr fontAlgn="auto">
              <a:lnSpc>
                <a:spcPct val="100000"/>
              </a:lnSpc>
            </a:pPr>
            <a:r>
              <a:rPr lang="en-US" altLang="zh-CN" sz="3200" b="1" dirty="0">
                <a:latin typeface="+mn-ea"/>
              </a:rPr>
              <a:t> </a:t>
            </a:r>
            <a:r>
              <a:rPr lang="zh-CN" altLang="en-US" sz="3200" b="1" dirty="0">
                <a:latin typeface="+mn-ea"/>
                <a:sym typeface="+mn-ea"/>
              </a:rPr>
              <a:t>分数量子霍尔效应</a:t>
            </a:r>
            <a:endParaRPr lang="zh-CN" altLang="en-US" sz="3200" b="1" dirty="0">
              <a:latin typeface="+mn-ea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3200" b="1" dirty="0">
                <a:latin typeface="+mn-ea"/>
              </a:rPr>
              <a:t> </a:t>
            </a:r>
            <a:r>
              <a:rPr lang="zh-CN" altLang="en-US" sz="3200" b="1" dirty="0">
                <a:latin typeface="+mn-ea"/>
              </a:rPr>
              <a:t>量子反常霍尔效应</a:t>
            </a:r>
          </a:p>
          <a:p>
            <a:pPr fontAlgn="auto">
              <a:lnSpc>
                <a:spcPct val="100000"/>
              </a:lnSpc>
            </a:pPr>
            <a:r>
              <a:rPr lang="en-US" altLang="zh-CN" sz="3200" b="1" dirty="0">
                <a:latin typeface="+mn-ea"/>
              </a:rPr>
              <a:t> </a:t>
            </a:r>
            <a:r>
              <a:rPr lang="zh-CN" altLang="en-US" sz="3200" b="1" dirty="0">
                <a:latin typeface="+mn-ea"/>
              </a:rPr>
              <a:t>自旋霍尔效应</a:t>
            </a:r>
          </a:p>
          <a:p>
            <a:pPr fontAlgn="auto">
              <a:lnSpc>
                <a:spcPct val="100000"/>
              </a:lnSpc>
            </a:pPr>
            <a:r>
              <a:rPr lang="zh-CN" altLang="en-US" sz="3200" b="1" dirty="0">
                <a:latin typeface="+mn-ea"/>
              </a:rPr>
              <a:t>半整数量子霍尔效应</a:t>
            </a:r>
          </a:p>
        </p:txBody>
      </p:sp>
      <p:sp>
        <p:nvSpPr>
          <p:cNvPr id="22" name="矩形 21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24" name="文本框 44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实验背景</a:t>
            </a:r>
          </a:p>
        </p:txBody>
      </p:sp>
      <p:sp>
        <p:nvSpPr>
          <p:cNvPr id="25" name="矩形 24"/>
          <p:cNvSpPr/>
          <p:nvPr/>
        </p:nvSpPr>
        <p:spPr>
          <a:xfrm>
            <a:off x="2380204" y="324999"/>
            <a:ext cx="3645029" cy="384717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EXPERIMENT BACKGROUNDS</a:t>
            </a:r>
          </a:p>
        </p:txBody>
      </p:sp>
      <p:grpSp>
        <p:nvGrpSpPr>
          <p:cNvPr id="26" name="组 42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27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31" name="圆角矩形 30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圆角矩形 31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圆角矩形 32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圆角矩形 33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圆角矩形 3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8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29" name="圆角矩形 28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9" name="矩形 18"/>
          <p:cNvSpPr/>
          <p:nvPr/>
        </p:nvSpPr>
        <p:spPr>
          <a:xfrm>
            <a:off x="3490317" y="842764"/>
            <a:ext cx="4244340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霍尔效应</a:t>
            </a:r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大家族</a:t>
            </a:r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</a:p>
        </p:txBody>
      </p:sp>
      <p:sp>
        <p:nvSpPr>
          <p:cNvPr id="7" name="任意多边形 6"/>
          <p:cNvSpPr/>
          <p:nvPr/>
        </p:nvSpPr>
        <p:spPr>
          <a:xfrm>
            <a:off x="1718310" y="1654810"/>
            <a:ext cx="9306560" cy="0"/>
          </a:xfrm>
          <a:custGeom>
            <a:avLst/>
            <a:gdLst>
              <a:gd name="connisteX0" fmla="*/ 0 w 9306560"/>
              <a:gd name="connsiteY0" fmla="*/ 0 h 107315"/>
              <a:gd name="connisteX1" fmla="*/ 9306560 w 9306560"/>
              <a:gd name="connsiteY1" fmla="*/ 107315 h 10731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9306560" h="107315">
                <a:moveTo>
                  <a:pt x="0" y="0"/>
                </a:moveTo>
                <a:cubicBezTo>
                  <a:pt x="3101975" y="35560"/>
                  <a:pt x="6204585" y="71755"/>
                  <a:pt x="9306560" y="107315"/>
                </a:cubicBezTo>
              </a:path>
            </a:pathLst>
          </a:custGeom>
          <a:noFill/>
          <a:ln w="12700">
            <a:solidFill>
              <a:schemeClr val="accent5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6322695" y="1814830"/>
            <a:ext cx="2127885" cy="2280920"/>
            <a:chOff x="9405" y="2858"/>
            <a:chExt cx="3351" cy="3592"/>
          </a:xfrm>
        </p:grpSpPr>
        <p:pic>
          <p:nvPicPr>
            <p:cNvPr id="8" name="图片 7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600" y="2858"/>
              <a:ext cx="2692" cy="3496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9405" y="5628"/>
              <a:ext cx="3351" cy="8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/>
              <a:r>
                <a:rPr lang="zh-CN" altLang="en-US" sz="1400" b="1" i="0">
                  <a:solidFill>
                    <a:srgbClr val="FFFF00"/>
                  </a:solidFill>
                  <a:latin typeface="Helvetica Neue"/>
                  <a:ea typeface="Helvetica Neue"/>
                </a:rPr>
                <a:t>克劳斯</a:t>
              </a:r>
              <a:r>
                <a:rPr lang="en-US" altLang="zh-CN" sz="1400" b="1" i="0">
                  <a:solidFill>
                    <a:srgbClr val="FFFF00"/>
                  </a:solidFill>
                  <a:latin typeface="Helvetica Neue"/>
                  <a:ea typeface="Helvetica Neue"/>
                </a:rPr>
                <a:t>·</a:t>
              </a:r>
              <a:r>
                <a:rPr lang="zh-CN" altLang="en-US" sz="1400" b="1" i="0">
                  <a:solidFill>
                    <a:srgbClr val="FFFF00"/>
                  </a:solidFill>
                  <a:latin typeface="Helvetica Neue"/>
                  <a:ea typeface="Helvetica Neue"/>
                </a:rPr>
                <a:t>冯</a:t>
              </a:r>
              <a:r>
                <a:rPr lang="en-US" altLang="zh-CN" sz="1400" b="1" i="0">
                  <a:solidFill>
                    <a:srgbClr val="FFFF00"/>
                  </a:solidFill>
                  <a:latin typeface="Helvetica Neue"/>
                  <a:ea typeface="Helvetica Neue"/>
                </a:rPr>
                <a:t>·</a:t>
              </a:r>
              <a:r>
                <a:rPr lang="zh-CN" altLang="en-US" sz="1400" b="1" i="0">
                  <a:solidFill>
                    <a:srgbClr val="FFFF00"/>
                  </a:solidFill>
                  <a:latin typeface="Helvetica Neue"/>
                  <a:ea typeface="Helvetica Neue"/>
                </a:rPr>
                <a:t>克利钦</a:t>
              </a:r>
            </a:p>
            <a:p>
              <a:pPr marL="0" indent="0"/>
              <a:r>
                <a:rPr lang="zh-CN" altLang="en-US" sz="1400" b="1" i="0">
                  <a:solidFill>
                    <a:srgbClr val="FFFF00"/>
                  </a:solidFill>
                  <a:latin typeface="Helvetica Neue"/>
                  <a:ea typeface="Helvetica Neue"/>
                </a:rPr>
                <a:t>诺贝尔物理学奖获得者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332220" y="4236720"/>
            <a:ext cx="2066290" cy="2233930"/>
            <a:chOff x="9420" y="7176"/>
            <a:chExt cx="3254" cy="3518"/>
          </a:xfrm>
        </p:grpSpPr>
        <p:pic>
          <p:nvPicPr>
            <p:cNvPr id="12" name="图片 11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9599" y="7176"/>
              <a:ext cx="2693" cy="3507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9420" y="9918"/>
              <a:ext cx="3255" cy="77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indent="0"/>
              <a:r>
                <a:rPr lang="en-US" altLang="zh-CN" sz="1400" b="1" i="0">
                  <a:solidFill>
                    <a:srgbClr val="FFFF00"/>
                  </a:solidFill>
                  <a:latin typeface="Helvetica Neue"/>
                  <a:ea typeface="Helvetica Neue"/>
                </a:rPr>
                <a:t>    </a:t>
              </a:r>
              <a:r>
                <a:rPr lang="zh-CN" altLang="en-US" sz="1400" b="1" i="0">
                  <a:solidFill>
                    <a:srgbClr val="FFFF00"/>
                  </a:solidFill>
                  <a:latin typeface="Helvetica Neue"/>
                  <a:ea typeface="Helvetica Neue"/>
                </a:rPr>
                <a:t>安德烈</a:t>
              </a:r>
              <a:r>
                <a:rPr lang="en-US" altLang="zh-CN" sz="1400" b="1" i="0">
                  <a:solidFill>
                    <a:srgbClr val="FFFF00"/>
                  </a:solidFill>
                  <a:latin typeface="Helvetica Neue"/>
                  <a:ea typeface="Helvetica Neue"/>
                </a:rPr>
                <a:t>·</a:t>
              </a:r>
              <a:r>
                <a:rPr lang="zh-CN" altLang="en-US" sz="1400" b="1" i="0">
                  <a:solidFill>
                    <a:srgbClr val="FFFF00"/>
                  </a:solidFill>
                  <a:latin typeface="Helvetica Neue"/>
                  <a:ea typeface="Helvetica Neue"/>
                </a:rPr>
                <a:t>海姆</a:t>
              </a:r>
            </a:p>
            <a:p>
              <a:pPr marL="0" indent="0"/>
              <a:r>
                <a:rPr lang="zh-CN" altLang="en-US" sz="1400" b="1">
                  <a:solidFill>
                    <a:srgbClr val="FFFF00"/>
                  </a:solidFill>
                  <a:latin typeface="Helvetica Neue"/>
                  <a:ea typeface="Helvetica Neue"/>
                  <a:sym typeface="+mn-ea"/>
                </a:rPr>
                <a:t>诺贝尔物理学奖获得者</a:t>
              </a:r>
              <a:endParaRPr lang="zh-CN" altLang="en-US" sz="1400" b="1" i="0">
                <a:solidFill>
                  <a:srgbClr val="FFFF00"/>
                </a:solidFill>
                <a:latin typeface="Helvetica Neue"/>
                <a:ea typeface="Helvetica Neue"/>
              </a:endParaRPr>
            </a:p>
            <a:p>
              <a:pPr marL="0" indent="0"/>
              <a:endParaRPr lang="zh-CN" altLang="en-US" sz="1400" b="1" i="0">
                <a:solidFill>
                  <a:srgbClr val="FFFF00"/>
                </a:solidFill>
                <a:latin typeface="Helvetica Neue"/>
                <a:ea typeface="Helvetica Neue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8757920" y="1814830"/>
            <a:ext cx="2183765" cy="2246630"/>
            <a:chOff x="15138" y="1745"/>
            <a:chExt cx="3439" cy="3538"/>
          </a:xfrm>
        </p:grpSpPr>
        <p:pic>
          <p:nvPicPr>
            <p:cNvPr id="11" name="图片 10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5294" y="1745"/>
              <a:ext cx="2692" cy="3496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15138" y="4461"/>
              <a:ext cx="3439" cy="8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/>
              <a:r>
                <a:rPr lang="en-US" altLang="zh-CN" sz="1400" b="1" i="0">
                  <a:solidFill>
                    <a:srgbClr val="FFFF00"/>
                  </a:solidFill>
                  <a:latin typeface="Helvetica Neue"/>
                  <a:ea typeface="Helvetica Neue"/>
                </a:rPr>
                <a:t>        </a:t>
              </a:r>
              <a:r>
                <a:rPr lang="zh-CN" altLang="en-US" sz="1400" b="1" i="0">
                  <a:solidFill>
                    <a:srgbClr val="FFFF00"/>
                  </a:solidFill>
                  <a:latin typeface="Helvetica Neue"/>
                  <a:ea typeface="Helvetica Neue"/>
                </a:rPr>
                <a:t>崔琦</a:t>
              </a:r>
            </a:p>
            <a:p>
              <a:pPr marL="0" indent="0"/>
              <a:r>
                <a:rPr lang="zh-CN" altLang="en-US" sz="1400" b="1">
                  <a:solidFill>
                    <a:srgbClr val="FFFF00"/>
                  </a:solidFill>
                  <a:latin typeface="Helvetica Neue"/>
                  <a:ea typeface="Helvetica Neue"/>
                  <a:sym typeface="+mn-ea"/>
                </a:rPr>
                <a:t>诺贝尔物理学奖获得者</a:t>
              </a:r>
              <a:endParaRPr lang="zh-CN" altLang="en-US" sz="1400" b="1" i="0">
                <a:solidFill>
                  <a:srgbClr val="FFFF00"/>
                </a:solidFill>
                <a:latin typeface="Helvetica Neue"/>
                <a:ea typeface="Helvetica Neue"/>
                <a:sym typeface="+mn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819515" y="4225290"/>
            <a:ext cx="2090420" cy="2254885"/>
            <a:chOff x="15285" y="6125"/>
            <a:chExt cx="3292" cy="3551"/>
          </a:xfrm>
        </p:grpSpPr>
        <p:pic>
          <p:nvPicPr>
            <p:cNvPr id="4" name="图片 3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15344" y="6125"/>
              <a:ext cx="2692" cy="3497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15285" y="8854"/>
              <a:ext cx="3292" cy="8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/>
              <a:r>
                <a:rPr lang="en-US" altLang="zh-CN" sz="1400" b="1" i="0">
                  <a:solidFill>
                    <a:srgbClr val="FFFF00"/>
                  </a:solidFill>
                  <a:latin typeface="Helvetica Neue"/>
                  <a:ea typeface="Helvetica Neue"/>
                </a:rPr>
                <a:t>       </a:t>
              </a:r>
              <a:r>
                <a:rPr lang="zh-CN" altLang="en-US" sz="1400" b="1" i="0">
                  <a:solidFill>
                    <a:srgbClr val="FFFF00"/>
                  </a:solidFill>
                  <a:latin typeface="Helvetica Neue"/>
                  <a:ea typeface="Helvetica Neue"/>
                </a:rPr>
                <a:t>薛其坤</a:t>
              </a:r>
            </a:p>
            <a:p>
              <a:pPr marL="0" indent="0"/>
              <a:r>
                <a:rPr lang="zh-CN" altLang="en-US" sz="1400" b="1" i="0">
                  <a:solidFill>
                    <a:srgbClr val="FFFF00"/>
                  </a:solidFill>
                  <a:latin typeface="Helvetica Neue"/>
                  <a:ea typeface="Helvetica Neue"/>
                </a:rPr>
                <a:t>国家最高科学技术奖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/>
          <p:nvPr/>
        </p:nvSpPr>
        <p:spPr>
          <a:xfrm>
            <a:off x="1479550" y="1548130"/>
            <a:ext cx="9439275" cy="3895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buNone/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1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、了解霍尔效应基本原理和工作特性。</a:t>
            </a:r>
            <a:endParaRPr lang="en-US" altLang="zh-C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pPr>
              <a:lnSpc>
                <a:spcPct val="200000"/>
              </a:lnSpc>
              <a:buNone/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2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、测定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+mn-ea"/>
              </a:rPr>
              <a:t>亥姆霍兹线圈磁场分布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。</a:t>
            </a:r>
            <a:endParaRPr lang="en-US" altLang="zh-C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pPr>
              <a:lnSpc>
                <a:spcPct val="200000"/>
              </a:lnSpc>
              <a:buNone/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3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、掌握磁场测量方法。</a:t>
            </a:r>
            <a:endParaRPr lang="en-US" altLang="zh-C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5</a:t>
            </a:fld>
            <a:endParaRPr lang="en-US" dirty="0"/>
          </a:p>
        </p:txBody>
      </p:sp>
      <p:sp>
        <p:nvSpPr>
          <p:cNvPr id="8" name="矩形 7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文本框 395"/>
          <p:cNvSpPr txBox="1"/>
          <p:nvPr/>
        </p:nvSpPr>
        <p:spPr>
          <a:xfrm>
            <a:off x="647718" y="267581"/>
            <a:ext cx="1705610" cy="459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实验要求</a:t>
            </a:r>
          </a:p>
        </p:txBody>
      </p:sp>
      <p:sp>
        <p:nvSpPr>
          <p:cNvPr id="11" name="矩形 10"/>
          <p:cNvSpPr/>
          <p:nvPr/>
        </p:nvSpPr>
        <p:spPr>
          <a:xfrm>
            <a:off x="2743171" y="324999"/>
            <a:ext cx="2919095" cy="397510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REQUIRE</a:t>
            </a:r>
          </a:p>
        </p:txBody>
      </p:sp>
      <p:grpSp>
        <p:nvGrpSpPr>
          <p:cNvPr id="12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13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17" name="圆角矩形 16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圆角矩形 17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圆角矩形 18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圆角矩形 19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圆角矩形 20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15" name="圆角矩形 14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59045" y="850265"/>
            <a:ext cx="3070860" cy="80835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+mn-ea"/>
              </a:rPr>
              <a:t>霍尔效应</a:t>
            </a:r>
            <a:b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+mn-ea"/>
              </a:rPr>
            </a:br>
            <a:endParaRPr lang="en-US" altLang="zh-C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+mn-ea"/>
            </a:endParaRPr>
          </a:p>
        </p:txBody>
      </p:sp>
      <p:sp>
        <p:nvSpPr>
          <p:cNvPr id="2051" name="灯片编号占位符 20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6</a:t>
            </a:fld>
            <a:endParaRPr lang="en-US" dirty="0"/>
          </a:p>
        </p:txBody>
      </p:sp>
      <p:sp>
        <p:nvSpPr>
          <p:cNvPr id="36" name="矩形 35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7" name="圆角矩形 36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8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" name="矩形 38"/>
          <p:cNvSpPr/>
          <p:nvPr/>
        </p:nvSpPr>
        <p:spPr>
          <a:xfrm>
            <a:off x="263344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40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5" name="圆角矩形 4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圆角矩形 4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圆角矩形 4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圆角矩形 4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圆角矩形 4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3" name="圆角矩形 4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4" name="矩形 3"/>
          <p:cNvSpPr/>
          <p:nvPr/>
        </p:nvSpPr>
        <p:spPr>
          <a:xfrm>
            <a:off x="11300346" y="5288507"/>
            <a:ext cx="815455" cy="320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411357" y="2452370"/>
            <a:ext cx="468083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zh-CN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  <a:sym typeface="+mn-ea"/>
              </a:rPr>
              <a:t>在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  <a:sym typeface="+mn-ea"/>
              </a:rPr>
              <a:t>方向通电流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32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lang="zh-CN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  <a:sym typeface="+mn-ea"/>
              </a:rPr>
              <a:t>，在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  <a:sym typeface="+mn-ea"/>
              </a:rPr>
              <a:t>z</a:t>
            </a:r>
            <a:r>
              <a:rPr lang="zh-CN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  <a:sym typeface="+mn-ea"/>
              </a:rPr>
              <a:t>方向加磁场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zh-CN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  <a:sym typeface="+mn-ea"/>
              </a:rPr>
              <a:t>，则在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  <a:sym typeface="+mn-ea"/>
              </a:rPr>
              <a:t>y</a:t>
            </a:r>
            <a:r>
              <a:rPr lang="zh-CN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  <a:sym typeface="+mn-ea"/>
              </a:rPr>
              <a:t>方向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  <a:sym typeface="+mn-ea"/>
              </a:rPr>
              <a:t>,</a:t>
            </a:r>
            <a:r>
              <a:rPr lang="zh-CN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  <a:sym typeface="+mn-ea"/>
              </a:rPr>
              <a:t>即试样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  <a:sym typeface="+mn-ea"/>
              </a:rPr>
              <a:t>P</a:t>
            </a:r>
            <a:r>
              <a:rPr lang="zh-CN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lang="zh-CN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  <a:sym typeface="+mn-ea"/>
              </a:rPr>
              <a:t>电极两侧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  <a:sym typeface="+mn-ea"/>
              </a:rPr>
              <a:t>就开始聚积等量异号电荷，从而产生相应的附加电场。</a:t>
            </a:r>
            <a:endParaRPr lang="zh-CN" altLang="zh-CN" sz="3200" b="1" i="0" dirty="0">
              <a:solidFill>
                <a:schemeClr val="tx1"/>
              </a:solidFill>
              <a:latin typeface="Times New Roman" panose="02020603050405020304" pitchFamily="18" charset="0"/>
              <a:ea typeface="幼圆" panose="020105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1718310" y="1654810"/>
            <a:ext cx="9306560" cy="0"/>
          </a:xfrm>
          <a:custGeom>
            <a:avLst/>
            <a:gdLst>
              <a:gd name="connisteX0" fmla="*/ 0 w 9306560"/>
              <a:gd name="connsiteY0" fmla="*/ 0 h 107315"/>
              <a:gd name="connisteX1" fmla="*/ 9306560 w 9306560"/>
              <a:gd name="connsiteY1" fmla="*/ 107315 h 10731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9306560" h="107315">
                <a:moveTo>
                  <a:pt x="0" y="0"/>
                </a:moveTo>
                <a:cubicBezTo>
                  <a:pt x="3101975" y="35560"/>
                  <a:pt x="6204585" y="71755"/>
                  <a:pt x="9306560" y="107315"/>
                </a:cubicBezTo>
              </a:path>
            </a:pathLst>
          </a:custGeom>
          <a:noFill/>
          <a:ln w="12700">
            <a:solidFill>
              <a:schemeClr val="accent5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6962140" y="1838960"/>
            <a:ext cx="3930650" cy="4432300"/>
            <a:chOff x="10964" y="2896"/>
            <a:chExt cx="6190" cy="698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54256" t="31840" r="18752" b="14041"/>
            <a:stretch>
              <a:fillRect/>
            </a:stretch>
          </p:blipFill>
          <p:spPr>
            <a:xfrm>
              <a:off x="10964" y="2896"/>
              <a:ext cx="6190" cy="6981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13590" y="9048"/>
              <a:ext cx="1442" cy="4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32200" y="867410"/>
            <a:ext cx="6313170" cy="1233170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+mn-ea"/>
              </a:rPr>
              <a:t>磁场强度测定公式</a:t>
            </a:r>
            <a:b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+mn-ea"/>
              </a:rPr>
            </a:br>
            <a:endParaRPr lang="en-US" altLang="zh-C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+mn-ea"/>
            </a:endParaRPr>
          </a:p>
        </p:txBody>
      </p:sp>
      <p:sp>
        <p:nvSpPr>
          <p:cNvPr id="2051" name="灯片编号占位符 20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7</a:t>
            </a:fld>
            <a:endParaRPr lang="en-US" dirty="0"/>
          </a:p>
        </p:txBody>
      </p:sp>
      <p:sp>
        <p:nvSpPr>
          <p:cNvPr id="36" name="矩形 35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7" name="圆角矩形 36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8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" name="矩形 38"/>
          <p:cNvSpPr/>
          <p:nvPr/>
        </p:nvSpPr>
        <p:spPr>
          <a:xfrm>
            <a:off x="263344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40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5" name="圆角矩形 4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圆角矩形 4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圆角矩形 4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圆角矩形 4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圆角矩形 4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3" name="圆角矩形 4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4" name="矩形 3"/>
          <p:cNvSpPr/>
          <p:nvPr/>
        </p:nvSpPr>
        <p:spPr>
          <a:xfrm>
            <a:off x="11300346" y="5288507"/>
            <a:ext cx="815455" cy="320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>
            <a:off x="1718310" y="1654810"/>
            <a:ext cx="9306560" cy="0"/>
          </a:xfrm>
          <a:custGeom>
            <a:avLst/>
            <a:gdLst>
              <a:gd name="connisteX0" fmla="*/ 0 w 9306560"/>
              <a:gd name="connsiteY0" fmla="*/ 0 h 107315"/>
              <a:gd name="connisteX1" fmla="*/ 9306560 w 9306560"/>
              <a:gd name="connsiteY1" fmla="*/ 107315 h 10731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9306560" h="107315">
                <a:moveTo>
                  <a:pt x="0" y="0"/>
                </a:moveTo>
                <a:cubicBezTo>
                  <a:pt x="3101975" y="35560"/>
                  <a:pt x="6204585" y="71755"/>
                  <a:pt x="9306560" y="107315"/>
                </a:cubicBezTo>
              </a:path>
            </a:pathLst>
          </a:custGeom>
          <a:noFill/>
          <a:ln w="12700">
            <a:solidFill>
              <a:schemeClr val="accent5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6308080" y="2998620"/>
          <a:ext cx="1710001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23900" imgH="228600" progId="Equation.3">
                  <p:embed/>
                </p:oleObj>
              </mc:Choice>
              <mc:Fallback>
                <p:oleObj r:id="rId2" imgW="723900" imgH="228600" progId="Equation.3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8080" y="2998620"/>
                        <a:ext cx="1710001" cy="54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9"/>
          <p:cNvGraphicFramePr>
            <a:graphicFrameLocks noChangeAspect="1"/>
          </p:cNvGraphicFramePr>
          <p:nvPr/>
        </p:nvGraphicFramePr>
        <p:xfrm>
          <a:off x="3906363" y="4588024"/>
          <a:ext cx="1953750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25500" imgH="228600" progId="Equation.3">
                  <p:embed/>
                </p:oleObj>
              </mc:Choice>
              <mc:Fallback>
                <p:oleObj r:id="rId4" imgW="825500" imgH="228600" progId="Equation.3">
                  <p:embed/>
                  <p:pic>
                    <p:nvPicPr>
                      <p:cNvPr id="0" name="Picture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6363" y="4588024"/>
                        <a:ext cx="1953750" cy="54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1"/>
          <p:cNvGraphicFramePr>
            <a:graphicFrameLocks noChangeAspect="1"/>
          </p:cNvGraphicFramePr>
          <p:nvPr/>
        </p:nvGraphicFramePr>
        <p:xfrm>
          <a:off x="3921760" y="5259705"/>
          <a:ext cx="1357630" cy="883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85800" imgH="444500" progId="Equation.3">
                  <p:embed/>
                </p:oleObj>
              </mc:Choice>
              <mc:Fallback>
                <p:oleObj r:id="rId6" imgW="685800" imgH="444500" progId="Equation.3">
                  <p:embed/>
                  <p:pic>
                    <p:nvPicPr>
                      <p:cNvPr id="0" name="Picture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1760" y="5259705"/>
                        <a:ext cx="1357630" cy="8832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/>
          <p:cNvSpPr/>
          <p:nvPr/>
        </p:nvSpPr>
        <p:spPr>
          <a:xfrm>
            <a:off x="2323082" y="2922404"/>
            <a:ext cx="138934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</a:rPr>
              <a:t>稳态时</a:t>
            </a:r>
          </a:p>
        </p:txBody>
      </p:sp>
      <p:sp>
        <p:nvSpPr>
          <p:cNvPr id="27" name="矩形 26"/>
          <p:cNvSpPr/>
          <p:nvPr/>
        </p:nvSpPr>
        <p:spPr>
          <a:xfrm>
            <a:off x="2386710" y="3723019"/>
            <a:ext cx="1325244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</a:rPr>
              <a:t>所以</a:t>
            </a:r>
          </a:p>
        </p:txBody>
      </p:sp>
      <p:sp>
        <p:nvSpPr>
          <p:cNvPr id="28" name="矩形 27"/>
          <p:cNvSpPr/>
          <p:nvPr/>
        </p:nvSpPr>
        <p:spPr>
          <a:xfrm>
            <a:off x="2380360" y="4530239"/>
            <a:ext cx="504056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</a:rPr>
              <a:t>设</a:t>
            </a:r>
          </a:p>
        </p:txBody>
      </p:sp>
      <p:sp>
        <p:nvSpPr>
          <p:cNvPr id="29" name="矩形 28"/>
          <p:cNvSpPr/>
          <p:nvPr/>
        </p:nvSpPr>
        <p:spPr>
          <a:xfrm>
            <a:off x="2395600" y="5368575"/>
            <a:ext cx="504056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</a:rPr>
              <a:t>则</a:t>
            </a:r>
          </a:p>
        </p:txBody>
      </p:sp>
      <p:sp>
        <p:nvSpPr>
          <p:cNvPr id="31" name="矩形 30"/>
          <p:cNvSpPr/>
          <p:nvPr/>
        </p:nvSpPr>
        <p:spPr>
          <a:xfrm>
            <a:off x="1440772" y="1716745"/>
            <a:ext cx="836485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</a:rPr>
              <a:t>电子受垂直方向磁场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</a:rPr>
              <a:t>B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</a:rPr>
              <a:t>的洛仑磁力为  </a:t>
            </a:r>
            <a:r>
              <a:rPr lang="en-US" altLang="zh-CN" sz="32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</a:rPr>
              <a:t>f</a:t>
            </a:r>
            <a:r>
              <a:rPr lang="en-US" altLang="zh-CN" sz="3200" b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</a:rPr>
              <a:t>B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</a:rPr>
              <a:t>=</a:t>
            </a:r>
            <a:r>
              <a:rPr lang="en-US" altLang="zh-CN" sz="32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</a:rPr>
              <a:t>evB</a:t>
            </a:r>
            <a:r>
              <a:rPr lang="zh-CN" altLang="en-US" sz="32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</a:rPr>
              <a:t>，</a:t>
            </a:r>
          </a:p>
        </p:txBody>
      </p:sp>
      <p:sp>
        <p:nvSpPr>
          <p:cNvPr id="32" name="矩形 31"/>
          <p:cNvSpPr/>
          <p:nvPr/>
        </p:nvSpPr>
        <p:spPr>
          <a:xfrm>
            <a:off x="1462362" y="2289935"/>
            <a:ext cx="737108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</a:rPr>
              <a:t>电子受侧向电场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</a:rPr>
              <a:t>E</a:t>
            </a:r>
            <a:r>
              <a:rPr lang="en-US" altLang="zh-CN" sz="32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</a:rPr>
              <a:t>H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</a:rPr>
              <a:t>的作用力为  </a:t>
            </a:r>
            <a:r>
              <a:rPr lang="en-US" altLang="zh-CN" sz="32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</a:rPr>
              <a:t>f</a:t>
            </a:r>
            <a:r>
              <a:rPr lang="en-US" altLang="zh-CN" sz="3200" b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</a:rPr>
              <a:t>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</a:rPr>
              <a:t>=</a:t>
            </a:r>
            <a:r>
              <a:rPr lang="en-US" altLang="zh-CN" sz="32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</a:rPr>
              <a:t>eE</a:t>
            </a:r>
            <a:r>
              <a:rPr lang="en-US" altLang="zh-CN" sz="3200" b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</a:rPr>
              <a:t>H</a:t>
            </a:r>
            <a:r>
              <a:rPr lang="zh-CN" altLang="en-US" sz="3200" b="1" dirty="0" err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charset="-122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924300" y="2936875"/>
          <a:ext cx="1764087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98500" imgH="215900" progId="Equation.3">
                  <p:embed/>
                </p:oleObj>
              </mc:Choice>
              <mc:Fallback>
                <p:oleObj name="公式" r:id="rId8" imgW="698500" imgH="215900" progId="Equation.3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2936875"/>
                        <a:ext cx="1764087" cy="540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210300" y="3524885"/>
          <a:ext cx="3695700" cy="967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548765" imgH="406400" progId="Equation.3">
                  <p:embed/>
                </p:oleObj>
              </mc:Choice>
              <mc:Fallback>
                <p:oleObj name="公式" r:id="rId10" imgW="1548765" imgH="406400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0300" y="3524885"/>
                        <a:ext cx="3695700" cy="9671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890891" y="3764973"/>
          <a:ext cx="1631996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47700" imgH="215900" progId="Equation.3">
                  <p:embed/>
                </p:oleObj>
              </mc:Choice>
              <mc:Fallback>
                <p:oleObj name="公式" r:id="rId12" imgW="647700" imgH="215900" progId="Equation.3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891" y="3764973"/>
                        <a:ext cx="1631996" cy="540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698240" y="833755"/>
            <a:ext cx="5638165" cy="713105"/>
          </a:xfrm>
        </p:spPr>
        <p:txBody>
          <a:bodyPr>
            <a:normAutofit fontScale="90000"/>
          </a:bodyPr>
          <a:lstStyle/>
          <a:p>
            <a:r>
              <a:rPr lang="zh-CN" altLang="en-US" sz="4445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+mn-ea"/>
              </a:rPr>
              <a:t>亥姆霍兹线圈磁场分布</a:t>
            </a:r>
            <a:endParaRPr lang="zh-CN" altLang="en-US" sz="4445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sym typeface="+mn-ea"/>
            </a:endParaRPr>
          </a:p>
        </p:txBody>
      </p:sp>
      <p:sp>
        <p:nvSpPr>
          <p:cNvPr id="70" name="灯片编号占位符 6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8</a:t>
            </a:fld>
            <a:endParaRPr lang="en-US" dirty="0"/>
          </a:p>
        </p:txBody>
      </p:sp>
      <p:sp>
        <p:nvSpPr>
          <p:cNvPr id="41" name="矩形 40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3" name="圆角矩形 42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44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51" name="矩形 50"/>
          <p:cNvSpPr/>
          <p:nvPr/>
        </p:nvSpPr>
        <p:spPr>
          <a:xfrm>
            <a:off x="263344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52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53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69" name="圆角矩形 68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圆角矩形 70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圆角矩形 71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圆角矩形 72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圆角矩形 73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62" name="圆角矩形 6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046480" y="1795780"/>
            <a:ext cx="10407650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00"/>
                </a:solidFill>
                <a:latin typeface="+mn-ea"/>
                <a:cs typeface="+mn-ea"/>
              </a:rPr>
              <a:t>亥姆霍兹线圈的特点是能在其公共轴线中点附近产生均匀磁场区域。</a:t>
            </a:r>
          </a:p>
        </p:txBody>
      </p:sp>
      <p:sp>
        <p:nvSpPr>
          <p:cNvPr id="5" name="任意多边形 4"/>
          <p:cNvSpPr/>
          <p:nvPr/>
        </p:nvSpPr>
        <p:spPr>
          <a:xfrm>
            <a:off x="1718310" y="1654810"/>
            <a:ext cx="9306560" cy="0"/>
          </a:xfrm>
          <a:custGeom>
            <a:avLst/>
            <a:gdLst>
              <a:gd name="connisteX0" fmla="*/ 0 w 9306560"/>
              <a:gd name="connsiteY0" fmla="*/ 0 h 107315"/>
              <a:gd name="connisteX1" fmla="*/ 9306560 w 9306560"/>
              <a:gd name="connsiteY1" fmla="*/ 107315 h 10731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9306560" h="107315">
                <a:moveTo>
                  <a:pt x="0" y="0"/>
                </a:moveTo>
                <a:cubicBezTo>
                  <a:pt x="3101975" y="35560"/>
                  <a:pt x="6204585" y="71755"/>
                  <a:pt x="9306560" y="107315"/>
                </a:cubicBezTo>
              </a:path>
            </a:pathLst>
          </a:custGeom>
          <a:noFill/>
          <a:ln w="12700">
            <a:solidFill>
              <a:schemeClr val="accent5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36432" t="38870" r="39167" b="23528"/>
          <a:stretch>
            <a:fillRect/>
          </a:stretch>
        </p:blipFill>
        <p:spPr>
          <a:xfrm>
            <a:off x="1046480" y="3013075"/>
            <a:ext cx="3915410" cy="3394075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82870" y="3121025"/>
            <a:ext cx="6428105" cy="1386205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37480" y="4756150"/>
            <a:ext cx="2026285" cy="8718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微信图片_20250620114641"/>
          <p:cNvPicPr>
            <a:picLocks noChangeAspect="1"/>
          </p:cNvPicPr>
          <p:nvPr/>
        </p:nvPicPr>
        <p:blipFill>
          <a:blip r:embed="rId2"/>
          <a:srcRect t="5916" b="9136"/>
          <a:stretch>
            <a:fillRect/>
          </a:stretch>
        </p:blipFill>
        <p:spPr>
          <a:xfrm>
            <a:off x="2783205" y="1784350"/>
            <a:ext cx="5838190" cy="3719830"/>
          </a:xfrm>
          <a:prstGeom prst="rect">
            <a:avLst/>
          </a:prstGeom>
        </p:spPr>
      </p:pic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5133340" y="820420"/>
            <a:ext cx="3418205" cy="834390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+mn-ea"/>
              </a:rPr>
              <a:t>实验仪器</a:t>
            </a:r>
            <a:b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+mn-ea"/>
              </a:rPr>
            </a:br>
            <a:endParaRPr lang="en-US" altLang="zh-C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+mn-ea"/>
            </a:endParaRPr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9</a:t>
            </a:fld>
            <a:endParaRPr lang="en-US" dirty="0"/>
          </a:p>
        </p:txBody>
      </p:sp>
      <p:sp>
        <p:nvSpPr>
          <p:cNvPr id="16" name="矩形 15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</a:p>
        </p:txBody>
      </p:sp>
      <p:sp>
        <p:nvSpPr>
          <p:cNvPr id="24" name="文本框 395"/>
          <p:cNvSpPr txBox="1"/>
          <p:nvPr/>
        </p:nvSpPr>
        <p:spPr>
          <a:xfrm>
            <a:off x="647718" y="267581"/>
            <a:ext cx="1705610" cy="459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实验装置</a:t>
            </a:r>
            <a:endParaRPr lang="en-US" altLang="zh-CN" sz="2400" spc="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839374" y="324999"/>
            <a:ext cx="2726690" cy="397510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DEVICE</a:t>
            </a:r>
          </a:p>
        </p:txBody>
      </p:sp>
      <p:grpSp>
        <p:nvGrpSpPr>
          <p:cNvPr id="26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27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31" name="圆角矩形 30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圆角矩形 31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圆角矩形 32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圆角矩形 33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圆角矩形 3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8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29" name="圆角矩形 28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872490" y="5641340"/>
            <a:ext cx="2481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亥姆霍兹线圈</a:t>
            </a:r>
            <a:endParaRPr lang="zh-CN" altLang="en-US" sz="28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8709025" y="3168015"/>
            <a:ext cx="187642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磁场强度显示器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696960" y="2486025"/>
            <a:ext cx="20739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电流显示器</a:t>
            </a:r>
          </a:p>
        </p:txBody>
      </p:sp>
      <p:sp>
        <p:nvSpPr>
          <p:cNvPr id="14" name="任意多边形 13"/>
          <p:cNvSpPr/>
          <p:nvPr/>
        </p:nvSpPr>
        <p:spPr>
          <a:xfrm flipV="1">
            <a:off x="6153150" y="4406265"/>
            <a:ext cx="947420" cy="1287780"/>
          </a:xfrm>
          <a:custGeom>
            <a:avLst/>
            <a:gdLst>
              <a:gd name="connisteX0" fmla="*/ 0 w 1518285"/>
              <a:gd name="connsiteY0" fmla="*/ 0 h 274320"/>
              <a:gd name="connisteX1" fmla="*/ 1518285 w 1518285"/>
              <a:gd name="connsiteY1" fmla="*/ 274320 h 27432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1518285" h="274320">
                <a:moveTo>
                  <a:pt x="0" y="0"/>
                </a:moveTo>
                <a:cubicBezTo>
                  <a:pt x="506095" y="91440"/>
                  <a:pt x="1012190" y="182880"/>
                  <a:pt x="1518285" y="274320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/>
        </p:nvSpPr>
        <p:spPr>
          <a:xfrm>
            <a:off x="4358005" y="4374515"/>
            <a:ext cx="1868805" cy="1319530"/>
          </a:xfrm>
          <a:custGeom>
            <a:avLst/>
            <a:gdLst>
              <a:gd name="connisteX0" fmla="*/ 0 w 2623820"/>
              <a:gd name="connsiteY0" fmla="*/ 252095 h 252095"/>
              <a:gd name="connisteX1" fmla="*/ 2623820 w 2623820"/>
              <a:gd name="connsiteY1" fmla="*/ 0 h 25209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2623820" h="252095">
                <a:moveTo>
                  <a:pt x="0" y="252095"/>
                </a:moveTo>
                <a:cubicBezTo>
                  <a:pt x="874395" y="168275"/>
                  <a:pt x="1749425" y="83820"/>
                  <a:pt x="2623820" y="0"/>
                </a:cubicBezTo>
              </a:path>
            </a:pathLst>
          </a:cu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 flipH="1">
            <a:off x="7906385" y="4405630"/>
            <a:ext cx="1600835" cy="1287780"/>
          </a:xfrm>
          <a:custGeom>
            <a:avLst/>
            <a:gdLst>
              <a:gd name="connisteX0" fmla="*/ 0 w 1967865"/>
              <a:gd name="connsiteY0" fmla="*/ 640715 h 640715"/>
              <a:gd name="connisteX1" fmla="*/ 1967865 w 1967865"/>
              <a:gd name="connsiteY1" fmla="*/ 0 h 64071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1967865" h="640715">
                <a:moveTo>
                  <a:pt x="0" y="640715"/>
                </a:moveTo>
                <a:cubicBezTo>
                  <a:pt x="655955" y="427355"/>
                  <a:pt x="1311910" y="213360"/>
                  <a:pt x="1967865" y="0"/>
                </a:cubicBezTo>
              </a:path>
            </a:pathLst>
          </a:cu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/>
        </p:nvSpPr>
        <p:spPr>
          <a:xfrm flipH="1">
            <a:off x="7390130" y="4405630"/>
            <a:ext cx="401320" cy="1287780"/>
          </a:xfrm>
          <a:custGeom>
            <a:avLst/>
            <a:gdLst>
              <a:gd name="connisteX0" fmla="*/ 0 w 3921125"/>
              <a:gd name="connsiteY0" fmla="*/ 480695 h 480695"/>
              <a:gd name="connisteX1" fmla="*/ 3921125 w 3921125"/>
              <a:gd name="connsiteY1" fmla="*/ 0 h 48069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3921125" h="480695">
                <a:moveTo>
                  <a:pt x="0" y="480695"/>
                </a:moveTo>
                <a:cubicBezTo>
                  <a:pt x="1306830" y="320675"/>
                  <a:pt x="2614295" y="160020"/>
                  <a:pt x="3921125" y="0"/>
                </a:cubicBezTo>
              </a:path>
            </a:pathLst>
          </a:cu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367790" y="1654810"/>
            <a:ext cx="9306560" cy="0"/>
          </a:xfrm>
          <a:custGeom>
            <a:avLst/>
            <a:gdLst>
              <a:gd name="connisteX0" fmla="*/ 0 w 9306560"/>
              <a:gd name="connsiteY0" fmla="*/ 0 h 107315"/>
              <a:gd name="connisteX1" fmla="*/ 9306560 w 9306560"/>
              <a:gd name="connsiteY1" fmla="*/ 107315 h 10731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9306560" h="107315">
                <a:moveTo>
                  <a:pt x="0" y="0"/>
                </a:moveTo>
                <a:cubicBezTo>
                  <a:pt x="3101975" y="35560"/>
                  <a:pt x="6204585" y="71755"/>
                  <a:pt x="9306560" y="107315"/>
                </a:cubicBezTo>
              </a:path>
            </a:pathLst>
          </a:custGeom>
          <a:noFill/>
          <a:ln w="12700">
            <a:solidFill>
              <a:schemeClr val="accent5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>
            <a:off x="6867525" y="2772410"/>
            <a:ext cx="1862455" cy="1311275"/>
          </a:xfrm>
          <a:custGeom>
            <a:avLst/>
            <a:gdLst>
              <a:gd name="connisteX0" fmla="*/ 1762125 w 1762125"/>
              <a:gd name="connsiteY0" fmla="*/ 0 h 732790"/>
              <a:gd name="connisteX1" fmla="*/ 0 w 1762125"/>
              <a:gd name="connsiteY1" fmla="*/ 732790 h 73279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1762125" h="732790">
                <a:moveTo>
                  <a:pt x="1762125" y="0"/>
                </a:moveTo>
                <a:cubicBezTo>
                  <a:pt x="1174750" y="244475"/>
                  <a:pt x="587375" y="488315"/>
                  <a:pt x="0" y="732790"/>
                </a:cubicBezTo>
              </a:path>
            </a:pathLst>
          </a:cu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/>
        </p:nvSpPr>
        <p:spPr>
          <a:xfrm>
            <a:off x="7832090" y="3670300"/>
            <a:ext cx="865505" cy="427990"/>
          </a:xfrm>
          <a:custGeom>
            <a:avLst/>
            <a:gdLst>
              <a:gd name="connisteX0" fmla="*/ 1762125 w 1762125"/>
              <a:gd name="connsiteY0" fmla="*/ 0 h 732790"/>
              <a:gd name="connisteX1" fmla="*/ 0 w 1762125"/>
              <a:gd name="connsiteY1" fmla="*/ 732790 h 73279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1762125" h="732790">
                <a:moveTo>
                  <a:pt x="1762125" y="0"/>
                </a:moveTo>
                <a:cubicBezTo>
                  <a:pt x="1174750" y="244475"/>
                  <a:pt x="587375" y="488315"/>
                  <a:pt x="0" y="732790"/>
                </a:cubicBezTo>
              </a:path>
            </a:pathLst>
          </a:cu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24240" y="5641340"/>
            <a:ext cx="21450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霍尔传感器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913245" y="5633720"/>
            <a:ext cx="20440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调零旋钮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320030" y="5626100"/>
            <a:ext cx="17113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800" b="1" dirty="0"/>
              <a:t>电流旋钮</a:t>
            </a:r>
            <a:endParaRPr 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332480" y="5641340"/>
            <a:ext cx="21062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800" b="1" dirty="0"/>
              <a:t>换向开关</a:t>
            </a:r>
          </a:p>
        </p:txBody>
      </p:sp>
      <p:sp>
        <p:nvSpPr>
          <p:cNvPr id="20" name="任意多边形 19"/>
          <p:cNvSpPr/>
          <p:nvPr/>
        </p:nvSpPr>
        <p:spPr>
          <a:xfrm>
            <a:off x="2059305" y="2877820"/>
            <a:ext cx="1727200" cy="2793365"/>
          </a:xfrm>
          <a:custGeom>
            <a:avLst/>
            <a:gdLst>
              <a:gd name="connisteX0" fmla="*/ 0 w 2623820"/>
              <a:gd name="connsiteY0" fmla="*/ 252095 h 252095"/>
              <a:gd name="connisteX1" fmla="*/ 2623820 w 2623820"/>
              <a:gd name="connsiteY1" fmla="*/ 0 h 25209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2623820" h="252095">
                <a:moveTo>
                  <a:pt x="0" y="252095"/>
                </a:moveTo>
                <a:cubicBezTo>
                  <a:pt x="874395" y="168275"/>
                  <a:pt x="1749425" y="83820"/>
                  <a:pt x="2623820" y="0"/>
                </a:cubicBezTo>
              </a:path>
            </a:pathLst>
          </a:cu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80452" y="894960"/>
            <a:ext cx="9430603" cy="43559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+mn-ea"/>
              </a:rPr>
              <a:t>          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+mn-ea"/>
              </a:rPr>
              <a:t>基本实验内容</a:t>
            </a:r>
            <a:endParaRPr lang="en-US" altLang="zh-C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+mn-ea"/>
            </a:endParaRPr>
          </a:p>
          <a:p>
            <a:pPr marL="0" indent="0">
              <a:buNone/>
            </a:pPr>
            <a:endParaRPr lang="en-US" altLang="zh-C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+mn-ea"/>
            </a:endParaRPr>
          </a:p>
          <a:p>
            <a:pPr marL="0" indent="0">
              <a:buNone/>
            </a:pPr>
            <a:r>
              <a:rPr lang="en-US" altLang="zh-CN" sz="3200" b="1" dirty="0">
                <a:effectLst/>
                <a:latin typeface="+mn-ea"/>
                <a:cs typeface="+mn-ea"/>
              </a:rPr>
              <a:t>    1</a:t>
            </a:r>
            <a:r>
              <a:rPr lang="zh-CN" altLang="en-US" sz="3200" b="1" dirty="0">
                <a:effectLst/>
                <a:latin typeface="+mn-ea"/>
                <a:cs typeface="+mn-ea"/>
              </a:rPr>
              <a:t>、测绘单个圆线圈磁场强度分布。</a:t>
            </a:r>
          </a:p>
          <a:p>
            <a:pPr marL="0" indent="0">
              <a:buNone/>
            </a:pPr>
            <a:r>
              <a:rPr lang="en-US" altLang="zh-CN" sz="3200" b="1" dirty="0">
                <a:effectLst/>
                <a:latin typeface="+mn-ea"/>
                <a:cs typeface="+mn-ea"/>
              </a:rPr>
              <a:t>    2</a:t>
            </a:r>
            <a:r>
              <a:rPr lang="zh-CN" altLang="en-US" sz="3200" b="1" dirty="0">
                <a:effectLst/>
                <a:latin typeface="+mn-ea"/>
                <a:cs typeface="+mn-ea"/>
              </a:rPr>
              <a:t>、测绘亥姆霍兹线圈磁场强度分布。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矩形 4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5</a:t>
            </a:r>
          </a:p>
        </p:txBody>
      </p:sp>
      <p:sp>
        <p:nvSpPr>
          <p:cNvPr id="7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8" name="矩形 7"/>
          <p:cNvSpPr/>
          <p:nvPr/>
        </p:nvSpPr>
        <p:spPr>
          <a:xfrm>
            <a:off x="2660923" y="324999"/>
            <a:ext cx="3083592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CONTENT</a:t>
            </a:r>
          </a:p>
        </p:txBody>
      </p:sp>
      <p:grpSp>
        <p:nvGrpSpPr>
          <p:cNvPr id="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10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14" name="圆角矩形 1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圆角矩形 1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圆角矩形 15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圆角矩形 16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圆角矩形 17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12" name="圆角矩形 1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任意多边形 1"/>
          <p:cNvSpPr/>
          <p:nvPr/>
        </p:nvSpPr>
        <p:spPr>
          <a:xfrm>
            <a:off x="1718310" y="1654810"/>
            <a:ext cx="9306560" cy="0"/>
          </a:xfrm>
          <a:custGeom>
            <a:avLst/>
            <a:gdLst>
              <a:gd name="connisteX0" fmla="*/ 0 w 9306560"/>
              <a:gd name="connsiteY0" fmla="*/ 0 h 107315"/>
              <a:gd name="connisteX1" fmla="*/ 9306560 w 9306560"/>
              <a:gd name="connsiteY1" fmla="*/ 107315 h 10731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9306560" h="107315">
                <a:moveTo>
                  <a:pt x="0" y="0"/>
                </a:moveTo>
                <a:cubicBezTo>
                  <a:pt x="3101975" y="35560"/>
                  <a:pt x="6204585" y="71755"/>
                  <a:pt x="9306560" y="107315"/>
                </a:cubicBezTo>
              </a:path>
            </a:pathLst>
          </a:custGeom>
          <a:noFill/>
          <a:ln w="12700">
            <a:solidFill>
              <a:schemeClr val="accent5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矩形 4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6</a:t>
            </a:r>
          </a:p>
        </p:txBody>
      </p:sp>
      <p:sp>
        <p:nvSpPr>
          <p:cNvPr id="7" name="文本框 395"/>
          <p:cNvSpPr txBox="1"/>
          <p:nvPr/>
        </p:nvSpPr>
        <p:spPr>
          <a:xfrm>
            <a:off x="647718" y="267581"/>
            <a:ext cx="1705610" cy="459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sp>
        <p:nvSpPr>
          <p:cNvPr id="8" name="矩形 7"/>
          <p:cNvSpPr/>
          <p:nvPr/>
        </p:nvSpPr>
        <p:spPr>
          <a:xfrm>
            <a:off x="2833342" y="324999"/>
            <a:ext cx="2738755" cy="397510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EXPERIMENT RESULT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2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9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14" name="圆角矩形 1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圆角矩形 1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圆角矩形 15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圆角矩形 16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圆角矩形 17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12" name="圆角矩形 1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674495" y="840105"/>
            <a:ext cx="838454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+mn-ea"/>
                <a:sym typeface="+mn-ea"/>
              </a:rPr>
              <a:t>1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+mn-ea"/>
                <a:sym typeface="+mn-ea"/>
              </a:rPr>
              <a:t>、测绘单个圆线圈磁场强度分布</a:t>
            </a:r>
          </a:p>
        </p:txBody>
      </p:sp>
      <p:sp>
        <p:nvSpPr>
          <p:cNvPr id="11" name="任意多边形 10"/>
          <p:cNvSpPr/>
          <p:nvPr/>
        </p:nvSpPr>
        <p:spPr>
          <a:xfrm>
            <a:off x="1718310" y="1654810"/>
            <a:ext cx="9306560" cy="0"/>
          </a:xfrm>
          <a:custGeom>
            <a:avLst/>
            <a:gdLst>
              <a:gd name="connisteX0" fmla="*/ 0 w 9306560"/>
              <a:gd name="connsiteY0" fmla="*/ 0 h 107315"/>
              <a:gd name="connisteX1" fmla="*/ 9306560 w 9306560"/>
              <a:gd name="connsiteY1" fmla="*/ 107315 h 10731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9306560" h="107315">
                <a:moveTo>
                  <a:pt x="0" y="0"/>
                </a:moveTo>
                <a:cubicBezTo>
                  <a:pt x="3101975" y="35560"/>
                  <a:pt x="6204585" y="71755"/>
                  <a:pt x="9306560" y="107315"/>
                </a:cubicBezTo>
              </a:path>
            </a:pathLst>
          </a:custGeom>
          <a:noFill/>
          <a:ln w="12700">
            <a:solidFill>
              <a:schemeClr val="accent5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6286" t="46880" r="21646" b="22194"/>
          <a:stretch>
            <a:fillRect/>
          </a:stretch>
        </p:blipFill>
        <p:spPr>
          <a:xfrm>
            <a:off x="918210" y="1762760"/>
            <a:ext cx="10641330" cy="298259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1718310" y="4961255"/>
            <a:ext cx="468630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>
                <a:solidFill>
                  <a:srgbClr val="333333"/>
                </a:solidFill>
                <a:latin typeface="+mn-ea"/>
                <a:sym typeface="+mn-ea"/>
              </a:rPr>
              <a:t>（</a:t>
            </a:r>
            <a:r>
              <a:rPr lang="en-US" altLang="zh-CN" sz="3200" b="1">
                <a:solidFill>
                  <a:srgbClr val="333333"/>
                </a:solidFill>
                <a:latin typeface="+mn-ea"/>
                <a:sym typeface="+mn-ea"/>
              </a:rPr>
              <a:t>1</a:t>
            </a:r>
            <a:r>
              <a:rPr lang="zh-CN" altLang="en-US" sz="3200" b="1">
                <a:solidFill>
                  <a:srgbClr val="333333"/>
                </a:solidFill>
                <a:latin typeface="+mn-ea"/>
                <a:sym typeface="+mn-ea"/>
              </a:rPr>
              <a:t>）绘制</a:t>
            </a:r>
            <a:r>
              <a:rPr lang="en-US" altLang="zh-CN" sz="3200" b="1" i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z="3200" b="1" i="1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～</a:t>
            </a:r>
            <a:r>
              <a:rPr lang="en-US" altLang="zh-CN" sz="3200" b="1" i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3200" b="1">
                <a:solidFill>
                  <a:srgbClr val="333333"/>
                </a:solidFill>
                <a:latin typeface="+mn-ea"/>
                <a:sym typeface="+mn-ea"/>
              </a:rPr>
              <a:t>曲线。</a:t>
            </a:r>
          </a:p>
          <a:p>
            <a:r>
              <a:rPr lang="zh-CN" altLang="en-US" sz="3200" b="1">
                <a:solidFill>
                  <a:srgbClr val="333333"/>
                </a:solidFill>
                <a:latin typeface="+mn-ea"/>
                <a:sym typeface="+mn-ea"/>
              </a:rPr>
              <a:t>（</a:t>
            </a:r>
            <a:r>
              <a:rPr lang="en-US" altLang="zh-CN" sz="3200" b="1">
                <a:solidFill>
                  <a:srgbClr val="333333"/>
                </a:solidFill>
                <a:latin typeface="+mn-ea"/>
                <a:sym typeface="+mn-ea"/>
              </a:rPr>
              <a:t>2</a:t>
            </a:r>
            <a:r>
              <a:rPr lang="zh-CN" altLang="en-US" sz="3200" b="1">
                <a:solidFill>
                  <a:srgbClr val="333333"/>
                </a:solidFill>
                <a:latin typeface="+mn-ea"/>
                <a:sym typeface="+mn-ea"/>
              </a:rPr>
              <a:t>）分析曲线特性。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矩形 4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6</a:t>
            </a:r>
          </a:p>
        </p:txBody>
      </p:sp>
      <p:sp>
        <p:nvSpPr>
          <p:cNvPr id="7" name="文本框 395"/>
          <p:cNvSpPr txBox="1"/>
          <p:nvPr/>
        </p:nvSpPr>
        <p:spPr>
          <a:xfrm>
            <a:off x="647718" y="267581"/>
            <a:ext cx="1705610" cy="459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sp>
        <p:nvSpPr>
          <p:cNvPr id="8" name="矩形 7"/>
          <p:cNvSpPr/>
          <p:nvPr/>
        </p:nvSpPr>
        <p:spPr>
          <a:xfrm>
            <a:off x="2833342" y="324999"/>
            <a:ext cx="2738755" cy="397510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EXPERIMENT RESULT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2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9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14" name="圆角矩形 1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圆角矩形 1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圆角矩形 15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圆角矩形 16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圆角矩形 17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12" name="圆角矩形 1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651635" y="840105"/>
            <a:ext cx="838454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+mn-ea"/>
                <a:sym typeface="+mn-ea"/>
              </a:rPr>
              <a:t>2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+mn-ea"/>
                <a:sym typeface="+mn-ea"/>
              </a:rPr>
              <a:t>、测绘亥姆霍兹线圈磁场强度分布</a:t>
            </a:r>
          </a:p>
        </p:txBody>
      </p:sp>
      <p:sp>
        <p:nvSpPr>
          <p:cNvPr id="19" name="任意多边形 18"/>
          <p:cNvSpPr/>
          <p:nvPr/>
        </p:nvSpPr>
        <p:spPr>
          <a:xfrm>
            <a:off x="1718310" y="1654810"/>
            <a:ext cx="9306560" cy="0"/>
          </a:xfrm>
          <a:custGeom>
            <a:avLst/>
            <a:gdLst>
              <a:gd name="connisteX0" fmla="*/ 0 w 9306560"/>
              <a:gd name="connsiteY0" fmla="*/ 0 h 107315"/>
              <a:gd name="connisteX1" fmla="*/ 9306560 w 9306560"/>
              <a:gd name="connsiteY1" fmla="*/ 107315 h 10731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9306560" h="107315">
                <a:moveTo>
                  <a:pt x="0" y="0"/>
                </a:moveTo>
                <a:cubicBezTo>
                  <a:pt x="3101975" y="35560"/>
                  <a:pt x="6204585" y="71755"/>
                  <a:pt x="9306560" y="107315"/>
                </a:cubicBezTo>
              </a:path>
            </a:pathLst>
          </a:custGeom>
          <a:noFill/>
          <a:ln w="12700">
            <a:solidFill>
              <a:schemeClr val="accent5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 l="16161" t="44259" r="21771" b="29602"/>
          <a:stretch>
            <a:fillRect/>
          </a:stretch>
        </p:blipFill>
        <p:spPr>
          <a:xfrm>
            <a:off x="654685" y="1762760"/>
            <a:ext cx="10880090" cy="257746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1718310" y="4540250"/>
            <a:ext cx="468630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>
                <a:solidFill>
                  <a:srgbClr val="333333"/>
                </a:solidFill>
                <a:latin typeface="+mn-ea"/>
                <a:sym typeface="+mn-ea"/>
              </a:rPr>
              <a:t>（</a:t>
            </a:r>
            <a:r>
              <a:rPr lang="en-US" altLang="zh-CN" sz="3200" b="1">
                <a:solidFill>
                  <a:srgbClr val="333333"/>
                </a:solidFill>
                <a:latin typeface="+mn-ea"/>
                <a:sym typeface="+mn-ea"/>
              </a:rPr>
              <a:t>1</a:t>
            </a:r>
            <a:r>
              <a:rPr lang="zh-CN" altLang="en-US" sz="3200" b="1">
                <a:solidFill>
                  <a:srgbClr val="333333"/>
                </a:solidFill>
                <a:latin typeface="+mn-ea"/>
                <a:sym typeface="+mn-ea"/>
              </a:rPr>
              <a:t>）绘制</a:t>
            </a:r>
            <a:r>
              <a:rPr lang="en-US" altLang="zh-CN" sz="3200" b="1" i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z="3200" b="1" i="1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～</a:t>
            </a:r>
            <a:r>
              <a:rPr lang="en-US" altLang="zh-CN" sz="3200" b="1" i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3200" b="1">
                <a:solidFill>
                  <a:srgbClr val="333333"/>
                </a:solidFill>
                <a:latin typeface="+mn-ea"/>
                <a:sym typeface="+mn-ea"/>
              </a:rPr>
              <a:t>曲线。</a:t>
            </a:r>
          </a:p>
          <a:p>
            <a:r>
              <a:rPr lang="zh-CN" altLang="en-US" sz="3200" b="1">
                <a:solidFill>
                  <a:srgbClr val="333333"/>
                </a:solidFill>
                <a:latin typeface="+mn-ea"/>
                <a:sym typeface="+mn-ea"/>
              </a:rPr>
              <a:t>（</a:t>
            </a:r>
            <a:r>
              <a:rPr lang="en-US" altLang="zh-CN" sz="3200" b="1">
                <a:solidFill>
                  <a:srgbClr val="333333"/>
                </a:solidFill>
                <a:latin typeface="+mn-ea"/>
                <a:sym typeface="+mn-ea"/>
              </a:rPr>
              <a:t>2</a:t>
            </a:r>
            <a:r>
              <a:rPr lang="zh-CN" altLang="en-US" sz="3200" b="1">
                <a:solidFill>
                  <a:srgbClr val="333333"/>
                </a:solidFill>
                <a:latin typeface="+mn-ea"/>
                <a:sym typeface="+mn-ea"/>
              </a:rPr>
              <a:t>）分析曲线特性。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矩形 4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7</a:t>
            </a:r>
          </a:p>
        </p:txBody>
      </p:sp>
      <p:sp>
        <p:nvSpPr>
          <p:cNvPr id="7" name="文本框 395"/>
          <p:cNvSpPr txBox="1"/>
          <p:nvPr/>
        </p:nvSpPr>
        <p:spPr>
          <a:xfrm>
            <a:off x="647718" y="267581"/>
            <a:ext cx="1705610" cy="459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拓展实验</a:t>
            </a:r>
          </a:p>
        </p:txBody>
      </p:sp>
      <p:sp>
        <p:nvSpPr>
          <p:cNvPr id="8" name="矩形 7"/>
          <p:cNvSpPr/>
          <p:nvPr/>
        </p:nvSpPr>
        <p:spPr>
          <a:xfrm>
            <a:off x="2776192" y="324999"/>
            <a:ext cx="2853055" cy="397510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EXPAND EXPERIMENT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2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9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14" name="圆角矩形 1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圆角矩形 1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圆角矩形 15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圆角矩形 16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圆角矩形 17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12" name="圆角矩形 1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682115" y="840105"/>
            <a:ext cx="838454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+mn-ea"/>
                <a:sym typeface="+mn-ea"/>
              </a:rPr>
              <a:t>1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+mn-ea"/>
                <a:sym typeface="+mn-ea"/>
              </a:rPr>
              <a:t>、利用霍尔传感器设计角度传感器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1202055" y="4893310"/>
            <a:ext cx="805624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latin typeface="+mn-ea"/>
                <a:cs typeface="+mn-ea"/>
                <a:sym typeface="+mn-ea"/>
              </a:rPr>
              <a:t>（</a:t>
            </a:r>
            <a:r>
              <a:rPr lang="en-US" altLang="zh-CN" sz="3200" b="1" dirty="0">
                <a:latin typeface="+mn-ea"/>
                <a:cs typeface="+mn-ea"/>
                <a:sym typeface="+mn-ea"/>
              </a:rPr>
              <a:t>1</a:t>
            </a:r>
            <a:r>
              <a:rPr lang="zh-CN" altLang="en-US" sz="3200" b="1" dirty="0">
                <a:latin typeface="+mn-ea"/>
                <a:cs typeface="+mn-ea"/>
                <a:sym typeface="+mn-ea"/>
              </a:rPr>
              <a:t>）</a:t>
            </a:r>
            <a:r>
              <a:rPr lang="zh-CN" sz="3200" b="1" dirty="0">
                <a:latin typeface="+mn-ea"/>
                <a:cs typeface="+mn-ea"/>
                <a:sym typeface="+mn-ea"/>
              </a:rPr>
              <a:t>自行设计与实验</a:t>
            </a:r>
            <a:r>
              <a:rPr lang="zh-CN" altLang="en-US" sz="3200" b="1" dirty="0">
                <a:latin typeface="+mn-ea"/>
                <a:cs typeface="+mn-ea"/>
                <a:sym typeface="+mn-ea"/>
              </a:rPr>
              <a:t>。</a:t>
            </a:r>
          </a:p>
          <a:p>
            <a:r>
              <a:rPr lang="zh-CN" altLang="en-US" sz="3200" b="1" dirty="0">
                <a:latin typeface="+mn-ea"/>
                <a:cs typeface="+mn-ea"/>
                <a:sym typeface="+mn-ea"/>
              </a:rPr>
              <a:t>（</a:t>
            </a:r>
            <a:r>
              <a:rPr lang="en-US" altLang="zh-CN" sz="3200" b="1" dirty="0">
                <a:latin typeface="+mn-ea"/>
                <a:cs typeface="+mn-ea"/>
                <a:sym typeface="+mn-ea"/>
              </a:rPr>
              <a:t>2</a:t>
            </a:r>
            <a:r>
              <a:rPr lang="zh-CN" altLang="en-US" sz="3200" b="1" dirty="0">
                <a:latin typeface="+mn-ea"/>
                <a:cs typeface="+mn-ea"/>
                <a:sym typeface="+mn-ea"/>
              </a:rPr>
              <a:t>）探究霍尔电压与角度关系。</a:t>
            </a:r>
          </a:p>
        </p:txBody>
      </p:sp>
      <p:sp>
        <p:nvSpPr>
          <p:cNvPr id="19" name="任意多边形 18"/>
          <p:cNvSpPr/>
          <p:nvPr/>
        </p:nvSpPr>
        <p:spPr>
          <a:xfrm>
            <a:off x="1718310" y="1654810"/>
            <a:ext cx="9306560" cy="0"/>
          </a:xfrm>
          <a:custGeom>
            <a:avLst/>
            <a:gdLst>
              <a:gd name="connisteX0" fmla="*/ 0 w 9306560"/>
              <a:gd name="connsiteY0" fmla="*/ 0 h 107315"/>
              <a:gd name="connisteX1" fmla="*/ 9306560 w 9306560"/>
              <a:gd name="connsiteY1" fmla="*/ 107315 h 10731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9306560" h="107315">
                <a:moveTo>
                  <a:pt x="0" y="0"/>
                </a:moveTo>
                <a:cubicBezTo>
                  <a:pt x="3101975" y="35560"/>
                  <a:pt x="6204585" y="71755"/>
                  <a:pt x="9306560" y="107315"/>
                </a:cubicBezTo>
              </a:path>
            </a:pathLst>
          </a:custGeom>
          <a:noFill/>
          <a:ln w="12700">
            <a:solidFill>
              <a:schemeClr val="accent5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826770" y="1762760"/>
            <a:ext cx="10198100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3200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</a:rPr>
              <a:t>在固定霍尔电流和励磁电流的情况下，测量霍尔电压与旋转角度之间的关系，完成角度定标并设计基于霍尔效应的角度传感器。</a:t>
            </a:r>
          </a:p>
        </p:txBody>
      </p:sp>
      <p:pic>
        <p:nvPicPr>
          <p:cNvPr id="11" name="图片 10"/>
          <p:cNvPicPr/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87420" y="3439160"/>
            <a:ext cx="3339465" cy="612000"/>
          </a:xfrm>
          <a:prstGeom prst="rect">
            <a:avLst/>
          </a:prstGeom>
        </p:spPr>
      </p:pic>
      <p:pic>
        <p:nvPicPr>
          <p:cNvPr id="21" name="图片 20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87420" y="4159250"/>
            <a:ext cx="2773045" cy="61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矩形 4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7</a:t>
            </a:r>
          </a:p>
        </p:txBody>
      </p:sp>
      <p:sp>
        <p:nvSpPr>
          <p:cNvPr id="7" name="文本框 395"/>
          <p:cNvSpPr txBox="1"/>
          <p:nvPr/>
        </p:nvSpPr>
        <p:spPr>
          <a:xfrm>
            <a:off x="647718" y="267581"/>
            <a:ext cx="1705610" cy="459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拓展实验</a:t>
            </a:r>
          </a:p>
        </p:txBody>
      </p:sp>
      <p:sp>
        <p:nvSpPr>
          <p:cNvPr id="8" name="矩形 7"/>
          <p:cNvSpPr/>
          <p:nvPr/>
        </p:nvSpPr>
        <p:spPr>
          <a:xfrm>
            <a:off x="2776192" y="324999"/>
            <a:ext cx="2853055" cy="397510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EXPAND EXPERIMENT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2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9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14" name="圆角矩形 1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圆角矩形 1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圆角矩形 15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圆角矩形 16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圆角矩形 17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12" name="圆角矩形 1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682115" y="840105"/>
            <a:ext cx="102152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+mn-ea"/>
                <a:sym typeface="+mn-ea"/>
              </a:rPr>
              <a:t>2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+mn-ea"/>
                <a:sym typeface="+mn-ea"/>
              </a:rPr>
              <a:t>、基于霍尔效应探测长方形磁铁磁力线分布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1202055" y="4542790"/>
            <a:ext cx="940625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latin typeface="+mn-ea"/>
                <a:cs typeface="+mn-ea"/>
                <a:sym typeface="+mn-ea"/>
              </a:rPr>
              <a:t>（</a:t>
            </a:r>
            <a:r>
              <a:rPr lang="en-US" altLang="zh-CN" sz="3200" b="1" dirty="0">
                <a:latin typeface="+mn-ea"/>
                <a:cs typeface="+mn-ea"/>
                <a:sym typeface="+mn-ea"/>
              </a:rPr>
              <a:t>1</a:t>
            </a:r>
            <a:r>
              <a:rPr lang="zh-CN" altLang="en-US" sz="3200" b="1" dirty="0">
                <a:latin typeface="+mn-ea"/>
                <a:cs typeface="+mn-ea"/>
                <a:sym typeface="+mn-ea"/>
              </a:rPr>
              <a:t>）组装三维扫描导轨系统。</a:t>
            </a:r>
          </a:p>
          <a:p>
            <a:r>
              <a:rPr lang="zh-CN" altLang="en-US" sz="3200" b="1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  <a:sym typeface="+mn-ea"/>
              </a:rPr>
              <a:t>（</a:t>
            </a:r>
            <a:r>
              <a:rPr lang="en-US" altLang="zh-CN" sz="3200" b="1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  <a:sym typeface="+mn-ea"/>
              </a:rPr>
              <a:t>2</a:t>
            </a:r>
            <a:r>
              <a:rPr lang="zh-CN" altLang="en-US" sz="3200" b="1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  <a:sym typeface="+mn-ea"/>
              </a:rPr>
              <a:t>）自主设计扫描软件</a:t>
            </a:r>
            <a:r>
              <a:rPr lang="zh-CN" altLang="en-US" sz="3200" b="1" dirty="0">
                <a:latin typeface="+mn-ea"/>
                <a:cs typeface="+mn-ea"/>
                <a:sym typeface="+mn-ea"/>
              </a:rPr>
              <a:t>。</a:t>
            </a:r>
          </a:p>
          <a:p>
            <a:r>
              <a:rPr lang="zh-CN" altLang="en-US" sz="3200" b="1" dirty="0">
                <a:latin typeface="+mn-ea"/>
                <a:cs typeface="+mn-ea"/>
                <a:sym typeface="+mn-ea"/>
              </a:rPr>
              <a:t>（</a:t>
            </a:r>
            <a:r>
              <a:rPr lang="en-US" altLang="zh-CN" sz="3200" b="1" dirty="0">
                <a:latin typeface="+mn-ea"/>
                <a:cs typeface="+mn-ea"/>
                <a:sym typeface="+mn-ea"/>
              </a:rPr>
              <a:t>3</a:t>
            </a:r>
            <a:r>
              <a:rPr lang="zh-CN" altLang="en-US" sz="3200" b="1" dirty="0">
                <a:latin typeface="+mn-ea"/>
                <a:cs typeface="+mn-ea"/>
                <a:sym typeface="+mn-ea"/>
              </a:rPr>
              <a:t>）智能</a:t>
            </a:r>
            <a:r>
              <a:rPr lang="zh-CN" sz="3200" b="1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  <a:sym typeface="+mn-ea"/>
              </a:rPr>
              <a:t>描绘</a:t>
            </a:r>
            <a:r>
              <a:rPr lang="zh-CN" altLang="en-US" sz="3200" b="1" dirty="0">
                <a:effectLst/>
                <a:latin typeface="+mn-ea"/>
                <a:cs typeface="+mn-ea"/>
                <a:sym typeface="+mn-ea"/>
              </a:rPr>
              <a:t>方形磁铁磁力线分布</a:t>
            </a:r>
            <a:r>
              <a:rPr lang="zh-CN" altLang="en-US" sz="3200" b="1" dirty="0">
                <a:latin typeface="+mn-ea"/>
                <a:cs typeface="+mn-ea"/>
                <a:sym typeface="+mn-ea"/>
              </a:rPr>
              <a:t>。</a:t>
            </a:r>
          </a:p>
        </p:txBody>
      </p:sp>
      <p:sp>
        <p:nvSpPr>
          <p:cNvPr id="19" name="任意多边形 18"/>
          <p:cNvSpPr/>
          <p:nvPr/>
        </p:nvSpPr>
        <p:spPr>
          <a:xfrm>
            <a:off x="1718310" y="1654810"/>
            <a:ext cx="9306560" cy="0"/>
          </a:xfrm>
          <a:custGeom>
            <a:avLst/>
            <a:gdLst>
              <a:gd name="connisteX0" fmla="*/ 0 w 9306560"/>
              <a:gd name="connsiteY0" fmla="*/ 0 h 107315"/>
              <a:gd name="connisteX1" fmla="*/ 9306560 w 9306560"/>
              <a:gd name="connsiteY1" fmla="*/ 107315 h 10731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9306560" h="107315">
                <a:moveTo>
                  <a:pt x="0" y="0"/>
                </a:moveTo>
                <a:cubicBezTo>
                  <a:pt x="3101975" y="35560"/>
                  <a:pt x="6204585" y="71755"/>
                  <a:pt x="9306560" y="107315"/>
                </a:cubicBezTo>
              </a:path>
            </a:pathLst>
          </a:custGeom>
          <a:noFill/>
          <a:ln w="12700">
            <a:solidFill>
              <a:schemeClr val="accent5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09" name="图片 909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5109" t="24520" r="47888" b="19526"/>
          <a:stretch>
            <a:fillRect/>
          </a:stretch>
        </p:blipFill>
        <p:spPr>
          <a:xfrm>
            <a:off x="7734300" y="2243455"/>
            <a:ext cx="4210685" cy="3582670"/>
          </a:xfrm>
          <a:prstGeom prst="rect">
            <a:avLst/>
          </a:prstGeom>
          <a:ln>
            <a:noFill/>
          </a:ln>
        </p:spPr>
      </p:pic>
      <p:sp>
        <p:nvSpPr>
          <p:cNvPr id="20" name="文本框 19"/>
          <p:cNvSpPr txBox="1"/>
          <p:nvPr/>
        </p:nvSpPr>
        <p:spPr>
          <a:xfrm>
            <a:off x="1311275" y="2098675"/>
            <a:ext cx="6308090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3200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</a:rPr>
              <a:t>长方形磁铁的磁力线分布遵循</a:t>
            </a:r>
            <a:r>
              <a:rPr lang="en-US" altLang="zh-CN" sz="3200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</a:rPr>
              <a:t>“</a:t>
            </a:r>
            <a:r>
              <a:rPr lang="zh-CN" altLang="en-US" sz="3200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</a:rPr>
              <a:t>外部从</a:t>
            </a:r>
            <a:r>
              <a:rPr lang="en-US" altLang="zh-CN" sz="3200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</a:rPr>
              <a:t>N</a:t>
            </a:r>
            <a:r>
              <a:rPr lang="zh-CN" altLang="en-US" sz="3200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</a:rPr>
              <a:t>极出发进入</a:t>
            </a:r>
            <a:r>
              <a:rPr lang="en-US" altLang="zh-CN" sz="3200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</a:rPr>
              <a:t>S</a:t>
            </a:r>
            <a:r>
              <a:rPr lang="zh-CN" altLang="en-US" sz="3200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</a:rPr>
              <a:t>极，内部闭合循环，两极附近最密集</a:t>
            </a:r>
            <a:r>
              <a:rPr lang="en-US" altLang="zh-CN" sz="3200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</a:rPr>
              <a:t>”</a:t>
            </a:r>
            <a:r>
              <a:rPr lang="zh-CN" altLang="en-US" sz="3200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</a:rPr>
              <a:t>的规律</a:t>
            </a:r>
            <a:r>
              <a:rPr lang="en-US" altLang="zh-CN" sz="3200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</a:rPr>
              <a:t>‌</a:t>
            </a:r>
            <a:r>
              <a:rPr lang="zh-CN" altLang="en-US" sz="3200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27"/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50067" y="1028676"/>
            <a:ext cx="5215098" cy="4330394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19024" y="2001117"/>
            <a:ext cx="6063811" cy="2331580"/>
          </a:xfrm>
        </p:spPr>
        <p:txBody>
          <a:bodyPr>
            <a:noAutofit/>
          </a:bodyPr>
          <a:lstStyle/>
          <a:p>
            <a:r>
              <a:rPr lang="zh-CN" altLang="en-US" sz="16000" b="1" dirty="0">
                <a:solidFill>
                  <a:srgbClr val="0043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 </a:t>
            </a:r>
            <a:r>
              <a:rPr lang="en-US" altLang="zh-CN" sz="16000" b="1" dirty="0">
                <a:solidFill>
                  <a:srgbClr val="0043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0" b="1" dirty="0">
                <a:solidFill>
                  <a:srgbClr val="0043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15</a:t>
            </a:fld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VlMjY2OTYxOTIyZGIwMmJiNmE3MTRmZmEwYTA4YmQifQ=="/>
  <p:tag name="RESOURCE_RECORD_KEY" val="{&quot;29&quot;:[50000159]}"/>
</p:tagLst>
</file>

<file path=ppt/theme/theme1.xml><?xml version="1.0" encoding="utf-8"?>
<a:theme xmlns:a="http://schemas.openxmlformats.org/drawingml/2006/main" name="丝状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</TotalTime>
  <Words>750</Words>
  <Application>Microsoft Macintosh PowerPoint</Application>
  <PresentationFormat>宽屏</PresentationFormat>
  <Paragraphs>122</Paragraphs>
  <Slides>15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宋体</vt:lpstr>
      <vt:lpstr>幼圆</vt:lpstr>
      <vt:lpstr>微软雅黑</vt:lpstr>
      <vt:lpstr>等线</vt:lpstr>
      <vt:lpstr>Arial</vt:lpstr>
      <vt:lpstr>Century Gothic</vt:lpstr>
      <vt:lpstr>Helvetica Neue</vt:lpstr>
      <vt:lpstr>Times New Roman</vt:lpstr>
      <vt:lpstr>Wingdings 3</vt:lpstr>
      <vt:lpstr>丝状</vt:lpstr>
      <vt:lpstr>Equation.3</vt:lpstr>
      <vt:lpstr>公式</vt:lpstr>
      <vt:lpstr>用霍尔传感器测量磁场</vt:lpstr>
      <vt:lpstr>PowerPoint 演示文稿</vt:lpstr>
      <vt:lpstr>PowerPoint 演示文稿</vt:lpstr>
      <vt:lpstr>PowerPoint 演示文稿</vt:lpstr>
      <vt:lpstr>PowerPoint 演示文稿</vt:lpstr>
      <vt:lpstr>霍尔效应 </vt:lpstr>
      <vt:lpstr>磁场强度测定公式 </vt:lpstr>
      <vt:lpstr>亥姆霍兹线圈磁场分布</vt:lpstr>
      <vt:lpstr>实验仪器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再  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组装整流器</dc:title>
  <dc:creator>ZJU</dc:creator>
  <cp:lastModifiedBy>Microsoft Office User</cp:lastModifiedBy>
  <cp:revision>232</cp:revision>
  <dcterms:created xsi:type="dcterms:W3CDTF">2022-11-03T02:24:00Z</dcterms:created>
  <dcterms:modified xsi:type="dcterms:W3CDTF">2025-07-16T03:31:12Z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B86811F2282C4797B515180A21F26551_12</vt:lpwstr>
  </property>
  <property fmtid="{D5CDD505-2E9C-101B-9397-08002B2CF9AE}" pid="3" name="KSOProductBuildVer">
    <vt:lpwstr>2052-12.1.0.19770</vt:lpwstr>
  </property>
</Properties>
</file>