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30"/>
  </p:notesMasterIdLst>
  <p:handoutMasterIdLst>
    <p:handoutMasterId r:id="rId31"/>
  </p:handoutMasterIdLst>
  <p:sldIdLst>
    <p:sldId id="424" r:id="rId2"/>
    <p:sldId id="347" r:id="rId3"/>
    <p:sldId id="350" r:id="rId4"/>
    <p:sldId id="358" r:id="rId5"/>
    <p:sldId id="337" r:id="rId6"/>
    <p:sldId id="359" r:id="rId7"/>
    <p:sldId id="351" r:id="rId8"/>
    <p:sldId id="361" r:id="rId9"/>
    <p:sldId id="412" r:id="rId10"/>
    <p:sldId id="355" r:id="rId11"/>
    <p:sldId id="363" r:id="rId12"/>
    <p:sldId id="410" r:id="rId13"/>
    <p:sldId id="373" r:id="rId14"/>
    <p:sldId id="370" r:id="rId15"/>
    <p:sldId id="383" r:id="rId16"/>
    <p:sldId id="367" r:id="rId17"/>
    <p:sldId id="425" r:id="rId18"/>
    <p:sldId id="426" r:id="rId19"/>
    <p:sldId id="427" r:id="rId20"/>
    <p:sldId id="400" r:id="rId21"/>
    <p:sldId id="399" r:id="rId22"/>
    <p:sldId id="402" r:id="rId23"/>
    <p:sldId id="404" r:id="rId24"/>
    <p:sldId id="403" r:id="rId25"/>
    <p:sldId id="368" r:id="rId26"/>
    <p:sldId id="376" r:id="rId27"/>
    <p:sldId id="375" r:id="rId28"/>
    <p:sldId id="259" r:id="rId29"/>
  </p:sldIdLst>
  <p:sldSz cx="12192000" cy="6858000"/>
  <p:notesSz cx="6858000" cy="9144000"/>
  <p:custDataLst>
    <p:tags r:id="rId3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 id="{2F9F1A71-B6DA-498D-BF34-FDADE9DFC3F3}">
          <p14:sldIdLst>
            <p14:sldId id="424"/>
            <p14:sldId id="347"/>
            <p14:sldId id="350"/>
            <p14:sldId id="358"/>
            <p14:sldId id="337"/>
          </p14:sldIdLst>
        </p14:section>
        <p14:section name="转场页" id="{9409BDB3-D82B-4CEB-A083-E5AFD7922E01}">
          <p14:sldIdLst>
            <p14:sldId id="359"/>
            <p14:sldId id="351"/>
            <p14:sldId id="361"/>
            <p14:sldId id="412"/>
            <p14:sldId id="355"/>
            <p14:sldId id="363"/>
            <p14:sldId id="410"/>
            <p14:sldId id="373"/>
            <p14:sldId id="370"/>
            <p14:sldId id="383"/>
            <p14:sldId id="367"/>
            <p14:sldId id="425"/>
            <p14:sldId id="426"/>
            <p14:sldId id="427"/>
            <p14:sldId id="400"/>
            <p14:sldId id="399"/>
            <p14:sldId id="402"/>
            <p14:sldId id="404"/>
            <p14:sldId id="403"/>
            <p14:sldId id="368"/>
            <p14:sldId id="376"/>
            <p14:sldId id="375"/>
          </p14:sldIdLst>
        </p14:section>
        <p14:section name="致谢页" id="{B18E2F67-5E9E-476C-8FFF-25BA533B9A02}">
          <p14:sldIdLst>
            <p14:sldId id="259"/>
          </p14:sldIdLst>
        </p14:section>
      </p14:sectionLst>
    </p:ext>
    <p:ext uri="{EFAFB233-063F-42B5-8137-9DF3F51BA10A}">
      <p15:sldGuideLst xmlns:p15="http://schemas.microsoft.com/office/powerpoint/2012/main">
        <p15:guide id="1" orient="horz" pos="686" userDrawn="1">
          <p15:clr>
            <a:srgbClr val="A4A3A4"/>
          </p15:clr>
        </p15:guide>
        <p15:guide id="2" pos="3341" userDrawn="1">
          <p15:clr>
            <a:srgbClr val="A4A3A4"/>
          </p15:clr>
        </p15:guide>
        <p15:guide id="3" orient="horz" pos="363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extLst>
      <p:ext uri="{19B8F6BF-5375-455C-9EA6-DF929625EA0E}">
        <p15:presenceInfo xmlns:p15="http://schemas.microsoft.com/office/powerpoint/2012/main" userId="4ba1f24c9fd39da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17116"/>
    <a:srgbClr val="003F88"/>
    <a:srgbClr val="F6B72C"/>
    <a:srgbClr val="F9C099"/>
    <a:srgbClr val="FFDE75"/>
    <a:srgbClr val="FFFFFF"/>
    <a:srgbClr val="B01F24"/>
    <a:srgbClr val="979797"/>
    <a:srgbClr val="616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11" autoAdjust="0"/>
    <p:restoredTop sz="92789" autoAdjust="0"/>
  </p:normalViewPr>
  <p:slideViewPr>
    <p:cSldViewPr snapToGrid="0" showGuides="1">
      <p:cViewPr varScale="1">
        <p:scale>
          <a:sx n="118" d="100"/>
          <a:sy n="118" d="100"/>
        </p:scale>
        <p:origin x="400" y="208"/>
      </p:cViewPr>
      <p:guideLst>
        <p:guide orient="horz" pos="686"/>
        <p:guide pos="3341"/>
        <p:guide orient="horz" pos="3634"/>
      </p:guideLst>
    </p:cSldViewPr>
  </p:slideViewPr>
  <p:notesTextViewPr>
    <p:cViewPr>
      <p:scale>
        <a:sx n="1" d="1"/>
        <a:sy n="1" d="1"/>
      </p:scale>
      <p:origin x="0" y="0"/>
    </p:cViewPr>
  </p:notesTextViewPr>
  <p:notesViewPr>
    <p:cSldViewPr snapToGrid="0" showGuides="1">
      <p:cViewPr varScale="1">
        <p:scale>
          <a:sx n="53" d="100"/>
          <a:sy n="53" d="100"/>
        </p:scale>
        <p:origin x="209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A1C42A-DDFE-446F-9E38-7C2D77C90B9C}" type="doc">
      <dgm:prSet loTypeId="urn:microsoft.com/office/officeart/2005/8/layout/radial6" loCatId="cycle" qsTypeId="urn:microsoft.com/office/officeart/2005/8/quickstyle/simple5" qsCatId="simple" csTypeId="urn:microsoft.com/office/officeart/2005/8/colors/colorful5" csCatId="colorful" phldr="1"/>
      <dgm:spPr/>
      <dgm:t>
        <a:bodyPr/>
        <a:lstStyle/>
        <a:p>
          <a:endParaRPr lang="zh-CN" altLang="en-US"/>
        </a:p>
      </dgm:t>
    </dgm:pt>
    <dgm:pt modelId="{CF00E3C0-C278-4508-ADE1-AD000E7DCE79}">
      <dgm:prSet phldrT="[文本]"/>
      <dgm:spPr/>
      <dgm:t>
        <a:bodyPr/>
        <a:lstStyle/>
        <a:p>
          <a:r>
            <a:rPr lang="zh-CN" altLang="en-US" b="1" dirty="0">
              <a:solidFill>
                <a:schemeClr val="tx1"/>
              </a:solidFill>
            </a:rPr>
            <a:t>磁性材料</a:t>
          </a:r>
        </a:p>
      </dgm:t>
    </dgm:pt>
    <dgm:pt modelId="{D99B36D2-1C69-4934-8AA5-88B72DD8FDDA}" type="parTrans" cxnId="{B83BEBD8-5AD9-4749-BA07-91119D3011C0}">
      <dgm:prSet/>
      <dgm:spPr/>
      <dgm:t>
        <a:bodyPr/>
        <a:lstStyle/>
        <a:p>
          <a:endParaRPr lang="zh-CN" altLang="en-US" b="1"/>
        </a:p>
      </dgm:t>
    </dgm:pt>
    <dgm:pt modelId="{E485AA6C-3BCC-42E6-9308-38E5B8FE1645}" type="sibTrans" cxnId="{B83BEBD8-5AD9-4749-BA07-91119D3011C0}">
      <dgm:prSet/>
      <dgm:spPr/>
      <dgm:t>
        <a:bodyPr/>
        <a:lstStyle/>
        <a:p>
          <a:endParaRPr lang="zh-CN" altLang="en-US" b="1"/>
        </a:p>
      </dgm:t>
    </dgm:pt>
    <dgm:pt modelId="{640107B6-5A42-4D0F-99B3-82281BF5F65D}">
      <dgm:prSet phldrT="[文本]" custT="1"/>
      <dgm:spPr/>
      <dgm:t>
        <a:bodyPr/>
        <a:lstStyle/>
        <a:p>
          <a:r>
            <a:rPr lang="zh-CN" altLang="en-US" sz="2400" b="1" dirty="0"/>
            <a:t>电气电子</a:t>
          </a:r>
          <a:endParaRPr lang="en-US" altLang="zh-CN" sz="2400" b="1" dirty="0"/>
        </a:p>
      </dgm:t>
    </dgm:pt>
    <dgm:pt modelId="{A903F00A-B82E-49D1-B2A7-35C56F30B9E9}" type="parTrans" cxnId="{7B0CF219-9505-4230-B55D-AE009553810D}">
      <dgm:prSet/>
      <dgm:spPr/>
      <dgm:t>
        <a:bodyPr/>
        <a:lstStyle/>
        <a:p>
          <a:endParaRPr lang="zh-CN" altLang="en-US" b="1"/>
        </a:p>
      </dgm:t>
    </dgm:pt>
    <dgm:pt modelId="{A59275A2-727D-4D99-B784-E25487E3497B}" type="sibTrans" cxnId="{7B0CF219-9505-4230-B55D-AE009553810D}">
      <dgm:prSet/>
      <dgm:spPr/>
      <dgm:t>
        <a:bodyPr/>
        <a:lstStyle/>
        <a:p>
          <a:endParaRPr lang="zh-CN" altLang="en-US" b="1"/>
        </a:p>
      </dgm:t>
    </dgm:pt>
    <dgm:pt modelId="{C9540383-58BB-4EA1-AA02-2E311F692CC5}">
      <dgm:prSet phldrT="[文本]" custT="1"/>
      <dgm:spPr/>
      <dgm:t>
        <a:bodyPr/>
        <a:lstStyle/>
        <a:p>
          <a:r>
            <a:rPr lang="zh-CN" altLang="en-US" sz="2400" b="1" dirty="0"/>
            <a:t>工业生产</a:t>
          </a:r>
        </a:p>
      </dgm:t>
    </dgm:pt>
    <dgm:pt modelId="{73FEE34C-5B35-46F4-AFCF-411F2515112F}" type="parTrans" cxnId="{7C99A571-D202-4660-B03B-1F79068E61F7}">
      <dgm:prSet/>
      <dgm:spPr/>
      <dgm:t>
        <a:bodyPr/>
        <a:lstStyle/>
        <a:p>
          <a:endParaRPr lang="zh-CN" altLang="en-US" b="1"/>
        </a:p>
      </dgm:t>
    </dgm:pt>
    <dgm:pt modelId="{21E09463-1F84-4F31-9C6D-0F999D57CE99}" type="sibTrans" cxnId="{7C99A571-D202-4660-B03B-1F79068E61F7}">
      <dgm:prSet/>
      <dgm:spPr/>
      <dgm:t>
        <a:bodyPr/>
        <a:lstStyle/>
        <a:p>
          <a:endParaRPr lang="zh-CN" altLang="en-US" b="1"/>
        </a:p>
      </dgm:t>
    </dgm:pt>
    <dgm:pt modelId="{E3A6BCC7-1202-45E2-8B32-C1E4866843DF}">
      <dgm:prSet phldrT="[文本]" custT="1"/>
      <dgm:spPr/>
      <dgm:t>
        <a:bodyPr/>
        <a:lstStyle/>
        <a:p>
          <a:r>
            <a:rPr lang="zh-CN" altLang="en-US" sz="2400" b="1" dirty="0"/>
            <a:t>医药科研</a:t>
          </a:r>
        </a:p>
      </dgm:t>
    </dgm:pt>
    <dgm:pt modelId="{740C8270-A280-4233-88F4-3EDD379D4BDA}" type="parTrans" cxnId="{BA279C42-EEFE-492F-9D45-B47597AC92AA}">
      <dgm:prSet/>
      <dgm:spPr/>
      <dgm:t>
        <a:bodyPr/>
        <a:lstStyle/>
        <a:p>
          <a:endParaRPr lang="zh-CN" altLang="en-US" b="1"/>
        </a:p>
      </dgm:t>
    </dgm:pt>
    <dgm:pt modelId="{C85E2588-6752-4734-977D-B694C6D39019}" type="sibTrans" cxnId="{BA279C42-EEFE-492F-9D45-B47597AC92AA}">
      <dgm:prSet/>
      <dgm:spPr/>
      <dgm:t>
        <a:bodyPr/>
        <a:lstStyle/>
        <a:p>
          <a:endParaRPr lang="zh-CN" altLang="en-US" b="1"/>
        </a:p>
      </dgm:t>
    </dgm:pt>
    <dgm:pt modelId="{83E89315-D2C2-4F30-B8A5-B0FBA21B72D4}">
      <dgm:prSet/>
      <dgm:spPr/>
      <dgm:t>
        <a:bodyPr/>
        <a:lstStyle/>
        <a:p>
          <a:endParaRPr lang="zh-CN" altLang="en-US" b="1" dirty="0"/>
        </a:p>
      </dgm:t>
    </dgm:pt>
    <dgm:pt modelId="{8FFAA664-7479-40C5-888D-F2C2C69BD60D}" type="parTrans" cxnId="{4A9E5F27-4D1C-42B9-98AA-3D072656C77A}">
      <dgm:prSet/>
      <dgm:spPr/>
      <dgm:t>
        <a:bodyPr/>
        <a:lstStyle/>
        <a:p>
          <a:endParaRPr lang="zh-CN" altLang="en-US" b="1"/>
        </a:p>
      </dgm:t>
    </dgm:pt>
    <dgm:pt modelId="{8675D07E-B9A8-42D1-A6A0-839610228CC9}" type="sibTrans" cxnId="{4A9E5F27-4D1C-42B9-98AA-3D072656C77A}">
      <dgm:prSet/>
      <dgm:spPr/>
      <dgm:t>
        <a:bodyPr/>
        <a:lstStyle/>
        <a:p>
          <a:endParaRPr lang="zh-CN" altLang="en-US" b="1"/>
        </a:p>
      </dgm:t>
    </dgm:pt>
    <dgm:pt modelId="{8E735062-D019-4F91-9030-73CA4EBA9484}">
      <dgm:prSet/>
      <dgm:spPr/>
      <dgm:t>
        <a:bodyPr/>
        <a:lstStyle/>
        <a:p>
          <a:endParaRPr lang="zh-CN" altLang="en-US" b="1" dirty="0"/>
        </a:p>
      </dgm:t>
    </dgm:pt>
    <dgm:pt modelId="{BE4F899D-97B8-4681-86A0-9C3A7BA45A4C}" type="parTrans" cxnId="{87B17A1B-A07C-4C60-A0BE-FAA960415B9F}">
      <dgm:prSet/>
      <dgm:spPr/>
      <dgm:t>
        <a:bodyPr/>
        <a:lstStyle/>
        <a:p>
          <a:endParaRPr lang="zh-CN" altLang="en-US" b="1"/>
        </a:p>
      </dgm:t>
    </dgm:pt>
    <dgm:pt modelId="{9D277F37-DF76-48A7-A94C-685F9A2C71D6}" type="sibTrans" cxnId="{87B17A1B-A07C-4C60-A0BE-FAA960415B9F}">
      <dgm:prSet/>
      <dgm:spPr/>
      <dgm:t>
        <a:bodyPr/>
        <a:lstStyle/>
        <a:p>
          <a:endParaRPr lang="zh-CN" altLang="en-US" b="1"/>
        </a:p>
      </dgm:t>
    </dgm:pt>
    <dgm:pt modelId="{CA89A2F5-D86E-400A-B236-AD0048AC62E3}" type="pres">
      <dgm:prSet presAssocID="{DDA1C42A-DDFE-446F-9E38-7C2D77C90B9C}" presName="Name0" presStyleCnt="0">
        <dgm:presLayoutVars>
          <dgm:chMax val="1"/>
          <dgm:dir/>
          <dgm:animLvl val="ctr"/>
          <dgm:resizeHandles val="exact"/>
        </dgm:presLayoutVars>
      </dgm:prSet>
      <dgm:spPr/>
    </dgm:pt>
    <dgm:pt modelId="{FA95B039-C69A-4949-A29F-80FD0F9A8877}" type="pres">
      <dgm:prSet presAssocID="{CF00E3C0-C278-4508-ADE1-AD000E7DCE79}" presName="centerShape" presStyleLbl="node0" presStyleIdx="0" presStyleCnt="1"/>
      <dgm:spPr/>
    </dgm:pt>
    <dgm:pt modelId="{AA4B7DF9-5030-47D1-9C7A-B72F7D6CEBCF}" type="pres">
      <dgm:prSet presAssocID="{640107B6-5A42-4D0F-99B3-82281BF5F65D}" presName="node" presStyleLbl="node1" presStyleIdx="0" presStyleCnt="4">
        <dgm:presLayoutVars>
          <dgm:bulletEnabled val="1"/>
        </dgm:presLayoutVars>
      </dgm:prSet>
      <dgm:spPr/>
    </dgm:pt>
    <dgm:pt modelId="{57E16B02-4B10-4722-8792-5DF2DBA85C81}" type="pres">
      <dgm:prSet presAssocID="{640107B6-5A42-4D0F-99B3-82281BF5F65D}" presName="dummy" presStyleCnt="0"/>
      <dgm:spPr/>
    </dgm:pt>
    <dgm:pt modelId="{AB574F28-096F-4FA0-964C-D149C7DA4DE2}" type="pres">
      <dgm:prSet presAssocID="{A59275A2-727D-4D99-B784-E25487E3497B}" presName="sibTrans" presStyleLbl="sibTrans2D1" presStyleIdx="0" presStyleCnt="4"/>
      <dgm:spPr/>
    </dgm:pt>
    <dgm:pt modelId="{B65DFC60-0F7E-4852-8905-430CF4EE4E07}" type="pres">
      <dgm:prSet presAssocID="{C9540383-58BB-4EA1-AA02-2E311F692CC5}" presName="node" presStyleLbl="node1" presStyleIdx="1" presStyleCnt="4">
        <dgm:presLayoutVars>
          <dgm:bulletEnabled val="1"/>
        </dgm:presLayoutVars>
      </dgm:prSet>
      <dgm:spPr/>
    </dgm:pt>
    <dgm:pt modelId="{355CE415-4E5E-40E0-A802-97C1D09BAC9D}" type="pres">
      <dgm:prSet presAssocID="{C9540383-58BB-4EA1-AA02-2E311F692CC5}" presName="dummy" presStyleCnt="0"/>
      <dgm:spPr/>
    </dgm:pt>
    <dgm:pt modelId="{69B90725-330E-4C86-B395-A31FDA139CD8}" type="pres">
      <dgm:prSet presAssocID="{21E09463-1F84-4F31-9C6D-0F999D57CE99}" presName="sibTrans" presStyleLbl="sibTrans2D1" presStyleIdx="1" presStyleCnt="4"/>
      <dgm:spPr/>
    </dgm:pt>
    <dgm:pt modelId="{0ED19E95-987D-4CE9-8D9F-9577CADA23FD}" type="pres">
      <dgm:prSet presAssocID="{E3A6BCC7-1202-45E2-8B32-C1E4866843DF}" presName="node" presStyleLbl="node1" presStyleIdx="2" presStyleCnt="4">
        <dgm:presLayoutVars>
          <dgm:bulletEnabled val="1"/>
        </dgm:presLayoutVars>
      </dgm:prSet>
      <dgm:spPr/>
    </dgm:pt>
    <dgm:pt modelId="{F0366BAC-ECEB-46D2-BFC4-6D6108BA0B54}" type="pres">
      <dgm:prSet presAssocID="{E3A6BCC7-1202-45E2-8B32-C1E4866843DF}" presName="dummy" presStyleCnt="0"/>
      <dgm:spPr/>
    </dgm:pt>
    <dgm:pt modelId="{2177941E-6138-47FB-AB25-54E54B407BE8}" type="pres">
      <dgm:prSet presAssocID="{C85E2588-6752-4734-977D-B694C6D39019}" presName="sibTrans" presStyleLbl="sibTrans2D1" presStyleIdx="2" presStyleCnt="4"/>
      <dgm:spPr/>
    </dgm:pt>
    <dgm:pt modelId="{24A602E6-3937-48AC-8AD9-DE05B62DD021}" type="pres">
      <dgm:prSet presAssocID="{83E89315-D2C2-4F30-B8A5-B0FBA21B72D4}" presName="node" presStyleLbl="node1" presStyleIdx="3" presStyleCnt="4">
        <dgm:presLayoutVars>
          <dgm:bulletEnabled val="1"/>
        </dgm:presLayoutVars>
      </dgm:prSet>
      <dgm:spPr/>
    </dgm:pt>
    <dgm:pt modelId="{0DCA15D9-881C-43F6-BFE5-0473F4BA6DC2}" type="pres">
      <dgm:prSet presAssocID="{83E89315-D2C2-4F30-B8A5-B0FBA21B72D4}" presName="dummy" presStyleCnt="0"/>
      <dgm:spPr/>
    </dgm:pt>
    <dgm:pt modelId="{B7200E19-F802-40AE-8623-2208D2CEABC0}" type="pres">
      <dgm:prSet presAssocID="{8675D07E-B9A8-42D1-A6A0-839610228CC9}" presName="sibTrans" presStyleLbl="sibTrans2D1" presStyleIdx="3" presStyleCnt="4"/>
      <dgm:spPr/>
    </dgm:pt>
  </dgm:ptLst>
  <dgm:cxnLst>
    <dgm:cxn modelId="{10C2E40E-791A-4A77-9109-C6D6C1133FCB}" type="presOf" srcId="{E3A6BCC7-1202-45E2-8B32-C1E4866843DF}" destId="{0ED19E95-987D-4CE9-8D9F-9577CADA23FD}" srcOrd="0" destOrd="0" presId="urn:microsoft.com/office/officeart/2005/8/layout/radial6"/>
    <dgm:cxn modelId="{7B0CF219-9505-4230-B55D-AE009553810D}" srcId="{CF00E3C0-C278-4508-ADE1-AD000E7DCE79}" destId="{640107B6-5A42-4D0F-99B3-82281BF5F65D}" srcOrd="0" destOrd="0" parTransId="{A903F00A-B82E-49D1-B2A7-35C56F30B9E9}" sibTransId="{A59275A2-727D-4D99-B784-E25487E3497B}"/>
    <dgm:cxn modelId="{87B17A1B-A07C-4C60-A0BE-FAA960415B9F}" srcId="{83E89315-D2C2-4F30-B8A5-B0FBA21B72D4}" destId="{8E735062-D019-4F91-9030-73CA4EBA9484}" srcOrd="0" destOrd="0" parTransId="{BE4F899D-97B8-4681-86A0-9C3A7BA45A4C}" sibTransId="{9D277F37-DF76-48A7-A94C-685F9A2C71D6}"/>
    <dgm:cxn modelId="{AF486222-3E3E-4916-994E-656D9C25550A}" type="presOf" srcId="{A59275A2-727D-4D99-B784-E25487E3497B}" destId="{AB574F28-096F-4FA0-964C-D149C7DA4DE2}" srcOrd="0" destOrd="0" presId="urn:microsoft.com/office/officeart/2005/8/layout/radial6"/>
    <dgm:cxn modelId="{4A9E5F27-4D1C-42B9-98AA-3D072656C77A}" srcId="{CF00E3C0-C278-4508-ADE1-AD000E7DCE79}" destId="{83E89315-D2C2-4F30-B8A5-B0FBA21B72D4}" srcOrd="3" destOrd="0" parTransId="{8FFAA664-7479-40C5-888D-F2C2C69BD60D}" sibTransId="{8675D07E-B9A8-42D1-A6A0-839610228CC9}"/>
    <dgm:cxn modelId="{BA279C42-EEFE-492F-9D45-B47597AC92AA}" srcId="{CF00E3C0-C278-4508-ADE1-AD000E7DCE79}" destId="{E3A6BCC7-1202-45E2-8B32-C1E4866843DF}" srcOrd="2" destOrd="0" parTransId="{740C8270-A280-4233-88F4-3EDD379D4BDA}" sibTransId="{C85E2588-6752-4734-977D-B694C6D39019}"/>
    <dgm:cxn modelId="{CB4B3D46-4E21-43B6-BE88-5E71439F67FC}" type="presOf" srcId="{C9540383-58BB-4EA1-AA02-2E311F692CC5}" destId="{B65DFC60-0F7E-4852-8905-430CF4EE4E07}" srcOrd="0" destOrd="0" presId="urn:microsoft.com/office/officeart/2005/8/layout/radial6"/>
    <dgm:cxn modelId="{7C99A571-D202-4660-B03B-1F79068E61F7}" srcId="{CF00E3C0-C278-4508-ADE1-AD000E7DCE79}" destId="{C9540383-58BB-4EA1-AA02-2E311F692CC5}" srcOrd="1" destOrd="0" parTransId="{73FEE34C-5B35-46F4-AFCF-411F2515112F}" sibTransId="{21E09463-1F84-4F31-9C6D-0F999D57CE99}"/>
    <dgm:cxn modelId="{9A542C73-9FF8-4CAC-8E8E-66F456E8457A}" type="presOf" srcId="{21E09463-1F84-4F31-9C6D-0F999D57CE99}" destId="{69B90725-330E-4C86-B395-A31FDA139CD8}" srcOrd="0" destOrd="0" presId="urn:microsoft.com/office/officeart/2005/8/layout/radial6"/>
    <dgm:cxn modelId="{1A2C1F7C-435B-42F5-AB3A-584D964BFFE4}" type="presOf" srcId="{83E89315-D2C2-4F30-B8A5-B0FBA21B72D4}" destId="{24A602E6-3937-48AC-8AD9-DE05B62DD021}" srcOrd="0" destOrd="0" presId="urn:microsoft.com/office/officeart/2005/8/layout/radial6"/>
    <dgm:cxn modelId="{4564EF80-872F-4E94-B0C1-24E1878BED69}" type="presOf" srcId="{640107B6-5A42-4D0F-99B3-82281BF5F65D}" destId="{AA4B7DF9-5030-47D1-9C7A-B72F7D6CEBCF}" srcOrd="0" destOrd="0" presId="urn:microsoft.com/office/officeart/2005/8/layout/radial6"/>
    <dgm:cxn modelId="{DFDE9986-B163-42F0-A303-1090DCA18513}" type="presOf" srcId="{CF00E3C0-C278-4508-ADE1-AD000E7DCE79}" destId="{FA95B039-C69A-4949-A29F-80FD0F9A8877}" srcOrd="0" destOrd="0" presId="urn:microsoft.com/office/officeart/2005/8/layout/radial6"/>
    <dgm:cxn modelId="{33E0AD88-1EA1-496F-93CB-21C841C9B373}" type="presOf" srcId="{8E735062-D019-4F91-9030-73CA4EBA9484}" destId="{24A602E6-3937-48AC-8AD9-DE05B62DD021}" srcOrd="0" destOrd="1" presId="urn:microsoft.com/office/officeart/2005/8/layout/radial6"/>
    <dgm:cxn modelId="{774A1897-BB81-4AD0-A6D3-524B4E9DD003}" type="presOf" srcId="{8675D07E-B9A8-42D1-A6A0-839610228CC9}" destId="{B7200E19-F802-40AE-8623-2208D2CEABC0}" srcOrd="0" destOrd="0" presId="urn:microsoft.com/office/officeart/2005/8/layout/radial6"/>
    <dgm:cxn modelId="{225ECDA9-EF49-4F00-B9C7-5D4232544303}" type="presOf" srcId="{DDA1C42A-DDFE-446F-9E38-7C2D77C90B9C}" destId="{CA89A2F5-D86E-400A-B236-AD0048AC62E3}" srcOrd="0" destOrd="0" presId="urn:microsoft.com/office/officeart/2005/8/layout/radial6"/>
    <dgm:cxn modelId="{B83BEBD8-5AD9-4749-BA07-91119D3011C0}" srcId="{DDA1C42A-DDFE-446F-9E38-7C2D77C90B9C}" destId="{CF00E3C0-C278-4508-ADE1-AD000E7DCE79}" srcOrd="0" destOrd="0" parTransId="{D99B36D2-1C69-4934-8AA5-88B72DD8FDDA}" sibTransId="{E485AA6C-3BCC-42E6-9308-38E5B8FE1645}"/>
    <dgm:cxn modelId="{A9F585E9-3E38-475B-9A4D-F322F12C1518}" type="presOf" srcId="{C85E2588-6752-4734-977D-B694C6D39019}" destId="{2177941E-6138-47FB-AB25-54E54B407BE8}" srcOrd="0" destOrd="0" presId="urn:microsoft.com/office/officeart/2005/8/layout/radial6"/>
    <dgm:cxn modelId="{84CE368D-C0A3-4135-9978-26500FDC0EFA}" type="presParOf" srcId="{CA89A2F5-D86E-400A-B236-AD0048AC62E3}" destId="{FA95B039-C69A-4949-A29F-80FD0F9A8877}" srcOrd="0" destOrd="0" presId="urn:microsoft.com/office/officeart/2005/8/layout/radial6"/>
    <dgm:cxn modelId="{50EE4477-6144-4B55-A5F0-2A7C1C7ED389}" type="presParOf" srcId="{CA89A2F5-D86E-400A-B236-AD0048AC62E3}" destId="{AA4B7DF9-5030-47D1-9C7A-B72F7D6CEBCF}" srcOrd="1" destOrd="0" presId="urn:microsoft.com/office/officeart/2005/8/layout/radial6"/>
    <dgm:cxn modelId="{9AE67FBF-193A-49C1-8C13-8F49B20AE635}" type="presParOf" srcId="{CA89A2F5-D86E-400A-B236-AD0048AC62E3}" destId="{57E16B02-4B10-4722-8792-5DF2DBA85C81}" srcOrd="2" destOrd="0" presId="urn:microsoft.com/office/officeart/2005/8/layout/radial6"/>
    <dgm:cxn modelId="{F78852DA-4179-471B-863E-A994C78B9554}" type="presParOf" srcId="{CA89A2F5-D86E-400A-B236-AD0048AC62E3}" destId="{AB574F28-096F-4FA0-964C-D149C7DA4DE2}" srcOrd="3" destOrd="0" presId="urn:microsoft.com/office/officeart/2005/8/layout/radial6"/>
    <dgm:cxn modelId="{24A94A6F-DC13-437C-BD86-6B3E7BCAFF95}" type="presParOf" srcId="{CA89A2F5-D86E-400A-B236-AD0048AC62E3}" destId="{B65DFC60-0F7E-4852-8905-430CF4EE4E07}" srcOrd="4" destOrd="0" presId="urn:microsoft.com/office/officeart/2005/8/layout/radial6"/>
    <dgm:cxn modelId="{0EF0DBFF-8ABB-4E76-82A6-B75203A72938}" type="presParOf" srcId="{CA89A2F5-D86E-400A-B236-AD0048AC62E3}" destId="{355CE415-4E5E-40E0-A802-97C1D09BAC9D}" srcOrd="5" destOrd="0" presId="urn:microsoft.com/office/officeart/2005/8/layout/radial6"/>
    <dgm:cxn modelId="{0223B13D-CEE4-4EBC-8551-5993AA4DB876}" type="presParOf" srcId="{CA89A2F5-D86E-400A-B236-AD0048AC62E3}" destId="{69B90725-330E-4C86-B395-A31FDA139CD8}" srcOrd="6" destOrd="0" presId="urn:microsoft.com/office/officeart/2005/8/layout/radial6"/>
    <dgm:cxn modelId="{EE83F9B1-A00A-431D-AC63-DBB4F692841F}" type="presParOf" srcId="{CA89A2F5-D86E-400A-B236-AD0048AC62E3}" destId="{0ED19E95-987D-4CE9-8D9F-9577CADA23FD}" srcOrd="7" destOrd="0" presId="urn:microsoft.com/office/officeart/2005/8/layout/radial6"/>
    <dgm:cxn modelId="{B0E27D5C-7696-43F2-92BC-B94FB439A95A}" type="presParOf" srcId="{CA89A2F5-D86E-400A-B236-AD0048AC62E3}" destId="{F0366BAC-ECEB-46D2-BFC4-6D6108BA0B54}" srcOrd="8" destOrd="0" presId="urn:microsoft.com/office/officeart/2005/8/layout/radial6"/>
    <dgm:cxn modelId="{F4172993-CB70-4111-878E-F6FE8E44B6C7}" type="presParOf" srcId="{CA89A2F5-D86E-400A-B236-AD0048AC62E3}" destId="{2177941E-6138-47FB-AB25-54E54B407BE8}" srcOrd="9" destOrd="0" presId="urn:microsoft.com/office/officeart/2005/8/layout/radial6"/>
    <dgm:cxn modelId="{004F4708-CD6D-4C36-B9BD-98BC3086585F}" type="presParOf" srcId="{CA89A2F5-D86E-400A-B236-AD0048AC62E3}" destId="{24A602E6-3937-48AC-8AD9-DE05B62DD021}" srcOrd="10" destOrd="0" presId="urn:microsoft.com/office/officeart/2005/8/layout/radial6"/>
    <dgm:cxn modelId="{2D405B51-CBC6-422A-9ADE-E3D71F36A809}" type="presParOf" srcId="{CA89A2F5-D86E-400A-B236-AD0048AC62E3}" destId="{0DCA15D9-881C-43F6-BFE5-0473F4BA6DC2}" srcOrd="11" destOrd="0" presId="urn:microsoft.com/office/officeart/2005/8/layout/radial6"/>
    <dgm:cxn modelId="{A86ED49D-4AFE-454C-B7DA-F137BB6CF45C}" type="presParOf" srcId="{CA89A2F5-D86E-400A-B236-AD0048AC62E3}" destId="{B7200E19-F802-40AE-8623-2208D2CEABC0}" srcOrd="12" destOrd="0" presId="urn:microsoft.com/office/officeart/2005/8/layout/radial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00E19-F802-40AE-8623-2208D2CEABC0}">
      <dsp:nvSpPr>
        <dsp:cNvPr id="0" name=""/>
        <dsp:cNvSpPr/>
      </dsp:nvSpPr>
      <dsp:spPr>
        <a:xfrm>
          <a:off x="1703518" y="513900"/>
          <a:ext cx="3429664" cy="3429664"/>
        </a:xfrm>
        <a:prstGeom prst="blockArc">
          <a:avLst>
            <a:gd name="adj1" fmla="val 10800000"/>
            <a:gd name="adj2" fmla="val 16200000"/>
            <a:gd name="adj3" fmla="val 4641"/>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177941E-6138-47FB-AB25-54E54B407BE8}">
      <dsp:nvSpPr>
        <dsp:cNvPr id="0" name=""/>
        <dsp:cNvSpPr/>
      </dsp:nvSpPr>
      <dsp:spPr>
        <a:xfrm>
          <a:off x="1703518" y="513900"/>
          <a:ext cx="3429664" cy="3429664"/>
        </a:xfrm>
        <a:prstGeom prst="blockArc">
          <a:avLst>
            <a:gd name="adj1" fmla="val 5400000"/>
            <a:gd name="adj2" fmla="val 10800000"/>
            <a:gd name="adj3" fmla="val 4641"/>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9B90725-330E-4C86-B395-A31FDA139CD8}">
      <dsp:nvSpPr>
        <dsp:cNvPr id="0" name=""/>
        <dsp:cNvSpPr/>
      </dsp:nvSpPr>
      <dsp:spPr>
        <a:xfrm>
          <a:off x="1703518" y="513900"/>
          <a:ext cx="3429664" cy="3429664"/>
        </a:xfrm>
        <a:prstGeom prst="blockArc">
          <a:avLst>
            <a:gd name="adj1" fmla="val 0"/>
            <a:gd name="adj2" fmla="val 5400000"/>
            <a:gd name="adj3" fmla="val 4641"/>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B574F28-096F-4FA0-964C-D149C7DA4DE2}">
      <dsp:nvSpPr>
        <dsp:cNvPr id="0" name=""/>
        <dsp:cNvSpPr/>
      </dsp:nvSpPr>
      <dsp:spPr>
        <a:xfrm>
          <a:off x="1703518" y="513900"/>
          <a:ext cx="3429664" cy="3429664"/>
        </a:xfrm>
        <a:prstGeom prst="blockArc">
          <a:avLst>
            <a:gd name="adj1" fmla="val 16200000"/>
            <a:gd name="adj2" fmla="val 0"/>
            <a:gd name="adj3" fmla="val 4641"/>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A95B039-C69A-4949-A29F-80FD0F9A8877}">
      <dsp:nvSpPr>
        <dsp:cNvPr id="0" name=""/>
        <dsp:cNvSpPr/>
      </dsp:nvSpPr>
      <dsp:spPr>
        <a:xfrm>
          <a:off x="2628858" y="1439240"/>
          <a:ext cx="1578984" cy="1578984"/>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zh-CN" altLang="en-US" sz="3200" b="1" kern="1200" dirty="0">
              <a:solidFill>
                <a:schemeClr val="tx1"/>
              </a:solidFill>
            </a:rPr>
            <a:t>磁性材料</a:t>
          </a:r>
        </a:p>
      </dsp:txBody>
      <dsp:txXfrm>
        <a:off x="2860095" y="1670477"/>
        <a:ext cx="1116510" cy="1116510"/>
      </dsp:txXfrm>
    </dsp:sp>
    <dsp:sp modelId="{AA4B7DF9-5030-47D1-9C7A-B72F7D6CEBCF}">
      <dsp:nvSpPr>
        <dsp:cNvPr id="0" name=""/>
        <dsp:cNvSpPr/>
      </dsp:nvSpPr>
      <dsp:spPr>
        <a:xfrm>
          <a:off x="2865706" y="1046"/>
          <a:ext cx="1105289" cy="1105289"/>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t>电气电子</a:t>
          </a:r>
          <a:endParaRPr lang="en-US" altLang="zh-CN" sz="2400" b="1" kern="1200" dirty="0"/>
        </a:p>
      </dsp:txBody>
      <dsp:txXfrm>
        <a:off x="3027572" y="162912"/>
        <a:ext cx="781557" cy="781557"/>
      </dsp:txXfrm>
    </dsp:sp>
    <dsp:sp modelId="{B65DFC60-0F7E-4852-8905-430CF4EE4E07}">
      <dsp:nvSpPr>
        <dsp:cNvPr id="0" name=""/>
        <dsp:cNvSpPr/>
      </dsp:nvSpPr>
      <dsp:spPr>
        <a:xfrm>
          <a:off x="4540748" y="1676088"/>
          <a:ext cx="1105289" cy="1105289"/>
        </a:xfrm>
        <a:prstGeom prst="ellipse">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t>工业生产</a:t>
          </a:r>
        </a:p>
      </dsp:txBody>
      <dsp:txXfrm>
        <a:off x="4702614" y="1837954"/>
        <a:ext cx="781557" cy="781557"/>
      </dsp:txXfrm>
    </dsp:sp>
    <dsp:sp modelId="{0ED19E95-987D-4CE9-8D9F-9577CADA23FD}">
      <dsp:nvSpPr>
        <dsp:cNvPr id="0" name=""/>
        <dsp:cNvSpPr/>
      </dsp:nvSpPr>
      <dsp:spPr>
        <a:xfrm>
          <a:off x="2865706" y="3351130"/>
          <a:ext cx="1105289" cy="1105289"/>
        </a:xfrm>
        <a:prstGeom prst="ellipse">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t>医药科研</a:t>
          </a:r>
        </a:p>
      </dsp:txBody>
      <dsp:txXfrm>
        <a:off x="3027572" y="3512996"/>
        <a:ext cx="781557" cy="781557"/>
      </dsp:txXfrm>
    </dsp:sp>
    <dsp:sp modelId="{24A602E6-3937-48AC-8AD9-DE05B62DD021}">
      <dsp:nvSpPr>
        <dsp:cNvPr id="0" name=""/>
        <dsp:cNvSpPr/>
      </dsp:nvSpPr>
      <dsp:spPr>
        <a:xfrm>
          <a:off x="1190664" y="1676088"/>
          <a:ext cx="1105289" cy="1105289"/>
        </a:xfrm>
        <a:prstGeom prst="ellipse">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l" defTabSz="1022350">
            <a:lnSpc>
              <a:spcPct val="90000"/>
            </a:lnSpc>
            <a:spcBef>
              <a:spcPct val="0"/>
            </a:spcBef>
            <a:spcAft>
              <a:spcPct val="35000"/>
            </a:spcAft>
            <a:buNone/>
          </a:pPr>
          <a:endParaRPr lang="zh-CN" altLang="en-US" sz="2300" b="1" kern="1200" dirty="0"/>
        </a:p>
        <a:p>
          <a:pPr marL="171450" lvl="1" indent="-171450" algn="l" defTabSz="800100">
            <a:lnSpc>
              <a:spcPct val="90000"/>
            </a:lnSpc>
            <a:spcBef>
              <a:spcPct val="0"/>
            </a:spcBef>
            <a:spcAft>
              <a:spcPct val="15000"/>
            </a:spcAft>
            <a:buChar char="•"/>
          </a:pPr>
          <a:endParaRPr lang="zh-CN" altLang="en-US" sz="1800" b="1" kern="1200" dirty="0"/>
        </a:p>
      </dsp:txBody>
      <dsp:txXfrm>
        <a:off x="1352530" y="1837954"/>
        <a:ext cx="781557" cy="781557"/>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FFE1CC0-C3A8-40FD-B92D-7FB0DC1CB0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0BB168B-3D24-47C5-9C77-BE763E143FF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F75DDE-432B-40AD-BE9E-FA049E10C62E}" type="datetimeFigureOut">
              <a:rPr lang="zh-CN" altLang="en-US" smtClean="0"/>
              <a:t>2025/7/10</a:t>
            </a:fld>
            <a:endParaRPr lang="zh-CN" altLang="en-US"/>
          </a:p>
        </p:txBody>
      </p:sp>
      <p:sp>
        <p:nvSpPr>
          <p:cNvPr id="4" name="页脚占位符 3">
            <a:extLst>
              <a:ext uri="{FF2B5EF4-FFF2-40B4-BE49-F238E27FC236}">
                <a16:creationId xmlns:a16="http://schemas.microsoft.com/office/drawing/2014/main" id="{FC7FD73F-A4EF-4E59-9815-AEF2F20A37E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EBE1E1B5-8C09-4CE5-BD0B-AA86136434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5043C7-7D10-4A62-95D6-8659B3D82170}" type="slidenum">
              <a:rPr lang="zh-CN" altLang="en-US" smtClean="0"/>
              <a:t>‹#›</a:t>
            </a:fld>
            <a:endParaRPr lang="zh-CN" altLang="en-US"/>
          </a:p>
        </p:txBody>
      </p:sp>
    </p:spTree>
    <p:extLst>
      <p:ext uri="{BB962C8B-B14F-4D97-AF65-F5344CB8AC3E}">
        <p14:creationId xmlns:p14="http://schemas.microsoft.com/office/powerpoint/2010/main" val="1216041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8BEAD-3BFB-4E74-94BA-8E573EEB3C07}" type="datetimeFigureOut">
              <a:rPr lang="zh-CN" altLang="en-US" smtClean="0"/>
              <a:t>2025/7/10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538A16-44D0-4638-ACD6-43A88F095A25}" type="slidenum">
              <a:rPr lang="zh-CN" altLang="en-US" smtClean="0"/>
              <a:t>‹#›</a:t>
            </a:fld>
            <a:endParaRPr lang="zh-CN" altLang="en-US"/>
          </a:p>
        </p:txBody>
      </p:sp>
    </p:spTree>
    <p:extLst>
      <p:ext uri="{BB962C8B-B14F-4D97-AF65-F5344CB8AC3E}">
        <p14:creationId xmlns:p14="http://schemas.microsoft.com/office/powerpoint/2010/main" val="4164083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具体的我们要从实验背景、目的、原理、实验的内容和思考，五个部分展开。</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2</a:t>
            </a:fld>
            <a:endParaRPr lang="zh-CN" altLang="en-US"/>
          </a:p>
        </p:txBody>
      </p:sp>
    </p:spTree>
    <p:extLst>
      <p:ext uri="{BB962C8B-B14F-4D97-AF65-F5344CB8AC3E}">
        <p14:creationId xmlns:p14="http://schemas.microsoft.com/office/powerpoint/2010/main" val="4043931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首先就是实验背景。</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3</a:t>
            </a:fld>
            <a:endParaRPr lang="zh-CN" altLang="en-US"/>
          </a:p>
        </p:txBody>
      </p:sp>
    </p:spTree>
    <p:extLst>
      <p:ext uri="{BB962C8B-B14F-4D97-AF65-F5344CB8AC3E}">
        <p14:creationId xmlns:p14="http://schemas.microsoft.com/office/powerpoint/2010/main" val="2364754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谈到磁性材料的话，小到我们的校园卡、手机，大到发动机或者是核磁共振仪等等。磁性材料在各行各业都有着广泛的应用，由于我国丰富的一个矿产资源和冶金工艺，中国的各类的磁性材料的整体的产量是位居世界第一的。</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4</a:t>
            </a:fld>
            <a:endParaRPr lang="zh-CN" altLang="en-US"/>
          </a:p>
        </p:txBody>
      </p:sp>
    </p:spTree>
    <p:extLst>
      <p:ext uri="{BB962C8B-B14F-4D97-AF65-F5344CB8AC3E}">
        <p14:creationId xmlns:p14="http://schemas.microsoft.com/office/powerpoint/2010/main" val="1983599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那要研究这个磁性材料的话，就要从磁场的发现来讲起了，早期物理学家对磁性的认知是来源于通电导线，并由此定义了磁场强度物理量，也就是用字母</a:t>
            </a:r>
            <a:r>
              <a:rPr lang="en-US" altLang="zh-CN" dirty="0"/>
              <a:t>h</a:t>
            </a:r>
            <a:r>
              <a:rPr lang="zh-CN" altLang="en-US" dirty="0"/>
              <a:t>来表示，它和电流的大小，线圈匝数以及磁路的长度是相关的。并且呢，物理学家们在研究带电粒子在磁场中的受到洛伦兹力的运动情况来定义了磁感应强度这个物理量，用字母</a:t>
            </a:r>
            <a:r>
              <a:rPr lang="en-US" altLang="zh-CN" dirty="0"/>
              <a:t>b</a:t>
            </a:r>
            <a:r>
              <a:rPr lang="zh-CN" altLang="en-US" dirty="0"/>
              <a:t>来表示，它等于磁通线的面密度。那这个磁感应强度的物理内涵其实是包括了两部分，一部分呢，是励磁电流主动产生的一个磁场，另一部分其实是涵盖了材料被被动磁化的这一部分的磁场。那把这个磁感应强度除以磁场的强度之后，就定义了一个磁导率，和材料本身被磁化的性质有关。也就是说，我们在一个通电螺线管里面加入不同的材料，这个时候的磁场强度是恒定的，但是磁感应强度是随着不同材料而变化的。并且把真空的磁导率</a:t>
            </a:r>
            <a:r>
              <a:rPr lang="en-US" altLang="zh-CN" dirty="0"/>
              <a:t>Mu0</a:t>
            </a:r>
            <a:r>
              <a:rPr lang="zh-CN" altLang="en-US" dirty="0"/>
              <a:t>作为一个参考值，如果这个材料是可以去增强通电螺线管产生的磁场的话，这个磁导率就是大于</a:t>
            </a:r>
            <a:r>
              <a:rPr lang="en-US" altLang="zh-CN" dirty="0"/>
              <a:t>Mu0</a:t>
            </a:r>
            <a:r>
              <a:rPr lang="zh-CN" altLang="en-US" dirty="0"/>
              <a:t>，反之就小于</a:t>
            </a:r>
            <a:r>
              <a:rPr lang="en-US" altLang="zh-CN" dirty="0"/>
              <a:t>Mu0</a:t>
            </a:r>
            <a:r>
              <a:rPr lang="zh-CN" altLang="en-US" dirty="0"/>
              <a:t>。那在磁导率中把这个真空磁导率扣掉以后呢？它与</a:t>
            </a:r>
            <a:r>
              <a:rPr lang="en-US" altLang="zh-CN" dirty="0"/>
              <a:t>mu0</a:t>
            </a:r>
            <a:r>
              <a:rPr lang="zh-CN" altLang="en-US" dirty="0"/>
              <a:t>的比值就就叫做磁化律。</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5</a:t>
            </a:fld>
            <a:endParaRPr lang="zh-CN" altLang="en-US"/>
          </a:p>
        </p:txBody>
      </p:sp>
    </p:spTree>
    <p:extLst>
      <p:ext uri="{BB962C8B-B14F-4D97-AF65-F5344CB8AC3E}">
        <p14:creationId xmlns:p14="http://schemas.microsoft.com/office/powerpoint/2010/main" val="756505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6</a:t>
            </a:fld>
            <a:endParaRPr lang="zh-CN" altLang="en-US"/>
          </a:p>
        </p:txBody>
      </p:sp>
    </p:spTree>
    <p:extLst>
      <p:ext uri="{BB962C8B-B14F-4D97-AF65-F5344CB8AC3E}">
        <p14:creationId xmlns:p14="http://schemas.microsoft.com/office/powerpoint/2010/main" val="3122956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今天我们的实验目的是。。。</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7</a:t>
            </a:fld>
            <a:endParaRPr lang="zh-CN" altLang="en-US"/>
          </a:p>
        </p:txBody>
      </p:sp>
    </p:spTree>
    <p:extLst>
      <p:ext uri="{BB962C8B-B14F-4D97-AF65-F5344CB8AC3E}">
        <p14:creationId xmlns:p14="http://schemas.microsoft.com/office/powerpoint/2010/main" val="1300340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8</a:t>
            </a:fld>
            <a:endParaRPr lang="zh-CN" altLang="en-US"/>
          </a:p>
        </p:txBody>
      </p:sp>
    </p:spTree>
    <p:extLst>
      <p:ext uri="{BB962C8B-B14F-4D97-AF65-F5344CB8AC3E}">
        <p14:creationId xmlns:p14="http://schemas.microsoft.com/office/powerpoint/2010/main" val="1235287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具体的实验原理就要从铁磁材料那具体的实验原理呢，就要从铁丝材料的被磁化的过程开始讲起。像铁钴镍这样的金属里面会有一些不同取向的，自发磁化的区域，叫做磁畴，然后在外磁场作用下，这些磁畴的取向会旋转，磁壁也会发生迁移，使得自发磁化的取向趋向一致，宏观上就会呈现出材料整体的磁性。并且随着磁场强度的增大，磁感应强度的变化不是线性的，而且当这个外磁场增大到一定的程度的时候，磁感应强度会达到饱和，那这个曲线就是铁磁材料的基本磁化曲线。我们再把没点对应的磁导率和这个磁场强度的关系也可以一起画出来，发现磁导率是先变大再变小的。</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9</a:t>
            </a:fld>
            <a:endParaRPr lang="zh-CN" altLang="en-US"/>
          </a:p>
        </p:txBody>
      </p:sp>
    </p:spTree>
    <p:extLst>
      <p:ext uri="{BB962C8B-B14F-4D97-AF65-F5344CB8AC3E}">
        <p14:creationId xmlns:p14="http://schemas.microsoft.com/office/powerpoint/2010/main" val="1951152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具体的实验原理就要从铁磁材料那具体的实验原理呢，就要从铁丝材料的被磁化的过程开始讲起。像铁钴镍这样的金属里面会有一些不同取向的，自发磁化的区域，叫做磁畴，然后在外磁场作用下，这些磁畴的取向会旋转，磁壁也会发生迁移，使得自发磁化的取向趋向一致，宏观上就会呈现出材料整体的磁性。并且随着磁场强度的增大，磁感应强度的变化不是线性的，而且当这个外磁场增大到一定的程度的时候，磁感应强度会达到饱和，那这个曲线就是铁磁材料的基本磁化曲线。我们再把没点对应的磁导率和这个磁场强度的关系也可以一起画出来，发现磁导率是先变大再变小的。</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10</a:t>
            </a:fld>
            <a:endParaRPr lang="zh-CN" altLang="en-US"/>
          </a:p>
        </p:txBody>
      </p:sp>
    </p:spTree>
    <p:extLst>
      <p:ext uri="{BB962C8B-B14F-4D97-AF65-F5344CB8AC3E}">
        <p14:creationId xmlns:p14="http://schemas.microsoft.com/office/powerpoint/2010/main" val="1337267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我们随着刚才饱和磁感强度这点，将外磁场缓慢的减小。当磁场强度变为零的时候，这个材料依旧会残留一个磁感应强度的值，也叫做剩磁，为了把这个剩磁给去掉，我们需要施加一个反向的磁场。当剩磁为时，这个反向的磁场就叫做矫顽力，然后我们再把这个反向磁场逐渐增大。这个铁磁体又会达到一个反向磁饱和的状态，再被反向去磁，就会形成闭合的磁滞回线。这样它的磁感强度总是落后于磁场强度的变化，这就是铁磁材料的一个磁滞的现象。磁滞回线包围的这个面积，就正比于能量的损耗，也叫做磁滞损耗。</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11</a:t>
            </a:fld>
            <a:endParaRPr lang="zh-CN" altLang="en-US"/>
          </a:p>
        </p:txBody>
      </p:sp>
    </p:spTree>
    <p:extLst>
      <p:ext uri="{BB962C8B-B14F-4D97-AF65-F5344CB8AC3E}">
        <p14:creationId xmlns:p14="http://schemas.microsoft.com/office/powerpoint/2010/main" val="1592713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我们随着刚才饱和磁感强度这点，将外磁场缓慢的减小。当磁场强度变为零的时候，这个材料依旧会残留一个磁感应强度的值，也叫做剩磁，为了把这个剩磁给去掉，我们需要施加一个反向的磁场。当剩磁为时，这个反向的磁场就叫做矫顽力，然后我们再把这个反向磁场逐渐增大。这个铁磁体又会达到一个反向磁饱和的状态，再被反向去磁，就会形成闭合的磁滞回线。这样它的磁感强度总是落后于磁场强度的变化，这就是铁磁材料的一个磁滞的现象。磁滞回线包围的这个面积，就正比于能量的损耗，也叫做磁滞损耗。</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12</a:t>
            </a:fld>
            <a:endParaRPr lang="zh-CN" altLang="en-US"/>
          </a:p>
        </p:txBody>
      </p:sp>
    </p:spTree>
    <p:extLst>
      <p:ext uri="{BB962C8B-B14F-4D97-AF65-F5344CB8AC3E}">
        <p14:creationId xmlns:p14="http://schemas.microsoft.com/office/powerpoint/2010/main" val="1371378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a:p>
            <a:r>
              <a:rPr lang="zh-CN" altLang="en-US" dirty="0"/>
              <a:t>磁滞回线能反应材料的磁学性能，铁磁材料主要有两种，磁滞回线毕竟胖的硬磁材料和磁滞回线比较瘦的软磁材料，硬磁材料的剩磁和矫顽力一般都比较大，所以难以被消磁，可用作比如电子元件或者扬声器里面的永磁体。那软磁材料的剩磁和矫顽力比较小，磁导率是比较高的，所以经常被用作需要反复磁化和去磁的元件，比如继电器的铁芯等等。</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13</a:t>
            </a:fld>
            <a:endParaRPr lang="zh-CN" altLang="en-US"/>
          </a:p>
        </p:txBody>
      </p:sp>
    </p:spTree>
    <p:extLst>
      <p:ext uri="{BB962C8B-B14F-4D97-AF65-F5344CB8AC3E}">
        <p14:creationId xmlns:p14="http://schemas.microsoft.com/office/powerpoint/2010/main" val="3570492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磁学量的直接测量是比较麻烦的，因此我们可以就要用到物理实验中一个非常重要的方法，就是转换法，利用电磁感应定律把磁学物理量转换为容易测量的电流或电压等电学量，再利用示波器电子束在</a:t>
            </a:r>
            <a:r>
              <a:rPr lang="en-US" altLang="zh-CN" dirty="0"/>
              <a:t>x-y</a:t>
            </a:r>
            <a:r>
              <a:rPr lang="zh-CN" altLang="en-US" dirty="0"/>
              <a:t>方向上的偏转，就能测量磁滞曲线了。</a:t>
            </a:r>
            <a:endParaRPr lang="en-US" altLang="zh-CN" dirty="0"/>
          </a:p>
          <a:p>
            <a:r>
              <a:rPr lang="zh-CN" altLang="en-US" dirty="0"/>
              <a:t>大家看这个电路图，我们在一个环形铁芯上缠绕两组导线，</a:t>
            </a:r>
            <a:r>
              <a:rPr lang="en-US" altLang="zh-CN" dirty="0"/>
              <a:t>N1</a:t>
            </a:r>
            <a:r>
              <a:rPr lang="zh-CN" altLang="en-US" dirty="0"/>
              <a:t>上施加交流的励磁电流，这时电阻</a:t>
            </a:r>
            <a:r>
              <a:rPr lang="en-US" altLang="zh-CN" dirty="0"/>
              <a:t>R1</a:t>
            </a:r>
            <a:r>
              <a:rPr lang="zh-CN" altLang="en-US" dirty="0"/>
              <a:t>上的负载电压</a:t>
            </a:r>
            <a:r>
              <a:rPr lang="en-US" altLang="zh-CN" dirty="0"/>
              <a:t>X</a:t>
            </a:r>
            <a:r>
              <a:rPr lang="zh-CN" altLang="en-US" dirty="0"/>
              <a:t>就和励磁电流产生的磁场强度成正比。线圈</a:t>
            </a:r>
            <a:r>
              <a:rPr lang="en-US" altLang="zh-CN" dirty="0"/>
              <a:t>N2</a:t>
            </a:r>
            <a:r>
              <a:rPr lang="zh-CN" altLang="en-US" dirty="0"/>
              <a:t>上接入一个串联</a:t>
            </a:r>
            <a:r>
              <a:rPr lang="en-US" altLang="zh-CN" dirty="0"/>
              <a:t>RC</a:t>
            </a:r>
            <a:r>
              <a:rPr lang="zh-CN" altLang="en-US" dirty="0"/>
              <a:t>电路，铁芯中磁感应强度的变化率等于</a:t>
            </a:r>
            <a:r>
              <a:rPr lang="en-US" altLang="zh-CN" dirty="0"/>
              <a:t>N2</a:t>
            </a:r>
            <a:r>
              <a:rPr lang="zh-CN" altLang="en-US" dirty="0"/>
              <a:t>的感生电动势，再根据积分电路的近似关系，得到</a:t>
            </a:r>
            <a:r>
              <a:rPr lang="en-US" altLang="zh-CN" dirty="0"/>
              <a:t>Y</a:t>
            </a:r>
            <a:r>
              <a:rPr lang="zh-CN" altLang="en-US" dirty="0"/>
              <a:t>端的输出电压和磁感应强度成正比。这样把</a:t>
            </a:r>
            <a:r>
              <a:rPr lang="en-US" altLang="zh-CN" dirty="0" err="1"/>
              <a:t>Ux</a:t>
            </a:r>
            <a:r>
              <a:rPr lang="zh-CN" altLang="en-US" dirty="0"/>
              <a:t>和</a:t>
            </a:r>
            <a:r>
              <a:rPr lang="en-US" altLang="zh-CN" dirty="0" err="1"/>
              <a:t>Uy</a:t>
            </a:r>
            <a:r>
              <a:rPr lang="zh-CN" altLang="en-US" dirty="0"/>
              <a:t>接入示波器的两个通道，就能得到材料的在交变电场中的动态磁滞回线了。</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14</a:t>
            </a:fld>
            <a:endParaRPr lang="zh-CN" altLang="en-US"/>
          </a:p>
        </p:txBody>
      </p:sp>
    </p:spTree>
    <p:extLst>
      <p:ext uri="{BB962C8B-B14F-4D97-AF65-F5344CB8AC3E}">
        <p14:creationId xmlns:p14="http://schemas.microsoft.com/office/powerpoint/2010/main" val="1591940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那如何能够利用大物实验室里的示波器来观测到磁滞回线呢？大家回忆一下之前做示波器实验测量李萨如图形的步骤，我们类似的使用示波器的</a:t>
            </a:r>
            <a:r>
              <a:rPr lang="en-US" altLang="zh-CN" dirty="0"/>
              <a:t>XY</a:t>
            </a:r>
            <a:r>
              <a:rPr lang="zh-CN" altLang="en-US" dirty="0"/>
              <a:t>模式，如何能观测到磁滞回线的图形？</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15</a:t>
            </a:fld>
            <a:endParaRPr lang="zh-CN" altLang="en-US"/>
          </a:p>
        </p:txBody>
      </p:sp>
    </p:spTree>
    <p:extLst>
      <p:ext uri="{BB962C8B-B14F-4D97-AF65-F5344CB8AC3E}">
        <p14:creationId xmlns:p14="http://schemas.microsoft.com/office/powerpoint/2010/main" val="3505110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17</a:t>
            </a:fld>
            <a:endParaRPr lang="zh-CN" altLang="en-US"/>
          </a:p>
        </p:txBody>
      </p:sp>
    </p:spTree>
    <p:extLst>
      <p:ext uri="{BB962C8B-B14F-4D97-AF65-F5344CB8AC3E}">
        <p14:creationId xmlns:p14="http://schemas.microsoft.com/office/powerpoint/2010/main" val="2694232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18</a:t>
            </a:fld>
            <a:endParaRPr lang="zh-CN" altLang="en-US"/>
          </a:p>
        </p:txBody>
      </p:sp>
    </p:spTree>
    <p:extLst>
      <p:ext uri="{BB962C8B-B14F-4D97-AF65-F5344CB8AC3E}">
        <p14:creationId xmlns:p14="http://schemas.microsoft.com/office/powerpoint/2010/main" val="2215902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19</a:t>
            </a:fld>
            <a:endParaRPr lang="zh-CN" altLang="en-US"/>
          </a:p>
        </p:txBody>
      </p:sp>
    </p:spTree>
    <p:extLst>
      <p:ext uri="{BB962C8B-B14F-4D97-AF65-F5344CB8AC3E}">
        <p14:creationId xmlns:p14="http://schemas.microsoft.com/office/powerpoint/2010/main" val="2006827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C538A16-44D0-4638-ACD6-43A88F095A25}" type="slidenum">
              <a:rPr lang="zh-CN" altLang="en-US" smtClean="0"/>
              <a:t>23</a:t>
            </a:fld>
            <a:endParaRPr lang="zh-CN" altLang="en-US"/>
          </a:p>
        </p:txBody>
      </p:sp>
    </p:spTree>
    <p:extLst>
      <p:ext uri="{BB962C8B-B14F-4D97-AF65-F5344CB8AC3E}">
        <p14:creationId xmlns:p14="http://schemas.microsoft.com/office/powerpoint/2010/main" val="2712018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26</a:t>
            </a:fld>
            <a:endParaRPr lang="zh-CN" altLang="en-US"/>
          </a:p>
        </p:txBody>
      </p:sp>
    </p:spTree>
    <p:extLst>
      <p:ext uri="{BB962C8B-B14F-4D97-AF65-F5344CB8AC3E}">
        <p14:creationId xmlns:p14="http://schemas.microsoft.com/office/powerpoint/2010/main" val="2522459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27</a:t>
            </a:fld>
            <a:endParaRPr lang="zh-CN" altLang="en-US"/>
          </a:p>
        </p:txBody>
      </p:sp>
    </p:spTree>
    <p:extLst>
      <p:ext uri="{BB962C8B-B14F-4D97-AF65-F5344CB8AC3E}">
        <p14:creationId xmlns:p14="http://schemas.microsoft.com/office/powerpoint/2010/main" val="1876190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38248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7972123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smtClean="0"/>
              <a:t>7/10/25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8722736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515220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7/10/25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227339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8671004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7/10/25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9008293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smtClean="0"/>
              <a:t>7/10/25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4840432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smtClean="0"/>
              <a:t>7/10/25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2631257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2142103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4202722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73CFC9-8363-4487-A32C-B1BEBA8F1699}"/>
              </a:ext>
            </a:extLst>
          </p:cNvPr>
          <p:cNvSpPr>
            <a:spLocks noGrp="1"/>
          </p:cNvSpPr>
          <p:nvPr>
            <p:ph type="title"/>
          </p:nvPr>
        </p:nvSpPr>
        <p:spPr>
          <a:xfrm>
            <a:off x="718225" y="202011"/>
            <a:ext cx="8655953" cy="601075"/>
          </a:xfrm>
          <a:prstGeom prst="rect">
            <a:avLst/>
          </a:prstGeom>
        </p:spPr>
        <p:txBody>
          <a:bodyPr lIns="0" rIns="0" anchor="ctr">
            <a:normAutofit/>
          </a:bodyPr>
          <a:lstStyle>
            <a:lvl1pPr>
              <a:defRPr sz="1575"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p>
        </p:txBody>
      </p:sp>
      <p:sp>
        <p:nvSpPr>
          <p:cNvPr id="5" name="灯片编号占位符 4">
            <a:extLst>
              <a:ext uri="{FF2B5EF4-FFF2-40B4-BE49-F238E27FC236}">
                <a16:creationId xmlns:a16="http://schemas.microsoft.com/office/drawing/2014/main" id="{E702DD92-BF7E-4B21-813D-9797BE0403AE}"/>
              </a:ext>
            </a:extLst>
          </p:cNvPr>
          <p:cNvSpPr>
            <a:spLocks noGrp="1"/>
          </p:cNvSpPr>
          <p:nvPr>
            <p:ph type="sldNum" sz="quarter" idx="12"/>
          </p:nvPr>
        </p:nvSpPr>
        <p:spPr>
          <a:xfrm>
            <a:off x="9137021" y="6494345"/>
            <a:ext cx="2743200" cy="341761"/>
          </a:xfrm>
          <a:prstGeom prst="rect">
            <a:avLst/>
          </a:prstGeom>
        </p:spPr>
        <p:txBody>
          <a:bodyPr/>
          <a:lstStyle>
            <a:lvl1pPr algn="r">
              <a:defRPr sz="619" b="1" i="0">
                <a:solidFill>
                  <a:schemeClr val="accent1"/>
                </a:solidFill>
              </a:defRPr>
            </a:lvl1pPr>
          </a:lstStyle>
          <a:p>
            <a:fld id="{1AAC388E-FA9E-4A2C-95EA-1F6B3A07935A}" type="slidenum">
              <a:rPr lang="zh-CN" altLang="en-US" smtClean="0"/>
              <a:pPr/>
              <a:t>‹#›</a:t>
            </a:fld>
            <a:endParaRPr lang="zh-CN" altLang="en-US" dirty="0"/>
          </a:p>
        </p:txBody>
      </p:sp>
      <p:grpSp>
        <p:nvGrpSpPr>
          <p:cNvPr id="6" name="Group 74">
            <a:extLst>
              <a:ext uri="{FF2B5EF4-FFF2-40B4-BE49-F238E27FC236}">
                <a16:creationId xmlns:a16="http://schemas.microsoft.com/office/drawing/2014/main" id="{D81BEAD8-85AD-4CBB-BA87-4A53B537F179}"/>
              </a:ext>
            </a:extLst>
          </p:cNvPr>
          <p:cNvGrpSpPr>
            <a:grpSpLocks noChangeAspect="1"/>
          </p:cNvGrpSpPr>
          <p:nvPr userDrawn="1"/>
        </p:nvGrpSpPr>
        <p:grpSpPr bwMode="auto">
          <a:xfrm>
            <a:off x="9961830" y="317205"/>
            <a:ext cx="1557337" cy="433207"/>
            <a:chOff x="954" y="660"/>
            <a:chExt cx="1269" cy="353"/>
          </a:xfrm>
        </p:grpSpPr>
        <p:sp>
          <p:nvSpPr>
            <p:cNvPr id="7" name="Freeform 75">
              <a:extLst>
                <a:ext uri="{FF2B5EF4-FFF2-40B4-BE49-F238E27FC236}">
                  <a16:creationId xmlns:a16="http://schemas.microsoft.com/office/drawing/2014/main" id="{4306C008-4D53-479B-87DC-7BDDC8016E3B}"/>
                </a:ext>
              </a:extLst>
            </p:cNvPr>
            <p:cNvSpPr>
              <a:spLocks/>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8" name="Freeform 76">
              <a:extLst>
                <a:ext uri="{FF2B5EF4-FFF2-40B4-BE49-F238E27FC236}">
                  <a16:creationId xmlns:a16="http://schemas.microsoft.com/office/drawing/2014/main" id="{CFD155C6-2C4C-432F-B3E6-321873FD1258}"/>
                </a:ext>
              </a:extLst>
            </p:cNvPr>
            <p:cNvSpPr>
              <a:spLocks/>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9" name="Freeform 77">
              <a:extLst>
                <a:ext uri="{FF2B5EF4-FFF2-40B4-BE49-F238E27FC236}">
                  <a16:creationId xmlns:a16="http://schemas.microsoft.com/office/drawing/2014/main" id="{4D10D138-D44D-4B21-8DDB-DB3BC00CBF08}"/>
                </a:ext>
              </a:extLst>
            </p:cNvPr>
            <p:cNvSpPr>
              <a:spLocks/>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0" name="Freeform 78">
              <a:extLst>
                <a:ext uri="{FF2B5EF4-FFF2-40B4-BE49-F238E27FC236}">
                  <a16:creationId xmlns:a16="http://schemas.microsoft.com/office/drawing/2014/main" id="{16D53ADB-782D-4E41-9FE8-830E33A50A44}"/>
                </a:ext>
              </a:extLst>
            </p:cNvPr>
            <p:cNvSpPr>
              <a:spLocks/>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1" name="Freeform 79">
              <a:extLst>
                <a:ext uri="{FF2B5EF4-FFF2-40B4-BE49-F238E27FC236}">
                  <a16:creationId xmlns:a16="http://schemas.microsoft.com/office/drawing/2014/main" id="{23C6EFEA-7756-49F4-9DBD-30C5EC72DCA2}"/>
                </a:ext>
              </a:extLst>
            </p:cNvPr>
            <p:cNvSpPr>
              <a:spLocks/>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2" name="Freeform 80">
              <a:extLst>
                <a:ext uri="{FF2B5EF4-FFF2-40B4-BE49-F238E27FC236}">
                  <a16:creationId xmlns:a16="http://schemas.microsoft.com/office/drawing/2014/main" id="{06398542-6917-4000-BFD4-B1F6B4CF919D}"/>
                </a:ext>
              </a:extLst>
            </p:cNvPr>
            <p:cNvSpPr>
              <a:spLocks/>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3" name="Freeform 81">
              <a:extLst>
                <a:ext uri="{FF2B5EF4-FFF2-40B4-BE49-F238E27FC236}">
                  <a16:creationId xmlns:a16="http://schemas.microsoft.com/office/drawing/2014/main" id="{9A0D369A-CD3E-450F-8695-EEB58B5D9EC0}"/>
                </a:ext>
              </a:extLst>
            </p:cNvPr>
            <p:cNvSpPr>
              <a:spLocks/>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4" name="Freeform 82">
              <a:extLst>
                <a:ext uri="{FF2B5EF4-FFF2-40B4-BE49-F238E27FC236}">
                  <a16:creationId xmlns:a16="http://schemas.microsoft.com/office/drawing/2014/main" id="{165959AA-56B9-4F28-8500-FDF2FCF7DF7B}"/>
                </a:ext>
              </a:extLst>
            </p:cNvPr>
            <p:cNvSpPr>
              <a:spLocks/>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5" name="Freeform 83">
              <a:extLst>
                <a:ext uri="{FF2B5EF4-FFF2-40B4-BE49-F238E27FC236}">
                  <a16:creationId xmlns:a16="http://schemas.microsoft.com/office/drawing/2014/main" id="{22808A04-028B-415F-A830-4F4E8DFE3083}"/>
                </a:ext>
              </a:extLst>
            </p:cNvPr>
            <p:cNvSpPr>
              <a:spLocks/>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6" name="Freeform 84">
              <a:extLst>
                <a:ext uri="{FF2B5EF4-FFF2-40B4-BE49-F238E27FC236}">
                  <a16:creationId xmlns:a16="http://schemas.microsoft.com/office/drawing/2014/main" id="{3A8F4F4E-58C0-47A4-9972-C43914F183EC}"/>
                </a:ext>
              </a:extLst>
            </p:cNvPr>
            <p:cNvSpPr>
              <a:spLocks/>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7" name="Freeform 85">
              <a:extLst>
                <a:ext uri="{FF2B5EF4-FFF2-40B4-BE49-F238E27FC236}">
                  <a16:creationId xmlns:a16="http://schemas.microsoft.com/office/drawing/2014/main" id="{8DB7D6AC-873E-4DA3-AC2D-3E4704B2A96C}"/>
                </a:ext>
              </a:extLst>
            </p:cNvPr>
            <p:cNvSpPr>
              <a:spLocks/>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8" name="Freeform 86">
              <a:extLst>
                <a:ext uri="{FF2B5EF4-FFF2-40B4-BE49-F238E27FC236}">
                  <a16:creationId xmlns:a16="http://schemas.microsoft.com/office/drawing/2014/main" id="{3A9D498B-46BE-4055-A48C-0A18CC5E539B}"/>
                </a:ext>
              </a:extLst>
            </p:cNvPr>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19" name="Freeform 87">
              <a:extLst>
                <a:ext uri="{FF2B5EF4-FFF2-40B4-BE49-F238E27FC236}">
                  <a16:creationId xmlns:a16="http://schemas.microsoft.com/office/drawing/2014/main" id="{5CBEA33D-5CD1-43C1-97C3-6A87B3B91FA9}"/>
                </a:ext>
              </a:extLst>
            </p:cNvPr>
            <p:cNvSpPr>
              <a:spLocks/>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0" name="Freeform 88">
              <a:extLst>
                <a:ext uri="{FF2B5EF4-FFF2-40B4-BE49-F238E27FC236}">
                  <a16:creationId xmlns:a16="http://schemas.microsoft.com/office/drawing/2014/main" id="{4635C5A0-26DC-44A3-BB50-16B1ED32F408}"/>
                </a:ext>
              </a:extLst>
            </p:cNvPr>
            <p:cNvSpPr>
              <a:spLocks/>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1" name="Freeform 89">
              <a:extLst>
                <a:ext uri="{FF2B5EF4-FFF2-40B4-BE49-F238E27FC236}">
                  <a16:creationId xmlns:a16="http://schemas.microsoft.com/office/drawing/2014/main" id="{9C138777-C4AA-493B-A11B-92E825C06BDB}"/>
                </a:ext>
              </a:extLst>
            </p:cNvPr>
            <p:cNvSpPr>
              <a:spLocks/>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2" name="Freeform 90">
              <a:extLst>
                <a:ext uri="{FF2B5EF4-FFF2-40B4-BE49-F238E27FC236}">
                  <a16:creationId xmlns:a16="http://schemas.microsoft.com/office/drawing/2014/main" id="{6A1F8203-DE09-4A8B-A300-2B782720AA03}"/>
                </a:ext>
              </a:extLst>
            </p:cNvPr>
            <p:cNvSpPr>
              <a:spLocks/>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3" name="Freeform 91">
              <a:extLst>
                <a:ext uri="{FF2B5EF4-FFF2-40B4-BE49-F238E27FC236}">
                  <a16:creationId xmlns:a16="http://schemas.microsoft.com/office/drawing/2014/main" id="{60097EB1-E8C1-4137-AF99-8DA365851353}"/>
                </a:ext>
              </a:extLst>
            </p:cNvPr>
            <p:cNvSpPr>
              <a:spLocks/>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4" name="Freeform 92">
              <a:extLst>
                <a:ext uri="{FF2B5EF4-FFF2-40B4-BE49-F238E27FC236}">
                  <a16:creationId xmlns:a16="http://schemas.microsoft.com/office/drawing/2014/main" id="{2F7C216D-280A-4FBA-A92E-1523EEE3260D}"/>
                </a:ext>
              </a:extLst>
            </p:cNvPr>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5" name="Freeform 93">
              <a:extLst>
                <a:ext uri="{FF2B5EF4-FFF2-40B4-BE49-F238E27FC236}">
                  <a16:creationId xmlns:a16="http://schemas.microsoft.com/office/drawing/2014/main" id="{B8D6D20E-EC7F-4522-B269-F6322F8F7E03}"/>
                </a:ext>
              </a:extLst>
            </p:cNvPr>
            <p:cNvSpPr>
              <a:spLocks/>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6" name="Freeform 94">
              <a:extLst>
                <a:ext uri="{FF2B5EF4-FFF2-40B4-BE49-F238E27FC236}">
                  <a16:creationId xmlns:a16="http://schemas.microsoft.com/office/drawing/2014/main" id="{A47DA623-0FEF-4722-83E0-CFD57D046A8E}"/>
                </a:ext>
              </a:extLst>
            </p:cNvPr>
            <p:cNvSpPr>
              <a:spLocks/>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7" name="Freeform 95">
              <a:extLst>
                <a:ext uri="{FF2B5EF4-FFF2-40B4-BE49-F238E27FC236}">
                  <a16:creationId xmlns:a16="http://schemas.microsoft.com/office/drawing/2014/main" id="{0849BDAE-CDC3-4FA1-9BCC-809AA1A78E53}"/>
                </a:ext>
              </a:extLst>
            </p:cNvPr>
            <p:cNvSpPr>
              <a:spLocks/>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8" name="Freeform 96">
              <a:extLst>
                <a:ext uri="{FF2B5EF4-FFF2-40B4-BE49-F238E27FC236}">
                  <a16:creationId xmlns:a16="http://schemas.microsoft.com/office/drawing/2014/main" id="{1061A279-9DB7-473F-A96F-3E7BE93CCD6A}"/>
                </a:ext>
              </a:extLst>
            </p:cNvPr>
            <p:cNvSpPr>
              <a:spLocks/>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29" name="Freeform 97">
              <a:extLst>
                <a:ext uri="{FF2B5EF4-FFF2-40B4-BE49-F238E27FC236}">
                  <a16:creationId xmlns:a16="http://schemas.microsoft.com/office/drawing/2014/main" id="{53D77FAC-8A4C-4FD3-AE68-B34E792FC5C3}"/>
                </a:ext>
              </a:extLst>
            </p:cNvPr>
            <p:cNvSpPr>
              <a:spLocks/>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0" name="Freeform 98">
              <a:extLst>
                <a:ext uri="{FF2B5EF4-FFF2-40B4-BE49-F238E27FC236}">
                  <a16:creationId xmlns:a16="http://schemas.microsoft.com/office/drawing/2014/main" id="{BDB852DA-7BF7-4DA5-8D47-0C7C22BC422E}"/>
                </a:ext>
              </a:extLst>
            </p:cNvPr>
            <p:cNvSpPr>
              <a:spLocks/>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1" name="Freeform 99">
              <a:extLst>
                <a:ext uri="{FF2B5EF4-FFF2-40B4-BE49-F238E27FC236}">
                  <a16:creationId xmlns:a16="http://schemas.microsoft.com/office/drawing/2014/main" id="{7D9F34C6-C3BE-4C10-9503-E69A2CEAAA8C}"/>
                </a:ext>
              </a:extLst>
            </p:cNvPr>
            <p:cNvSpPr>
              <a:spLocks/>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2" name="Freeform 100">
              <a:extLst>
                <a:ext uri="{FF2B5EF4-FFF2-40B4-BE49-F238E27FC236}">
                  <a16:creationId xmlns:a16="http://schemas.microsoft.com/office/drawing/2014/main" id="{FEF9E7A8-95C9-4C6B-9D9B-27F8ADE05697}"/>
                </a:ext>
              </a:extLst>
            </p:cNvPr>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3" name="Freeform 101">
              <a:extLst>
                <a:ext uri="{FF2B5EF4-FFF2-40B4-BE49-F238E27FC236}">
                  <a16:creationId xmlns:a16="http://schemas.microsoft.com/office/drawing/2014/main" id="{DD485E03-A0DB-40BA-8BD9-F34E29646795}"/>
                </a:ext>
              </a:extLst>
            </p:cNvPr>
            <p:cNvSpPr>
              <a:spLocks/>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4" name="Freeform 102">
              <a:extLst>
                <a:ext uri="{FF2B5EF4-FFF2-40B4-BE49-F238E27FC236}">
                  <a16:creationId xmlns:a16="http://schemas.microsoft.com/office/drawing/2014/main" id="{EC0AFDC2-69E6-4639-899C-CB60C2563D51}"/>
                </a:ext>
              </a:extLst>
            </p:cNvPr>
            <p:cNvSpPr>
              <a:spLocks/>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5" name="Freeform 103">
              <a:extLst>
                <a:ext uri="{FF2B5EF4-FFF2-40B4-BE49-F238E27FC236}">
                  <a16:creationId xmlns:a16="http://schemas.microsoft.com/office/drawing/2014/main" id="{3E91A10F-8FCF-464D-85EE-39E128206F33}"/>
                </a:ext>
              </a:extLst>
            </p:cNvPr>
            <p:cNvSpPr>
              <a:spLocks/>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6" name="Freeform 104">
              <a:extLst>
                <a:ext uri="{FF2B5EF4-FFF2-40B4-BE49-F238E27FC236}">
                  <a16:creationId xmlns:a16="http://schemas.microsoft.com/office/drawing/2014/main" id="{6ECF6C43-28BA-455F-8B3B-E83822D47AC5}"/>
                </a:ext>
              </a:extLst>
            </p:cNvPr>
            <p:cNvSpPr>
              <a:spLocks/>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7" name="Freeform 105">
              <a:extLst>
                <a:ext uri="{FF2B5EF4-FFF2-40B4-BE49-F238E27FC236}">
                  <a16:creationId xmlns:a16="http://schemas.microsoft.com/office/drawing/2014/main" id="{25806274-7683-47C3-9EE7-CF5DF04DB057}"/>
                </a:ext>
              </a:extLst>
            </p:cNvPr>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8" name="Freeform 106">
              <a:extLst>
                <a:ext uri="{FF2B5EF4-FFF2-40B4-BE49-F238E27FC236}">
                  <a16:creationId xmlns:a16="http://schemas.microsoft.com/office/drawing/2014/main" id="{00426AAF-A567-409A-B56B-37158EA96736}"/>
                </a:ext>
              </a:extLst>
            </p:cNvPr>
            <p:cNvSpPr>
              <a:spLocks/>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39" name="Freeform 107">
              <a:extLst>
                <a:ext uri="{FF2B5EF4-FFF2-40B4-BE49-F238E27FC236}">
                  <a16:creationId xmlns:a16="http://schemas.microsoft.com/office/drawing/2014/main" id="{1A427C32-CF4A-4C86-AD72-0FD495033E38}"/>
                </a:ext>
              </a:extLst>
            </p:cNvPr>
            <p:cNvSpPr>
              <a:spLocks/>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0" name="Freeform 108">
              <a:extLst>
                <a:ext uri="{FF2B5EF4-FFF2-40B4-BE49-F238E27FC236}">
                  <a16:creationId xmlns:a16="http://schemas.microsoft.com/office/drawing/2014/main" id="{A1D3527C-A241-4119-BEFC-9D3D6799929A}"/>
                </a:ext>
              </a:extLst>
            </p:cNvPr>
            <p:cNvSpPr>
              <a:spLocks/>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1" name="Freeform 109">
              <a:extLst>
                <a:ext uri="{FF2B5EF4-FFF2-40B4-BE49-F238E27FC236}">
                  <a16:creationId xmlns:a16="http://schemas.microsoft.com/office/drawing/2014/main" id="{41FA1A86-E9FA-412B-B787-81DA268C1BE4}"/>
                </a:ext>
              </a:extLst>
            </p:cNvPr>
            <p:cNvSpPr>
              <a:spLocks/>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2" name="Freeform 110">
              <a:extLst>
                <a:ext uri="{FF2B5EF4-FFF2-40B4-BE49-F238E27FC236}">
                  <a16:creationId xmlns:a16="http://schemas.microsoft.com/office/drawing/2014/main" id="{DE142541-2B6F-42DC-8026-C585BAB66348}"/>
                </a:ext>
              </a:extLst>
            </p:cNvPr>
            <p:cNvSpPr>
              <a:spLocks/>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3" name="Freeform 111">
              <a:extLst>
                <a:ext uri="{FF2B5EF4-FFF2-40B4-BE49-F238E27FC236}">
                  <a16:creationId xmlns:a16="http://schemas.microsoft.com/office/drawing/2014/main" id="{2B9C497A-7469-4876-A643-FDBA4A4B1EE8}"/>
                </a:ext>
              </a:extLst>
            </p:cNvPr>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4" name="Freeform 112">
              <a:extLst>
                <a:ext uri="{FF2B5EF4-FFF2-40B4-BE49-F238E27FC236}">
                  <a16:creationId xmlns:a16="http://schemas.microsoft.com/office/drawing/2014/main" id="{DB0CB195-F705-4D7A-99E3-DE906EB60A8B}"/>
                </a:ext>
              </a:extLst>
            </p:cNvPr>
            <p:cNvSpPr>
              <a:spLocks/>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5" name="Freeform 113">
              <a:extLst>
                <a:ext uri="{FF2B5EF4-FFF2-40B4-BE49-F238E27FC236}">
                  <a16:creationId xmlns:a16="http://schemas.microsoft.com/office/drawing/2014/main" id="{D57595D3-0050-4447-8FA2-F8424835D37E}"/>
                </a:ext>
              </a:extLst>
            </p:cNvPr>
            <p:cNvSpPr>
              <a:spLocks/>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6" name="Freeform 114">
              <a:extLst>
                <a:ext uri="{FF2B5EF4-FFF2-40B4-BE49-F238E27FC236}">
                  <a16:creationId xmlns:a16="http://schemas.microsoft.com/office/drawing/2014/main" id="{D6A14826-FB63-4FAA-983D-991D5DF6E24D}"/>
                </a:ext>
              </a:extLst>
            </p:cNvPr>
            <p:cNvSpPr>
              <a:spLocks/>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7" name="Freeform 115">
              <a:extLst>
                <a:ext uri="{FF2B5EF4-FFF2-40B4-BE49-F238E27FC236}">
                  <a16:creationId xmlns:a16="http://schemas.microsoft.com/office/drawing/2014/main" id="{66A337A4-D624-4CDE-BE7F-9C67685AD0E9}"/>
                </a:ext>
              </a:extLst>
            </p:cNvPr>
            <p:cNvSpPr>
              <a:spLocks/>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8" name="Freeform 116">
              <a:extLst>
                <a:ext uri="{FF2B5EF4-FFF2-40B4-BE49-F238E27FC236}">
                  <a16:creationId xmlns:a16="http://schemas.microsoft.com/office/drawing/2014/main" id="{7D43AD26-DB94-4E22-AFC4-B23FB8A81EAC}"/>
                </a:ext>
              </a:extLst>
            </p:cNvPr>
            <p:cNvSpPr>
              <a:spLocks/>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49" name="Freeform 117">
              <a:extLst>
                <a:ext uri="{FF2B5EF4-FFF2-40B4-BE49-F238E27FC236}">
                  <a16:creationId xmlns:a16="http://schemas.microsoft.com/office/drawing/2014/main" id="{6E41336B-73AC-45A6-B014-D58BE4DE0BC1}"/>
                </a:ext>
              </a:extLst>
            </p:cNvPr>
            <p:cNvSpPr>
              <a:spLocks/>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0" name="Freeform 118">
              <a:extLst>
                <a:ext uri="{FF2B5EF4-FFF2-40B4-BE49-F238E27FC236}">
                  <a16:creationId xmlns:a16="http://schemas.microsoft.com/office/drawing/2014/main" id="{E0A0B577-7364-4EC0-A49F-9574BE77B08E}"/>
                </a:ext>
              </a:extLst>
            </p:cNvPr>
            <p:cNvSpPr>
              <a:spLocks/>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1" name="Freeform 119">
              <a:extLst>
                <a:ext uri="{FF2B5EF4-FFF2-40B4-BE49-F238E27FC236}">
                  <a16:creationId xmlns:a16="http://schemas.microsoft.com/office/drawing/2014/main" id="{2A5E47E8-48F5-479A-B1D1-5578298042DA}"/>
                </a:ext>
              </a:extLst>
            </p:cNvPr>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2" name="Freeform 120">
              <a:extLst>
                <a:ext uri="{FF2B5EF4-FFF2-40B4-BE49-F238E27FC236}">
                  <a16:creationId xmlns:a16="http://schemas.microsoft.com/office/drawing/2014/main" id="{B2488DE6-D3CA-4B6B-B82C-0AC393DE01DD}"/>
                </a:ext>
              </a:extLst>
            </p:cNvPr>
            <p:cNvSpPr>
              <a:spLocks/>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3" name="Freeform 121">
              <a:extLst>
                <a:ext uri="{FF2B5EF4-FFF2-40B4-BE49-F238E27FC236}">
                  <a16:creationId xmlns:a16="http://schemas.microsoft.com/office/drawing/2014/main" id="{4F10E422-E03A-4A49-B232-CA2EAA227F9F}"/>
                </a:ext>
              </a:extLst>
            </p:cNvPr>
            <p:cNvSpPr>
              <a:spLocks/>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4" name="Freeform 122">
              <a:extLst>
                <a:ext uri="{FF2B5EF4-FFF2-40B4-BE49-F238E27FC236}">
                  <a16:creationId xmlns:a16="http://schemas.microsoft.com/office/drawing/2014/main" id="{3130D05D-598D-4453-B645-DD478032431A}"/>
                </a:ext>
              </a:extLst>
            </p:cNvPr>
            <p:cNvSpPr>
              <a:spLocks/>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5" name="Freeform 123">
              <a:extLst>
                <a:ext uri="{FF2B5EF4-FFF2-40B4-BE49-F238E27FC236}">
                  <a16:creationId xmlns:a16="http://schemas.microsoft.com/office/drawing/2014/main" id="{C902CD46-90EA-448A-97A8-0A73482A369F}"/>
                </a:ext>
              </a:extLst>
            </p:cNvPr>
            <p:cNvSpPr>
              <a:spLocks/>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6" name="Freeform 124">
              <a:extLst>
                <a:ext uri="{FF2B5EF4-FFF2-40B4-BE49-F238E27FC236}">
                  <a16:creationId xmlns:a16="http://schemas.microsoft.com/office/drawing/2014/main" id="{8A3E5E06-DFA6-4AB3-A010-8164F1EE7336}"/>
                </a:ext>
              </a:extLst>
            </p:cNvPr>
            <p:cNvSpPr>
              <a:spLocks/>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7" name="Freeform 125">
              <a:extLst>
                <a:ext uri="{FF2B5EF4-FFF2-40B4-BE49-F238E27FC236}">
                  <a16:creationId xmlns:a16="http://schemas.microsoft.com/office/drawing/2014/main" id="{3E06ACD5-8A89-488D-90B6-DBB655EE596B}"/>
                </a:ext>
              </a:extLst>
            </p:cNvPr>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8" name="Freeform 126">
              <a:extLst>
                <a:ext uri="{FF2B5EF4-FFF2-40B4-BE49-F238E27FC236}">
                  <a16:creationId xmlns:a16="http://schemas.microsoft.com/office/drawing/2014/main" id="{9EC7E998-2413-4D17-AC3D-007ECCFD6E0F}"/>
                </a:ext>
              </a:extLst>
            </p:cNvPr>
            <p:cNvSpPr>
              <a:spLocks/>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59" name="Freeform 127">
              <a:extLst>
                <a:ext uri="{FF2B5EF4-FFF2-40B4-BE49-F238E27FC236}">
                  <a16:creationId xmlns:a16="http://schemas.microsoft.com/office/drawing/2014/main" id="{87034C48-4C46-4CC6-8C3F-C722943114E3}"/>
                </a:ext>
              </a:extLst>
            </p:cNvPr>
            <p:cNvSpPr>
              <a:spLocks/>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0" name="Freeform 128">
              <a:extLst>
                <a:ext uri="{FF2B5EF4-FFF2-40B4-BE49-F238E27FC236}">
                  <a16:creationId xmlns:a16="http://schemas.microsoft.com/office/drawing/2014/main" id="{62BB485F-14AA-444F-9BBD-664844BE46C3}"/>
                </a:ext>
              </a:extLst>
            </p:cNvPr>
            <p:cNvSpPr>
              <a:spLocks/>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1" name="Freeform 129">
              <a:extLst>
                <a:ext uri="{FF2B5EF4-FFF2-40B4-BE49-F238E27FC236}">
                  <a16:creationId xmlns:a16="http://schemas.microsoft.com/office/drawing/2014/main" id="{3D0C34D8-A472-4443-A35F-080648012F93}"/>
                </a:ext>
              </a:extLst>
            </p:cNvPr>
            <p:cNvSpPr>
              <a:spLocks/>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2" name="Freeform 130">
              <a:extLst>
                <a:ext uri="{FF2B5EF4-FFF2-40B4-BE49-F238E27FC236}">
                  <a16:creationId xmlns:a16="http://schemas.microsoft.com/office/drawing/2014/main" id="{CAF8E6EF-E073-4B9D-AB0B-AD7056964146}"/>
                </a:ext>
              </a:extLst>
            </p:cNvPr>
            <p:cNvSpPr>
              <a:spLocks/>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3" name="Freeform 131">
              <a:extLst>
                <a:ext uri="{FF2B5EF4-FFF2-40B4-BE49-F238E27FC236}">
                  <a16:creationId xmlns:a16="http://schemas.microsoft.com/office/drawing/2014/main" id="{2A5CF4D6-EB61-4632-B855-265C5250FDAC}"/>
                </a:ext>
              </a:extLst>
            </p:cNvPr>
            <p:cNvSpPr>
              <a:spLocks/>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4" name="Freeform 132">
              <a:extLst>
                <a:ext uri="{FF2B5EF4-FFF2-40B4-BE49-F238E27FC236}">
                  <a16:creationId xmlns:a16="http://schemas.microsoft.com/office/drawing/2014/main" id="{CEE2E0C9-3684-47A2-BB78-B22B7A10CA9B}"/>
                </a:ext>
              </a:extLst>
            </p:cNvPr>
            <p:cNvSpPr>
              <a:spLocks/>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5" name="Freeform 133">
              <a:extLst>
                <a:ext uri="{FF2B5EF4-FFF2-40B4-BE49-F238E27FC236}">
                  <a16:creationId xmlns:a16="http://schemas.microsoft.com/office/drawing/2014/main" id="{C7936461-76AD-4178-8B9D-4642E11E4832}"/>
                </a:ext>
              </a:extLst>
            </p:cNvPr>
            <p:cNvSpPr>
              <a:spLocks/>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6" name="Freeform 134">
              <a:extLst>
                <a:ext uri="{FF2B5EF4-FFF2-40B4-BE49-F238E27FC236}">
                  <a16:creationId xmlns:a16="http://schemas.microsoft.com/office/drawing/2014/main" id="{5287D644-5BCE-4854-A3D4-268692628075}"/>
                </a:ext>
              </a:extLst>
            </p:cNvPr>
            <p:cNvSpPr>
              <a:spLocks/>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7" name="Freeform 135">
              <a:extLst>
                <a:ext uri="{FF2B5EF4-FFF2-40B4-BE49-F238E27FC236}">
                  <a16:creationId xmlns:a16="http://schemas.microsoft.com/office/drawing/2014/main" id="{5AD27EB2-9C8F-40D0-A9D7-A7C40CC14196}"/>
                </a:ext>
              </a:extLst>
            </p:cNvPr>
            <p:cNvSpPr>
              <a:spLocks/>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8" name="Freeform 136">
              <a:extLst>
                <a:ext uri="{FF2B5EF4-FFF2-40B4-BE49-F238E27FC236}">
                  <a16:creationId xmlns:a16="http://schemas.microsoft.com/office/drawing/2014/main" id="{BAF1B803-A062-4808-971A-02900DC6B0F4}"/>
                </a:ext>
              </a:extLst>
            </p:cNvPr>
            <p:cNvSpPr>
              <a:spLocks/>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69" name="Freeform 137">
              <a:extLst>
                <a:ext uri="{FF2B5EF4-FFF2-40B4-BE49-F238E27FC236}">
                  <a16:creationId xmlns:a16="http://schemas.microsoft.com/office/drawing/2014/main" id="{3F07648F-C395-4071-9EEB-3EE714AE498E}"/>
                </a:ext>
              </a:extLst>
            </p:cNvPr>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70" name="Freeform 138">
              <a:extLst>
                <a:ext uri="{FF2B5EF4-FFF2-40B4-BE49-F238E27FC236}">
                  <a16:creationId xmlns:a16="http://schemas.microsoft.com/office/drawing/2014/main" id="{679A93A4-0DAD-431E-B379-BA76BDC20F71}"/>
                </a:ext>
              </a:extLst>
            </p:cNvPr>
            <p:cNvSpPr>
              <a:spLocks/>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71" name="Freeform 139">
              <a:extLst>
                <a:ext uri="{FF2B5EF4-FFF2-40B4-BE49-F238E27FC236}">
                  <a16:creationId xmlns:a16="http://schemas.microsoft.com/office/drawing/2014/main" id="{B8270F11-010A-4DF4-A2D5-E8FA53615758}"/>
                </a:ext>
              </a:extLst>
            </p:cNvPr>
            <p:cNvSpPr>
              <a:spLocks/>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72" name="Freeform 140">
              <a:extLst>
                <a:ext uri="{FF2B5EF4-FFF2-40B4-BE49-F238E27FC236}">
                  <a16:creationId xmlns:a16="http://schemas.microsoft.com/office/drawing/2014/main" id="{EB1AE29F-5C29-45C4-B15E-575AE876BF2E}"/>
                </a:ext>
              </a:extLst>
            </p:cNvPr>
            <p:cNvSpPr>
              <a:spLocks/>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sp>
          <p:nvSpPr>
            <p:cNvPr id="73" name="Freeform 141">
              <a:extLst>
                <a:ext uri="{FF2B5EF4-FFF2-40B4-BE49-F238E27FC236}">
                  <a16:creationId xmlns:a16="http://schemas.microsoft.com/office/drawing/2014/main" id="{B964BC04-307D-44DE-BE24-67614204DCB3}"/>
                </a:ext>
              </a:extLst>
            </p:cNvPr>
            <p:cNvSpPr>
              <a:spLocks/>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013"/>
            </a:p>
          </p:txBody>
        </p:sp>
      </p:grpSp>
      <p:cxnSp>
        <p:nvCxnSpPr>
          <p:cNvPr id="76" name="直接连接符 75">
            <a:extLst>
              <a:ext uri="{FF2B5EF4-FFF2-40B4-BE49-F238E27FC236}">
                <a16:creationId xmlns:a16="http://schemas.microsoft.com/office/drawing/2014/main" id="{B222798C-A44D-4340-87A3-6676E71C09B2}"/>
              </a:ext>
            </a:extLst>
          </p:cNvPr>
          <p:cNvCxnSpPr/>
          <p:nvPr userDrawn="1"/>
        </p:nvCxnSpPr>
        <p:spPr>
          <a:xfrm>
            <a:off x="719833" y="803088"/>
            <a:ext cx="10790379"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a:extLst>
              <a:ext uri="{FF2B5EF4-FFF2-40B4-BE49-F238E27FC236}">
                <a16:creationId xmlns:a16="http://schemas.microsoft.com/office/drawing/2014/main" id="{CE9A27BC-B0E8-46B7-B1FC-5215B0FCA1B4}"/>
              </a:ext>
            </a:extLst>
          </p:cNvPr>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pic>
        <p:nvPicPr>
          <p:cNvPr id="4" name="图片 3">
            <a:extLst>
              <a:ext uri="{FF2B5EF4-FFF2-40B4-BE49-F238E27FC236}">
                <a16:creationId xmlns:a16="http://schemas.microsoft.com/office/drawing/2014/main" id="{43AD9DEE-FAD7-4DEE-99F0-4F8DF198B76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4352" y="6468880"/>
            <a:ext cx="1865183" cy="392670"/>
          </a:xfrm>
          <a:prstGeom prst="rect">
            <a:avLst/>
          </a:prstGeom>
        </p:spPr>
      </p:pic>
    </p:spTree>
    <p:extLst>
      <p:ext uri="{BB962C8B-B14F-4D97-AF65-F5344CB8AC3E}">
        <p14:creationId xmlns:p14="http://schemas.microsoft.com/office/powerpoint/2010/main" val="3522767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pos="3840">
          <p15:clr>
            <a:srgbClr val="FBAE40"/>
          </p15:clr>
        </p15:guide>
        <p15:guide id="2" pos="726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3216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73CFC9-8363-4487-A32C-B1BEBA8F1699}"/>
              </a:ext>
            </a:extLst>
          </p:cNvPr>
          <p:cNvSpPr>
            <a:spLocks noGrp="1"/>
          </p:cNvSpPr>
          <p:nvPr>
            <p:ph type="title"/>
          </p:nvPr>
        </p:nvSpPr>
        <p:spPr>
          <a:xfrm>
            <a:off x="319214" y="202011"/>
            <a:ext cx="8655953" cy="601075"/>
          </a:xfrm>
          <a:prstGeom prst="rect">
            <a:avLst/>
          </a:prstGeom>
        </p:spPr>
        <p:txBody>
          <a:bodyPr lIns="0" rIns="0" anchor="ctr">
            <a:normAutofit/>
          </a:bodyPr>
          <a:lstStyle>
            <a:lvl1pPr>
              <a:defRPr sz="1575"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p>
        </p:txBody>
      </p:sp>
    </p:spTree>
    <p:extLst>
      <p:ext uri="{BB962C8B-B14F-4D97-AF65-F5344CB8AC3E}">
        <p14:creationId xmlns:p14="http://schemas.microsoft.com/office/powerpoint/2010/main" val="3408134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pos="7265"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7/10/25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36783038"/>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9" r:id="rId12"/>
    <p:sldLayoutId id="2147483760" r:id="rId13"/>
    <p:sldLayoutId id="2147483695" r:id="rId14"/>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92" userDrawn="1">
          <p15:clr>
            <a:srgbClr val="F26B43"/>
          </p15:clr>
        </p15:guide>
        <p15:guide id="2" pos="7488" userDrawn="1">
          <p15:clr>
            <a:srgbClr val="F26B43"/>
          </p15:clr>
        </p15:guide>
        <p15:guide id="3" orient="horz" pos="432" userDrawn="1">
          <p15:clr>
            <a:srgbClr val="F26B43"/>
          </p15:clr>
        </p15:guide>
        <p15:guide id="4" orient="horz" pos="472" userDrawn="1">
          <p15:clr>
            <a:srgbClr val="F26B43"/>
          </p15:clr>
        </p15:guide>
        <p15:guide id="5" orient="horz" pos="4104" userDrawn="1">
          <p15:clr>
            <a:srgbClr val="F26B43"/>
          </p15:clr>
        </p15:guide>
        <p15:guide id="6" orient="horz" pos="4056" userDrawn="1">
          <p15:clr>
            <a:srgbClr val="F26B43"/>
          </p15:clr>
        </p15:guide>
        <p15:guide id="7" orient="horz" pos="2160" userDrawn="1">
          <p15:clr>
            <a:srgbClr val="F26B43"/>
          </p15:clr>
        </p15:guide>
        <p15:guide id="8"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3.jpeg"/><Relationship Id="rId7" Type="http://schemas.openxmlformats.org/officeDocument/2006/relationships/diagramLayout" Target="../diagrams/layout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Data" Target="../diagrams/data1.xml"/><Relationship Id="rId11" Type="http://schemas.openxmlformats.org/officeDocument/2006/relationships/image" Target="../media/image6.png"/><Relationship Id="rId5" Type="http://schemas.openxmlformats.org/officeDocument/2006/relationships/image" Target="../media/image5.png"/><Relationship Id="rId10" Type="http://schemas.microsoft.com/office/2007/relationships/diagramDrawing" Target="../diagrams/drawing1.xml"/><Relationship Id="rId4" Type="http://schemas.openxmlformats.org/officeDocument/2006/relationships/image" Target="../media/image4.jpeg"/><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0.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11.png"/><Relationship Id="rId10" Type="http://schemas.openxmlformats.org/officeDocument/2006/relationships/image" Target="../media/image19.png"/><Relationship Id="rId4" Type="http://schemas.openxmlformats.org/officeDocument/2006/relationships/image" Target="../media/image10.png"/><Relationship Id="rId9" Type="http://schemas.openxmlformats.org/officeDocument/2006/relationships/image" Target="../media/image9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60.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3.jpg"/></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40.png"/><Relationship Id="rId5" Type="http://schemas.openxmlformats.org/officeDocument/2006/relationships/image" Target="../media/image330.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8.png"/><Relationship Id="rId9" Type="http://schemas.openxmlformats.org/officeDocument/2006/relationships/image" Target="../media/image26.jpe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4.png"/><Relationship Id="rId1" Type="http://schemas.openxmlformats.org/officeDocument/2006/relationships/slideLayout" Target="../slideLayouts/slideLayout12.xml"/><Relationship Id="rId4" Type="http://schemas.openxmlformats.org/officeDocument/2006/relationships/image" Target="../media/image35.wmf"/></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wmf"/></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5" Type="http://schemas.openxmlformats.org/officeDocument/2006/relationships/image" Target="../media/image38.w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4.gif"/></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flip="none" rotWithShape="1">
            <a:gsLst>
              <a:gs pos="0">
                <a:schemeClr val="accent1">
                  <a:lumMod val="5000"/>
                  <a:lumOff val="95000"/>
                  <a:alpha val="0"/>
                </a:schemeClr>
              </a:gs>
              <a:gs pos="78000">
                <a:schemeClr val="accent5"/>
              </a:gs>
            </a:gsLst>
            <a:lin ang="108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48" name="文本框 47"/>
          <p:cNvSpPr txBox="1"/>
          <p:nvPr/>
        </p:nvSpPr>
        <p:spPr>
          <a:xfrm>
            <a:off x="2123901" y="2185996"/>
            <a:ext cx="8084129" cy="1938990"/>
          </a:xfrm>
          <a:prstGeom prst="rect">
            <a:avLst/>
          </a:prstGeom>
          <a:noFill/>
        </p:spPr>
        <p:txBody>
          <a:bodyPr wrap="square" lIns="91438" tIns="45719" rIns="91438" bIns="45719" rtlCol="0">
            <a:spAutoFit/>
          </a:bodyPr>
          <a:lstStyle/>
          <a:p>
            <a:pPr algn="ctr"/>
            <a:r>
              <a:rPr kumimoji="1" lang="zh-CN" altLang="en-US" sz="6000" b="1" dirty="0">
                <a:latin typeface="SimSun" panose="02010600030101010101" pitchFamily="2" charset="-122"/>
                <a:ea typeface="SimSun" panose="02010600030101010101" pitchFamily="2" charset="-122"/>
              </a:rPr>
              <a:t>铁磁材料的磁滞回线和基本磁化曲线实验</a:t>
            </a:r>
          </a:p>
        </p:txBody>
      </p:sp>
      <p:sp>
        <p:nvSpPr>
          <p:cNvPr id="46" name="文本框 45"/>
          <p:cNvSpPr txBox="1"/>
          <p:nvPr/>
        </p:nvSpPr>
        <p:spPr>
          <a:xfrm>
            <a:off x="3398551" y="5314714"/>
            <a:ext cx="4653495" cy="400111"/>
          </a:xfrm>
          <a:prstGeom prst="rect">
            <a:avLst/>
          </a:prstGeom>
          <a:noFill/>
        </p:spPr>
        <p:txBody>
          <a:bodyPr wrap="square" lIns="91436" tIns="45718" rIns="91436" bIns="45718" rtlCol="0">
            <a:spAutoFit/>
          </a:bodyPr>
          <a:lstStyle/>
          <a:p>
            <a:pPr algn="ctr"/>
            <a:r>
              <a:rPr lang="zh-CN" altLang="en-US" sz="2000" dirty="0">
                <a:solidFill>
                  <a:schemeClr val="bg1"/>
                </a:solidFill>
                <a:latin typeface="宋体" panose="02010600030101010101" pitchFamily="2" charset="-122"/>
                <a:ea typeface="宋体" panose="02010600030101010101" pitchFamily="2" charset="-122"/>
                <a:cs typeface="Segoe UI Semilight" panose="020B0402040204020203" pitchFamily="34" charset="0"/>
              </a:rPr>
              <a:t>浙江大学  物理实验教学中心</a:t>
            </a:r>
          </a:p>
        </p:txBody>
      </p:sp>
      <p:sp>
        <p:nvSpPr>
          <p:cNvPr id="10" name="圆角矩形 9"/>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1" name="Freeform 96"/>
          <p:cNvSpPr>
            <a:spLocks/>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prstTxWarp prst="textNoShape">
              <a:avLst/>
            </a:prstTxWarp>
          </a:bodyPr>
          <a:lstStyle/>
          <a:p>
            <a:endParaRPr lang="zh-CN" altLang="en-US">
              <a:solidFill>
                <a:srgbClr val="AD1C21"/>
              </a:solidFill>
            </a:endParaRPr>
          </a:p>
        </p:txBody>
      </p:sp>
      <p:pic>
        <p:nvPicPr>
          <p:cNvPr id="2" name="图片 1">
            <a:extLst>
              <a:ext uri="{FF2B5EF4-FFF2-40B4-BE49-F238E27FC236}">
                <a16:creationId xmlns:a16="http://schemas.microsoft.com/office/drawing/2014/main" id="{3979D4D1-3812-1C82-A8A8-3669F2436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49" y="209688"/>
            <a:ext cx="4712251" cy="813468"/>
          </a:xfrm>
          <a:prstGeom prst="rect">
            <a:avLst/>
          </a:prstGeom>
        </p:spPr>
      </p:pic>
      <p:sp>
        <p:nvSpPr>
          <p:cNvPr id="3" name="灯片编号占位符 2">
            <a:extLst>
              <a:ext uri="{FF2B5EF4-FFF2-40B4-BE49-F238E27FC236}">
                <a16:creationId xmlns:a16="http://schemas.microsoft.com/office/drawing/2014/main" id="{4E3A5CED-B950-46D3-A922-560EEFA7DAA9}"/>
              </a:ext>
            </a:extLst>
          </p:cNvPr>
          <p:cNvSpPr>
            <a:spLocks noGrp="1"/>
          </p:cNvSpPr>
          <p:nvPr>
            <p:ph type="sldNum" sz="quarter" idx="12"/>
          </p:nvPr>
        </p:nvSpPr>
        <p:spPr/>
        <p:txBody>
          <a:bodyPr/>
          <a:lstStyle/>
          <a:p>
            <a:fld id="{888F8D02-9041-4C59-BC62-13DE0E5C6713}" type="slidenum">
              <a:rPr lang="zh-CN" altLang="en-US" smtClean="0"/>
              <a:pPr/>
              <a:t>1</a:t>
            </a:fld>
            <a:endParaRPr lang="zh-CN" altLang="en-US" dirty="0"/>
          </a:p>
        </p:txBody>
      </p:sp>
    </p:spTree>
    <p:extLst>
      <p:ext uri="{BB962C8B-B14F-4D97-AF65-F5344CB8AC3E}">
        <p14:creationId xmlns:p14="http://schemas.microsoft.com/office/powerpoint/2010/main" val="328800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直接连接符 82"/>
          <p:cNvCxnSpPr/>
          <p:nvPr/>
        </p:nvCxnSpPr>
        <p:spPr>
          <a:xfrm>
            <a:off x="7044805" y="1356237"/>
            <a:ext cx="46568" cy="4528566"/>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6266419" y="773638"/>
            <a:ext cx="0" cy="5693764"/>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84880" y="2781375"/>
            <a:ext cx="6958584" cy="1395834"/>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sz="1600"/>
          </a:p>
        </p:txBody>
      </p:sp>
      <p:sp>
        <p:nvSpPr>
          <p:cNvPr id="20" name="文本框 19"/>
          <p:cNvSpPr txBox="1"/>
          <p:nvPr/>
        </p:nvSpPr>
        <p:spPr>
          <a:xfrm>
            <a:off x="163500" y="399248"/>
            <a:ext cx="1061823" cy="5957102"/>
          </a:xfrm>
          <a:prstGeom prst="rect">
            <a:avLst/>
          </a:prstGeom>
          <a:noFill/>
        </p:spPr>
        <p:txBody>
          <a:bodyPr vert="eaVert" wrap="square" lIns="68577" tIns="34289" rIns="68577" bIns="34289" rtlCol="0">
            <a:spAutoFit/>
          </a:bodyPr>
          <a:lstStyle/>
          <a:p>
            <a:r>
              <a:rPr lang="zh-CN" altLang="en-US" sz="6000" dirty="0">
                <a:solidFill>
                  <a:schemeClr val="bg1"/>
                </a:solidFill>
                <a:latin typeface="黑体" panose="02010609060101010101" pitchFamily="49" charset="-122"/>
                <a:ea typeface="黑体" panose="02010609060101010101" pitchFamily="49" charset="-122"/>
              </a:rPr>
              <a:t>目录</a:t>
            </a:r>
            <a:r>
              <a:rPr lang="zh-CN" altLang="en-US" sz="6000" dirty="0">
                <a:solidFill>
                  <a:schemeClr val="bg1"/>
                </a:solidFill>
                <a:latin typeface="Eras Light ITC" panose="020B0402030504020804" pitchFamily="34" charset="0"/>
              </a:rPr>
              <a:t> </a:t>
            </a:r>
            <a:r>
              <a:rPr lang="en-US" altLang="zh-CN" sz="6000" dirty="0">
                <a:solidFill>
                  <a:schemeClr val="bg1"/>
                </a:solidFill>
                <a:latin typeface="Eras Light ITC" panose="020B0402030504020804" pitchFamily="34" charset="0"/>
              </a:rPr>
              <a:t>CONTENTS</a:t>
            </a:r>
            <a:endParaRPr lang="zh-CN" altLang="en-US" sz="6000" dirty="0">
              <a:solidFill>
                <a:schemeClr val="bg1"/>
              </a:solidFill>
              <a:latin typeface="Eras Light ITC" panose="020B0402030504020804" pitchFamily="34" charset="0"/>
            </a:endParaRPr>
          </a:p>
        </p:txBody>
      </p:sp>
      <p:sp>
        <p:nvSpPr>
          <p:cNvPr id="73" name="圆角矩形 72"/>
          <p:cNvSpPr/>
          <p:nvPr/>
        </p:nvSpPr>
        <p:spPr>
          <a:xfrm rot="10800000" flipV="1">
            <a:off x="6008436" y="1507835"/>
            <a:ext cx="540000" cy="540000"/>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3600" b="1" dirty="0">
                <a:solidFill>
                  <a:schemeClr val="tx1"/>
                </a:solidFill>
              </a:rPr>
              <a:t>1</a:t>
            </a:r>
            <a:endParaRPr lang="zh-CN" altLang="en-US" sz="3600" b="1" dirty="0">
              <a:solidFill>
                <a:schemeClr val="tx1"/>
              </a:solidFill>
            </a:endParaRPr>
          </a:p>
        </p:txBody>
      </p:sp>
      <p:sp>
        <p:nvSpPr>
          <p:cNvPr id="74" name="圆角矩形 73"/>
          <p:cNvSpPr/>
          <p:nvPr/>
        </p:nvSpPr>
        <p:spPr>
          <a:xfrm rot="10800000" flipV="1">
            <a:off x="6797437" y="2082833"/>
            <a:ext cx="540000" cy="540000"/>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3600" b="1" dirty="0">
                <a:solidFill>
                  <a:schemeClr val="tx1"/>
                </a:solidFill>
              </a:rPr>
              <a:t>4</a:t>
            </a:r>
            <a:endParaRPr lang="zh-CN" altLang="en-US" sz="3600" b="1" dirty="0">
              <a:solidFill>
                <a:schemeClr val="tx1"/>
              </a:solidFill>
            </a:endParaRPr>
          </a:p>
        </p:txBody>
      </p:sp>
      <p:sp>
        <p:nvSpPr>
          <p:cNvPr id="75" name="圆角矩形 74"/>
          <p:cNvSpPr/>
          <p:nvPr/>
        </p:nvSpPr>
        <p:spPr>
          <a:xfrm rot="10800000" flipV="1">
            <a:off x="5983813" y="3082177"/>
            <a:ext cx="540000" cy="540000"/>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3600" b="1" dirty="0">
                <a:solidFill>
                  <a:schemeClr val="tx1"/>
                </a:solidFill>
              </a:rPr>
              <a:t>2</a:t>
            </a:r>
            <a:endParaRPr lang="zh-CN" altLang="en-US" sz="3600" b="1" dirty="0">
              <a:solidFill>
                <a:schemeClr val="tx1"/>
              </a:solidFill>
            </a:endParaRPr>
          </a:p>
        </p:txBody>
      </p:sp>
      <p:sp>
        <p:nvSpPr>
          <p:cNvPr id="76" name="圆角矩形 75"/>
          <p:cNvSpPr/>
          <p:nvPr/>
        </p:nvSpPr>
        <p:spPr>
          <a:xfrm rot="10800000" flipV="1">
            <a:off x="6784874" y="3813339"/>
            <a:ext cx="540000" cy="540000"/>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3600" b="1" dirty="0">
                <a:solidFill>
                  <a:schemeClr val="tx1"/>
                </a:solidFill>
              </a:rPr>
              <a:t>5</a:t>
            </a:r>
            <a:endParaRPr lang="zh-CN" altLang="en-US" sz="3600" b="1" dirty="0">
              <a:solidFill>
                <a:schemeClr val="tx1"/>
              </a:solidFill>
            </a:endParaRPr>
          </a:p>
        </p:txBody>
      </p:sp>
      <p:sp>
        <p:nvSpPr>
          <p:cNvPr id="77" name="圆角矩形 76"/>
          <p:cNvSpPr/>
          <p:nvPr/>
        </p:nvSpPr>
        <p:spPr>
          <a:xfrm rot="10800000" flipV="1">
            <a:off x="6002820" y="4810329"/>
            <a:ext cx="540000" cy="540000"/>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3600" b="1" dirty="0">
                <a:solidFill>
                  <a:schemeClr val="tx1"/>
                </a:solidFill>
              </a:rPr>
              <a:t>3</a:t>
            </a:r>
            <a:endParaRPr lang="zh-CN" altLang="en-US" sz="3600" b="1" dirty="0">
              <a:solidFill>
                <a:schemeClr val="tx1"/>
              </a:solidFill>
            </a:endParaRPr>
          </a:p>
        </p:txBody>
      </p:sp>
      <p:sp>
        <p:nvSpPr>
          <p:cNvPr id="87" name="文本框 86"/>
          <p:cNvSpPr txBox="1"/>
          <p:nvPr/>
        </p:nvSpPr>
        <p:spPr>
          <a:xfrm>
            <a:off x="2776963" y="1186214"/>
            <a:ext cx="2600706" cy="807911"/>
          </a:xfrm>
          <a:prstGeom prst="rect">
            <a:avLst/>
          </a:prstGeom>
          <a:noFill/>
        </p:spPr>
        <p:txBody>
          <a:bodyPr wrap="none" lIns="68577" tIns="34289" rIns="68577" bIns="34289" rtlCol="0">
            <a:spAutoFit/>
          </a:bodyPr>
          <a:lstStyle/>
          <a:p>
            <a:r>
              <a:rPr lang="zh-CN" altLang="en-US" sz="4800" b="1" dirty="0">
                <a:latin typeface="华文中宋" panose="02010600040101010101" pitchFamily="2" charset="-122"/>
                <a:ea typeface="华文中宋" panose="02010600040101010101" pitchFamily="2" charset="-122"/>
              </a:rPr>
              <a:t>实验背景</a:t>
            </a:r>
          </a:p>
        </p:txBody>
      </p:sp>
      <p:sp>
        <p:nvSpPr>
          <p:cNvPr id="88" name="文本框 87"/>
          <p:cNvSpPr txBox="1"/>
          <p:nvPr/>
        </p:nvSpPr>
        <p:spPr>
          <a:xfrm>
            <a:off x="7553113" y="1886314"/>
            <a:ext cx="2600706" cy="807911"/>
          </a:xfrm>
          <a:prstGeom prst="rect">
            <a:avLst/>
          </a:prstGeom>
          <a:noFill/>
        </p:spPr>
        <p:txBody>
          <a:bodyPr wrap="none" lIns="68577" tIns="34289" rIns="68577" bIns="34289" rtlCol="0">
            <a:spAutoFit/>
          </a:bodyPr>
          <a:lstStyle>
            <a:defPPr>
              <a:defRPr lang="en-US"/>
            </a:defPPr>
            <a:lvl1pPr>
              <a:defRPr sz="3600" b="1">
                <a:latin typeface="微软雅黑" panose="020B0503020204020204" pitchFamily="34" charset="-122"/>
                <a:ea typeface="微软雅黑" panose="020B0503020204020204" pitchFamily="34" charset="-122"/>
              </a:defRPr>
            </a:lvl1pPr>
          </a:lstStyle>
          <a:p>
            <a:r>
              <a:rPr lang="zh-CN" altLang="en-US" sz="4800" dirty="0">
                <a:latin typeface="华文中宋" panose="02010600040101010101" pitchFamily="2" charset="-122"/>
                <a:ea typeface="华文中宋" panose="02010600040101010101" pitchFamily="2" charset="-122"/>
              </a:rPr>
              <a:t>实验内容</a:t>
            </a:r>
          </a:p>
        </p:txBody>
      </p:sp>
      <p:sp>
        <p:nvSpPr>
          <p:cNvPr id="89" name="文本框 88"/>
          <p:cNvSpPr txBox="1"/>
          <p:nvPr/>
        </p:nvSpPr>
        <p:spPr>
          <a:xfrm>
            <a:off x="2821305" y="2832928"/>
            <a:ext cx="2600706" cy="807911"/>
          </a:xfrm>
          <a:prstGeom prst="rect">
            <a:avLst/>
          </a:prstGeom>
          <a:noFill/>
        </p:spPr>
        <p:txBody>
          <a:bodyPr wrap="none" lIns="68577" tIns="34289" rIns="68577" bIns="34289" rtlCol="0">
            <a:spAutoFit/>
          </a:bodyPr>
          <a:lstStyle/>
          <a:p>
            <a:r>
              <a:rPr lang="zh-CN" altLang="en-US" sz="4800" b="1" dirty="0">
                <a:latin typeface="华文中宋" panose="02010600040101010101" pitchFamily="2" charset="-122"/>
                <a:ea typeface="华文中宋" panose="02010600040101010101" pitchFamily="2" charset="-122"/>
              </a:rPr>
              <a:t>实验目的</a:t>
            </a:r>
          </a:p>
        </p:txBody>
      </p:sp>
      <p:sp>
        <p:nvSpPr>
          <p:cNvPr id="91" name="文本框 90"/>
          <p:cNvSpPr txBox="1"/>
          <p:nvPr/>
        </p:nvSpPr>
        <p:spPr>
          <a:xfrm>
            <a:off x="2801240" y="4542419"/>
            <a:ext cx="2600706" cy="807911"/>
          </a:xfrm>
          <a:prstGeom prst="rect">
            <a:avLst/>
          </a:prstGeom>
          <a:noFill/>
        </p:spPr>
        <p:txBody>
          <a:bodyPr wrap="none" lIns="68577" tIns="34289" rIns="68577" bIns="34289" rtlCol="0">
            <a:spAutoFit/>
          </a:bodyPr>
          <a:lstStyle/>
          <a:p>
            <a:r>
              <a:rPr lang="zh-CN" altLang="en-US" sz="4800" b="1" dirty="0">
                <a:latin typeface="华文中宋" panose="02010600040101010101" pitchFamily="2" charset="-122"/>
                <a:ea typeface="华文中宋" panose="02010600040101010101" pitchFamily="2" charset="-122"/>
              </a:rPr>
              <a:t>实验原理</a:t>
            </a:r>
          </a:p>
        </p:txBody>
      </p:sp>
      <p:sp>
        <p:nvSpPr>
          <p:cNvPr id="92" name="文本框 91"/>
          <p:cNvSpPr txBox="1"/>
          <p:nvPr/>
        </p:nvSpPr>
        <p:spPr>
          <a:xfrm>
            <a:off x="7677089" y="3683009"/>
            <a:ext cx="2600706" cy="807911"/>
          </a:xfrm>
          <a:prstGeom prst="rect">
            <a:avLst/>
          </a:prstGeom>
          <a:noFill/>
        </p:spPr>
        <p:txBody>
          <a:bodyPr wrap="none" lIns="68577" tIns="34289" rIns="68577" bIns="34289" rtlCol="0">
            <a:spAutoFit/>
          </a:bodyPr>
          <a:lstStyle/>
          <a:p>
            <a:r>
              <a:rPr lang="zh-CN" altLang="en-US" sz="4800" b="1" dirty="0">
                <a:latin typeface="华文中宋" panose="02010600040101010101" pitchFamily="2" charset="-122"/>
                <a:ea typeface="华文中宋" panose="02010600040101010101" pitchFamily="2" charset="-122"/>
              </a:rPr>
              <a:t>实验思考</a:t>
            </a:r>
          </a:p>
        </p:txBody>
      </p:sp>
      <p:sp>
        <p:nvSpPr>
          <p:cNvPr id="104" name="矩形 103"/>
          <p:cNvSpPr/>
          <p:nvPr/>
        </p:nvSpPr>
        <p:spPr>
          <a:xfrm>
            <a:off x="2411858" y="2043571"/>
            <a:ext cx="3593158" cy="346247"/>
          </a:xfrm>
          <a:prstGeom prst="rect">
            <a:avLst/>
          </a:prstGeom>
        </p:spPr>
        <p:txBody>
          <a:bodyPr wrap="none" lIns="68577" tIns="34289" rIns="68577" bIns="34289">
            <a:spAutoFit/>
          </a:bodyPr>
          <a:lstStyle/>
          <a:p>
            <a:pPr algn="ct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EXPERIMENT BACKGROUNDS</a:t>
            </a:r>
          </a:p>
        </p:txBody>
      </p:sp>
      <p:sp>
        <p:nvSpPr>
          <p:cNvPr id="105" name="矩形 104"/>
          <p:cNvSpPr/>
          <p:nvPr/>
        </p:nvSpPr>
        <p:spPr>
          <a:xfrm>
            <a:off x="2736660" y="3601205"/>
            <a:ext cx="2996263" cy="346247"/>
          </a:xfrm>
          <a:prstGeom prst="rect">
            <a:avLst/>
          </a:prstGeom>
        </p:spPr>
        <p:txBody>
          <a:bodyPr wrap="none" lIns="68577" tIns="34289" rIns="68577" bIns="34289">
            <a:spAutoFit/>
          </a:bodyPr>
          <a:lstStyle/>
          <a:p>
            <a:pPr algn="ct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EXPERIMENT OBJECTIVE</a:t>
            </a:r>
          </a:p>
        </p:txBody>
      </p:sp>
      <p:sp>
        <p:nvSpPr>
          <p:cNvPr id="106" name="矩形 105"/>
          <p:cNvSpPr/>
          <p:nvPr/>
        </p:nvSpPr>
        <p:spPr>
          <a:xfrm>
            <a:off x="2776963" y="5410372"/>
            <a:ext cx="2965807" cy="346247"/>
          </a:xfrm>
          <a:prstGeom prst="rect">
            <a:avLst/>
          </a:prstGeom>
        </p:spPr>
        <p:txBody>
          <a:bodyPr wrap="none" lIns="68577" tIns="34289" rIns="68577" bIns="34289">
            <a:spAutoFit/>
          </a:bodyPr>
          <a:lstStyle/>
          <a:p>
            <a:pPr algn="ct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EXPERIMENT PRINCIPLE</a:t>
            </a:r>
          </a:p>
        </p:txBody>
      </p:sp>
      <p:sp>
        <p:nvSpPr>
          <p:cNvPr id="107" name="矩形 106"/>
          <p:cNvSpPr/>
          <p:nvPr/>
        </p:nvSpPr>
        <p:spPr>
          <a:xfrm>
            <a:off x="7568756" y="2725298"/>
            <a:ext cx="2889055" cy="346247"/>
          </a:xfrm>
          <a:prstGeom prst="rect">
            <a:avLst/>
          </a:prstGeom>
        </p:spPr>
        <p:txBody>
          <a:bodyPr wrap="none" lIns="68577" tIns="34289" rIns="68577" bIns="34289">
            <a:spAutoFit/>
          </a:bodyPr>
          <a:lstStyle/>
          <a:p>
            <a:pPr algn="ctr"/>
            <a:r>
              <a:rPr lang="en-US" altLang="zh-CN" b="1" dirty="0">
                <a:solidFill>
                  <a:schemeClr val="tx1">
                    <a:lumMod val="75000"/>
                    <a:lumOff val="25000"/>
                  </a:schemeClr>
                </a:solidFill>
                <a:latin typeface="微软雅黑" panose="020B0503020204020204" pitchFamily="34" charset="-122"/>
              </a:rPr>
              <a:t>EXPERIMENT CONTENT</a:t>
            </a:r>
          </a:p>
        </p:txBody>
      </p:sp>
      <p:sp>
        <p:nvSpPr>
          <p:cNvPr id="109" name="矩形 108"/>
          <p:cNvSpPr/>
          <p:nvPr/>
        </p:nvSpPr>
        <p:spPr>
          <a:xfrm>
            <a:off x="7526371" y="4551980"/>
            <a:ext cx="3301027" cy="346247"/>
          </a:xfrm>
          <a:prstGeom prst="rect">
            <a:avLst/>
          </a:prstGeom>
        </p:spPr>
        <p:txBody>
          <a:bodyPr wrap="none" lIns="68577" tIns="34289" rIns="68577" bIns="34289">
            <a:spAutoFit/>
          </a:bodyPr>
          <a:lstStyle/>
          <a:p>
            <a:pPr algn="ctr"/>
            <a:r>
              <a:rPr lang="en-US" altLang="zh-CN" b="1" dirty="0">
                <a:solidFill>
                  <a:schemeClr val="tx1">
                    <a:lumMod val="75000"/>
                    <a:lumOff val="25000"/>
                  </a:schemeClr>
                </a:solidFill>
                <a:latin typeface="微软雅黑" panose="020B0503020204020204" pitchFamily="34" charset="-122"/>
              </a:rPr>
              <a:t>EXPERIMENT INSPIRATION</a:t>
            </a:r>
          </a:p>
        </p:txBody>
      </p:sp>
      <p:sp>
        <p:nvSpPr>
          <p:cNvPr id="2" name="灯片编号占位符 1"/>
          <p:cNvSpPr>
            <a:spLocks noGrp="1"/>
          </p:cNvSpPr>
          <p:nvPr>
            <p:ph type="sldNum" sz="quarter" idx="12"/>
          </p:nvPr>
        </p:nvSpPr>
        <p:spPr>
          <a:xfrm>
            <a:off x="8977442" y="6196099"/>
            <a:ext cx="2743200" cy="365125"/>
          </a:xfrm>
        </p:spPr>
        <p:txBody>
          <a:bodyPr/>
          <a:lstStyle/>
          <a:p>
            <a:fld id="{888F8D02-9041-4C59-BC62-13DE0E5C6713}" type="slidenum">
              <a:rPr lang="zh-CN" altLang="en-US" sz="2800" b="1"/>
              <a:pPr/>
              <a:t>2</a:t>
            </a:fld>
            <a:endParaRPr lang="zh-CN" altLang="en-US" sz="2800" b="1" dirty="0"/>
          </a:p>
        </p:txBody>
      </p:sp>
    </p:spTree>
    <p:extLst>
      <p:ext uri="{BB962C8B-B14F-4D97-AF65-F5344CB8AC3E}">
        <p14:creationId xmlns:p14="http://schemas.microsoft.com/office/powerpoint/2010/main" val="2275936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63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86409"/>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600" dirty="0"/>
                <a:t>1</a:t>
              </a:r>
              <a:endParaRPr lang="zh-CN" altLang="en-US" sz="6600" dirty="0"/>
            </a:p>
          </p:txBody>
        </p:sp>
        <p:sp>
          <p:nvSpPr>
            <p:cNvPr id="42" name="文本框 41"/>
            <p:cNvSpPr txBox="1"/>
            <p:nvPr/>
          </p:nvSpPr>
          <p:spPr>
            <a:xfrm>
              <a:off x="1945790" y="2847433"/>
              <a:ext cx="3884393" cy="1107994"/>
            </a:xfrm>
            <a:prstGeom prst="rect">
              <a:avLst/>
            </a:prstGeom>
            <a:noFill/>
          </p:spPr>
          <p:txBody>
            <a:bodyPr wrap="none" lIns="91438" tIns="45719" rIns="91438" bIns="45719" rtlCol="0">
              <a:spAutoFit/>
            </a:bodyPr>
            <a:lstStyle/>
            <a:p>
              <a:r>
                <a:rPr lang="zh-CN" altLang="en-US" sz="6600" b="1" spc="600" dirty="0">
                  <a:latin typeface="华文中宋" panose="02010600040101010101" pitchFamily="2" charset="-122"/>
                  <a:ea typeface="华文中宋" panose="02010600040101010101" pitchFamily="2" charset="-122"/>
                </a:rPr>
                <a:t>实验背景</a:t>
              </a:r>
            </a:p>
          </p:txBody>
        </p:sp>
        <p:sp>
          <p:nvSpPr>
            <p:cNvPr id="53" name="矩形 52"/>
            <p:cNvSpPr/>
            <p:nvPr/>
          </p:nvSpPr>
          <p:spPr>
            <a:xfrm>
              <a:off x="6006425" y="3220053"/>
              <a:ext cx="6009334" cy="584773"/>
            </a:xfrm>
            <a:prstGeom prst="rect">
              <a:avLst/>
            </a:prstGeom>
          </p:spPr>
          <p:txBody>
            <a:bodyPr wrap="none" lIns="91438" tIns="45719" rIns="91438" bIns="45719">
              <a:sp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EXPERIMENT BACKGROUNDS</a:t>
              </a:r>
            </a:p>
          </p:txBody>
        </p:sp>
      </p:grpSp>
    </p:spTree>
    <p:extLst>
      <p:ext uri="{BB962C8B-B14F-4D97-AF65-F5344CB8AC3E}">
        <p14:creationId xmlns:p14="http://schemas.microsoft.com/office/powerpoint/2010/main" val="3784935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GE 1.5T MRI核磁共振SIGNA Voyager_先进设备_医院概况_深汕中心医院"/>
          <p:cNvPicPr>
            <a:picLocks noChangeAspect="1" noChangeArrowheads="1"/>
          </p:cNvPicPr>
          <p:nvPr/>
        </p:nvPicPr>
        <p:blipFill rotWithShape="1">
          <a:blip r:embed="rId3">
            <a:extLst>
              <a:ext uri="{28A0092B-C50C-407E-A947-70E740481C1C}">
                <a14:useLocalDpi xmlns:a14="http://schemas.microsoft.com/office/drawing/2010/main" val="0"/>
              </a:ext>
            </a:extLst>
          </a:blip>
          <a:srcRect l="9824" t="4394" b="7643"/>
          <a:stretch/>
        </p:blipFill>
        <p:spPr bwMode="auto">
          <a:xfrm>
            <a:off x="8681654" y="3494604"/>
            <a:ext cx="3112351" cy="226178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xqimg.imedao.com/18708230ffb1feb3feda0e9c.png!raw.jpg"/>
          <p:cNvPicPr>
            <a:picLocks noChangeAspect="1" noChangeArrowheads="1"/>
          </p:cNvPicPr>
          <p:nvPr/>
        </p:nvPicPr>
        <p:blipFill rotWithShape="1">
          <a:blip r:embed="rId4">
            <a:extLst>
              <a:ext uri="{28A0092B-C50C-407E-A947-70E740481C1C}">
                <a14:useLocalDpi xmlns:a14="http://schemas.microsoft.com/office/drawing/2010/main" val="0"/>
              </a:ext>
            </a:extLst>
          </a:blip>
          <a:srcRect l="58362" t="15216" b="-760"/>
          <a:stretch/>
        </p:blipFill>
        <p:spPr bwMode="auto">
          <a:xfrm>
            <a:off x="8446155" y="1061769"/>
            <a:ext cx="3315194" cy="23759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实验背景</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a:xfrm>
            <a:off x="9018149" y="6516239"/>
            <a:ext cx="2743200" cy="341761"/>
          </a:xfrm>
        </p:spPr>
        <p:txBody>
          <a:bodyPr/>
          <a:lstStyle/>
          <a:p>
            <a:fld id="{1AAC388E-FA9E-4A2C-95EA-1F6B3A07935A}" type="slidenum">
              <a:rPr lang="zh-CN" altLang="en-US" sz="2800" smtClean="0"/>
              <a:pPr/>
              <a:t>4</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1</a:t>
            </a:r>
            <a:endParaRPr lang="zh-CN" altLang="en-US" sz="4400" b="1" dirty="0">
              <a:solidFill>
                <a:schemeClr val="tx1"/>
              </a:solidFill>
            </a:endParaRPr>
          </a:p>
        </p:txBody>
      </p:sp>
      <p:sp>
        <p:nvSpPr>
          <p:cNvPr id="17" name="AutoShape 6" descr="China-maglev-train-featuring-lumineq-transparent-display-2_1920x1080"/>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8" name="图片 17"/>
          <p:cNvPicPr>
            <a:picLocks noChangeAspect="1"/>
          </p:cNvPicPr>
          <p:nvPr/>
        </p:nvPicPr>
        <p:blipFill rotWithShape="1">
          <a:blip r:embed="rId5"/>
          <a:srcRect r="5612"/>
          <a:stretch/>
        </p:blipFill>
        <p:spPr>
          <a:xfrm>
            <a:off x="587782" y="3743289"/>
            <a:ext cx="3284333" cy="1960930"/>
          </a:xfrm>
          <a:prstGeom prst="rect">
            <a:avLst/>
          </a:prstGeom>
        </p:spPr>
      </p:pic>
      <p:graphicFrame>
        <p:nvGraphicFramePr>
          <p:cNvPr id="20" name="图示 19"/>
          <p:cNvGraphicFramePr/>
          <p:nvPr>
            <p:extLst>
              <p:ext uri="{D42A27DB-BD31-4B8C-83A1-F6EECF244321}">
                <p14:modId xmlns:p14="http://schemas.microsoft.com/office/powerpoint/2010/main" val="3591517074"/>
              </p:ext>
            </p:extLst>
          </p:nvPr>
        </p:nvGraphicFramePr>
        <p:xfrm>
          <a:off x="3066250" y="1189833"/>
          <a:ext cx="6836702" cy="445746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21" name="图片 20"/>
          <p:cNvPicPr>
            <a:picLocks noChangeAspect="1"/>
          </p:cNvPicPr>
          <p:nvPr/>
        </p:nvPicPr>
        <p:blipFill>
          <a:blip r:embed="rId11"/>
          <a:stretch>
            <a:fillRect/>
          </a:stretch>
        </p:blipFill>
        <p:spPr>
          <a:xfrm>
            <a:off x="587782" y="1278970"/>
            <a:ext cx="3223334" cy="2158714"/>
          </a:xfrm>
          <a:prstGeom prst="rect">
            <a:avLst/>
          </a:prstGeom>
        </p:spPr>
      </p:pic>
      <p:sp>
        <p:nvSpPr>
          <p:cNvPr id="15" name="矩形 14"/>
          <p:cNvSpPr/>
          <p:nvPr/>
        </p:nvSpPr>
        <p:spPr>
          <a:xfrm>
            <a:off x="2864747" y="6030696"/>
            <a:ext cx="7239708" cy="523220"/>
          </a:xfrm>
          <a:prstGeom prst="rect">
            <a:avLst/>
          </a:prstGeom>
          <a:solidFill>
            <a:srgbClr val="FFC000"/>
          </a:solidFill>
        </p:spPr>
        <p:txBody>
          <a:bodyPr wrap="square">
            <a:spAutoFit/>
          </a:bodyPr>
          <a:lstStyle/>
          <a:p>
            <a:r>
              <a:rPr lang="zh-CN" altLang="en-US" sz="2800" dirty="0"/>
              <a:t>中国各类磁性材料的整体产量位居世界第一！</a:t>
            </a:r>
            <a:endParaRPr lang="en-US" altLang="zh-CN" sz="2800" dirty="0"/>
          </a:p>
        </p:txBody>
      </p:sp>
      <p:sp>
        <p:nvSpPr>
          <p:cNvPr id="22" name="矩形 21"/>
          <p:cNvSpPr/>
          <p:nvPr/>
        </p:nvSpPr>
        <p:spPr>
          <a:xfrm>
            <a:off x="4350663" y="3003067"/>
            <a:ext cx="950238" cy="830997"/>
          </a:xfrm>
          <a:prstGeom prst="rect">
            <a:avLst/>
          </a:prstGeom>
        </p:spPr>
        <p:txBody>
          <a:bodyPr wrap="square">
            <a:spAutoFit/>
          </a:bodyPr>
          <a:lstStyle/>
          <a:p>
            <a:pPr lvl="0"/>
            <a:r>
              <a:rPr lang="zh-CN" altLang="en-US" sz="2400" b="1" dirty="0">
                <a:solidFill>
                  <a:schemeClr val="bg1"/>
                </a:solidFill>
              </a:rPr>
              <a:t>能源交通</a:t>
            </a:r>
          </a:p>
        </p:txBody>
      </p:sp>
    </p:spTree>
    <p:extLst>
      <p:ext uri="{BB962C8B-B14F-4D97-AF65-F5344CB8AC3E}">
        <p14:creationId xmlns:p14="http://schemas.microsoft.com/office/powerpoint/2010/main" val="3655046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实验背景</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5</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1</a:t>
            </a:r>
            <a:endParaRPr lang="zh-CN" altLang="en-US" sz="4400" b="1" dirty="0">
              <a:solidFill>
                <a:schemeClr val="tx1"/>
              </a:solidFill>
            </a:endParaRPr>
          </a:p>
        </p:txBody>
      </p:sp>
      <mc:AlternateContent xmlns:mc="http://schemas.openxmlformats.org/markup-compatibility/2006" xmlns:a14="http://schemas.microsoft.com/office/drawing/2010/main">
        <mc:Choice Requires="a14">
          <p:sp>
            <p:nvSpPr>
              <p:cNvPr id="6" name="文本框 5"/>
              <p:cNvSpPr txBox="1"/>
              <p:nvPr/>
            </p:nvSpPr>
            <p:spPr>
              <a:xfrm>
                <a:off x="3369825" y="6091353"/>
                <a:ext cx="3983321" cy="553998"/>
              </a:xfrm>
              <a:prstGeom prst="rect">
                <a:avLst/>
              </a:prstGeom>
              <a:noFill/>
            </p:spPr>
            <p:txBody>
              <a:bodyPr wrap="squar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r>
                        <a:rPr lang="zh-CN" altLang="en-US" sz="2400" b="1" i="1" smtClean="0">
                          <a:latin typeface="Cambria Math" panose="02040503050406030204" pitchFamily="18" charset="0"/>
                        </a:rPr>
                        <m:t>𝝁</m:t>
                      </m:r>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zh-CN" altLang="en-US" sz="2400" b="1" i="1" smtClean="0">
                              <a:latin typeface="Cambria Math" panose="02040503050406030204" pitchFamily="18" charset="0"/>
                            </a:rPr>
                            <m:t>𝝁</m:t>
                          </m:r>
                        </m:e>
                        <m:sub>
                          <m:r>
                            <a:rPr lang="en-US" altLang="zh-CN" sz="2400" b="1" i="1" smtClean="0">
                              <a:latin typeface="Cambria Math" panose="02040503050406030204" pitchFamily="18" charset="0"/>
                            </a:rPr>
                            <m:t>𝟎</m:t>
                          </m:r>
                        </m:sub>
                      </m:sSub>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𝟏</m:t>
                          </m:r>
                          <m:r>
                            <a:rPr lang="en-US" altLang="zh-CN" sz="2400" b="1" i="1" smtClean="0">
                              <a:latin typeface="Cambria Math" panose="02040503050406030204" pitchFamily="18" charset="0"/>
                            </a:rPr>
                            <m:t>+</m:t>
                          </m:r>
                          <m:r>
                            <a:rPr lang="zh-CN" altLang="en-US" sz="2400" b="1" i="1" smtClean="0">
                              <a:latin typeface="Cambria Math" panose="02040503050406030204" pitchFamily="18" charset="0"/>
                            </a:rPr>
                            <m:t>𝝌</m:t>
                          </m:r>
                        </m:e>
                      </m:d>
                      <m:r>
                        <a:rPr lang="en-US" altLang="zh-CN" sz="2400" b="1" i="1" smtClean="0">
                          <a:latin typeface="Cambria Math" panose="02040503050406030204" pitchFamily="18" charset="0"/>
                        </a:rPr>
                        <m:t>=</m:t>
                      </m:r>
                      <m:sSub>
                        <m:sSubPr>
                          <m:ctrlPr>
                            <a:rPr lang="en-US" altLang="zh-CN" sz="2400" b="1" i="1">
                              <a:solidFill>
                                <a:prstClr val="black"/>
                              </a:solidFill>
                              <a:latin typeface="Cambria Math" panose="02040503050406030204" pitchFamily="18" charset="0"/>
                            </a:rPr>
                          </m:ctrlPr>
                        </m:sSubPr>
                        <m:e>
                          <m:r>
                            <a:rPr lang="zh-CN" altLang="en-US" sz="2400" b="1" i="1">
                              <a:solidFill>
                                <a:prstClr val="black"/>
                              </a:solidFill>
                              <a:latin typeface="Cambria Math" panose="02040503050406030204" pitchFamily="18" charset="0"/>
                            </a:rPr>
                            <m:t>𝝁</m:t>
                          </m:r>
                        </m:e>
                        <m:sub>
                          <m:r>
                            <a:rPr lang="en-US" altLang="zh-CN" sz="2400" b="1" i="1">
                              <a:solidFill>
                                <a:prstClr val="black"/>
                              </a:solidFill>
                              <a:latin typeface="Cambria Math" panose="02040503050406030204" pitchFamily="18" charset="0"/>
                            </a:rPr>
                            <m:t>𝟎</m:t>
                          </m:r>
                        </m:sub>
                      </m:sSub>
                      <m:sSub>
                        <m:sSubPr>
                          <m:ctrlPr>
                            <a:rPr lang="en-US" altLang="zh-CN" sz="2400" b="1" i="1">
                              <a:solidFill>
                                <a:prstClr val="black"/>
                              </a:solidFill>
                              <a:latin typeface="Cambria Math" panose="02040503050406030204" pitchFamily="18" charset="0"/>
                            </a:rPr>
                          </m:ctrlPr>
                        </m:sSubPr>
                        <m:e>
                          <m:r>
                            <a:rPr lang="zh-CN" altLang="en-US" sz="2400" b="1" i="1">
                              <a:solidFill>
                                <a:prstClr val="black"/>
                              </a:solidFill>
                              <a:latin typeface="Cambria Math" panose="02040503050406030204" pitchFamily="18" charset="0"/>
                            </a:rPr>
                            <m:t>𝝁</m:t>
                          </m:r>
                        </m:e>
                        <m:sub>
                          <m:r>
                            <m:rPr>
                              <m:sty m:val="p"/>
                            </m:rPr>
                            <a:rPr lang="en-US" altLang="zh-CN" sz="2400" b="1" i="1" smtClean="0">
                              <a:solidFill>
                                <a:prstClr val="black"/>
                              </a:solidFill>
                              <a:latin typeface="Cambria Math" panose="02040503050406030204" pitchFamily="18" charset="0"/>
                            </a:rPr>
                            <m:t>r</m:t>
                          </m:r>
                        </m:sub>
                      </m:sSub>
                    </m:oMath>
                  </m:oMathPara>
                </a14:m>
                <a:endParaRPr b="1" dirty="0"/>
              </a:p>
            </p:txBody>
          </p:sp>
        </mc:Choice>
        <mc:Fallback xmlns="">
          <p:sp>
            <p:nvSpPr>
              <p:cNvPr id="6" name="文本框 5"/>
              <p:cNvSpPr txBox="1">
                <a:spLocks noRot="1" noChangeAspect="1" noMove="1" noResize="1" noEditPoints="1" noAdjustHandles="1" noChangeArrowheads="1" noChangeShapeType="1" noTextEdit="1"/>
              </p:cNvSpPr>
              <p:nvPr/>
            </p:nvSpPr>
            <p:spPr>
              <a:xfrm>
                <a:off x="3369825" y="6091353"/>
                <a:ext cx="3983321" cy="5539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8041835" y="5722584"/>
                <a:ext cx="2307931" cy="1323439"/>
              </a:xfrm>
              <a:prstGeom prst="rect">
                <a:avLst/>
              </a:prstGeom>
            </p:spPr>
            <p:txBody>
              <a:bodyPr wrap="square">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b="0" i="1" smtClean="0">
                            <a:latin typeface="Cambria Math" panose="02040503050406030204" pitchFamily="18" charset="0"/>
                          </a:rPr>
                          <m:t>0</m:t>
                        </m:r>
                      </m:sub>
                    </m:sSub>
                  </m:oMath>
                </a14:m>
                <a:r>
                  <a:rPr lang="zh-CN" altLang="en-US" sz="2000" dirty="0"/>
                  <a:t>：真空磁导率</a:t>
                </a:r>
                <a:endParaRPr lang="en-US" altLang="zh-CN" sz="2000" dirty="0"/>
              </a:p>
              <a:p>
                <a14:m>
                  <m:oMath xmlns:m="http://schemas.openxmlformats.org/officeDocument/2006/math">
                    <m:r>
                      <a:rPr lang="en-US" altLang="zh-CN" sz="2000" i="1">
                        <a:latin typeface="Cambria Math" panose="02040503050406030204" pitchFamily="18" charset="0"/>
                      </a:rPr>
                      <m:t>𝑀</m:t>
                    </m:r>
                    <m:r>
                      <a:rPr lang="en-US" altLang="zh-CN" sz="2000" b="0" i="0" smtClean="0">
                        <a:latin typeface="Cambria Math" panose="02040503050406030204" pitchFamily="18" charset="0"/>
                      </a:rPr>
                      <m:t>: </m:t>
                    </m:r>
                  </m:oMath>
                </a14:m>
                <a:r>
                  <a:rPr lang="zh-CN" altLang="en-US" sz="2000" dirty="0"/>
                  <a:t>介质的磁化强度</a:t>
                </a:r>
                <a:endParaRPr lang="en-US" altLang="zh-CN" sz="2000" dirty="0"/>
              </a:p>
              <a:p>
                <a14:m>
                  <m:oMath xmlns:m="http://schemas.openxmlformats.org/officeDocument/2006/math">
                    <m:r>
                      <a:rPr lang="zh-CN" altLang="en-US" sz="2000" b="0" i="1" smtClean="0">
                        <a:latin typeface="Cambria Math" panose="02040503050406030204" pitchFamily="18" charset="0"/>
                      </a:rPr>
                      <m:t>𝜒</m:t>
                    </m:r>
                    <m:r>
                      <a:rPr lang="en-US" altLang="zh-CN" sz="2000" b="0" i="1" smtClean="0">
                        <a:latin typeface="Cambria Math" panose="02040503050406030204" pitchFamily="18" charset="0"/>
                      </a:rPr>
                      <m:t>:</m:t>
                    </m:r>
                    <m:r>
                      <a:rPr lang="en-US" altLang="zh-CN" sz="2000" b="0" i="0" smtClean="0">
                        <a:latin typeface="Cambria Math" panose="02040503050406030204" pitchFamily="18" charset="0"/>
                      </a:rPr>
                      <m:t> </m:t>
                    </m:r>
                    <m:r>
                      <a:rPr lang="zh-CN" altLang="en-US" sz="2000" i="1">
                        <a:latin typeface="Cambria Math" panose="02040503050406030204" pitchFamily="18" charset="0"/>
                      </a:rPr>
                      <m:t>磁化</m:t>
                    </m:r>
                  </m:oMath>
                </a14:m>
                <a:r>
                  <a:rPr lang="zh-CN" altLang="en-US" sz="2000" dirty="0"/>
                  <a:t>率</a:t>
                </a:r>
                <a:endParaRPr lang="en-US" altLang="zh-CN" sz="2000" dirty="0"/>
              </a:p>
              <a:p>
                <a:endParaRPr lang="en-US" altLang="zh-CN" sz="2000" dirty="0"/>
              </a:p>
            </p:txBody>
          </p:sp>
        </mc:Choice>
        <mc:Fallback xmlns="">
          <p:sp>
            <p:nvSpPr>
              <p:cNvPr id="11" name="矩形 10"/>
              <p:cNvSpPr>
                <a:spLocks noRot="1" noChangeAspect="1" noMove="1" noResize="1" noEditPoints="1" noAdjustHandles="1" noChangeArrowheads="1" noChangeShapeType="1" noTextEdit="1"/>
              </p:cNvSpPr>
              <p:nvPr/>
            </p:nvSpPr>
            <p:spPr>
              <a:xfrm>
                <a:off x="8041835" y="5722584"/>
                <a:ext cx="2307931" cy="1323439"/>
              </a:xfrm>
              <a:prstGeom prst="rect">
                <a:avLst/>
              </a:prstGeom>
              <a:blipFill>
                <a:blip r:embed="rId4"/>
                <a:stretch>
                  <a:fillRect t="-2765" r="-2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2203159" y="5451208"/>
                <a:ext cx="1245020" cy="8961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2800" b="1" i="1" smtClean="0">
                          <a:solidFill>
                            <a:srgbClr val="FF0000"/>
                          </a:solidFill>
                          <a:latin typeface="Cambria Math" panose="02040503050406030204" pitchFamily="18" charset="0"/>
                        </a:rPr>
                        <m:t>𝝁</m:t>
                      </m:r>
                      <m:r>
                        <a:rPr lang="en-US" altLang="zh-CN" sz="2800" b="1" i="1" smtClean="0">
                          <a:solidFill>
                            <a:srgbClr val="FF0000"/>
                          </a:solidFill>
                          <a:latin typeface="Cambria Math" panose="02040503050406030204" pitchFamily="18" charset="0"/>
                        </a:rPr>
                        <m:t>=</m:t>
                      </m:r>
                      <m:f>
                        <m:fPr>
                          <m:ctrlPr>
                            <a:rPr lang="en-US" altLang="zh-CN" sz="2800" b="1" i="1" smtClean="0">
                              <a:solidFill>
                                <a:srgbClr val="FF0000"/>
                              </a:solidFill>
                              <a:latin typeface="Cambria Math" panose="02040503050406030204" pitchFamily="18" charset="0"/>
                            </a:rPr>
                          </m:ctrlPr>
                        </m:fPr>
                        <m:num>
                          <m:r>
                            <a:rPr lang="en-US" altLang="zh-CN" sz="2800" b="1" i="1" smtClean="0">
                              <a:solidFill>
                                <a:srgbClr val="FF0000"/>
                              </a:solidFill>
                              <a:latin typeface="Cambria Math" panose="02040503050406030204" pitchFamily="18" charset="0"/>
                            </a:rPr>
                            <m:t>𝑩</m:t>
                          </m:r>
                        </m:num>
                        <m:den>
                          <m:r>
                            <a:rPr lang="en-US" altLang="zh-CN" sz="2800" b="1" i="1" smtClean="0">
                              <a:solidFill>
                                <a:srgbClr val="FF0000"/>
                              </a:solidFill>
                              <a:latin typeface="Cambria Math" panose="02040503050406030204" pitchFamily="18" charset="0"/>
                            </a:rPr>
                            <m:t>𝑯</m:t>
                          </m:r>
                        </m:den>
                      </m:f>
                    </m:oMath>
                  </m:oMathPara>
                </a14:m>
                <a:endParaRPr lang="zh-CN" altLang="en-US" sz="2800" b="1" dirty="0">
                  <a:solidFill>
                    <a:srgbClr val="FF0000"/>
                  </a:solidFill>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2203159" y="5451208"/>
                <a:ext cx="1245020" cy="896143"/>
              </a:xfrm>
              <a:prstGeom prst="rect">
                <a:avLst/>
              </a:prstGeom>
              <a:blipFill>
                <a:blip r:embed="rId5"/>
                <a:stretch>
                  <a:fillRect/>
                </a:stretch>
              </a:blipFill>
            </p:spPr>
            <p:txBody>
              <a:bodyPr/>
              <a:lstStyle/>
              <a:p>
                <a:r>
                  <a:rPr lang="zh-CN" altLang="en-US">
                    <a:noFill/>
                  </a:rPr>
                  <a:t> </a:t>
                </a:r>
              </a:p>
            </p:txBody>
          </p:sp>
        </mc:Fallback>
      </mc:AlternateContent>
      <p:sp>
        <p:nvSpPr>
          <p:cNvPr id="23" name="右箭头 22"/>
          <p:cNvSpPr/>
          <p:nvPr/>
        </p:nvSpPr>
        <p:spPr>
          <a:xfrm>
            <a:off x="446753" y="5855708"/>
            <a:ext cx="713576" cy="301471"/>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238946" y="5775610"/>
            <a:ext cx="1107996" cy="461665"/>
          </a:xfrm>
          <a:prstGeom prst="rect">
            <a:avLst/>
          </a:prstGeom>
          <a:noFill/>
        </p:spPr>
        <p:txBody>
          <a:bodyPr wrap="none" rtlCol="0">
            <a:spAutoFit/>
          </a:bodyPr>
          <a:lstStyle/>
          <a:p>
            <a:r>
              <a:rPr lang="zh-CN" altLang="en-US" sz="2400" b="1" dirty="0">
                <a:solidFill>
                  <a:srgbClr val="FF0000"/>
                </a:solidFill>
              </a:rPr>
              <a:t>磁导率</a:t>
            </a:r>
          </a:p>
        </p:txBody>
      </p:sp>
      <p:grpSp>
        <p:nvGrpSpPr>
          <p:cNvPr id="38" name="组合 37"/>
          <p:cNvGrpSpPr/>
          <p:nvPr/>
        </p:nvGrpSpPr>
        <p:grpSpPr>
          <a:xfrm>
            <a:off x="6025282" y="881751"/>
            <a:ext cx="5687554" cy="4609916"/>
            <a:chOff x="6033490" y="941928"/>
            <a:chExt cx="5550368" cy="4446158"/>
          </a:xfrm>
        </p:grpSpPr>
        <p:grpSp>
          <p:nvGrpSpPr>
            <p:cNvPr id="15" name="组合 14"/>
            <p:cNvGrpSpPr/>
            <p:nvPr/>
          </p:nvGrpSpPr>
          <p:grpSpPr>
            <a:xfrm>
              <a:off x="6033490" y="941928"/>
              <a:ext cx="5550368" cy="4446158"/>
              <a:chOff x="3274887" y="1650051"/>
              <a:chExt cx="5227505" cy="4102260"/>
            </a:xfrm>
          </p:grpSpPr>
          <p:pic>
            <p:nvPicPr>
              <p:cNvPr id="14" name="图片 13"/>
              <p:cNvPicPr>
                <a:picLocks noChangeAspect="1"/>
              </p:cNvPicPr>
              <p:nvPr/>
            </p:nvPicPr>
            <p:blipFill rotWithShape="1">
              <a:blip r:embed="rId6"/>
              <a:srcRect t="23970" r="20195"/>
              <a:stretch/>
            </p:blipFill>
            <p:spPr>
              <a:xfrm>
                <a:off x="3274887" y="2278886"/>
                <a:ext cx="4105107" cy="3473425"/>
              </a:xfrm>
              <a:prstGeom prst="rect">
                <a:avLst/>
              </a:prstGeom>
            </p:spPr>
          </p:pic>
          <p:pic>
            <p:nvPicPr>
              <p:cNvPr id="10" name="图片 9"/>
              <p:cNvPicPr>
                <a:picLocks noChangeAspect="1"/>
              </p:cNvPicPr>
              <p:nvPr/>
            </p:nvPicPr>
            <p:blipFill rotWithShape="1">
              <a:blip r:embed="rId7"/>
              <a:srcRect t="1503"/>
              <a:stretch/>
            </p:blipFill>
            <p:spPr>
              <a:xfrm>
                <a:off x="3859224" y="1650051"/>
                <a:ext cx="4643168" cy="3879891"/>
              </a:xfrm>
              <a:prstGeom prst="rect">
                <a:avLst/>
              </a:prstGeom>
            </p:spPr>
          </p:pic>
        </p:grpSp>
        <p:sp>
          <p:nvSpPr>
            <p:cNvPr id="25" name="矩形 24"/>
            <p:cNvSpPr/>
            <p:nvPr/>
          </p:nvSpPr>
          <p:spPr>
            <a:xfrm>
              <a:off x="6693883" y="1859426"/>
              <a:ext cx="1210588" cy="400110"/>
            </a:xfrm>
            <a:prstGeom prst="rect">
              <a:avLst/>
            </a:prstGeom>
          </p:spPr>
          <p:txBody>
            <a:bodyPr wrap="none">
              <a:spAutoFit/>
            </a:bodyPr>
            <a:lstStyle/>
            <a:p>
              <a:r>
                <a:rPr lang="zh-CN" altLang="en-US" sz="2000" b="1" dirty="0">
                  <a:solidFill>
                    <a:srgbClr val="FF0000"/>
                  </a:solidFill>
                </a:rPr>
                <a:t>励磁电流</a:t>
              </a:r>
              <a:endParaRPr lang="zh-CN" altLang="en-US" sz="2000" dirty="0"/>
            </a:p>
          </p:txBody>
        </p:sp>
        <p:sp>
          <p:nvSpPr>
            <p:cNvPr id="26" name="矩形 25"/>
            <p:cNvSpPr/>
            <p:nvPr/>
          </p:nvSpPr>
          <p:spPr>
            <a:xfrm>
              <a:off x="7533897" y="1180359"/>
              <a:ext cx="1210588" cy="553998"/>
            </a:xfrm>
            <a:prstGeom prst="rect">
              <a:avLst/>
            </a:prstGeom>
          </p:spPr>
          <p:txBody>
            <a:bodyPr wrap="none">
              <a:spAutoFit/>
            </a:bodyPr>
            <a:lstStyle/>
            <a:p>
              <a:pPr>
                <a:lnSpc>
                  <a:spcPct val="150000"/>
                </a:lnSpc>
              </a:pPr>
              <a:r>
                <a:rPr lang="zh-CN" altLang="en-US" sz="2000" b="1" dirty="0">
                  <a:solidFill>
                    <a:srgbClr val="FF0000"/>
                  </a:solidFill>
                </a:rPr>
                <a:t>材料磁化</a:t>
              </a:r>
              <a:endParaRPr lang="en-US" altLang="zh-CN" sz="2000" b="1" dirty="0">
                <a:solidFill>
                  <a:srgbClr val="FF0000"/>
                </a:solidFill>
              </a:endParaRPr>
            </a:p>
          </p:txBody>
        </p:sp>
        <p:sp>
          <p:nvSpPr>
            <p:cNvPr id="27" name="椭圆 26"/>
            <p:cNvSpPr/>
            <p:nvPr/>
          </p:nvSpPr>
          <p:spPr>
            <a:xfrm rot="20671942">
              <a:off x="8040875" y="3887326"/>
              <a:ext cx="1964957" cy="736054"/>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rot="18618563">
              <a:off x="6809613" y="2265011"/>
              <a:ext cx="2278986" cy="1050045"/>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箭头连接符 31"/>
            <p:cNvCxnSpPr/>
            <p:nvPr/>
          </p:nvCxnSpPr>
          <p:spPr>
            <a:xfrm>
              <a:off x="8168179" y="1701021"/>
              <a:ext cx="89270" cy="4518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7533897" y="2231150"/>
              <a:ext cx="325821" cy="3729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386481" y="1233222"/>
            <a:ext cx="5327232" cy="2007546"/>
            <a:chOff x="273269" y="1147544"/>
            <a:chExt cx="5327232" cy="2007546"/>
          </a:xfrm>
        </p:grpSpPr>
        <p:grpSp>
          <p:nvGrpSpPr>
            <p:cNvPr id="22" name="组合 21"/>
            <p:cNvGrpSpPr/>
            <p:nvPr/>
          </p:nvGrpSpPr>
          <p:grpSpPr>
            <a:xfrm>
              <a:off x="432688" y="1371883"/>
              <a:ext cx="5086862" cy="1389739"/>
              <a:chOff x="191701" y="1074549"/>
              <a:chExt cx="5168774" cy="1389739"/>
            </a:xfrm>
          </p:grpSpPr>
          <mc:AlternateContent xmlns:mc="http://schemas.openxmlformats.org/markup-compatibility/2006" xmlns:a14="http://schemas.microsoft.com/office/drawing/2010/main">
            <mc:Choice Requires="a14">
              <p:sp>
                <p:nvSpPr>
                  <p:cNvPr id="8" name="文本框 7"/>
                  <p:cNvSpPr txBox="1"/>
                  <p:nvPr/>
                </p:nvSpPr>
                <p:spPr>
                  <a:xfrm>
                    <a:off x="191701" y="1074549"/>
                    <a:ext cx="5168774" cy="1389739"/>
                  </a:xfrm>
                  <a:prstGeom prst="rect">
                    <a:avLst/>
                  </a:prstGeom>
                  <a:ln w="28575">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marL="342900" indent="-342900">
                      <a:buClr>
                        <a:schemeClr val="accent1"/>
                      </a:buClr>
                      <a:buFont typeface="Wingdings" panose="05000000000000000000" pitchFamily="2" charset="2"/>
                      <a:buChar char="Ø"/>
                    </a:pPr>
                    <a:r>
                      <a:rPr lang="zh-CN" altLang="en-US" sz="2400" dirty="0"/>
                      <a:t>对</a:t>
                    </a:r>
                    <a:r>
                      <a:rPr lang="zh-CN" altLang="zh-CN" sz="2400" dirty="0"/>
                      <a:t>磁场</a:t>
                    </a:r>
                    <a:r>
                      <a:rPr lang="zh-CN" altLang="en-US" sz="2400" dirty="0"/>
                      <a:t>的的认识源于通电导线                           </a:t>
                    </a:r>
                    <a:endParaRPr lang="en-US" altLang="zh-CN" sz="2400" dirty="0"/>
                  </a:p>
                  <a:p>
                    <a:r>
                      <a:rPr lang="en-US" altLang="zh-CN" sz="2400" dirty="0"/>
                      <a:t>           </a:t>
                    </a:r>
                    <a:r>
                      <a:rPr lang="zh-CN" altLang="en-US" sz="2400" b="1" dirty="0">
                        <a:solidFill>
                          <a:srgbClr val="FF0000"/>
                        </a:solidFill>
                      </a:rPr>
                      <a:t>磁场强度</a:t>
                    </a:r>
                    <a14:m>
                      <m:oMath xmlns:m="http://schemas.openxmlformats.org/officeDocument/2006/math">
                        <m:r>
                          <a:rPr lang="zh-CN" altLang="en-US" sz="2800" b="1" i="1">
                            <a:solidFill>
                              <a:srgbClr val="FF0000"/>
                            </a:solidFill>
                            <a:latin typeface="Cambria Math" panose="02040503050406030204" pitchFamily="18" charset="0"/>
                          </a:rPr>
                          <m:t>：</m:t>
                        </m:r>
                        <m:r>
                          <a:rPr lang="en-US" altLang="zh-CN" sz="2800" b="1" i="1" smtClean="0">
                            <a:solidFill>
                              <a:srgbClr val="FF0000"/>
                            </a:solidFill>
                            <a:latin typeface="Cambria Math" panose="02040503050406030204" pitchFamily="18" charset="0"/>
                          </a:rPr>
                          <m:t>𝑯</m:t>
                        </m:r>
                        <m:r>
                          <a:rPr lang="en-US" altLang="zh-CN" sz="2800" b="1" i="1" smtClean="0">
                            <a:solidFill>
                              <a:srgbClr val="FF0000"/>
                            </a:solidFill>
                            <a:latin typeface="Cambria Math" panose="02040503050406030204" pitchFamily="18" charset="0"/>
                          </a:rPr>
                          <m:t>=</m:t>
                        </m:r>
                        <m:f>
                          <m:fPr>
                            <m:ctrlPr>
                              <a:rPr lang="en-US" altLang="zh-CN" sz="2800" b="1" i="1" smtClean="0">
                                <a:solidFill>
                                  <a:srgbClr val="FF0000"/>
                                </a:solidFill>
                                <a:latin typeface="Cambria Math" panose="02040503050406030204" pitchFamily="18" charset="0"/>
                              </a:rPr>
                            </m:ctrlPr>
                          </m:fPr>
                          <m:num>
                            <m:r>
                              <a:rPr lang="en-US" altLang="zh-CN" sz="2800" b="1" i="1" smtClean="0">
                                <a:solidFill>
                                  <a:srgbClr val="FF0000"/>
                                </a:solidFill>
                                <a:latin typeface="Cambria Math" panose="02040503050406030204" pitchFamily="18" charset="0"/>
                              </a:rPr>
                              <m:t>𝒏𝑰</m:t>
                            </m:r>
                          </m:num>
                          <m:den>
                            <m:r>
                              <a:rPr lang="en-US" altLang="zh-CN" sz="2800" b="1" i="1" smtClean="0">
                                <a:solidFill>
                                  <a:srgbClr val="FF0000"/>
                                </a:solidFill>
                                <a:latin typeface="Cambria Math" panose="02040503050406030204" pitchFamily="18" charset="0"/>
                              </a:rPr>
                              <m:t>𝒍</m:t>
                            </m:r>
                          </m:den>
                        </m:f>
                      </m:oMath>
                    </a14:m>
                    <a:r>
                      <a:rPr lang="zh-CN" altLang="en-US" sz="2000" dirty="0">
                        <a:solidFill>
                          <a:schemeClr val="tx1"/>
                        </a:solidFill>
                      </a:rPr>
                      <a:t>（单位：</a:t>
                    </a:r>
                    <a:r>
                      <a:rPr lang="en-US" altLang="zh-CN" sz="2000" dirty="0">
                        <a:solidFill>
                          <a:schemeClr val="tx1"/>
                        </a:solidFill>
                        <a:latin typeface="Calibri" panose="020F0502020204030204" pitchFamily="34" charset="0"/>
                        <a:ea typeface="Calibri" panose="020F0502020204030204" pitchFamily="34" charset="0"/>
                        <a:cs typeface="Calibri" panose="020F0502020204030204" pitchFamily="34" charset="0"/>
                      </a:rPr>
                      <a:t>A/m</a:t>
                    </a:r>
                    <a:r>
                      <a:rPr lang="zh-CN" altLang="en-US" sz="2000" dirty="0">
                        <a:solidFill>
                          <a:schemeClr val="tx1"/>
                        </a:solidFill>
                      </a:rPr>
                      <a:t>）</a:t>
                    </a:r>
                    <a:endParaRPr lang="en-US" altLang="zh-CN" sz="2400" dirty="0">
                      <a:solidFill>
                        <a:schemeClr val="tx1"/>
                      </a:solidFill>
                    </a:endParaRPr>
                  </a:p>
                  <a:p>
                    <a:r>
                      <a:rPr lang="zh-CN" altLang="en-US" sz="2000" dirty="0"/>
                      <a:t>励磁电流（</a:t>
                    </a:r>
                    <a14:m>
                      <m:oMath xmlns:m="http://schemas.openxmlformats.org/officeDocument/2006/math">
                        <m:r>
                          <a:rPr lang="en-US" altLang="zh-CN" sz="2000" i="1">
                            <a:latin typeface="Cambria Math" panose="02040503050406030204" pitchFamily="18" charset="0"/>
                          </a:rPr>
                          <m:t>𝐼</m:t>
                        </m:r>
                        <m:r>
                          <a:rPr lang="zh-CN" altLang="en-US" sz="2000" i="1" smtClean="0">
                            <a:latin typeface="Cambria Math" panose="02040503050406030204" pitchFamily="18" charset="0"/>
                          </a:rPr>
                          <m:t>）</m:t>
                        </m:r>
                      </m:oMath>
                    </a14:m>
                    <a:r>
                      <a:rPr lang="zh-CN" altLang="en-US" sz="2000" dirty="0"/>
                      <a:t>、匝数（</a:t>
                    </a:r>
                    <a14:m>
                      <m:oMath xmlns:m="http://schemas.openxmlformats.org/officeDocument/2006/math">
                        <m:r>
                          <a:rPr lang="en-US" altLang="zh-CN" sz="2000" i="1">
                            <a:latin typeface="Cambria Math" panose="02040503050406030204" pitchFamily="18" charset="0"/>
                          </a:rPr>
                          <m:t>𝑛</m:t>
                        </m:r>
                      </m:oMath>
                    </a14:m>
                    <a:r>
                      <a:rPr lang="zh-CN" altLang="en-US" sz="2000" dirty="0"/>
                      <a:t>）、磁路长度（</a:t>
                    </a:r>
                    <a14:m>
                      <m:oMath xmlns:m="http://schemas.openxmlformats.org/officeDocument/2006/math">
                        <m:r>
                          <a:rPr lang="en-US" altLang="zh-CN" sz="2000" i="1">
                            <a:latin typeface="Cambria Math" panose="02040503050406030204" pitchFamily="18" charset="0"/>
                          </a:rPr>
                          <m:t>𝑙</m:t>
                        </m:r>
                      </m:oMath>
                    </a14:m>
                    <a:r>
                      <a:rPr lang="zh-CN" altLang="en-US" sz="2000" dirty="0"/>
                      <a:t>）</a:t>
                    </a:r>
                  </a:p>
                </p:txBody>
              </p:sp>
            </mc:Choice>
            <mc:Fallback xmlns="">
              <p:sp>
                <p:nvSpPr>
                  <p:cNvPr id="8" name="文本框 7"/>
                  <p:cNvSpPr txBox="1">
                    <a:spLocks noRot="1" noChangeAspect="1" noMove="1" noResize="1" noEditPoints="1" noAdjustHandles="1" noChangeArrowheads="1" noChangeShapeType="1" noTextEdit="1"/>
                  </p:cNvSpPr>
                  <p:nvPr/>
                </p:nvSpPr>
                <p:spPr>
                  <a:xfrm>
                    <a:off x="191701" y="1074549"/>
                    <a:ext cx="5168774" cy="1389739"/>
                  </a:xfrm>
                  <a:prstGeom prst="rect">
                    <a:avLst/>
                  </a:prstGeom>
                  <a:blipFill>
                    <a:blip r:embed="rId8"/>
                    <a:stretch>
                      <a:fillRect l="-1679" t="-3070" r="-6235" b="-7018"/>
                    </a:stretch>
                  </a:blipFill>
                  <a:ln w="28575">
                    <a:noFill/>
                  </a:ln>
                </p:spPr>
                <p:txBody>
                  <a:bodyPr/>
                  <a:lstStyle/>
                  <a:p>
                    <a:r>
                      <a:rPr lang="zh-CN" altLang="en-US">
                        <a:noFill/>
                      </a:rPr>
                      <a:t> </a:t>
                    </a:r>
                  </a:p>
                </p:txBody>
              </p:sp>
            </mc:Fallback>
          </mc:AlternateContent>
          <p:sp>
            <p:nvSpPr>
              <p:cNvPr id="18" name="右箭头 17"/>
              <p:cNvSpPr/>
              <p:nvPr/>
            </p:nvSpPr>
            <p:spPr>
              <a:xfrm>
                <a:off x="228954" y="1646559"/>
                <a:ext cx="695320" cy="301471"/>
              </a:xfrm>
              <a:prstGeom prst="rightArrow">
                <a:avLst/>
              </a:prstGeom>
              <a:solidFill>
                <a:schemeClr val="accent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矩形 38"/>
            <p:cNvSpPr/>
            <p:nvPr/>
          </p:nvSpPr>
          <p:spPr>
            <a:xfrm>
              <a:off x="273269" y="1147544"/>
              <a:ext cx="5327232" cy="2007546"/>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393454" y="3419310"/>
            <a:ext cx="5327232" cy="2007546"/>
            <a:chOff x="386481" y="3529141"/>
            <a:chExt cx="5327232" cy="2007546"/>
          </a:xfrm>
        </p:grpSpPr>
        <p:grpSp>
          <p:nvGrpSpPr>
            <p:cNvPr id="28" name="组合 27"/>
            <p:cNvGrpSpPr/>
            <p:nvPr/>
          </p:nvGrpSpPr>
          <p:grpSpPr>
            <a:xfrm>
              <a:off x="545900" y="3628018"/>
              <a:ext cx="5086862" cy="1809791"/>
              <a:chOff x="441509" y="3301609"/>
              <a:chExt cx="4960738" cy="1809791"/>
            </a:xfrm>
          </p:grpSpPr>
          <mc:AlternateContent xmlns:mc="http://schemas.openxmlformats.org/markup-compatibility/2006" xmlns:a14="http://schemas.microsoft.com/office/drawing/2010/main">
            <mc:Choice Requires="a14">
              <p:sp>
                <p:nvSpPr>
                  <p:cNvPr id="16" name="文本框 15"/>
                  <p:cNvSpPr txBox="1"/>
                  <p:nvPr/>
                </p:nvSpPr>
                <p:spPr>
                  <a:xfrm>
                    <a:off x="441509" y="3301609"/>
                    <a:ext cx="4960738" cy="1809791"/>
                  </a:xfrm>
                  <a:prstGeom prst="rect">
                    <a:avLst/>
                  </a:prstGeom>
                  <a:ln w="28575">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342900" indent="-342900">
                      <a:buClr>
                        <a:schemeClr val="accent1"/>
                      </a:buClr>
                      <a:buFont typeface="Wingdings" panose="05000000000000000000" pitchFamily="2" charset="2"/>
                      <a:buChar char="Ø"/>
                    </a:pPr>
                    <a:r>
                      <a:rPr lang="zh-CN" altLang="en-US" sz="2400" dirty="0">
                        <a:latin typeface="Calibri" panose="020F0502020204030204" pitchFamily="34" charset="0"/>
                      </a:rPr>
                      <a:t>带电粒子在磁场中的受力运动</a:t>
                    </a:r>
                    <a:r>
                      <a:rPr lang="en-US" altLang="zh-CN" sz="2400" dirty="0">
                        <a:latin typeface="Calibri" panose="020F0502020204030204" pitchFamily="34" charset="0"/>
                      </a:rPr>
                      <a:t>:</a:t>
                    </a:r>
                    <a:r>
                      <a:rPr lang="zh-CN" altLang="en-US" sz="2400" dirty="0">
                        <a:latin typeface="Calibri" panose="020F0502020204030204" pitchFamily="34" charset="0"/>
                      </a:rPr>
                      <a:t>           </a:t>
                    </a:r>
                    <a14:m>
                      <m:oMath xmlns:m="http://schemas.openxmlformats.org/officeDocument/2006/math">
                        <m:r>
                          <a:rPr lang="en-US" altLang="zh-CN" sz="2400" b="0" i="1" smtClean="0">
                            <a:latin typeface="Cambria Math" panose="02040503050406030204" pitchFamily="18" charset="0"/>
                          </a:rPr>
                          <m:t>𝐹</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𝑞</m:t>
                        </m:r>
                        <m:acc>
                          <m:accPr>
                            <m:chr m:val="⃗"/>
                            <m:ctrlPr>
                              <a:rPr lang="en-US" altLang="zh-CN" sz="2400" b="0" i="1" smtClean="0">
                                <a:latin typeface="Cambria Math" panose="02040503050406030204" pitchFamily="18" charset="0"/>
                              </a:rPr>
                            </m:ctrlPr>
                          </m:accPr>
                          <m:e>
                            <m:r>
                              <a:rPr lang="en-US" altLang="zh-CN" sz="2400" i="1">
                                <a:latin typeface="Cambria Math" panose="02040503050406030204" pitchFamily="18" charset="0"/>
                              </a:rPr>
                              <m:t>𝑣</m:t>
                            </m:r>
                          </m:e>
                        </m:acc>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𝐵</m:t>
                            </m:r>
                            <m:r>
                              <m:rPr>
                                <m:nor/>
                              </m:rPr>
                              <a:rPr lang="en-US" altLang="zh-CN" sz="2400" i="1" dirty="0">
                                <a:latin typeface="Calibri" panose="020F0502020204030204" pitchFamily="34" charset="0"/>
                                <a:ea typeface="Cambria Math" panose="02040503050406030204" pitchFamily="18" charset="0"/>
                              </a:rPr>
                              <m:t> </m:t>
                            </m:r>
                          </m:e>
                        </m:acc>
                      </m:oMath>
                    </a14:m>
                    <a:r>
                      <a:rPr lang="zh-CN" altLang="en-US" sz="2400" dirty="0">
                        <a:solidFill>
                          <a:prstClr val="black"/>
                        </a:solidFill>
                        <a:latin typeface="Calibri" panose="020F0502020204030204" pitchFamily="34" charset="0"/>
                      </a:rPr>
                      <a:t>            </a:t>
                    </a:r>
                    <a:endParaRPr lang="en-US" altLang="zh-CN" sz="2400" dirty="0">
                      <a:solidFill>
                        <a:prstClr val="black"/>
                      </a:solidFill>
                      <a:latin typeface="Calibri" panose="020F0502020204030204" pitchFamily="34" charset="0"/>
                    </a:endParaRPr>
                  </a:p>
                  <a:p>
                    <a:pPr>
                      <a:buClr>
                        <a:schemeClr val="accent1"/>
                      </a:buClr>
                    </a:pPr>
                    <a:r>
                      <a:rPr lang="zh-CN" altLang="en-US" sz="2400" b="1" dirty="0">
                        <a:solidFill>
                          <a:srgbClr val="FF0000"/>
                        </a:solidFill>
                        <a:latin typeface="Calibri" panose="020F0502020204030204" pitchFamily="34" charset="0"/>
                      </a:rPr>
                      <a:t>           磁感应强度：</a:t>
                    </a:r>
                    <a14:m>
                      <m:oMath xmlns:m="http://schemas.openxmlformats.org/officeDocument/2006/math">
                        <m:r>
                          <a:rPr lang="en-US" altLang="zh-CN" sz="2800" b="1" i="1" dirty="0" smtClean="0">
                            <a:solidFill>
                              <a:srgbClr val="FF0000"/>
                            </a:solidFill>
                            <a:latin typeface="Cambria Math" panose="02040503050406030204" pitchFamily="18" charset="0"/>
                            <a:ea typeface="Cambria Math" panose="02040503050406030204" pitchFamily="18" charset="0"/>
                          </a:rPr>
                          <m:t>𝑩</m:t>
                        </m:r>
                        <m:r>
                          <a:rPr lang="en-US" altLang="zh-CN" sz="2800" b="1" i="1" smtClean="0">
                            <a:solidFill>
                              <a:srgbClr val="FF0000"/>
                            </a:solidFill>
                            <a:latin typeface="Cambria Math" panose="02040503050406030204" pitchFamily="18" charset="0"/>
                            <a:ea typeface="Cambria Math" panose="02040503050406030204" pitchFamily="18" charset="0"/>
                          </a:rPr>
                          <m:t>=</m:t>
                        </m:r>
                        <m:f>
                          <m:fPr>
                            <m:ctrlPr>
                              <a:rPr lang="en-US" altLang="zh-CN" sz="2800" b="1" i="1" smtClean="0">
                                <a:solidFill>
                                  <a:srgbClr val="FF0000"/>
                                </a:solidFill>
                                <a:latin typeface="Cambria Math" panose="02040503050406030204" pitchFamily="18" charset="0"/>
                                <a:ea typeface="Cambria Math" panose="02040503050406030204" pitchFamily="18" charset="0"/>
                              </a:rPr>
                            </m:ctrlPr>
                          </m:fPr>
                          <m:num>
                            <m:r>
                              <a:rPr lang="zh-CN" altLang="en-US" sz="2800" b="1" i="1" smtClean="0">
                                <a:solidFill>
                                  <a:srgbClr val="FF0000"/>
                                </a:solidFill>
                                <a:latin typeface="Cambria Math" panose="02040503050406030204" pitchFamily="18" charset="0"/>
                                <a:ea typeface="Cambria Math" panose="02040503050406030204" pitchFamily="18" charset="0"/>
                              </a:rPr>
                              <m:t>𝝓</m:t>
                            </m:r>
                          </m:num>
                          <m:den>
                            <m:r>
                              <a:rPr lang="en-US" altLang="zh-CN" sz="2800" b="1" i="1" smtClean="0">
                                <a:solidFill>
                                  <a:srgbClr val="FF0000"/>
                                </a:solidFill>
                                <a:latin typeface="Cambria Math" panose="02040503050406030204" pitchFamily="18" charset="0"/>
                                <a:ea typeface="Cambria Math" panose="02040503050406030204" pitchFamily="18" charset="0"/>
                              </a:rPr>
                              <m:t>𝑺</m:t>
                            </m:r>
                          </m:den>
                        </m:f>
                      </m:oMath>
                    </a14:m>
                    <a:r>
                      <a:rPr lang="zh-CN" altLang="en-US" sz="2000" dirty="0">
                        <a:latin typeface="Calibri" panose="020F0502020204030204" pitchFamily="34" charset="0"/>
                      </a:rPr>
                      <a:t>（磁通面密度，单位：</a:t>
                    </a:r>
                    <a:r>
                      <a:rPr lang="en-US" altLang="zh-CN" sz="2000" dirty="0">
                        <a:latin typeface="Calibri" panose="020F0502020204030204" pitchFamily="34" charset="0"/>
                      </a:rPr>
                      <a:t>T</a:t>
                    </a:r>
                    <a:r>
                      <a:rPr lang="zh-CN" altLang="en-US" sz="2000" dirty="0">
                        <a:latin typeface="Calibri" panose="020F0502020204030204" pitchFamily="34" charset="0"/>
                      </a:rPr>
                      <a:t>）</a:t>
                    </a:r>
                    <a:endParaRPr lang="en-US" altLang="zh-CN" sz="2000" dirty="0">
                      <a:latin typeface="Calibri" panose="020F0502020204030204" pitchFamily="34" charset="0"/>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441509" y="3301609"/>
                    <a:ext cx="4960738" cy="1809791"/>
                  </a:xfrm>
                  <a:prstGeom prst="rect">
                    <a:avLst/>
                  </a:prstGeom>
                  <a:blipFill>
                    <a:blip r:embed="rId9"/>
                    <a:stretch>
                      <a:fillRect l="-1679" t="-2694" b="-5051"/>
                    </a:stretch>
                  </a:blipFill>
                  <a:ln w="28575">
                    <a:noFill/>
                  </a:ln>
                </p:spPr>
                <p:txBody>
                  <a:bodyPr/>
                  <a:lstStyle/>
                  <a:p>
                    <a:r>
                      <a:rPr lang="zh-CN" altLang="en-US">
                        <a:noFill/>
                      </a:rPr>
                      <a:t> </a:t>
                    </a:r>
                  </a:p>
                </p:txBody>
              </p:sp>
            </mc:Fallback>
          </mc:AlternateContent>
          <p:sp>
            <p:nvSpPr>
              <p:cNvPr id="17" name="右箭头 16"/>
              <p:cNvSpPr/>
              <p:nvPr/>
            </p:nvSpPr>
            <p:spPr>
              <a:xfrm>
                <a:off x="490453" y="4307783"/>
                <a:ext cx="627353" cy="325173"/>
              </a:xfrm>
              <a:prstGeom prst="rightArrow">
                <a:avLst/>
              </a:prstGeom>
              <a:solidFill>
                <a:schemeClr val="accent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p:cNvSpPr/>
            <p:nvPr/>
          </p:nvSpPr>
          <p:spPr>
            <a:xfrm>
              <a:off x="386481" y="3529141"/>
              <a:ext cx="5327232" cy="2007546"/>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665990" y="5617824"/>
            <a:ext cx="4280970" cy="523220"/>
          </a:xfrm>
          <a:prstGeom prst="rect">
            <a:avLst/>
          </a:prstGeom>
        </p:spPr>
        <p:txBody>
          <a:bodyPr wrap="square">
            <a:spAutoFit/>
          </a:bodyPr>
          <a:lstStyle/>
          <a:p>
            <a:pPr marL="73660">
              <a:spcBef>
                <a:spcPts val="375"/>
              </a:spcBef>
            </a:pPr>
            <a:r>
              <a:rPr lang="en-US" altLang="zh-CN" sz="2400" b="1" i="1" spc="95" dirty="0">
                <a:latin typeface="Times New Roman"/>
                <a:cs typeface="Times New Roman"/>
              </a:rPr>
              <a:t>B</a:t>
            </a:r>
            <a:r>
              <a:rPr lang="en-US" altLang="zh-CN" sz="2400" b="1" i="1" spc="-40" dirty="0">
                <a:latin typeface="Times New Roman"/>
                <a:cs typeface="Times New Roman"/>
              </a:rPr>
              <a:t> </a:t>
            </a:r>
            <a:r>
              <a:rPr lang="en-US" altLang="zh-CN" sz="2400" b="1" spc="85" dirty="0">
                <a:latin typeface="Symbol"/>
                <a:cs typeface="Symbol"/>
              </a:rPr>
              <a:t></a:t>
            </a:r>
            <a:r>
              <a:rPr lang="en-US" altLang="zh-CN" sz="2400" b="1" i="1" spc="85" dirty="0">
                <a:latin typeface="Symbol"/>
                <a:cs typeface="Symbol"/>
                <a:sym typeface="Symbol" panose="05050102010706020507" pitchFamily="18" charset="2"/>
              </a:rPr>
              <a:t>H </a:t>
            </a:r>
            <a:r>
              <a:rPr lang="en-US" altLang="zh-CN" sz="2400" b="1" spc="85" dirty="0">
                <a:latin typeface="Symbol"/>
                <a:cs typeface="Symbol"/>
                <a:sym typeface="Symbol" panose="05050102010706020507" pitchFamily="18" charset="2"/>
              </a:rPr>
              <a:t>=</a:t>
            </a:r>
            <a:r>
              <a:rPr lang="en-US" altLang="zh-CN" sz="2400" b="1" i="1" spc="90" dirty="0">
                <a:latin typeface="Symbol"/>
                <a:cs typeface="Symbol"/>
              </a:rPr>
              <a:t></a:t>
            </a:r>
            <a:r>
              <a:rPr lang="en-US" altLang="zh-CN" b="1" spc="135" baseline="-25525" dirty="0">
                <a:latin typeface="Times New Roman"/>
                <a:cs typeface="Times New Roman"/>
              </a:rPr>
              <a:t>0</a:t>
            </a:r>
            <a:r>
              <a:rPr lang="en-US" altLang="zh-CN" sz="2400" b="1" spc="90" dirty="0">
                <a:latin typeface="Symbol"/>
                <a:cs typeface="Symbol"/>
              </a:rPr>
              <a:t>(</a:t>
            </a:r>
            <a:r>
              <a:rPr lang="en-US" altLang="zh-CN" sz="2400" b="1" i="1" spc="90" dirty="0">
                <a:latin typeface="Symbol"/>
                <a:cs typeface="Symbol"/>
              </a:rPr>
              <a:t>H</a:t>
            </a:r>
            <a:r>
              <a:rPr lang="en-US" altLang="zh-CN" sz="2400" b="1" spc="90" dirty="0">
                <a:latin typeface="Symbol"/>
                <a:cs typeface="Symbol"/>
              </a:rPr>
              <a:t>+</a:t>
            </a:r>
            <a:r>
              <a:rPr lang="en-US" altLang="zh-CN" sz="2400" b="1" i="1" spc="90" dirty="0">
                <a:latin typeface="Symbol"/>
                <a:cs typeface="Symbol"/>
              </a:rPr>
              <a:t>M</a:t>
            </a:r>
            <a:r>
              <a:rPr lang="en-US" altLang="zh-CN" sz="2400" b="1" spc="90" dirty="0">
                <a:latin typeface="Symbol"/>
                <a:cs typeface="Symbol"/>
              </a:rPr>
              <a:t>)</a:t>
            </a:r>
            <a:r>
              <a:rPr lang="en-US" altLang="zh-CN" sz="2400" b="1" spc="85" dirty="0">
                <a:latin typeface="Symbol"/>
                <a:cs typeface="Symbol"/>
                <a:sym typeface="Symbol" panose="05050102010706020507" pitchFamily="18" charset="2"/>
              </a:rPr>
              <a:t>=</a:t>
            </a:r>
            <a:r>
              <a:rPr lang="en-US" altLang="zh-CN" sz="2800" b="1" i="1" spc="-30" dirty="0">
                <a:latin typeface="Symbol"/>
                <a:cs typeface="Symbol"/>
              </a:rPr>
              <a:t></a:t>
            </a:r>
            <a:r>
              <a:rPr lang="en-US" altLang="zh-CN" sz="2000" b="1" spc="-44" baseline="-25525" dirty="0">
                <a:latin typeface="Times New Roman"/>
                <a:cs typeface="Times New Roman"/>
              </a:rPr>
              <a:t>0</a:t>
            </a:r>
            <a:r>
              <a:rPr lang="en-US" altLang="zh-CN" sz="2000" b="1" spc="-307" baseline="-25525" dirty="0">
                <a:latin typeface="Times New Roman"/>
                <a:cs typeface="Times New Roman"/>
              </a:rPr>
              <a:t> </a:t>
            </a:r>
            <a:r>
              <a:rPr lang="en-US" altLang="zh-CN" sz="2400" b="1" spc="90" dirty="0">
                <a:latin typeface="Times New Roman"/>
                <a:cs typeface="Times New Roman"/>
              </a:rPr>
              <a:t>(1</a:t>
            </a:r>
            <a:r>
              <a:rPr lang="en-US" altLang="zh-CN" sz="2400" b="1" spc="90" dirty="0">
                <a:latin typeface="Symbol"/>
                <a:cs typeface="Symbol"/>
              </a:rPr>
              <a:t></a:t>
            </a:r>
            <a:r>
              <a:rPr lang="en-US" altLang="zh-CN" sz="2400" b="1" spc="-75" dirty="0">
                <a:latin typeface="Times New Roman"/>
                <a:cs typeface="Times New Roman"/>
              </a:rPr>
              <a:t> </a:t>
            </a:r>
            <a:r>
              <a:rPr lang="en-US" altLang="zh-CN" sz="2800" b="1" i="1" spc="-25" dirty="0">
                <a:latin typeface="Symbol"/>
                <a:cs typeface="Symbol"/>
              </a:rPr>
              <a:t></a:t>
            </a:r>
            <a:r>
              <a:rPr lang="en-US" altLang="zh-CN" sz="2800" b="1" spc="-555" dirty="0">
                <a:latin typeface="Times New Roman"/>
                <a:cs typeface="Times New Roman"/>
              </a:rPr>
              <a:t> </a:t>
            </a:r>
            <a:r>
              <a:rPr lang="en-US" altLang="zh-CN" sz="2400" b="1" spc="150" dirty="0">
                <a:latin typeface="Times New Roman"/>
                <a:cs typeface="Times New Roman"/>
              </a:rPr>
              <a:t>)</a:t>
            </a:r>
            <a:r>
              <a:rPr lang="en-US" altLang="zh-CN" sz="2400" b="1" i="1" spc="150" dirty="0">
                <a:latin typeface="Times New Roman"/>
                <a:cs typeface="Times New Roman"/>
              </a:rPr>
              <a:t>H</a:t>
            </a:r>
            <a:r>
              <a:rPr lang="en-US" altLang="zh-CN" sz="2400" b="1" i="1" spc="275" dirty="0">
                <a:latin typeface="Times New Roman"/>
                <a:cs typeface="Times New Roman"/>
              </a:rPr>
              <a:t> </a:t>
            </a:r>
            <a:endParaRPr lang="en-US" altLang="zh-CN" sz="2400" b="1" dirty="0">
              <a:latin typeface="Times New Roman"/>
              <a:cs typeface="Times New Roman"/>
            </a:endParaRPr>
          </a:p>
        </p:txBody>
      </p:sp>
      <mc:AlternateContent xmlns:mc="http://schemas.openxmlformats.org/markup-compatibility/2006" xmlns:a14="http://schemas.microsoft.com/office/drawing/2010/main">
        <mc:Choice Requires="a14">
          <p:sp>
            <p:nvSpPr>
              <p:cNvPr id="5" name="矩形 4"/>
              <p:cNvSpPr/>
              <p:nvPr/>
            </p:nvSpPr>
            <p:spPr>
              <a:xfrm>
                <a:off x="9993521" y="5691243"/>
                <a:ext cx="2089867" cy="400110"/>
              </a:xfrm>
              <a:prstGeom prst="rect">
                <a:avLst/>
              </a:prstGeom>
            </p:spPr>
            <p:txBody>
              <a:bodyPr wrap="none">
                <a:spAutoFit/>
              </a:bodyPr>
              <a:lstStyle/>
              <a:p>
                <a:r>
                  <a:rPr lang="zh-CN" altLang="en-US" sz="2000" dirty="0"/>
                  <a:t>铁磁材料 </a:t>
                </a:r>
                <a14:m>
                  <m:oMath xmlns:m="http://schemas.openxmlformats.org/officeDocument/2006/math">
                    <m:r>
                      <a:rPr lang="zh-CN" altLang="en-US" sz="2000" b="1" i="1">
                        <a:latin typeface="Cambria Math" panose="02040503050406030204" pitchFamily="18" charset="0"/>
                      </a:rPr>
                      <m:t>𝝁</m:t>
                    </m:r>
                    <m:r>
                      <a:rPr lang="zh-CN" altLang="en-US" sz="2000" b="1" i="1">
                        <a:latin typeface="Cambria Math" panose="02040503050406030204" pitchFamily="18" charset="0"/>
                      </a:rPr>
                      <m:t>≫</m:t>
                    </m:r>
                    <m:sSub>
                      <m:sSubPr>
                        <m:ctrlPr>
                          <a:rPr lang="en-US" altLang="zh-CN" sz="2000" b="1" i="1">
                            <a:latin typeface="Cambria Math" panose="02040503050406030204" pitchFamily="18" charset="0"/>
                          </a:rPr>
                        </m:ctrlPr>
                      </m:sSubPr>
                      <m:e>
                        <m:r>
                          <a:rPr lang="zh-CN" altLang="en-US" sz="2000" b="1" i="1">
                            <a:latin typeface="Cambria Math" panose="02040503050406030204" pitchFamily="18" charset="0"/>
                          </a:rPr>
                          <m:t>𝝁</m:t>
                        </m:r>
                      </m:e>
                      <m:sub>
                        <m:r>
                          <a:rPr lang="en-US" altLang="zh-CN" sz="2000" b="1" i="1">
                            <a:latin typeface="Cambria Math" panose="02040503050406030204" pitchFamily="18" charset="0"/>
                          </a:rPr>
                          <m:t>𝟎</m:t>
                        </m:r>
                      </m:sub>
                    </m:sSub>
                  </m:oMath>
                </a14:m>
                <a:endParaRPr lang="zh-CN" altLang="en-US" sz="2000" dirty="0"/>
              </a:p>
            </p:txBody>
          </p:sp>
        </mc:Choice>
        <mc:Fallback xmlns="">
          <p:sp>
            <p:nvSpPr>
              <p:cNvPr id="5" name="矩形 4"/>
              <p:cNvSpPr>
                <a:spLocks noRot="1" noChangeAspect="1" noMove="1" noResize="1" noEditPoints="1" noAdjustHandles="1" noChangeArrowheads="1" noChangeShapeType="1" noTextEdit="1"/>
              </p:cNvSpPr>
              <p:nvPr/>
            </p:nvSpPr>
            <p:spPr>
              <a:xfrm>
                <a:off x="9993521" y="5691243"/>
                <a:ext cx="2089867" cy="400110"/>
              </a:xfrm>
              <a:prstGeom prst="rect">
                <a:avLst/>
              </a:prstGeom>
              <a:blipFill>
                <a:blip r:embed="rId10"/>
                <a:stretch>
                  <a:fillRect l="-2915" t="-9231" b="-276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02678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63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86409"/>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6600" dirty="0">
                  <a:solidFill>
                    <a:prstClr val="white"/>
                  </a:solidFill>
                  <a:latin typeface="Calibri" panose="020F0502020204030204"/>
                  <a:ea typeface="等线" panose="02010600030101010101" pitchFamily="2" charset="-122"/>
                </a:rPr>
                <a:t>2</a:t>
              </a:r>
              <a:endParaRPr kumimoji="0" lang="zh-CN" altLang="en-US" sz="66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42" name="文本框 41"/>
            <p:cNvSpPr txBox="1"/>
            <p:nvPr/>
          </p:nvSpPr>
          <p:spPr>
            <a:xfrm>
              <a:off x="1945790" y="2847433"/>
              <a:ext cx="3884393" cy="1107994"/>
            </a:xfrm>
            <a:prstGeom prst="rect">
              <a:avLst/>
            </a:prstGeom>
            <a:noFill/>
          </p:spPr>
          <p:txBody>
            <a:bodyPr wrap="none" lIns="91438" tIns="45719" rIns="91438" bIns="45719"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60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实验</a:t>
              </a:r>
              <a:r>
                <a:rPr lang="zh-CN" altLang="en-US" sz="6600" b="1" spc="600" dirty="0">
                  <a:solidFill>
                    <a:prstClr val="black"/>
                  </a:solidFill>
                  <a:latin typeface="华文中宋" panose="02010600040101010101" pitchFamily="2" charset="-122"/>
                  <a:ea typeface="华文中宋" panose="02010600040101010101" pitchFamily="2" charset="-122"/>
                </a:rPr>
                <a:t>目的</a:t>
              </a:r>
              <a:endParaRPr kumimoji="0" lang="zh-CN" altLang="en-US" sz="6600" b="1" i="0" u="none" strike="noStrike" kern="1200" cap="none" spc="60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p:txBody>
        </p:sp>
        <p:sp>
          <p:nvSpPr>
            <p:cNvPr id="53" name="矩形 52"/>
            <p:cNvSpPr/>
            <p:nvPr/>
          </p:nvSpPr>
          <p:spPr>
            <a:xfrm>
              <a:off x="6523777" y="3220053"/>
              <a:ext cx="4974627" cy="584773"/>
            </a:xfrm>
            <a:prstGeom prst="rect">
              <a:avLst/>
            </a:prstGeom>
          </p:spPr>
          <p:txBody>
            <a:bodyPr wrap="none" lIns="91438" tIns="45719" rIns="91438" bIns="45719">
              <a:spAutoFit/>
            </a:bodyPr>
            <a:lstStyle/>
            <a:p>
              <a:pPr lvl="0" algn="ctr"/>
              <a:r>
                <a:rPr lang="en-US" altLang="zh-CN" sz="3200" dirty="0">
                  <a:solidFill>
                    <a:prstClr val="white"/>
                  </a:solidFill>
                  <a:latin typeface="微软雅黑" panose="020B0503020204020204" pitchFamily="34" charset="-122"/>
                  <a:ea typeface="微软雅黑" panose="020B0503020204020204" pitchFamily="34" charset="-122"/>
                </a:rPr>
                <a:t>EXPERIMENT OBJECTIVE</a:t>
              </a:r>
            </a:p>
          </p:txBody>
        </p:sp>
      </p:grpSp>
    </p:spTree>
    <p:extLst>
      <p:ext uri="{BB962C8B-B14F-4D97-AF65-F5344CB8AC3E}">
        <p14:creationId xmlns:p14="http://schemas.microsoft.com/office/powerpoint/2010/main" val="280702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实验目的</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7</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2</a:t>
            </a:r>
            <a:endParaRPr lang="zh-CN" altLang="en-US" sz="4400" b="1" dirty="0">
              <a:solidFill>
                <a:schemeClr val="tx1"/>
              </a:solidFill>
            </a:endParaRPr>
          </a:p>
        </p:txBody>
      </p:sp>
      <p:sp>
        <p:nvSpPr>
          <p:cNvPr id="5" name="Rectangle 82"/>
          <p:cNvSpPr>
            <a:spLocks noChangeArrowheads="1"/>
          </p:cNvSpPr>
          <p:nvPr/>
        </p:nvSpPr>
        <p:spPr bwMode="auto">
          <a:xfrm>
            <a:off x="1163600" y="1285552"/>
            <a:ext cx="9914676" cy="4326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ts val="1200"/>
              </a:spcBef>
              <a:spcAft>
                <a:spcPts val="1200"/>
              </a:spcAft>
              <a:buFont typeface="Wingdings" panose="05000000000000000000" pitchFamily="2" charset="2"/>
              <a:buChar char="u"/>
            </a:pPr>
            <a:r>
              <a:rPr lang="zh-CN" altLang="en-US" sz="3200" b="1" dirty="0">
                <a:solidFill>
                  <a:srgbClr val="000066"/>
                </a:solidFill>
                <a:latin typeface="+mn-ea"/>
                <a:ea typeface="+mn-ea"/>
              </a:rPr>
              <a:t>了解采用</a:t>
            </a:r>
            <a:r>
              <a:rPr lang="zh-CN" altLang="en-US" sz="3200" b="1" dirty="0">
                <a:solidFill>
                  <a:srgbClr val="FF0000"/>
                </a:solidFill>
                <a:latin typeface="+mn-ea"/>
                <a:ea typeface="+mn-ea"/>
              </a:rPr>
              <a:t>示波器测动态磁滞回线的原理</a:t>
            </a:r>
            <a:r>
              <a:rPr lang="zh-CN" altLang="en-US" sz="3200" b="1" dirty="0">
                <a:solidFill>
                  <a:srgbClr val="000066"/>
                </a:solidFill>
                <a:latin typeface="+mn-ea"/>
                <a:ea typeface="+mn-ea"/>
              </a:rPr>
              <a:t>，学会用示波器测绘</a:t>
            </a:r>
            <a:r>
              <a:rPr lang="zh-CN" altLang="en-US" sz="3200" b="1" dirty="0">
                <a:solidFill>
                  <a:srgbClr val="FF0000"/>
                </a:solidFill>
                <a:latin typeface="+mn-ea"/>
                <a:ea typeface="+mn-ea"/>
              </a:rPr>
              <a:t>基本磁化曲线</a:t>
            </a:r>
            <a:r>
              <a:rPr lang="zh-CN" altLang="en-US" sz="3200" b="1" dirty="0">
                <a:solidFill>
                  <a:srgbClr val="000066"/>
                </a:solidFill>
                <a:latin typeface="+mn-ea"/>
                <a:ea typeface="+mn-ea"/>
              </a:rPr>
              <a:t>和</a:t>
            </a:r>
            <a:r>
              <a:rPr lang="zh-CN" altLang="en-US" sz="3200" b="1" dirty="0">
                <a:solidFill>
                  <a:srgbClr val="FF0000"/>
                </a:solidFill>
                <a:latin typeface="+mn-ea"/>
                <a:ea typeface="+mn-ea"/>
              </a:rPr>
              <a:t>磁滞回线</a:t>
            </a:r>
            <a:r>
              <a:rPr lang="zh-CN" altLang="en-US" sz="3200" b="1" dirty="0">
                <a:solidFill>
                  <a:srgbClr val="000066"/>
                </a:solidFill>
                <a:latin typeface="+mn-ea"/>
                <a:ea typeface="+mn-ea"/>
              </a:rPr>
              <a:t>。</a:t>
            </a:r>
            <a:endParaRPr lang="en-US" altLang="zh-CN" sz="3200" b="1" dirty="0">
              <a:solidFill>
                <a:srgbClr val="000066"/>
              </a:solidFill>
              <a:latin typeface="+mn-ea"/>
              <a:ea typeface="+mn-ea"/>
            </a:endParaRPr>
          </a:p>
          <a:p>
            <a:pPr algn="just">
              <a:lnSpc>
                <a:spcPct val="150000"/>
              </a:lnSpc>
              <a:spcBef>
                <a:spcPts val="1200"/>
              </a:spcBef>
              <a:spcAft>
                <a:spcPts val="1200"/>
              </a:spcAft>
              <a:buFont typeface="Wingdings" panose="05000000000000000000" pitchFamily="2" charset="2"/>
              <a:buChar char="u"/>
            </a:pPr>
            <a:r>
              <a:rPr lang="zh-CN" altLang="en-US" sz="3200" b="1" dirty="0">
                <a:solidFill>
                  <a:srgbClr val="000066"/>
                </a:solidFill>
                <a:latin typeface="+mn-ea"/>
                <a:ea typeface="+mn-ea"/>
              </a:rPr>
              <a:t>掌握磁滞、磁滞回线和磁化曲线的基本概念，测量</a:t>
            </a:r>
            <a:r>
              <a:rPr lang="zh-CN" altLang="en-US" sz="3200" b="1" dirty="0">
                <a:solidFill>
                  <a:srgbClr val="000066"/>
                </a:solidFill>
                <a:latin typeface="+mn-ea"/>
                <a:ea typeface="+mn-ea"/>
                <a:cs typeface="Times New Roman" panose="02020603050405020304" pitchFamily="18" charset="0"/>
              </a:rPr>
              <a:t>材料的</a:t>
            </a:r>
            <a:r>
              <a:rPr lang="zh-CN" altLang="en-US" sz="3200" b="1" dirty="0">
                <a:solidFill>
                  <a:srgbClr val="FF0000"/>
                </a:solidFill>
                <a:latin typeface="+mn-ea"/>
                <a:ea typeface="+mn-ea"/>
                <a:cs typeface="Times New Roman" panose="02020603050405020304" pitchFamily="18" charset="0"/>
              </a:rPr>
              <a:t>饱和磁感应强度</a:t>
            </a:r>
            <a:r>
              <a:rPr lang="en-US" altLang="zh-CN" sz="3200" b="1" i="1" dirty="0" err="1">
                <a:solidFill>
                  <a:srgbClr val="FF0000"/>
                </a:solidFill>
                <a:latin typeface="+mn-ea"/>
                <a:ea typeface="+mn-ea"/>
                <a:cs typeface="Times New Roman" panose="02020603050405020304" pitchFamily="18" charset="0"/>
              </a:rPr>
              <a:t>B</a:t>
            </a:r>
            <a:r>
              <a:rPr lang="en-US" altLang="zh-CN" sz="3200" b="1" i="1" baseline="-25000" dirty="0" err="1">
                <a:solidFill>
                  <a:srgbClr val="FF0000"/>
                </a:solidFill>
                <a:latin typeface="+mn-ea"/>
                <a:ea typeface="+mn-ea"/>
                <a:cs typeface="Times New Roman" panose="02020603050405020304" pitchFamily="18" charset="0"/>
              </a:rPr>
              <a:t>s</a:t>
            </a:r>
            <a:r>
              <a:rPr lang="zh-CN" altLang="en-US" sz="3200" b="1" dirty="0">
                <a:solidFill>
                  <a:srgbClr val="000066"/>
                </a:solidFill>
                <a:latin typeface="+mn-ea"/>
                <a:ea typeface="+mn-ea"/>
                <a:cs typeface="Times New Roman" panose="02020603050405020304" pitchFamily="18" charset="0"/>
              </a:rPr>
              <a:t>，</a:t>
            </a:r>
            <a:r>
              <a:rPr lang="zh-CN" altLang="en-US" sz="3200" b="1" dirty="0">
                <a:solidFill>
                  <a:srgbClr val="FF0000"/>
                </a:solidFill>
                <a:latin typeface="+mn-ea"/>
                <a:ea typeface="+mn-ea"/>
                <a:cs typeface="Times New Roman" panose="02020603050405020304" pitchFamily="18" charset="0"/>
              </a:rPr>
              <a:t>剩磁</a:t>
            </a:r>
            <a:r>
              <a:rPr lang="en-US" altLang="zh-CN" sz="3200" b="1" i="1" dirty="0">
                <a:solidFill>
                  <a:srgbClr val="FF0000"/>
                </a:solidFill>
                <a:latin typeface="+mn-ea"/>
                <a:ea typeface="+mn-ea"/>
                <a:cs typeface="Times New Roman" panose="02020603050405020304" pitchFamily="18" charset="0"/>
              </a:rPr>
              <a:t>B</a:t>
            </a:r>
            <a:r>
              <a:rPr lang="en-US" altLang="zh-CN" sz="3200" b="1" i="1" baseline="-25000" dirty="0">
                <a:solidFill>
                  <a:srgbClr val="FF0000"/>
                </a:solidFill>
                <a:latin typeface="+mn-ea"/>
                <a:ea typeface="+mn-ea"/>
                <a:cs typeface="Times New Roman" panose="02020603050405020304" pitchFamily="18" charset="0"/>
              </a:rPr>
              <a:t>r</a:t>
            </a:r>
            <a:r>
              <a:rPr lang="zh-CN" altLang="en-US" sz="3200" b="1" dirty="0">
                <a:solidFill>
                  <a:srgbClr val="000066"/>
                </a:solidFill>
                <a:latin typeface="+mn-ea"/>
                <a:ea typeface="+mn-ea"/>
                <a:cs typeface="Times New Roman" panose="02020603050405020304" pitchFamily="18" charset="0"/>
              </a:rPr>
              <a:t>，</a:t>
            </a:r>
            <a:r>
              <a:rPr lang="zh-CN" altLang="en-US" sz="3200" b="1" dirty="0">
                <a:solidFill>
                  <a:srgbClr val="FF0000"/>
                </a:solidFill>
                <a:latin typeface="+mn-ea"/>
                <a:ea typeface="+mn-ea"/>
                <a:cs typeface="Times New Roman" panose="02020603050405020304" pitchFamily="18" charset="0"/>
              </a:rPr>
              <a:t>矫顽力</a:t>
            </a:r>
            <a:r>
              <a:rPr lang="en-US" altLang="zh-CN" sz="3200" b="1" i="1" dirty="0" err="1">
                <a:solidFill>
                  <a:srgbClr val="FF0000"/>
                </a:solidFill>
                <a:latin typeface="+mn-ea"/>
                <a:ea typeface="+mn-ea"/>
                <a:cs typeface="Times New Roman" panose="02020603050405020304" pitchFamily="18" charset="0"/>
              </a:rPr>
              <a:t>H</a:t>
            </a:r>
            <a:r>
              <a:rPr lang="en-US" altLang="zh-CN" sz="3200" b="1" i="1" baseline="-25000" dirty="0" err="1">
                <a:solidFill>
                  <a:srgbClr val="FF0000"/>
                </a:solidFill>
                <a:latin typeface="+mn-ea"/>
                <a:ea typeface="+mn-ea"/>
                <a:cs typeface="Times New Roman" panose="02020603050405020304" pitchFamily="18" charset="0"/>
              </a:rPr>
              <a:t>c</a:t>
            </a:r>
            <a:r>
              <a:rPr lang="zh-CN" altLang="en-US" sz="3200" b="1" dirty="0">
                <a:solidFill>
                  <a:srgbClr val="000066"/>
                </a:solidFill>
                <a:latin typeface="+mn-ea"/>
                <a:ea typeface="+mn-ea"/>
                <a:cs typeface="Times New Roman" panose="02020603050405020304" pitchFamily="18" charset="0"/>
              </a:rPr>
              <a:t>的数值。</a:t>
            </a:r>
            <a:endParaRPr lang="en-US" altLang="zh-CN" sz="3200" b="1" dirty="0">
              <a:solidFill>
                <a:srgbClr val="000066"/>
              </a:solidFill>
              <a:latin typeface="+mn-ea"/>
              <a:ea typeface="+mn-ea"/>
              <a:cs typeface="Times New Roman" panose="02020603050405020304" pitchFamily="18" charset="0"/>
            </a:endParaRPr>
          </a:p>
          <a:p>
            <a:pPr algn="just">
              <a:lnSpc>
                <a:spcPct val="150000"/>
              </a:lnSpc>
              <a:spcBef>
                <a:spcPts val="1200"/>
              </a:spcBef>
              <a:spcAft>
                <a:spcPts val="1200"/>
              </a:spcAft>
              <a:buFont typeface="Wingdings" panose="05000000000000000000" pitchFamily="2" charset="2"/>
              <a:buChar char="u"/>
            </a:pPr>
            <a:r>
              <a:rPr lang="zh-CN" altLang="en-US" sz="3200" b="1" dirty="0">
                <a:solidFill>
                  <a:srgbClr val="000066"/>
                </a:solidFill>
                <a:latin typeface="+mn-ea"/>
                <a:ea typeface="+mn-ea"/>
                <a:cs typeface="Times New Roman" panose="02020603050405020304" pitchFamily="18" charset="0"/>
              </a:rPr>
              <a:t>深刻理解物理实验中的</a:t>
            </a:r>
            <a:r>
              <a:rPr lang="zh-CN" altLang="en-US" sz="3200" b="1" u="sng" dirty="0">
                <a:solidFill>
                  <a:srgbClr val="FF0000"/>
                </a:solidFill>
                <a:latin typeface="+mn-ea"/>
                <a:ea typeface="+mn-ea"/>
                <a:cs typeface="Times New Roman" panose="02020603050405020304" pitchFamily="18" charset="0"/>
              </a:rPr>
              <a:t>转换法</a:t>
            </a:r>
            <a:r>
              <a:rPr lang="zh-CN" altLang="en-US" sz="3200" b="1" dirty="0">
                <a:solidFill>
                  <a:srgbClr val="000066"/>
                </a:solidFill>
                <a:latin typeface="+mn-ea"/>
                <a:ea typeface="+mn-ea"/>
                <a:cs typeface="Times New Roman" panose="02020603050405020304" pitchFamily="18" charset="0"/>
              </a:rPr>
              <a:t>。</a:t>
            </a:r>
            <a:endParaRPr lang="en-US" altLang="zh-CN" sz="3200" b="1" dirty="0">
              <a:solidFill>
                <a:srgbClr val="000066"/>
              </a:solidFill>
              <a:latin typeface="+mn-ea"/>
              <a:ea typeface="+mn-ea"/>
              <a:cs typeface="Times New Roman" panose="02020603050405020304" pitchFamily="18" charset="0"/>
            </a:endParaRPr>
          </a:p>
        </p:txBody>
      </p:sp>
    </p:spTree>
    <p:extLst>
      <p:ext uri="{BB962C8B-B14F-4D97-AF65-F5344CB8AC3E}">
        <p14:creationId xmlns:p14="http://schemas.microsoft.com/office/powerpoint/2010/main" val="1225566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63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86409"/>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6600" dirty="0">
                  <a:solidFill>
                    <a:prstClr val="white"/>
                  </a:solidFill>
                  <a:latin typeface="Calibri" panose="020F0502020204030204"/>
                  <a:ea typeface="等线" panose="02010600030101010101" pitchFamily="2" charset="-122"/>
                </a:rPr>
                <a:t>3</a:t>
              </a:r>
              <a:endParaRPr kumimoji="0" lang="zh-CN" altLang="en-US" sz="66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42" name="文本框 41"/>
            <p:cNvSpPr txBox="1"/>
            <p:nvPr/>
          </p:nvSpPr>
          <p:spPr>
            <a:xfrm>
              <a:off x="1945790" y="2847433"/>
              <a:ext cx="3884393" cy="1107994"/>
            </a:xfrm>
            <a:prstGeom prst="rect">
              <a:avLst/>
            </a:prstGeom>
            <a:noFill/>
          </p:spPr>
          <p:txBody>
            <a:bodyPr wrap="none" lIns="91438" tIns="45719" rIns="91438" bIns="45719"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60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实验原理</a:t>
              </a:r>
            </a:p>
          </p:txBody>
        </p:sp>
        <p:sp>
          <p:nvSpPr>
            <p:cNvPr id="53" name="矩形 52"/>
            <p:cNvSpPr/>
            <p:nvPr/>
          </p:nvSpPr>
          <p:spPr>
            <a:xfrm>
              <a:off x="6523777" y="3220053"/>
              <a:ext cx="4974627" cy="584773"/>
            </a:xfrm>
            <a:prstGeom prst="rect">
              <a:avLst/>
            </a:prstGeom>
          </p:spPr>
          <p:txBody>
            <a:bodyPr wrap="none" lIns="91438" tIns="45719" rIns="91438" bIns="45719">
              <a:spAutoFit/>
            </a:bodyPr>
            <a:lstStyle/>
            <a:p>
              <a:pPr lvl="0" algn="ctr"/>
              <a:r>
                <a:rPr kumimoji="0" lang="en-US" altLang="zh-CN"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EXPERIMENT </a:t>
              </a:r>
              <a:r>
                <a:rPr lang="en-US" altLang="zh-CN" sz="3200" dirty="0">
                  <a:solidFill>
                    <a:prstClr val="white"/>
                  </a:solidFill>
                  <a:latin typeface="微软雅黑" panose="020B0503020204020204" pitchFamily="34" charset="-122"/>
                  <a:ea typeface="微软雅黑" panose="020B0503020204020204" pitchFamily="34" charset="-122"/>
                </a:rPr>
                <a:t>PRINCIPLE</a:t>
              </a:r>
            </a:p>
          </p:txBody>
        </p:sp>
      </p:grpSp>
    </p:spTree>
    <p:extLst>
      <p:ext uri="{BB962C8B-B14F-4D97-AF65-F5344CB8AC3E}">
        <p14:creationId xmlns:p14="http://schemas.microsoft.com/office/powerpoint/2010/main" val="1211476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实验原理</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9</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3</a:t>
            </a:r>
            <a:endParaRPr lang="zh-CN" altLang="en-US" sz="4400" b="1" dirty="0">
              <a:solidFill>
                <a:schemeClr val="tx1"/>
              </a:solidFill>
            </a:endParaRPr>
          </a:p>
        </p:txBody>
      </p:sp>
      <p:pic>
        <p:nvPicPr>
          <p:cNvPr id="6" name="图片 5"/>
          <p:cNvPicPr>
            <a:picLocks noChangeAspect="1"/>
          </p:cNvPicPr>
          <p:nvPr/>
        </p:nvPicPr>
        <p:blipFill rotWithShape="1">
          <a:blip r:embed="rId3"/>
          <a:srcRect l="3557" r="2372"/>
          <a:stretch/>
        </p:blipFill>
        <p:spPr>
          <a:xfrm>
            <a:off x="3391789" y="2688805"/>
            <a:ext cx="3956858" cy="3736933"/>
          </a:xfrm>
          <a:prstGeom prst="rect">
            <a:avLst/>
          </a:prstGeom>
        </p:spPr>
      </p:pic>
      <p:pic>
        <p:nvPicPr>
          <p:cNvPr id="12" name="图片 11"/>
          <p:cNvPicPr>
            <a:picLocks noChangeAspect="1"/>
          </p:cNvPicPr>
          <p:nvPr/>
        </p:nvPicPr>
        <p:blipFill>
          <a:blip r:embed="rId4"/>
          <a:stretch>
            <a:fillRect/>
          </a:stretch>
        </p:blipFill>
        <p:spPr>
          <a:xfrm>
            <a:off x="7656762" y="1040751"/>
            <a:ext cx="3548053" cy="4915050"/>
          </a:xfrm>
          <a:prstGeom prst="rect">
            <a:avLst/>
          </a:prstGeom>
        </p:spPr>
      </p:pic>
      <p:sp>
        <p:nvSpPr>
          <p:cNvPr id="15" name="矩形 14"/>
          <p:cNvSpPr/>
          <p:nvPr/>
        </p:nvSpPr>
        <p:spPr>
          <a:xfrm>
            <a:off x="265582" y="949828"/>
            <a:ext cx="370614" cy="584775"/>
          </a:xfrm>
          <a:prstGeom prst="rect">
            <a:avLst/>
          </a:prstGeom>
        </p:spPr>
        <p:txBody>
          <a:bodyPr wrap="none">
            <a:spAutoFit/>
          </a:bodyPr>
          <a:lstStyle/>
          <a:p>
            <a:pPr lvl="0"/>
            <a:r>
              <a:rPr lang="en-US" altLang="zh-CN" sz="3200" b="1" dirty="0">
                <a:solidFill>
                  <a:srgbClr val="FF0000"/>
                </a:solidFill>
              </a:rPr>
              <a:t>  </a:t>
            </a:r>
          </a:p>
        </p:txBody>
      </p:sp>
      <p:sp>
        <p:nvSpPr>
          <p:cNvPr id="5" name="矩形 4"/>
          <p:cNvSpPr/>
          <p:nvPr/>
        </p:nvSpPr>
        <p:spPr>
          <a:xfrm>
            <a:off x="6882939" y="6072788"/>
            <a:ext cx="5095700" cy="646331"/>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Magnetic domain structure in a  single crystals of Fe</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3%Si alloy photomicrographs</a:t>
            </a:r>
          </a:p>
        </p:txBody>
      </p:sp>
      <p:sp>
        <p:nvSpPr>
          <p:cNvPr id="7" name="矩形 6"/>
          <p:cNvSpPr/>
          <p:nvPr/>
        </p:nvSpPr>
        <p:spPr>
          <a:xfrm>
            <a:off x="450889" y="930869"/>
            <a:ext cx="7153497" cy="584775"/>
          </a:xfrm>
          <a:prstGeom prst="rect">
            <a:avLst/>
          </a:prstGeom>
        </p:spPr>
        <p:txBody>
          <a:bodyPr wrap="none">
            <a:spAutoFit/>
          </a:bodyPr>
          <a:lstStyle/>
          <a:p>
            <a:r>
              <a:rPr lang="zh-CN" altLang="en-US" sz="3200" b="1" dirty="0">
                <a:solidFill>
                  <a:srgbClr val="FF0000"/>
                </a:solidFill>
              </a:rPr>
              <a:t>磁畴理论（</a:t>
            </a:r>
            <a:r>
              <a:rPr lang="en-US" altLang="zh-CN" sz="3200" b="1" dirty="0">
                <a:solidFill>
                  <a:srgbClr val="FF0000"/>
                </a:solidFill>
                <a:latin typeface="Times New Roman" panose="02020603050405020304" pitchFamily="18" charset="0"/>
                <a:cs typeface="Times New Roman" panose="02020603050405020304" pitchFamily="18" charset="0"/>
              </a:rPr>
              <a:t>Magnetic Domain Theory</a:t>
            </a:r>
            <a:r>
              <a:rPr lang="zh-CN" altLang="en-US" sz="3200" b="1" dirty="0">
                <a:solidFill>
                  <a:srgbClr val="FF0000"/>
                </a:solidFill>
              </a:rPr>
              <a:t>）</a:t>
            </a:r>
          </a:p>
        </p:txBody>
      </p:sp>
      <p:pic>
        <p:nvPicPr>
          <p:cNvPr id="4" name="图片 3"/>
          <p:cNvPicPr>
            <a:picLocks noChangeAspect="1"/>
          </p:cNvPicPr>
          <p:nvPr/>
        </p:nvPicPr>
        <p:blipFill>
          <a:blip r:embed="rId5"/>
          <a:stretch>
            <a:fillRect/>
          </a:stretch>
        </p:blipFill>
        <p:spPr>
          <a:xfrm>
            <a:off x="361557" y="1603793"/>
            <a:ext cx="3014349" cy="4970033"/>
          </a:xfrm>
          <a:prstGeom prst="rect">
            <a:avLst/>
          </a:prstGeom>
        </p:spPr>
      </p:pic>
      <p:sp>
        <p:nvSpPr>
          <p:cNvPr id="8" name="矩形 7"/>
          <p:cNvSpPr/>
          <p:nvPr/>
        </p:nvSpPr>
        <p:spPr>
          <a:xfrm>
            <a:off x="3614306" y="1632631"/>
            <a:ext cx="3712300" cy="1015663"/>
          </a:xfrm>
          <a:prstGeom prst="rect">
            <a:avLst/>
          </a:prstGeom>
          <a:solidFill>
            <a:schemeClr val="accent6">
              <a:lumMod val="20000"/>
              <a:lumOff val="80000"/>
            </a:schemeClr>
          </a:solidFill>
        </p:spPr>
        <p:txBody>
          <a:bodyPr wrap="square">
            <a:spAutoFit/>
          </a:bodyPr>
          <a:lstStyle/>
          <a:p>
            <a:pPr marL="285750" indent="-285750">
              <a:lnSpc>
                <a:spcPct val="150000"/>
              </a:lnSpc>
              <a:buFont typeface="Arial" panose="020B0604020202020204" pitchFamily="34" charset="0"/>
              <a:buChar char="•"/>
            </a:pPr>
            <a:r>
              <a:rPr lang="zh-CN" altLang="en-US" sz="2000" b="1" dirty="0"/>
              <a:t>不同取向磁化区域：磁畴</a:t>
            </a:r>
            <a:endParaRPr lang="en-US" altLang="zh-CN" sz="2000" b="1" dirty="0"/>
          </a:p>
          <a:p>
            <a:pPr marL="285750" indent="-285750">
              <a:lnSpc>
                <a:spcPct val="150000"/>
              </a:lnSpc>
              <a:buFont typeface="Arial" panose="020B0604020202020204" pitchFamily="34" charset="0"/>
              <a:buChar char="•"/>
            </a:pPr>
            <a:r>
              <a:rPr lang="zh-CN" altLang="en-US" sz="2000" b="1" dirty="0"/>
              <a:t>磁畴</a:t>
            </a:r>
            <a:r>
              <a:rPr lang="en-US" altLang="zh-CN" sz="2000" b="1" dirty="0"/>
              <a:t>-</a:t>
            </a:r>
            <a:r>
              <a:rPr lang="zh-CN" altLang="en-US" sz="2000" b="1" dirty="0"/>
              <a:t>磁畴边界：畴壁</a:t>
            </a:r>
            <a:endParaRPr lang="zh-CN" altLang="en-US" sz="2000" dirty="0"/>
          </a:p>
        </p:txBody>
      </p:sp>
    </p:spTree>
    <p:extLst>
      <p:ext uri="{BB962C8B-B14F-4D97-AF65-F5344CB8AC3E}">
        <p14:creationId xmlns:p14="http://schemas.microsoft.com/office/powerpoint/2010/main" val="250810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flipV="1">
            <a:off x="7263926" y="2455461"/>
            <a:ext cx="2703994" cy="362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实验原理</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10</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3</a:t>
            </a:r>
            <a:endParaRPr lang="zh-CN" altLang="en-US" sz="4400" b="1" dirty="0">
              <a:solidFill>
                <a:schemeClr val="tx1"/>
              </a:solidFill>
            </a:endParaRPr>
          </a:p>
        </p:txBody>
      </p:sp>
      <p:grpSp>
        <p:nvGrpSpPr>
          <p:cNvPr id="7" name="组合 6"/>
          <p:cNvGrpSpPr/>
          <p:nvPr/>
        </p:nvGrpSpPr>
        <p:grpSpPr>
          <a:xfrm>
            <a:off x="1041131" y="3002067"/>
            <a:ext cx="4873360" cy="2672052"/>
            <a:chOff x="591384" y="2329542"/>
            <a:chExt cx="4876100" cy="2707344"/>
          </a:xfrm>
        </p:grpSpPr>
        <p:pic>
          <p:nvPicPr>
            <p:cNvPr id="8" name="图片 7"/>
            <p:cNvPicPr>
              <a:picLocks noChangeAspect="1"/>
            </p:cNvPicPr>
            <p:nvPr/>
          </p:nvPicPr>
          <p:blipFill rotWithShape="1">
            <a:blip r:embed="rId3"/>
            <a:srcRect l="9197" t="13084" r="73058" b="17694"/>
            <a:stretch/>
          </p:blipFill>
          <p:spPr>
            <a:xfrm>
              <a:off x="591384" y="2329542"/>
              <a:ext cx="1260401" cy="2699658"/>
            </a:xfrm>
            <a:prstGeom prst="rect">
              <a:avLst/>
            </a:prstGeom>
          </p:spPr>
        </p:pic>
        <p:pic>
          <p:nvPicPr>
            <p:cNvPr id="10" name="图片 9"/>
            <p:cNvPicPr>
              <a:picLocks noChangeAspect="1"/>
            </p:cNvPicPr>
            <p:nvPr/>
          </p:nvPicPr>
          <p:blipFill rotWithShape="1">
            <a:blip r:embed="rId3"/>
            <a:srcRect l="35484" t="14135" r="40890" b="16836"/>
            <a:stretch/>
          </p:blipFill>
          <p:spPr>
            <a:xfrm>
              <a:off x="2166293" y="2337228"/>
              <a:ext cx="1682890" cy="2699658"/>
            </a:xfrm>
            <a:prstGeom prst="rect">
              <a:avLst/>
            </a:prstGeom>
          </p:spPr>
        </p:pic>
        <p:pic>
          <p:nvPicPr>
            <p:cNvPr id="11" name="图片 10"/>
            <p:cNvPicPr>
              <a:picLocks noChangeAspect="1"/>
            </p:cNvPicPr>
            <p:nvPr/>
          </p:nvPicPr>
          <p:blipFill rotWithShape="1">
            <a:blip r:embed="rId3"/>
            <a:srcRect l="72931" t="14473" r="8502" b="16803"/>
            <a:stretch/>
          </p:blipFill>
          <p:spPr>
            <a:xfrm>
              <a:off x="4146684" y="2329542"/>
              <a:ext cx="1320800" cy="2684288"/>
            </a:xfrm>
            <a:prstGeom prst="rect">
              <a:avLst/>
            </a:prstGeom>
          </p:spPr>
        </p:pic>
      </p:grpSp>
      <p:sp>
        <p:nvSpPr>
          <p:cNvPr id="5" name="文本框 4"/>
          <p:cNvSpPr txBox="1"/>
          <p:nvPr/>
        </p:nvSpPr>
        <p:spPr>
          <a:xfrm>
            <a:off x="522142" y="1059137"/>
            <a:ext cx="5640589" cy="1446550"/>
          </a:xfrm>
          <a:prstGeom prst="rect">
            <a:avLst/>
          </a:prstGeom>
          <a:solidFill>
            <a:schemeClr val="accent1">
              <a:lumMod val="60000"/>
              <a:lumOff val="40000"/>
            </a:schemeClr>
          </a:solidFill>
        </p:spPr>
        <p:txBody>
          <a:bodyPr wrap="square" rtlCol="0">
            <a:spAutoFit/>
          </a:bodyPr>
          <a:lstStyle/>
          <a:p>
            <a:r>
              <a:rPr lang="en-US" altLang="zh-CN" sz="3200" b="1" dirty="0">
                <a:solidFill>
                  <a:srgbClr val="FF0000"/>
                </a:solidFill>
              </a:rPr>
              <a:t>3.1 </a:t>
            </a:r>
            <a:r>
              <a:rPr lang="zh-CN" altLang="en-US" sz="3200" b="1" dirty="0">
                <a:solidFill>
                  <a:srgbClr val="FF0000"/>
                </a:solidFill>
              </a:rPr>
              <a:t>铁磁材料的磁化</a:t>
            </a:r>
            <a:endParaRPr lang="en-US" altLang="zh-CN" sz="3200" b="1" dirty="0">
              <a:solidFill>
                <a:srgbClr val="FF0000"/>
              </a:solidFill>
            </a:endParaRPr>
          </a:p>
          <a:p>
            <a:pPr marL="457200" indent="-457200">
              <a:buClr>
                <a:srgbClr val="FF0000"/>
              </a:buClr>
              <a:buFont typeface="Wingdings" panose="05000000000000000000" pitchFamily="2" charset="2"/>
              <a:buChar char="Ø"/>
            </a:pPr>
            <a:r>
              <a:rPr lang="zh-CN" altLang="en-US" sz="2800" b="1" u="sng" dirty="0"/>
              <a:t>不同取向</a:t>
            </a:r>
            <a:r>
              <a:rPr lang="zh-CN" altLang="en-US" sz="2800" b="1" dirty="0"/>
              <a:t>的自发磁化区域：</a:t>
            </a:r>
            <a:r>
              <a:rPr lang="zh-CN" altLang="en-US" sz="2800" b="1" u="sng" dirty="0"/>
              <a:t>磁畴</a:t>
            </a:r>
            <a:endParaRPr lang="en-US" altLang="zh-CN" sz="2800" b="1" u="sng" dirty="0"/>
          </a:p>
          <a:p>
            <a:pPr marL="457200" indent="-457200">
              <a:buClr>
                <a:srgbClr val="FF0000"/>
              </a:buClr>
              <a:buFont typeface="Wingdings" panose="05000000000000000000" pitchFamily="2" charset="2"/>
              <a:buChar char="Ø"/>
            </a:pPr>
            <a:r>
              <a:rPr lang="zh-CN" altLang="en-US" sz="2800" b="1" dirty="0"/>
              <a:t>磁化过程：</a:t>
            </a:r>
            <a:r>
              <a:rPr lang="zh-CN" altLang="en-US" sz="2800" b="1" u="sng" dirty="0"/>
              <a:t>磁畴旋转</a:t>
            </a:r>
            <a:r>
              <a:rPr lang="zh-CN" altLang="en-US" sz="2800" b="1" dirty="0"/>
              <a:t>和</a:t>
            </a:r>
            <a:r>
              <a:rPr lang="zh-CN" altLang="en-US" sz="2800" b="1" u="sng" dirty="0"/>
              <a:t>畴壁迁移</a:t>
            </a:r>
            <a:endParaRPr lang="en-US" altLang="zh-CN" sz="2800" b="1" u="sng" dirty="0"/>
          </a:p>
        </p:txBody>
      </p:sp>
      <p:cxnSp>
        <p:nvCxnSpPr>
          <p:cNvPr id="13" name="直接箭头连接符 12"/>
          <p:cNvCxnSpPr/>
          <p:nvPr/>
        </p:nvCxnSpPr>
        <p:spPr>
          <a:xfrm flipV="1">
            <a:off x="6963377" y="5073356"/>
            <a:ext cx="4171709" cy="193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flipV="1">
            <a:off x="7221832" y="1525606"/>
            <a:ext cx="11254" cy="39965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0930543" y="5083030"/>
            <a:ext cx="409086" cy="523220"/>
          </a:xfrm>
          <a:prstGeom prst="rect">
            <a:avLst/>
          </a:prstGeom>
          <a:noFill/>
        </p:spPr>
        <p:txBody>
          <a:bodyPr wrap="none" rtlCol="0">
            <a:spAutoFit/>
          </a:bodyPr>
          <a:lstStyle/>
          <a:p>
            <a:r>
              <a:rPr lang="en-US" altLang="zh-CN" sz="2800" i="1" dirty="0"/>
              <a:t>H</a:t>
            </a:r>
            <a:endParaRPr lang="zh-CN" altLang="en-US" sz="2800" i="1" dirty="0"/>
          </a:p>
        </p:txBody>
      </p:sp>
      <p:sp>
        <p:nvSpPr>
          <p:cNvPr id="19" name="文本框 18"/>
          <p:cNvSpPr txBox="1"/>
          <p:nvPr/>
        </p:nvSpPr>
        <p:spPr>
          <a:xfrm>
            <a:off x="6788315" y="1416735"/>
            <a:ext cx="380232" cy="523220"/>
          </a:xfrm>
          <a:prstGeom prst="rect">
            <a:avLst/>
          </a:prstGeom>
          <a:noFill/>
        </p:spPr>
        <p:txBody>
          <a:bodyPr wrap="none" rtlCol="0">
            <a:spAutoFit/>
          </a:bodyPr>
          <a:lstStyle/>
          <a:p>
            <a:r>
              <a:rPr lang="en-US" altLang="zh-CN" sz="2800" i="1" dirty="0"/>
              <a:t>B</a:t>
            </a:r>
            <a:endParaRPr lang="zh-CN" altLang="en-US" sz="2800" i="1" dirty="0"/>
          </a:p>
        </p:txBody>
      </p:sp>
      <p:sp>
        <p:nvSpPr>
          <p:cNvPr id="22" name="弧形 21"/>
          <p:cNvSpPr/>
          <p:nvPr/>
        </p:nvSpPr>
        <p:spPr>
          <a:xfrm rot="764506" flipH="1">
            <a:off x="8377457" y="2485952"/>
            <a:ext cx="3104077" cy="3512126"/>
          </a:xfrm>
          <a:prstGeom prst="arc">
            <a:avLst>
              <a:gd name="adj1" fmla="val 16651144"/>
              <a:gd name="adj2" fmla="val 18586"/>
            </a:avLst>
          </a:prstGeom>
          <a:ln w="50800">
            <a:solidFill>
              <a:srgbClr val="00B0F0"/>
            </a:solidFill>
            <a:headEnd type="arrow" w="sm"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7" name="直接连接符 26"/>
          <p:cNvCxnSpPr/>
          <p:nvPr/>
        </p:nvCxnSpPr>
        <p:spPr>
          <a:xfrm flipV="1">
            <a:off x="10034932" y="2462735"/>
            <a:ext cx="8313" cy="2588279"/>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6614419" y="4831095"/>
            <a:ext cx="380232" cy="523220"/>
          </a:xfrm>
          <a:prstGeom prst="rect">
            <a:avLst/>
          </a:prstGeom>
          <a:noFill/>
        </p:spPr>
        <p:txBody>
          <a:bodyPr wrap="none" rtlCol="0">
            <a:spAutoFit/>
          </a:bodyPr>
          <a:lstStyle/>
          <a:p>
            <a:r>
              <a:rPr lang="en-US" altLang="zh-CN" sz="2800" dirty="0"/>
              <a:t>0</a:t>
            </a:r>
            <a:endParaRPr lang="zh-CN" altLang="en-US" sz="2800" dirty="0"/>
          </a:p>
        </p:txBody>
      </p:sp>
      <p:sp>
        <p:nvSpPr>
          <p:cNvPr id="21" name="弧形 20"/>
          <p:cNvSpPr/>
          <p:nvPr/>
        </p:nvSpPr>
        <p:spPr>
          <a:xfrm rot="4386952">
            <a:off x="5451281" y="2157161"/>
            <a:ext cx="2821927" cy="3168947"/>
          </a:xfrm>
          <a:prstGeom prst="arc">
            <a:avLst>
              <a:gd name="adj1" fmla="val 17253846"/>
              <a:gd name="adj2" fmla="val 0"/>
            </a:avLst>
          </a:prstGeom>
          <a:noFill/>
          <a:ln w="50800">
            <a:solidFill>
              <a:srgbClr val="00B0F0"/>
            </a:solidFill>
            <a:headEnd type="arrow" w="sm"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C000"/>
              </a:solidFill>
            </a:endParaRPr>
          </a:p>
        </p:txBody>
      </p:sp>
      <p:sp>
        <p:nvSpPr>
          <p:cNvPr id="44" name="文本框 43"/>
          <p:cNvSpPr txBox="1"/>
          <p:nvPr/>
        </p:nvSpPr>
        <p:spPr>
          <a:xfrm>
            <a:off x="10124370" y="5067722"/>
            <a:ext cx="570990" cy="523220"/>
          </a:xfrm>
          <a:prstGeom prst="rect">
            <a:avLst/>
          </a:prstGeom>
          <a:noFill/>
        </p:spPr>
        <p:txBody>
          <a:bodyPr wrap="none" rtlCol="0">
            <a:spAutoFit/>
          </a:bodyPr>
          <a:lstStyle/>
          <a:p>
            <a:r>
              <a:rPr lang="en-US" altLang="zh-CN" sz="2800" i="1" dirty="0" err="1"/>
              <a:t>B</a:t>
            </a:r>
            <a:r>
              <a:rPr lang="en-US" altLang="zh-CN" sz="2800" baseline="-25000" dirty="0" err="1"/>
              <a:t>m</a:t>
            </a:r>
            <a:endParaRPr lang="zh-CN" altLang="en-US" sz="2800" baseline="-25000" dirty="0"/>
          </a:p>
        </p:txBody>
      </p:sp>
      <p:sp>
        <p:nvSpPr>
          <p:cNvPr id="46" name="任意多边形 45"/>
          <p:cNvSpPr/>
          <p:nvPr/>
        </p:nvSpPr>
        <p:spPr>
          <a:xfrm>
            <a:off x="7250646" y="3026259"/>
            <a:ext cx="2717274" cy="2047097"/>
          </a:xfrm>
          <a:custGeom>
            <a:avLst/>
            <a:gdLst>
              <a:gd name="connsiteX0" fmla="*/ 0 w 3099694"/>
              <a:gd name="connsiteY0" fmla="*/ 2382416 h 2414869"/>
              <a:gd name="connsiteX1" fmla="*/ 640080 w 3099694"/>
              <a:gd name="connsiteY1" fmla="*/ 23264 h 2414869"/>
              <a:gd name="connsiteX2" fmla="*/ 1508760 w 3099694"/>
              <a:gd name="connsiteY2" fmla="*/ 1221128 h 2414869"/>
              <a:gd name="connsiteX3" fmla="*/ 2267712 w 3099694"/>
              <a:gd name="connsiteY3" fmla="*/ 1961792 h 2414869"/>
              <a:gd name="connsiteX4" fmla="*/ 3026664 w 3099694"/>
              <a:gd name="connsiteY4" fmla="*/ 2382416 h 2414869"/>
              <a:gd name="connsiteX5" fmla="*/ 3026664 w 3099694"/>
              <a:gd name="connsiteY5" fmla="*/ 2354984 h 2414869"/>
              <a:gd name="connsiteX0" fmla="*/ 0 w 3378193"/>
              <a:gd name="connsiteY0" fmla="*/ 2562364 h 2562364"/>
              <a:gd name="connsiteX1" fmla="*/ 918579 w 3378193"/>
              <a:gd name="connsiteY1" fmla="*/ 29532 h 2562364"/>
              <a:gd name="connsiteX2" fmla="*/ 1787259 w 3378193"/>
              <a:gd name="connsiteY2" fmla="*/ 1227396 h 2562364"/>
              <a:gd name="connsiteX3" fmla="*/ 2546211 w 3378193"/>
              <a:gd name="connsiteY3" fmla="*/ 1968060 h 2562364"/>
              <a:gd name="connsiteX4" fmla="*/ 3305163 w 3378193"/>
              <a:gd name="connsiteY4" fmla="*/ 2388684 h 2562364"/>
              <a:gd name="connsiteX5" fmla="*/ 3305163 w 3378193"/>
              <a:gd name="connsiteY5" fmla="*/ 2361252 h 2562364"/>
              <a:gd name="connsiteX0" fmla="*/ 0 w 3378193"/>
              <a:gd name="connsiteY0" fmla="*/ 2562364 h 2562364"/>
              <a:gd name="connsiteX1" fmla="*/ 983563 w 3378193"/>
              <a:gd name="connsiteY1" fmla="*/ 29532 h 2562364"/>
              <a:gd name="connsiteX2" fmla="*/ 1787259 w 3378193"/>
              <a:gd name="connsiteY2" fmla="*/ 1227396 h 2562364"/>
              <a:gd name="connsiteX3" fmla="*/ 2546211 w 3378193"/>
              <a:gd name="connsiteY3" fmla="*/ 1968060 h 2562364"/>
              <a:gd name="connsiteX4" fmla="*/ 3305163 w 3378193"/>
              <a:gd name="connsiteY4" fmla="*/ 2388684 h 2562364"/>
              <a:gd name="connsiteX5" fmla="*/ 3305163 w 3378193"/>
              <a:gd name="connsiteY5" fmla="*/ 2361252 h 2562364"/>
              <a:gd name="connsiteX0" fmla="*/ 0 w 3378193"/>
              <a:gd name="connsiteY0" fmla="*/ 2563627 h 2563627"/>
              <a:gd name="connsiteX1" fmla="*/ 983563 w 3378193"/>
              <a:gd name="connsiteY1" fmla="*/ 30795 h 2563627"/>
              <a:gd name="connsiteX2" fmla="*/ 1870809 w 3378193"/>
              <a:gd name="connsiteY2" fmla="*/ 1208226 h 2563627"/>
              <a:gd name="connsiteX3" fmla="*/ 2546211 w 3378193"/>
              <a:gd name="connsiteY3" fmla="*/ 1969323 h 2563627"/>
              <a:gd name="connsiteX4" fmla="*/ 3305163 w 3378193"/>
              <a:gd name="connsiteY4" fmla="*/ 2389947 h 2563627"/>
              <a:gd name="connsiteX5" fmla="*/ 3305163 w 3378193"/>
              <a:gd name="connsiteY5" fmla="*/ 2362515 h 2563627"/>
              <a:gd name="connsiteX0" fmla="*/ 0 w 3318826"/>
              <a:gd name="connsiteY0" fmla="*/ 2563627 h 2563627"/>
              <a:gd name="connsiteX1" fmla="*/ 983563 w 3318826"/>
              <a:gd name="connsiteY1" fmla="*/ 30795 h 2563627"/>
              <a:gd name="connsiteX2" fmla="*/ 1870809 w 3318826"/>
              <a:gd name="connsiteY2" fmla="*/ 1208226 h 2563627"/>
              <a:gd name="connsiteX3" fmla="*/ 2546211 w 3318826"/>
              <a:gd name="connsiteY3" fmla="*/ 1969323 h 2563627"/>
              <a:gd name="connsiteX4" fmla="*/ 3305163 w 3318826"/>
              <a:gd name="connsiteY4" fmla="*/ 2389947 h 2563627"/>
              <a:gd name="connsiteX5" fmla="*/ 3026665 w 3318826"/>
              <a:gd name="connsiteY5" fmla="*/ 2178619 h 2563627"/>
              <a:gd name="connsiteX0" fmla="*/ 0 w 3502770"/>
              <a:gd name="connsiteY0" fmla="*/ 2563627 h 2563627"/>
              <a:gd name="connsiteX1" fmla="*/ 983563 w 3502770"/>
              <a:gd name="connsiteY1" fmla="*/ 30795 h 2563627"/>
              <a:gd name="connsiteX2" fmla="*/ 1870809 w 3502770"/>
              <a:gd name="connsiteY2" fmla="*/ 1208226 h 2563627"/>
              <a:gd name="connsiteX3" fmla="*/ 2546211 w 3502770"/>
              <a:gd name="connsiteY3" fmla="*/ 1969323 h 2563627"/>
              <a:gd name="connsiteX4" fmla="*/ 3305163 w 3502770"/>
              <a:gd name="connsiteY4" fmla="*/ 2389947 h 2563627"/>
              <a:gd name="connsiteX5" fmla="*/ 3481546 w 3502770"/>
              <a:gd name="connsiteY5" fmla="*/ 2403381 h 2563627"/>
              <a:gd name="connsiteX0" fmla="*/ 0 w 3486603"/>
              <a:gd name="connsiteY0" fmla="*/ 2563627 h 2563627"/>
              <a:gd name="connsiteX1" fmla="*/ 983563 w 3486603"/>
              <a:gd name="connsiteY1" fmla="*/ 30795 h 2563627"/>
              <a:gd name="connsiteX2" fmla="*/ 1870809 w 3486603"/>
              <a:gd name="connsiteY2" fmla="*/ 1208226 h 2563627"/>
              <a:gd name="connsiteX3" fmla="*/ 2546211 w 3486603"/>
              <a:gd name="connsiteY3" fmla="*/ 1969323 h 2563627"/>
              <a:gd name="connsiteX4" fmla="*/ 2840999 w 3486603"/>
              <a:gd name="connsiteY4" fmla="*/ 2175402 h 2563627"/>
              <a:gd name="connsiteX5" fmla="*/ 3481546 w 3486603"/>
              <a:gd name="connsiteY5" fmla="*/ 2403381 h 2563627"/>
              <a:gd name="connsiteX0" fmla="*/ 0 w 3058198"/>
              <a:gd name="connsiteY0" fmla="*/ 2563627 h 2563627"/>
              <a:gd name="connsiteX1" fmla="*/ 983563 w 3058198"/>
              <a:gd name="connsiteY1" fmla="*/ 30795 h 2563627"/>
              <a:gd name="connsiteX2" fmla="*/ 1870809 w 3058198"/>
              <a:gd name="connsiteY2" fmla="*/ 1208226 h 2563627"/>
              <a:gd name="connsiteX3" fmla="*/ 2546211 w 3058198"/>
              <a:gd name="connsiteY3" fmla="*/ 1969323 h 2563627"/>
              <a:gd name="connsiteX4" fmla="*/ 2840999 w 3058198"/>
              <a:gd name="connsiteY4" fmla="*/ 2175402 h 2563627"/>
              <a:gd name="connsiteX5" fmla="*/ 3045232 w 3058198"/>
              <a:gd name="connsiteY5" fmla="*/ 2250134 h 2563627"/>
              <a:gd name="connsiteX0" fmla="*/ 0 w 3058198"/>
              <a:gd name="connsiteY0" fmla="*/ 2563548 h 2563548"/>
              <a:gd name="connsiteX1" fmla="*/ 983563 w 3058198"/>
              <a:gd name="connsiteY1" fmla="*/ 30716 h 2563548"/>
              <a:gd name="connsiteX2" fmla="*/ 1870809 w 3058198"/>
              <a:gd name="connsiteY2" fmla="*/ 1208147 h 2563548"/>
              <a:gd name="connsiteX3" fmla="*/ 2546211 w 3058198"/>
              <a:gd name="connsiteY3" fmla="*/ 1948811 h 2563548"/>
              <a:gd name="connsiteX4" fmla="*/ 2840999 w 3058198"/>
              <a:gd name="connsiteY4" fmla="*/ 2175323 h 2563548"/>
              <a:gd name="connsiteX5" fmla="*/ 3045232 w 3058198"/>
              <a:gd name="connsiteY5" fmla="*/ 2250055 h 2563548"/>
              <a:gd name="connsiteX0" fmla="*/ 0 w 3058198"/>
              <a:gd name="connsiteY0" fmla="*/ 2473604 h 2473604"/>
              <a:gd name="connsiteX1" fmla="*/ 946430 w 3058198"/>
              <a:gd name="connsiteY1" fmla="*/ 32720 h 2473604"/>
              <a:gd name="connsiteX2" fmla="*/ 1870809 w 3058198"/>
              <a:gd name="connsiteY2" fmla="*/ 1118203 h 2473604"/>
              <a:gd name="connsiteX3" fmla="*/ 2546211 w 3058198"/>
              <a:gd name="connsiteY3" fmla="*/ 1858867 h 2473604"/>
              <a:gd name="connsiteX4" fmla="*/ 2840999 w 3058198"/>
              <a:gd name="connsiteY4" fmla="*/ 2085379 h 2473604"/>
              <a:gd name="connsiteX5" fmla="*/ 3045232 w 3058198"/>
              <a:gd name="connsiteY5" fmla="*/ 2160111 h 2473604"/>
              <a:gd name="connsiteX0" fmla="*/ 0 w 3058198"/>
              <a:gd name="connsiteY0" fmla="*/ 2470280 h 2470280"/>
              <a:gd name="connsiteX1" fmla="*/ 946430 w 3058198"/>
              <a:gd name="connsiteY1" fmla="*/ 29396 h 2470280"/>
              <a:gd name="connsiteX2" fmla="*/ 1842960 w 3058198"/>
              <a:gd name="connsiteY2" fmla="*/ 1165961 h 2470280"/>
              <a:gd name="connsiteX3" fmla="*/ 2546211 w 3058198"/>
              <a:gd name="connsiteY3" fmla="*/ 1855543 h 2470280"/>
              <a:gd name="connsiteX4" fmla="*/ 2840999 w 3058198"/>
              <a:gd name="connsiteY4" fmla="*/ 2082055 h 2470280"/>
              <a:gd name="connsiteX5" fmla="*/ 3045232 w 3058198"/>
              <a:gd name="connsiteY5" fmla="*/ 2156787 h 2470280"/>
              <a:gd name="connsiteX0" fmla="*/ 0 w 3058442"/>
              <a:gd name="connsiteY0" fmla="*/ 2470400 h 2470400"/>
              <a:gd name="connsiteX1" fmla="*/ 946430 w 3058442"/>
              <a:gd name="connsiteY1" fmla="*/ 29516 h 2470400"/>
              <a:gd name="connsiteX2" fmla="*/ 1842960 w 3058442"/>
              <a:gd name="connsiteY2" fmla="*/ 1166081 h 2470400"/>
              <a:gd name="connsiteX3" fmla="*/ 2518361 w 3058442"/>
              <a:gd name="connsiteY3" fmla="*/ 1886312 h 2470400"/>
              <a:gd name="connsiteX4" fmla="*/ 2840999 w 3058442"/>
              <a:gd name="connsiteY4" fmla="*/ 2082175 h 2470400"/>
              <a:gd name="connsiteX5" fmla="*/ 3045232 w 3058442"/>
              <a:gd name="connsiteY5" fmla="*/ 2156907 h 2470400"/>
              <a:gd name="connsiteX0" fmla="*/ 0 w 3058442"/>
              <a:gd name="connsiteY0" fmla="*/ 2468904 h 2468904"/>
              <a:gd name="connsiteX1" fmla="*/ 946430 w 3058442"/>
              <a:gd name="connsiteY1" fmla="*/ 28020 h 2468904"/>
              <a:gd name="connsiteX2" fmla="*/ 1842960 w 3058442"/>
              <a:gd name="connsiteY2" fmla="*/ 1164585 h 2468904"/>
              <a:gd name="connsiteX3" fmla="*/ 2089317 w 3058442"/>
              <a:gd name="connsiteY3" fmla="*/ 1483956 h 2468904"/>
              <a:gd name="connsiteX4" fmla="*/ 2518361 w 3058442"/>
              <a:gd name="connsiteY4" fmla="*/ 1884816 h 2468904"/>
              <a:gd name="connsiteX5" fmla="*/ 2840999 w 3058442"/>
              <a:gd name="connsiteY5" fmla="*/ 2080679 h 2468904"/>
              <a:gd name="connsiteX6" fmla="*/ 3045232 w 3058442"/>
              <a:gd name="connsiteY6" fmla="*/ 2155411 h 2468904"/>
              <a:gd name="connsiteX0" fmla="*/ 0 w 3058442"/>
              <a:gd name="connsiteY0" fmla="*/ 2418796 h 2418796"/>
              <a:gd name="connsiteX1" fmla="*/ 992847 w 3058442"/>
              <a:gd name="connsiteY1" fmla="*/ 28995 h 2418796"/>
              <a:gd name="connsiteX2" fmla="*/ 1842960 w 3058442"/>
              <a:gd name="connsiteY2" fmla="*/ 1114477 h 2418796"/>
              <a:gd name="connsiteX3" fmla="*/ 2089317 w 3058442"/>
              <a:gd name="connsiteY3" fmla="*/ 1433848 h 2418796"/>
              <a:gd name="connsiteX4" fmla="*/ 2518361 w 3058442"/>
              <a:gd name="connsiteY4" fmla="*/ 1834708 h 2418796"/>
              <a:gd name="connsiteX5" fmla="*/ 2840999 w 3058442"/>
              <a:gd name="connsiteY5" fmla="*/ 2030571 h 2418796"/>
              <a:gd name="connsiteX6" fmla="*/ 3045232 w 3058442"/>
              <a:gd name="connsiteY6" fmla="*/ 2105303 h 2418796"/>
              <a:gd name="connsiteX0" fmla="*/ 0 w 3058442"/>
              <a:gd name="connsiteY0" fmla="*/ 2418175 h 2418175"/>
              <a:gd name="connsiteX1" fmla="*/ 992847 w 3058442"/>
              <a:gd name="connsiteY1" fmla="*/ 28374 h 2418175"/>
              <a:gd name="connsiteX2" fmla="*/ 1880093 w 3058442"/>
              <a:gd name="connsiteY2" fmla="*/ 1124072 h 2418175"/>
              <a:gd name="connsiteX3" fmla="*/ 2089317 w 3058442"/>
              <a:gd name="connsiteY3" fmla="*/ 1433227 h 2418175"/>
              <a:gd name="connsiteX4" fmla="*/ 2518361 w 3058442"/>
              <a:gd name="connsiteY4" fmla="*/ 1834087 h 2418175"/>
              <a:gd name="connsiteX5" fmla="*/ 2840999 w 3058442"/>
              <a:gd name="connsiteY5" fmla="*/ 2029950 h 2418175"/>
              <a:gd name="connsiteX6" fmla="*/ 3045232 w 3058442"/>
              <a:gd name="connsiteY6" fmla="*/ 2104682 h 2418175"/>
              <a:gd name="connsiteX0" fmla="*/ 0 w 3058442"/>
              <a:gd name="connsiteY0" fmla="*/ 2418175 h 2418175"/>
              <a:gd name="connsiteX1" fmla="*/ 992847 w 3058442"/>
              <a:gd name="connsiteY1" fmla="*/ 28374 h 2418175"/>
              <a:gd name="connsiteX2" fmla="*/ 1880093 w 3058442"/>
              <a:gd name="connsiteY2" fmla="*/ 1124072 h 2418175"/>
              <a:gd name="connsiteX3" fmla="*/ 2089317 w 3058442"/>
              <a:gd name="connsiteY3" fmla="*/ 1433227 h 2418175"/>
              <a:gd name="connsiteX4" fmla="*/ 2518361 w 3058442"/>
              <a:gd name="connsiteY4" fmla="*/ 1834087 h 2418175"/>
              <a:gd name="connsiteX5" fmla="*/ 2840999 w 3058442"/>
              <a:gd name="connsiteY5" fmla="*/ 2029950 h 2418175"/>
              <a:gd name="connsiteX6" fmla="*/ 3045232 w 3058442"/>
              <a:gd name="connsiteY6" fmla="*/ 2104682 h 2418175"/>
              <a:gd name="connsiteX0" fmla="*/ 0 w 3058442"/>
              <a:gd name="connsiteY0" fmla="*/ 2308130 h 2308130"/>
              <a:gd name="connsiteX1" fmla="*/ 797898 w 3058442"/>
              <a:gd name="connsiteY1" fmla="*/ 30710 h 2308130"/>
              <a:gd name="connsiteX2" fmla="*/ 1880093 w 3058442"/>
              <a:gd name="connsiteY2" fmla="*/ 1014027 h 2308130"/>
              <a:gd name="connsiteX3" fmla="*/ 2089317 w 3058442"/>
              <a:gd name="connsiteY3" fmla="*/ 1323182 h 2308130"/>
              <a:gd name="connsiteX4" fmla="*/ 2518361 w 3058442"/>
              <a:gd name="connsiteY4" fmla="*/ 1724042 h 2308130"/>
              <a:gd name="connsiteX5" fmla="*/ 2840999 w 3058442"/>
              <a:gd name="connsiteY5" fmla="*/ 1919905 h 2308130"/>
              <a:gd name="connsiteX6" fmla="*/ 3045232 w 3058442"/>
              <a:gd name="connsiteY6" fmla="*/ 1994637 h 2308130"/>
              <a:gd name="connsiteX0" fmla="*/ 0 w 3058442"/>
              <a:gd name="connsiteY0" fmla="*/ 2306143 h 2306143"/>
              <a:gd name="connsiteX1" fmla="*/ 797898 w 3058442"/>
              <a:gd name="connsiteY1" fmla="*/ 28723 h 2306143"/>
              <a:gd name="connsiteX2" fmla="*/ 1815110 w 3058442"/>
              <a:gd name="connsiteY2" fmla="*/ 1042690 h 2306143"/>
              <a:gd name="connsiteX3" fmla="*/ 2089317 w 3058442"/>
              <a:gd name="connsiteY3" fmla="*/ 1321195 h 2306143"/>
              <a:gd name="connsiteX4" fmla="*/ 2518361 w 3058442"/>
              <a:gd name="connsiteY4" fmla="*/ 1722055 h 2306143"/>
              <a:gd name="connsiteX5" fmla="*/ 2840999 w 3058442"/>
              <a:gd name="connsiteY5" fmla="*/ 1917918 h 2306143"/>
              <a:gd name="connsiteX6" fmla="*/ 3045232 w 3058442"/>
              <a:gd name="connsiteY6" fmla="*/ 1992650 h 2306143"/>
              <a:gd name="connsiteX0" fmla="*/ 0 w 3058442"/>
              <a:gd name="connsiteY0" fmla="*/ 2306306 h 2306306"/>
              <a:gd name="connsiteX1" fmla="*/ 797898 w 3058442"/>
              <a:gd name="connsiteY1" fmla="*/ 28886 h 2306306"/>
              <a:gd name="connsiteX2" fmla="*/ 1815110 w 3058442"/>
              <a:gd name="connsiteY2" fmla="*/ 1042853 h 2306306"/>
              <a:gd name="connsiteX3" fmla="*/ 2070751 w 3058442"/>
              <a:gd name="connsiteY3" fmla="*/ 1362224 h 2306306"/>
              <a:gd name="connsiteX4" fmla="*/ 2518361 w 3058442"/>
              <a:gd name="connsiteY4" fmla="*/ 1722218 h 2306306"/>
              <a:gd name="connsiteX5" fmla="*/ 2840999 w 3058442"/>
              <a:gd name="connsiteY5" fmla="*/ 1918081 h 2306306"/>
              <a:gd name="connsiteX6" fmla="*/ 3045232 w 3058442"/>
              <a:gd name="connsiteY6" fmla="*/ 1992813 h 2306306"/>
              <a:gd name="connsiteX0" fmla="*/ 0 w 3058442"/>
              <a:gd name="connsiteY0" fmla="*/ 2301479 h 2301479"/>
              <a:gd name="connsiteX1" fmla="*/ 797898 w 3058442"/>
              <a:gd name="connsiteY1" fmla="*/ 24059 h 2301479"/>
              <a:gd name="connsiteX2" fmla="*/ 1750127 w 3058442"/>
              <a:gd name="connsiteY2" fmla="*/ 1119758 h 2301479"/>
              <a:gd name="connsiteX3" fmla="*/ 2070751 w 3058442"/>
              <a:gd name="connsiteY3" fmla="*/ 1357397 h 2301479"/>
              <a:gd name="connsiteX4" fmla="*/ 2518361 w 3058442"/>
              <a:gd name="connsiteY4" fmla="*/ 1717391 h 2301479"/>
              <a:gd name="connsiteX5" fmla="*/ 2840999 w 3058442"/>
              <a:gd name="connsiteY5" fmla="*/ 1913254 h 2301479"/>
              <a:gd name="connsiteX6" fmla="*/ 3045232 w 3058442"/>
              <a:gd name="connsiteY6" fmla="*/ 1987986 h 2301479"/>
              <a:gd name="connsiteX0" fmla="*/ 0 w 3058442"/>
              <a:gd name="connsiteY0" fmla="*/ 2301643 h 2301643"/>
              <a:gd name="connsiteX1" fmla="*/ 797898 w 3058442"/>
              <a:gd name="connsiteY1" fmla="*/ 24223 h 2301643"/>
              <a:gd name="connsiteX2" fmla="*/ 1750127 w 3058442"/>
              <a:gd name="connsiteY2" fmla="*/ 1119922 h 2301643"/>
              <a:gd name="connsiteX3" fmla="*/ 2052184 w 3058442"/>
              <a:gd name="connsiteY3" fmla="*/ 1408643 h 2301643"/>
              <a:gd name="connsiteX4" fmla="*/ 2518361 w 3058442"/>
              <a:gd name="connsiteY4" fmla="*/ 1717555 h 2301643"/>
              <a:gd name="connsiteX5" fmla="*/ 2840999 w 3058442"/>
              <a:gd name="connsiteY5" fmla="*/ 1913418 h 2301643"/>
              <a:gd name="connsiteX6" fmla="*/ 3045232 w 3058442"/>
              <a:gd name="connsiteY6" fmla="*/ 1988150 h 2301643"/>
              <a:gd name="connsiteX0" fmla="*/ 0 w 3058442"/>
              <a:gd name="connsiteY0" fmla="*/ 2301643 h 2301643"/>
              <a:gd name="connsiteX1" fmla="*/ 797898 w 3058442"/>
              <a:gd name="connsiteY1" fmla="*/ 24223 h 2301643"/>
              <a:gd name="connsiteX2" fmla="*/ 1750127 w 3058442"/>
              <a:gd name="connsiteY2" fmla="*/ 1119922 h 2301643"/>
              <a:gd name="connsiteX3" fmla="*/ 2052184 w 3058442"/>
              <a:gd name="connsiteY3" fmla="*/ 1408643 h 2301643"/>
              <a:gd name="connsiteX4" fmla="*/ 2518362 w 3058442"/>
              <a:gd name="connsiteY4" fmla="*/ 1758421 h 2301643"/>
              <a:gd name="connsiteX5" fmla="*/ 2840999 w 3058442"/>
              <a:gd name="connsiteY5" fmla="*/ 1913418 h 2301643"/>
              <a:gd name="connsiteX6" fmla="*/ 3045232 w 3058442"/>
              <a:gd name="connsiteY6" fmla="*/ 1988150 h 2301643"/>
              <a:gd name="connsiteX0" fmla="*/ 0 w 3058442"/>
              <a:gd name="connsiteY0" fmla="*/ 2301843 h 2301843"/>
              <a:gd name="connsiteX1" fmla="*/ 797898 w 3058442"/>
              <a:gd name="connsiteY1" fmla="*/ 24423 h 2301843"/>
              <a:gd name="connsiteX2" fmla="*/ 1750127 w 3058442"/>
              <a:gd name="connsiteY2" fmla="*/ 1120122 h 2301843"/>
              <a:gd name="connsiteX3" fmla="*/ 2005768 w 3058442"/>
              <a:gd name="connsiteY3" fmla="*/ 1470142 h 2301843"/>
              <a:gd name="connsiteX4" fmla="*/ 2518362 w 3058442"/>
              <a:gd name="connsiteY4" fmla="*/ 1758621 h 2301843"/>
              <a:gd name="connsiteX5" fmla="*/ 2840999 w 3058442"/>
              <a:gd name="connsiteY5" fmla="*/ 1913618 h 2301843"/>
              <a:gd name="connsiteX6" fmla="*/ 3045232 w 3058442"/>
              <a:gd name="connsiteY6" fmla="*/ 1988350 h 2301843"/>
              <a:gd name="connsiteX0" fmla="*/ 0 w 3058442"/>
              <a:gd name="connsiteY0" fmla="*/ 2301710 h 2301710"/>
              <a:gd name="connsiteX1" fmla="*/ 797898 w 3058442"/>
              <a:gd name="connsiteY1" fmla="*/ 24290 h 2301710"/>
              <a:gd name="connsiteX2" fmla="*/ 1750127 w 3058442"/>
              <a:gd name="connsiteY2" fmla="*/ 1119989 h 2301710"/>
              <a:gd name="connsiteX3" fmla="*/ 2033617 w 3058442"/>
              <a:gd name="connsiteY3" fmla="*/ 1429143 h 2301710"/>
              <a:gd name="connsiteX4" fmla="*/ 2518362 w 3058442"/>
              <a:gd name="connsiteY4" fmla="*/ 1758488 h 2301710"/>
              <a:gd name="connsiteX5" fmla="*/ 2840999 w 3058442"/>
              <a:gd name="connsiteY5" fmla="*/ 1913485 h 2301710"/>
              <a:gd name="connsiteX6" fmla="*/ 3045232 w 3058442"/>
              <a:gd name="connsiteY6" fmla="*/ 1988217 h 230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8442" h="2301710">
                <a:moveTo>
                  <a:pt x="0" y="2301710"/>
                </a:moveTo>
                <a:cubicBezTo>
                  <a:pt x="194310" y="1218908"/>
                  <a:pt x="506210" y="221243"/>
                  <a:pt x="797898" y="24290"/>
                </a:cubicBezTo>
                <a:cubicBezTo>
                  <a:pt x="1089586" y="-172663"/>
                  <a:pt x="1544174" y="885847"/>
                  <a:pt x="1750127" y="1119989"/>
                </a:cubicBezTo>
                <a:cubicBezTo>
                  <a:pt x="1956080" y="1354131"/>
                  <a:pt x="1921050" y="1309105"/>
                  <a:pt x="2033617" y="1429143"/>
                </a:cubicBezTo>
                <a:cubicBezTo>
                  <a:pt x="2146184" y="1549182"/>
                  <a:pt x="2383798" y="1677764"/>
                  <a:pt x="2518362" y="1758488"/>
                </a:cubicBezTo>
                <a:cubicBezTo>
                  <a:pt x="2652926" y="1839212"/>
                  <a:pt x="2753187" y="1875197"/>
                  <a:pt x="2840999" y="1913485"/>
                </a:cubicBezTo>
                <a:cubicBezTo>
                  <a:pt x="2928811" y="1951773"/>
                  <a:pt x="3108478" y="2034699"/>
                  <a:pt x="3045232" y="1988217"/>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8028364" y="5662947"/>
            <a:ext cx="1620957" cy="523220"/>
          </a:xfrm>
          <a:prstGeom prst="rect">
            <a:avLst/>
          </a:prstGeom>
        </p:spPr>
        <p:txBody>
          <a:bodyPr wrap="none">
            <a:spAutoFit/>
          </a:bodyPr>
          <a:lstStyle/>
          <a:p>
            <a:r>
              <a:rPr lang="zh-CN" altLang="en-US" sz="2800" dirty="0"/>
              <a:t>磁化曲线</a:t>
            </a:r>
            <a:endParaRPr lang="en-US" altLang="zh-CN" sz="2800" dirty="0"/>
          </a:p>
        </p:txBody>
      </p:sp>
      <mc:AlternateContent xmlns:mc="http://schemas.openxmlformats.org/markup-compatibility/2006" xmlns:a14="http://schemas.microsoft.com/office/drawing/2010/main">
        <mc:Choice Requires="a14">
          <p:sp>
            <p:nvSpPr>
              <p:cNvPr id="48" name="文本框 47"/>
              <p:cNvSpPr txBox="1"/>
              <p:nvPr/>
            </p:nvSpPr>
            <p:spPr>
              <a:xfrm>
                <a:off x="8786551" y="4450333"/>
                <a:ext cx="801630" cy="584775"/>
              </a:xfrm>
              <a:prstGeom prst="rect">
                <a:avLst/>
              </a:prstGeom>
              <a:noFill/>
            </p:spPr>
            <p:txBody>
              <a:bodyPr wrap="none" rtlCol="0">
                <a:spAutoFit/>
              </a:bodyPr>
              <a:lstStyle/>
              <a:p>
                <a14:m>
                  <m:oMath xmlns:m="http://schemas.openxmlformats.org/officeDocument/2006/math">
                    <m:r>
                      <a:rPr lang="zh-CN" altLang="en-US" sz="3200" i="1" smtClean="0">
                        <a:latin typeface="Cambria Math" panose="02040503050406030204" pitchFamily="18" charset="0"/>
                      </a:rPr>
                      <m:t>𝜇</m:t>
                    </m:r>
                  </m:oMath>
                </a14:m>
                <a:r>
                  <a:rPr lang="en-US" altLang="zh-CN" sz="3200" dirty="0"/>
                  <a:t>-</a:t>
                </a:r>
                <a:r>
                  <a:rPr lang="en-US" altLang="zh-CN" sz="3200" i="1" dirty="0"/>
                  <a:t>H</a:t>
                </a:r>
                <a:endParaRPr lang="zh-CN" altLang="en-US" sz="3200" i="1" dirty="0"/>
              </a:p>
            </p:txBody>
          </p:sp>
        </mc:Choice>
        <mc:Fallback xmlns="">
          <p:sp>
            <p:nvSpPr>
              <p:cNvPr id="48" name="文本框 47"/>
              <p:cNvSpPr txBox="1">
                <a:spLocks noRot="1" noChangeAspect="1" noMove="1" noResize="1" noEditPoints="1" noAdjustHandles="1" noChangeArrowheads="1" noChangeShapeType="1" noTextEdit="1"/>
              </p:cNvSpPr>
              <p:nvPr/>
            </p:nvSpPr>
            <p:spPr>
              <a:xfrm>
                <a:off x="8786551" y="4450333"/>
                <a:ext cx="801630" cy="584775"/>
              </a:xfrm>
              <a:prstGeom prst="rect">
                <a:avLst/>
              </a:prstGeom>
              <a:blipFill>
                <a:blip r:embed="rId4"/>
                <a:stretch>
                  <a:fillRect t="-12500" r="-18939" b="-34375"/>
                </a:stretch>
              </a:blipFill>
            </p:spPr>
            <p:txBody>
              <a:bodyPr/>
              <a:lstStyle/>
              <a:p>
                <a:r>
                  <a:rPr lang="zh-CN" altLang="en-US">
                    <a:noFill/>
                  </a:rPr>
                  <a:t> </a:t>
                </a:r>
              </a:p>
            </p:txBody>
          </p:sp>
        </mc:Fallback>
      </mc:AlternateContent>
      <p:sp>
        <p:nvSpPr>
          <p:cNvPr id="49" name="矩形 48"/>
          <p:cNvSpPr/>
          <p:nvPr/>
        </p:nvSpPr>
        <p:spPr>
          <a:xfrm>
            <a:off x="1298755" y="5898698"/>
            <a:ext cx="4237057" cy="461665"/>
          </a:xfrm>
          <a:prstGeom prst="rect">
            <a:avLst/>
          </a:prstGeom>
          <a:solidFill>
            <a:srgbClr val="92D050"/>
          </a:solidFill>
        </p:spPr>
        <p:txBody>
          <a:bodyPr wrap="none">
            <a:spAutoFit/>
          </a:bodyPr>
          <a:lstStyle/>
          <a:p>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Fe</a:t>
            </a:r>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Co</a:t>
            </a:r>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Ni</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和其它铁磁合金</a:t>
            </a:r>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等</a:t>
            </a:r>
            <a:endParaRPr lang="zh-CN" altLang="en-US" sz="2400" dirty="0"/>
          </a:p>
        </p:txBody>
      </p:sp>
      <mc:AlternateContent xmlns:mc="http://schemas.openxmlformats.org/markup-compatibility/2006" xmlns:a14="http://schemas.microsoft.com/office/drawing/2010/main">
        <mc:Choice Requires="a14">
          <p:sp>
            <p:nvSpPr>
              <p:cNvPr id="50" name="文本框 49"/>
              <p:cNvSpPr txBox="1"/>
              <p:nvPr/>
            </p:nvSpPr>
            <p:spPr>
              <a:xfrm>
                <a:off x="8993296" y="2691271"/>
                <a:ext cx="764953" cy="523220"/>
              </a:xfrm>
              <a:prstGeom prst="rect">
                <a:avLst/>
              </a:prstGeom>
              <a:noFill/>
            </p:spPr>
            <p:txBody>
              <a:bodyPr wrap="none" rtlCol="0">
                <a:spAutoFit/>
              </a:bodyPr>
              <a:lstStyle/>
              <a:p>
                <a14:m>
                  <m:oMath xmlns:m="http://schemas.openxmlformats.org/officeDocument/2006/math">
                    <m:r>
                      <a:rPr lang="en-US" altLang="zh-CN" sz="2800" b="0" i="1" smtClean="0">
                        <a:latin typeface="Cambria Math" panose="02040503050406030204" pitchFamily="18" charset="0"/>
                      </a:rPr>
                      <m:t>𝐵</m:t>
                    </m:r>
                  </m:oMath>
                </a14:m>
                <a:r>
                  <a:rPr lang="en-US" altLang="zh-CN" sz="2800" dirty="0"/>
                  <a:t>-</a:t>
                </a:r>
                <a:r>
                  <a:rPr lang="en-US" altLang="zh-CN" sz="2800" i="1" dirty="0"/>
                  <a:t>H</a:t>
                </a:r>
                <a:endParaRPr lang="zh-CN" altLang="en-US" sz="2800" i="1" dirty="0"/>
              </a:p>
            </p:txBody>
          </p:sp>
        </mc:Choice>
        <mc:Fallback xmlns="">
          <p:sp>
            <p:nvSpPr>
              <p:cNvPr id="50" name="文本框 49"/>
              <p:cNvSpPr txBox="1">
                <a:spLocks noRot="1" noChangeAspect="1" noMove="1" noResize="1" noEditPoints="1" noAdjustHandles="1" noChangeArrowheads="1" noChangeShapeType="1" noTextEdit="1"/>
              </p:cNvSpPr>
              <p:nvPr/>
            </p:nvSpPr>
            <p:spPr>
              <a:xfrm>
                <a:off x="8993296" y="2691271"/>
                <a:ext cx="764953" cy="523220"/>
              </a:xfrm>
              <a:prstGeom prst="rect">
                <a:avLst/>
              </a:prstGeom>
              <a:blipFill>
                <a:blip r:embed="rId5"/>
                <a:stretch>
                  <a:fillRect t="-10465" r="-15079" b="-325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p:cNvSpPr txBox="1"/>
              <p:nvPr/>
            </p:nvSpPr>
            <p:spPr>
              <a:xfrm>
                <a:off x="10017372" y="2193851"/>
                <a:ext cx="475195"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𝑠</m:t>
                      </m:r>
                    </m:oMath>
                  </m:oMathPara>
                </a14:m>
                <a:endParaRPr lang="zh-CN" altLang="en-US" sz="3200" i="1" dirty="0"/>
              </a:p>
            </p:txBody>
          </p:sp>
        </mc:Choice>
        <mc:Fallback xmlns="">
          <p:sp>
            <p:nvSpPr>
              <p:cNvPr id="51" name="文本框 50"/>
              <p:cNvSpPr txBox="1">
                <a:spLocks noRot="1" noChangeAspect="1" noMove="1" noResize="1" noEditPoints="1" noAdjustHandles="1" noChangeArrowheads="1" noChangeShapeType="1" noTextEdit="1"/>
              </p:cNvSpPr>
              <p:nvPr/>
            </p:nvSpPr>
            <p:spPr>
              <a:xfrm>
                <a:off x="10017372" y="2193851"/>
                <a:ext cx="475195" cy="584775"/>
              </a:xfrm>
              <a:prstGeom prst="rect">
                <a:avLst/>
              </a:prstGeom>
              <a:blipFill>
                <a:blip r:embed="rId6"/>
                <a:stretch>
                  <a:fillRect/>
                </a:stretch>
              </a:blipFill>
            </p:spPr>
            <p:txBody>
              <a:bodyPr/>
              <a:lstStyle/>
              <a:p>
                <a:r>
                  <a:rPr lang="zh-CN" altLang="en-US">
                    <a:noFill/>
                  </a:rPr>
                  <a:t> </a:t>
                </a:r>
              </a:p>
            </p:txBody>
          </p:sp>
        </mc:Fallback>
      </mc:AlternateContent>
      <p:sp>
        <p:nvSpPr>
          <p:cNvPr id="53" name="文本框 52"/>
          <p:cNvSpPr txBox="1"/>
          <p:nvPr/>
        </p:nvSpPr>
        <p:spPr>
          <a:xfrm>
            <a:off x="6709156" y="2186883"/>
            <a:ext cx="490840" cy="523220"/>
          </a:xfrm>
          <a:prstGeom prst="rect">
            <a:avLst/>
          </a:prstGeom>
          <a:noFill/>
        </p:spPr>
        <p:txBody>
          <a:bodyPr wrap="none" rtlCol="0">
            <a:spAutoFit/>
          </a:bodyPr>
          <a:lstStyle/>
          <a:p>
            <a:r>
              <a:rPr lang="en-US" altLang="zh-CN" sz="2800" i="1" dirty="0"/>
              <a:t>B</a:t>
            </a:r>
            <a:r>
              <a:rPr lang="en-US" altLang="zh-CN" sz="2800" baseline="-25000" dirty="0"/>
              <a:t>S</a:t>
            </a:r>
            <a:endParaRPr lang="zh-CN" altLang="en-US" sz="2800" baseline="-25000" dirty="0"/>
          </a:p>
        </p:txBody>
      </p:sp>
    </p:spTree>
    <p:extLst>
      <p:ext uri="{BB962C8B-B14F-4D97-AF65-F5344CB8AC3E}">
        <p14:creationId xmlns:p14="http://schemas.microsoft.com/office/powerpoint/2010/main" val="12815545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animBg="1"/>
      <p:bldP spid="48" grpId="0"/>
      <p:bldP spid="51" grpId="0"/>
      <p:bldP spid="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实验原理</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11</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3</a:t>
            </a:r>
            <a:endParaRPr lang="zh-CN" altLang="en-US" sz="4400" b="1" dirty="0">
              <a:solidFill>
                <a:schemeClr val="tx1"/>
              </a:solidFill>
            </a:endParaRPr>
          </a:p>
        </p:txBody>
      </p:sp>
      <p:sp>
        <p:nvSpPr>
          <p:cNvPr id="5" name="文本框 4"/>
          <p:cNvSpPr txBox="1"/>
          <p:nvPr/>
        </p:nvSpPr>
        <p:spPr>
          <a:xfrm>
            <a:off x="261856" y="1053075"/>
            <a:ext cx="5978234" cy="584775"/>
          </a:xfrm>
          <a:prstGeom prst="rect">
            <a:avLst/>
          </a:prstGeom>
          <a:noFill/>
        </p:spPr>
        <p:txBody>
          <a:bodyPr wrap="square" rtlCol="0">
            <a:spAutoFit/>
          </a:bodyPr>
          <a:lstStyle/>
          <a:p>
            <a:r>
              <a:rPr lang="en-US" altLang="zh-CN" sz="3200" b="1" dirty="0">
                <a:solidFill>
                  <a:srgbClr val="FF0000"/>
                </a:solidFill>
              </a:rPr>
              <a:t>3.2 </a:t>
            </a:r>
            <a:r>
              <a:rPr lang="zh-CN" altLang="en-US" sz="3200" b="1" dirty="0">
                <a:solidFill>
                  <a:srgbClr val="FF0000"/>
                </a:solidFill>
              </a:rPr>
              <a:t>铁磁材料的磁滞回线</a:t>
            </a:r>
            <a:endParaRPr lang="en-US" altLang="zh-CN" sz="3200" b="1" dirty="0">
              <a:solidFill>
                <a:srgbClr val="FF0000"/>
              </a:solidFill>
            </a:endParaRPr>
          </a:p>
        </p:txBody>
      </p:sp>
      <p:pic>
        <p:nvPicPr>
          <p:cNvPr id="15" name="图片 14"/>
          <p:cNvPicPr>
            <a:picLocks noChangeAspect="1"/>
          </p:cNvPicPr>
          <p:nvPr/>
        </p:nvPicPr>
        <p:blipFill rotWithShape="1">
          <a:blip r:embed="rId3"/>
          <a:srcRect l="1381" t="7647" r="2198" b="974"/>
          <a:stretch/>
        </p:blipFill>
        <p:spPr>
          <a:xfrm>
            <a:off x="6622627" y="1267194"/>
            <a:ext cx="5028788" cy="4671603"/>
          </a:xfrm>
          <a:prstGeom prst="roundRect">
            <a:avLst/>
          </a:prstGeom>
          <a:ln w="57150">
            <a:solidFill>
              <a:schemeClr val="accent1"/>
            </a:solidFill>
          </a:ln>
        </p:spPr>
      </p:pic>
      <p:sp>
        <p:nvSpPr>
          <p:cNvPr id="34" name="文本框 33"/>
          <p:cNvSpPr txBox="1"/>
          <p:nvPr/>
        </p:nvSpPr>
        <p:spPr>
          <a:xfrm>
            <a:off x="1385736" y="1885907"/>
            <a:ext cx="3907686" cy="2277547"/>
          </a:xfrm>
          <a:prstGeom prst="rect">
            <a:avLst/>
          </a:prstGeom>
          <a:noFill/>
          <a:ln w="38100">
            <a:solidFill>
              <a:schemeClr val="bg2">
                <a:lumMod val="50000"/>
              </a:schemeClr>
            </a:solidFill>
          </a:ln>
        </p:spPr>
        <p:txBody>
          <a:bodyPr wrap="square" rtlCol="0">
            <a:spAutoFit/>
          </a:bodyPr>
          <a:lstStyle/>
          <a:p>
            <a:pPr>
              <a:spcBef>
                <a:spcPts val="600"/>
              </a:spcBef>
              <a:spcAft>
                <a:spcPts val="600"/>
              </a:spcAft>
            </a:pPr>
            <a:r>
              <a:rPr lang="en-US" altLang="zh-CN" sz="2800" b="1" dirty="0" err="1"/>
              <a:t>Os</a:t>
            </a:r>
            <a:r>
              <a:rPr lang="zh-CN" altLang="en-US" sz="2800" b="1" dirty="0"/>
              <a:t>：初始磁化曲线</a:t>
            </a:r>
            <a:endParaRPr lang="en-US" altLang="zh-CN" sz="2800" b="1" dirty="0"/>
          </a:p>
          <a:p>
            <a:pPr>
              <a:spcBef>
                <a:spcPts val="600"/>
              </a:spcBef>
              <a:spcAft>
                <a:spcPts val="600"/>
              </a:spcAft>
            </a:pPr>
            <a:r>
              <a:rPr lang="en-US" altLang="zh-CN" sz="2800" b="1" i="1" dirty="0"/>
              <a:t>B</a:t>
            </a:r>
            <a:r>
              <a:rPr lang="en-US" altLang="zh-CN" sz="2800" b="1" baseline="-25000" dirty="0"/>
              <a:t>S  </a:t>
            </a:r>
            <a:r>
              <a:rPr lang="zh-CN" altLang="en-US" sz="2800" b="1" dirty="0"/>
              <a:t>：饱和磁感应强度</a:t>
            </a:r>
            <a:endParaRPr lang="en-US" altLang="zh-CN" sz="2800" b="1" dirty="0"/>
          </a:p>
          <a:p>
            <a:pPr>
              <a:spcBef>
                <a:spcPts val="600"/>
              </a:spcBef>
              <a:spcAft>
                <a:spcPts val="600"/>
              </a:spcAft>
            </a:pPr>
            <a:r>
              <a:rPr lang="en-US" altLang="zh-CN" sz="2800" b="1" i="1" dirty="0"/>
              <a:t>B</a:t>
            </a:r>
            <a:r>
              <a:rPr lang="en-US" altLang="zh-CN" sz="2800" b="1" baseline="-25000" dirty="0"/>
              <a:t>r  </a:t>
            </a:r>
            <a:r>
              <a:rPr lang="zh-CN" altLang="en-US" sz="2800" b="1" dirty="0"/>
              <a:t>：剩余磁感应强度</a:t>
            </a:r>
            <a:endParaRPr lang="en-US" altLang="zh-CN" sz="2800" b="1" dirty="0"/>
          </a:p>
          <a:p>
            <a:pPr>
              <a:spcBef>
                <a:spcPts val="600"/>
              </a:spcBef>
              <a:spcAft>
                <a:spcPts val="600"/>
              </a:spcAft>
            </a:pPr>
            <a:r>
              <a:rPr lang="en-US" altLang="zh-CN" sz="2800" b="1" i="1" dirty="0" err="1"/>
              <a:t>H</a:t>
            </a:r>
            <a:r>
              <a:rPr lang="en-US" altLang="zh-CN" sz="2800" b="1" baseline="-25000" dirty="0" err="1"/>
              <a:t>c</a:t>
            </a:r>
            <a:r>
              <a:rPr lang="en-US" altLang="zh-CN" sz="2800" b="1" baseline="-25000" dirty="0"/>
              <a:t> </a:t>
            </a:r>
            <a:r>
              <a:rPr lang="zh-CN" altLang="en-US" sz="2800" b="1" dirty="0"/>
              <a:t>：矫顽力</a:t>
            </a:r>
            <a:r>
              <a:rPr lang="en-US" altLang="zh-CN" sz="2800" b="1" baseline="-25000" dirty="0"/>
              <a:t> </a:t>
            </a:r>
          </a:p>
        </p:txBody>
      </p:sp>
      <p:sp>
        <p:nvSpPr>
          <p:cNvPr id="23" name="矩形 22"/>
          <p:cNvSpPr/>
          <p:nvPr/>
        </p:nvSpPr>
        <p:spPr>
          <a:xfrm>
            <a:off x="513883" y="4600683"/>
            <a:ext cx="5801021" cy="1538883"/>
          </a:xfrm>
          <a:prstGeom prst="rect">
            <a:avLst/>
          </a:prstGeom>
        </p:spPr>
        <p:txBody>
          <a:bodyPr wrap="square">
            <a:spAutoFit/>
          </a:bodyPr>
          <a:lstStyle/>
          <a:p>
            <a:pPr lvl="0">
              <a:spcBef>
                <a:spcPts val="600"/>
              </a:spcBef>
              <a:spcAft>
                <a:spcPts val="600"/>
              </a:spcAft>
            </a:pPr>
            <a:r>
              <a:rPr lang="zh-CN" altLang="en-US" sz="2800" u="sng" dirty="0">
                <a:solidFill>
                  <a:prstClr val="black"/>
                </a:solidFill>
              </a:rPr>
              <a:t>磁滞</a:t>
            </a:r>
            <a:r>
              <a:rPr lang="zh-CN" altLang="en-US" sz="2800" dirty="0">
                <a:solidFill>
                  <a:prstClr val="black"/>
                </a:solidFill>
              </a:rPr>
              <a:t>：</a:t>
            </a:r>
            <a:r>
              <a:rPr lang="en-US" altLang="zh-CN" sz="2800" i="1" dirty="0">
                <a:solidFill>
                  <a:prstClr val="black"/>
                </a:solidFill>
              </a:rPr>
              <a:t>B</a:t>
            </a:r>
            <a:r>
              <a:rPr lang="zh-CN" altLang="en-US" sz="2800" dirty="0">
                <a:solidFill>
                  <a:prstClr val="black"/>
                </a:solidFill>
              </a:rPr>
              <a:t>的变化总是落后于</a:t>
            </a:r>
            <a:r>
              <a:rPr lang="en-US" altLang="zh-CN" sz="2800" i="1" dirty="0">
                <a:solidFill>
                  <a:prstClr val="black"/>
                </a:solidFill>
              </a:rPr>
              <a:t>H</a:t>
            </a:r>
            <a:r>
              <a:rPr lang="zh-CN" altLang="en-US" sz="2800" dirty="0">
                <a:solidFill>
                  <a:prstClr val="black"/>
                </a:solidFill>
              </a:rPr>
              <a:t>的变化</a:t>
            </a:r>
            <a:endParaRPr lang="en-US" altLang="zh-CN" sz="2800" dirty="0">
              <a:solidFill>
                <a:prstClr val="black"/>
              </a:solidFill>
            </a:endParaRPr>
          </a:p>
          <a:p>
            <a:pPr lvl="0">
              <a:spcBef>
                <a:spcPts val="600"/>
              </a:spcBef>
              <a:spcAft>
                <a:spcPts val="600"/>
              </a:spcAft>
            </a:pPr>
            <a:r>
              <a:rPr lang="zh-CN" altLang="en-US" sz="2800" u="sng" dirty="0">
                <a:solidFill>
                  <a:prstClr val="black"/>
                </a:solidFill>
              </a:rPr>
              <a:t>磁滞损耗</a:t>
            </a:r>
            <a:r>
              <a:rPr lang="en-US" altLang="zh-CN" sz="2800" i="1" dirty="0"/>
              <a:t>B</a:t>
            </a:r>
            <a:r>
              <a:rPr lang="en-US" altLang="zh-CN" sz="2800" i="1" baseline="-25000" dirty="0"/>
              <a:t>H</a:t>
            </a:r>
            <a:r>
              <a:rPr lang="zh-CN" altLang="en-US" sz="2800" dirty="0">
                <a:solidFill>
                  <a:prstClr val="black"/>
                </a:solidFill>
              </a:rPr>
              <a:t>：能量损失与磁滞回线包围的面积成正比</a:t>
            </a:r>
          </a:p>
        </p:txBody>
      </p:sp>
      <p:sp>
        <p:nvSpPr>
          <p:cNvPr id="4" name="矩形 3"/>
          <p:cNvSpPr/>
          <p:nvPr/>
        </p:nvSpPr>
        <p:spPr>
          <a:xfrm>
            <a:off x="7216792" y="6050620"/>
            <a:ext cx="4051109" cy="400110"/>
          </a:xfrm>
          <a:prstGeom prst="rect">
            <a:avLst/>
          </a:prstGeom>
        </p:spPr>
        <p:txBody>
          <a:bodyPr wrap="none">
            <a:spAutoFit/>
          </a:bodyPr>
          <a:lstStyle/>
          <a:p>
            <a:r>
              <a:rPr lang="zh-CN" altLang="zh-CN" sz="2000" b="1" kern="100" dirty="0">
                <a:latin typeface="Times New Roman" panose="02020603050405020304" pitchFamily="18" charset="0"/>
                <a:ea typeface="宋体" panose="02010600030101010101" pitchFamily="2" charset="-122"/>
                <a:cs typeface="Times New Roman" panose="02020603050405020304" pitchFamily="18" charset="0"/>
              </a:rPr>
              <a:t>磁化→去磁→反向磁化→反向</a:t>
            </a:r>
            <a:r>
              <a:rPr lang="zh-CN" altLang="en-US" sz="2000" b="1" kern="100" dirty="0">
                <a:latin typeface="Times New Roman" panose="02020603050405020304" pitchFamily="18" charset="0"/>
                <a:ea typeface="宋体" panose="02010600030101010101" pitchFamily="2" charset="-122"/>
                <a:cs typeface="Times New Roman" panose="02020603050405020304" pitchFamily="18" charset="0"/>
              </a:rPr>
              <a:t>去磁</a:t>
            </a:r>
            <a:endParaRPr lang="zh-CN" altLang="en-US" sz="2000" b="1" dirty="0"/>
          </a:p>
        </p:txBody>
      </p:sp>
    </p:spTree>
    <p:extLst>
      <p:ext uri="{BB962C8B-B14F-4D97-AF65-F5344CB8AC3E}">
        <p14:creationId xmlns:p14="http://schemas.microsoft.com/office/powerpoint/2010/main" val="11305407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实验原理</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12</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3</a:t>
            </a:r>
            <a:endParaRPr lang="zh-CN" altLang="en-US" sz="4400" b="1" dirty="0">
              <a:solidFill>
                <a:schemeClr val="tx1"/>
              </a:solidFill>
            </a:endParaRPr>
          </a:p>
        </p:txBody>
      </p:sp>
      <p:grpSp>
        <p:nvGrpSpPr>
          <p:cNvPr id="13" name="组合 12"/>
          <p:cNvGrpSpPr/>
          <p:nvPr/>
        </p:nvGrpSpPr>
        <p:grpSpPr>
          <a:xfrm>
            <a:off x="1372544" y="1216926"/>
            <a:ext cx="4806203" cy="4720861"/>
            <a:chOff x="760878" y="1729869"/>
            <a:chExt cx="4806203" cy="4720861"/>
          </a:xfrm>
        </p:grpSpPr>
        <p:grpSp>
          <p:nvGrpSpPr>
            <p:cNvPr id="10" name="组合 3"/>
            <p:cNvGrpSpPr>
              <a:grpSpLocks noChangeAspect="1"/>
            </p:cNvGrpSpPr>
            <p:nvPr/>
          </p:nvGrpSpPr>
          <p:grpSpPr bwMode="auto">
            <a:xfrm>
              <a:off x="760878" y="1729869"/>
              <a:ext cx="4806203" cy="4720861"/>
              <a:chOff x="1547813" y="333375"/>
              <a:chExt cx="5903912" cy="5799138"/>
            </a:xfrm>
          </p:grpSpPr>
          <p:pic>
            <p:nvPicPr>
              <p:cNvPr id="11" name="Picture 4"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333375"/>
                <a:ext cx="5903912" cy="579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Freeform 8"/>
              <p:cNvSpPr>
                <a:spLocks/>
              </p:cNvSpPr>
              <p:nvPr/>
            </p:nvSpPr>
            <p:spPr bwMode="auto">
              <a:xfrm>
                <a:off x="4284663" y="1412875"/>
                <a:ext cx="1655762" cy="2016125"/>
              </a:xfrm>
              <a:custGeom>
                <a:avLst/>
                <a:gdLst>
                  <a:gd name="T0" fmla="*/ 0 w 1043"/>
                  <a:gd name="T1" fmla="*/ 2147483646 h 1270"/>
                  <a:gd name="T2" fmla="*/ 2147483646 w 1043"/>
                  <a:gd name="T3" fmla="*/ 2147483646 h 1270"/>
                  <a:gd name="T4" fmla="*/ 2147483646 w 1043"/>
                  <a:gd name="T5" fmla="*/ 2147483646 h 1270"/>
                  <a:gd name="T6" fmla="*/ 2147483646 w 1043"/>
                  <a:gd name="T7" fmla="*/ 2147483646 h 1270"/>
                  <a:gd name="T8" fmla="*/ 2147483646 w 1043"/>
                  <a:gd name="T9" fmla="*/ 0 h 12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3" h="1270">
                    <a:moveTo>
                      <a:pt x="0" y="1270"/>
                    </a:moveTo>
                    <a:cubicBezTo>
                      <a:pt x="53" y="1114"/>
                      <a:pt x="106" y="959"/>
                      <a:pt x="181" y="816"/>
                    </a:cubicBezTo>
                    <a:cubicBezTo>
                      <a:pt x="256" y="673"/>
                      <a:pt x="355" y="521"/>
                      <a:pt x="453" y="408"/>
                    </a:cubicBezTo>
                    <a:cubicBezTo>
                      <a:pt x="551" y="295"/>
                      <a:pt x="673" y="204"/>
                      <a:pt x="771" y="136"/>
                    </a:cubicBezTo>
                    <a:cubicBezTo>
                      <a:pt x="869" y="68"/>
                      <a:pt x="998" y="23"/>
                      <a:pt x="1043" y="0"/>
                    </a:cubicBezTo>
                  </a:path>
                </a:pathLst>
              </a:custGeom>
              <a:noFill/>
              <a:ln w="635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 name="椭圆 5"/>
            <p:cNvSpPr/>
            <p:nvPr/>
          </p:nvSpPr>
          <p:spPr>
            <a:xfrm>
              <a:off x="3133587" y="3675529"/>
              <a:ext cx="144000" cy="14343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563893" y="3039033"/>
              <a:ext cx="144000" cy="14343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976270" y="2698371"/>
              <a:ext cx="144000" cy="14343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p:cNvSpPr/>
          <p:nvPr/>
        </p:nvSpPr>
        <p:spPr>
          <a:xfrm>
            <a:off x="8067269" y="5836108"/>
            <a:ext cx="1620957" cy="523220"/>
          </a:xfrm>
          <a:prstGeom prst="rect">
            <a:avLst/>
          </a:prstGeom>
        </p:spPr>
        <p:txBody>
          <a:bodyPr wrap="none">
            <a:spAutoFit/>
          </a:bodyPr>
          <a:lstStyle/>
          <a:p>
            <a:r>
              <a:rPr lang="zh-CN" altLang="en-US" sz="2800" dirty="0"/>
              <a:t>磁化曲线</a:t>
            </a:r>
            <a:endParaRPr lang="en-US" altLang="zh-CN" sz="2800" dirty="0"/>
          </a:p>
        </p:txBody>
      </p:sp>
      <p:grpSp>
        <p:nvGrpSpPr>
          <p:cNvPr id="8" name="组合 7"/>
          <p:cNvGrpSpPr/>
          <p:nvPr/>
        </p:nvGrpSpPr>
        <p:grpSpPr>
          <a:xfrm>
            <a:off x="5252410" y="1456574"/>
            <a:ext cx="6184300" cy="4581343"/>
            <a:chOff x="5126904" y="1664743"/>
            <a:chExt cx="6184300" cy="4581343"/>
          </a:xfrm>
        </p:grpSpPr>
        <p:sp>
          <p:nvSpPr>
            <p:cNvPr id="22" name="弧形 21"/>
            <p:cNvSpPr/>
            <p:nvPr/>
          </p:nvSpPr>
          <p:spPr>
            <a:xfrm rot="764506" flipH="1">
              <a:off x="8207127" y="2733960"/>
              <a:ext cx="3104077" cy="3512126"/>
            </a:xfrm>
            <a:prstGeom prst="arc">
              <a:avLst>
                <a:gd name="adj1" fmla="val 16651144"/>
                <a:gd name="adj2" fmla="val 18586"/>
              </a:avLst>
            </a:prstGeom>
            <a:ln w="50800">
              <a:solidFill>
                <a:srgbClr val="00B0F0"/>
              </a:solidFill>
              <a:headEnd type="arrow" w="sm"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7" name="组合 6"/>
            <p:cNvGrpSpPr/>
            <p:nvPr/>
          </p:nvGrpSpPr>
          <p:grpSpPr>
            <a:xfrm>
              <a:off x="5126904" y="1664743"/>
              <a:ext cx="6042395" cy="4189515"/>
              <a:chOff x="5126904" y="1664743"/>
              <a:chExt cx="6042395" cy="4189515"/>
            </a:xfrm>
          </p:grpSpPr>
          <p:cxnSp>
            <p:nvCxnSpPr>
              <p:cNvPr id="17" name="直接连接符 16"/>
              <p:cNvCxnSpPr/>
              <p:nvPr/>
            </p:nvCxnSpPr>
            <p:spPr>
              <a:xfrm flipV="1">
                <a:off x="7093596" y="2703469"/>
                <a:ext cx="2703994" cy="362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6793047" y="5321364"/>
                <a:ext cx="4171709" cy="193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7051502" y="1773614"/>
                <a:ext cx="11254" cy="39965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760213" y="5331038"/>
                <a:ext cx="409086" cy="523220"/>
              </a:xfrm>
              <a:prstGeom prst="rect">
                <a:avLst/>
              </a:prstGeom>
              <a:noFill/>
            </p:spPr>
            <p:txBody>
              <a:bodyPr wrap="none" rtlCol="0">
                <a:spAutoFit/>
              </a:bodyPr>
              <a:lstStyle/>
              <a:p>
                <a:r>
                  <a:rPr lang="en-US" altLang="zh-CN" sz="2800" i="1" dirty="0"/>
                  <a:t>H</a:t>
                </a:r>
                <a:endParaRPr lang="zh-CN" altLang="en-US" sz="2800" i="1" dirty="0"/>
              </a:p>
            </p:txBody>
          </p:sp>
          <p:sp>
            <p:nvSpPr>
              <p:cNvPr id="21" name="文本框 20"/>
              <p:cNvSpPr txBox="1"/>
              <p:nvPr/>
            </p:nvSpPr>
            <p:spPr>
              <a:xfrm>
                <a:off x="6617985" y="1664743"/>
                <a:ext cx="380232" cy="523220"/>
              </a:xfrm>
              <a:prstGeom prst="rect">
                <a:avLst/>
              </a:prstGeom>
              <a:noFill/>
            </p:spPr>
            <p:txBody>
              <a:bodyPr wrap="none" rtlCol="0">
                <a:spAutoFit/>
              </a:bodyPr>
              <a:lstStyle/>
              <a:p>
                <a:r>
                  <a:rPr lang="en-US" altLang="zh-CN" sz="2800" i="1" dirty="0"/>
                  <a:t>B</a:t>
                </a:r>
                <a:endParaRPr lang="zh-CN" altLang="en-US" sz="2800" i="1" dirty="0"/>
              </a:p>
            </p:txBody>
          </p:sp>
          <p:cxnSp>
            <p:nvCxnSpPr>
              <p:cNvPr id="24" name="直接连接符 23"/>
              <p:cNvCxnSpPr/>
              <p:nvPr/>
            </p:nvCxnSpPr>
            <p:spPr>
              <a:xfrm flipV="1">
                <a:off x="9864602" y="2710743"/>
                <a:ext cx="8313" cy="2588279"/>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6444089" y="5079103"/>
                <a:ext cx="380232" cy="523220"/>
              </a:xfrm>
              <a:prstGeom prst="rect">
                <a:avLst/>
              </a:prstGeom>
              <a:noFill/>
            </p:spPr>
            <p:txBody>
              <a:bodyPr wrap="none" rtlCol="0">
                <a:spAutoFit/>
              </a:bodyPr>
              <a:lstStyle/>
              <a:p>
                <a:r>
                  <a:rPr lang="en-US" altLang="zh-CN" sz="2800" dirty="0"/>
                  <a:t>0</a:t>
                </a:r>
                <a:endParaRPr lang="zh-CN" altLang="en-US" sz="2800" dirty="0"/>
              </a:p>
            </p:txBody>
          </p:sp>
          <p:sp>
            <p:nvSpPr>
              <p:cNvPr id="26" name="文本框 25"/>
              <p:cNvSpPr txBox="1"/>
              <p:nvPr/>
            </p:nvSpPr>
            <p:spPr>
              <a:xfrm>
                <a:off x="9954040" y="5315730"/>
                <a:ext cx="570990" cy="523220"/>
              </a:xfrm>
              <a:prstGeom prst="rect">
                <a:avLst/>
              </a:prstGeom>
              <a:noFill/>
            </p:spPr>
            <p:txBody>
              <a:bodyPr wrap="none" rtlCol="0">
                <a:spAutoFit/>
              </a:bodyPr>
              <a:lstStyle/>
              <a:p>
                <a:r>
                  <a:rPr lang="en-US" altLang="zh-CN" sz="2800" i="1" dirty="0" err="1"/>
                  <a:t>B</a:t>
                </a:r>
                <a:r>
                  <a:rPr lang="en-US" altLang="zh-CN" sz="2800" baseline="-25000" dirty="0" err="1"/>
                  <a:t>m</a:t>
                </a:r>
                <a:endParaRPr lang="zh-CN" altLang="en-US" sz="2800" baseline="-25000" dirty="0"/>
              </a:p>
            </p:txBody>
          </p:sp>
          <p:sp>
            <p:nvSpPr>
              <p:cNvPr id="27" name="任意多边形 26"/>
              <p:cNvSpPr/>
              <p:nvPr/>
            </p:nvSpPr>
            <p:spPr>
              <a:xfrm>
                <a:off x="7080316" y="3274267"/>
                <a:ext cx="2717274" cy="2047097"/>
              </a:xfrm>
              <a:custGeom>
                <a:avLst/>
                <a:gdLst>
                  <a:gd name="connsiteX0" fmla="*/ 0 w 3099694"/>
                  <a:gd name="connsiteY0" fmla="*/ 2382416 h 2414869"/>
                  <a:gd name="connsiteX1" fmla="*/ 640080 w 3099694"/>
                  <a:gd name="connsiteY1" fmla="*/ 23264 h 2414869"/>
                  <a:gd name="connsiteX2" fmla="*/ 1508760 w 3099694"/>
                  <a:gd name="connsiteY2" fmla="*/ 1221128 h 2414869"/>
                  <a:gd name="connsiteX3" fmla="*/ 2267712 w 3099694"/>
                  <a:gd name="connsiteY3" fmla="*/ 1961792 h 2414869"/>
                  <a:gd name="connsiteX4" fmla="*/ 3026664 w 3099694"/>
                  <a:gd name="connsiteY4" fmla="*/ 2382416 h 2414869"/>
                  <a:gd name="connsiteX5" fmla="*/ 3026664 w 3099694"/>
                  <a:gd name="connsiteY5" fmla="*/ 2354984 h 2414869"/>
                  <a:gd name="connsiteX0" fmla="*/ 0 w 3378193"/>
                  <a:gd name="connsiteY0" fmla="*/ 2562364 h 2562364"/>
                  <a:gd name="connsiteX1" fmla="*/ 918579 w 3378193"/>
                  <a:gd name="connsiteY1" fmla="*/ 29532 h 2562364"/>
                  <a:gd name="connsiteX2" fmla="*/ 1787259 w 3378193"/>
                  <a:gd name="connsiteY2" fmla="*/ 1227396 h 2562364"/>
                  <a:gd name="connsiteX3" fmla="*/ 2546211 w 3378193"/>
                  <a:gd name="connsiteY3" fmla="*/ 1968060 h 2562364"/>
                  <a:gd name="connsiteX4" fmla="*/ 3305163 w 3378193"/>
                  <a:gd name="connsiteY4" fmla="*/ 2388684 h 2562364"/>
                  <a:gd name="connsiteX5" fmla="*/ 3305163 w 3378193"/>
                  <a:gd name="connsiteY5" fmla="*/ 2361252 h 2562364"/>
                  <a:gd name="connsiteX0" fmla="*/ 0 w 3378193"/>
                  <a:gd name="connsiteY0" fmla="*/ 2562364 h 2562364"/>
                  <a:gd name="connsiteX1" fmla="*/ 983563 w 3378193"/>
                  <a:gd name="connsiteY1" fmla="*/ 29532 h 2562364"/>
                  <a:gd name="connsiteX2" fmla="*/ 1787259 w 3378193"/>
                  <a:gd name="connsiteY2" fmla="*/ 1227396 h 2562364"/>
                  <a:gd name="connsiteX3" fmla="*/ 2546211 w 3378193"/>
                  <a:gd name="connsiteY3" fmla="*/ 1968060 h 2562364"/>
                  <a:gd name="connsiteX4" fmla="*/ 3305163 w 3378193"/>
                  <a:gd name="connsiteY4" fmla="*/ 2388684 h 2562364"/>
                  <a:gd name="connsiteX5" fmla="*/ 3305163 w 3378193"/>
                  <a:gd name="connsiteY5" fmla="*/ 2361252 h 2562364"/>
                  <a:gd name="connsiteX0" fmla="*/ 0 w 3378193"/>
                  <a:gd name="connsiteY0" fmla="*/ 2563627 h 2563627"/>
                  <a:gd name="connsiteX1" fmla="*/ 983563 w 3378193"/>
                  <a:gd name="connsiteY1" fmla="*/ 30795 h 2563627"/>
                  <a:gd name="connsiteX2" fmla="*/ 1870809 w 3378193"/>
                  <a:gd name="connsiteY2" fmla="*/ 1208226 h 2563627"/>
                  <a:gd name="connsiteX3" fmla="*/ 2546211 w 3378193"/>
                  <a:gd name="connsiteY3" fmla="*/ 1969323 h 2563627"/>
                  <a:gd name="connsiteX4" fmla="*/ 3305163 w 3378193"/>
                  <a:gd name="connsiteY4" fmla="*/ 2389947 h 2563627"/>
                  <a:gd name="connsiteX5" fmla="*/ 3305163 w 3378193"/>
                  <a:gd name="connsiteY5" fmla="*/ 2362515 h 2563627"/>
                  <a:gd name="connsiteX0" fmla="*/ 0 w 3318826"/>
                  <a:gd name="connsiteY0" fmla="*/ 2563627 h 2563627"/>
                  <a:gd name="connsiteX1" fmla="*/ 983563 w 3318826"/>
                  <a:gd name="connsiteY1" fmla="*/ 30795 h 2563627"/>
                  <a:gd name="connsiteX2" fmla="*/ 1870809 w 3318826"/>
                  <a:gd name="connsiteY2" fmla="*/ 1208226 h 2563627"/>
                  <a:gd name="connsiteX3" fmla="*/ 2546211 w 3318826"/>
                  <a:gd name="connsiteY3" fmla="*/ 1969323 h 2563627"/>
                  <a:gd name="connsiteX4" fmla="*/ 3305163 w 3318826"/>
                  <a:gd name="connsiteY4" fmla="*/ 2389947 h 2563627"/>
                  <a:gd name="connsiteX5" fmla="*/ 3026665 w 3318826"/>
                  <a:gd name="connsiteY5" fmla="*/ 2178619 h 2563627"/>
                  <a:gd name="connsiteX0" fmla="*/ 0 w 3502770"/>
                  <a:gd name="connsiteY0" fmla="*/ 2563627 h 2563627"/>
                  <a:gd name="connsiteX1" fmla="*/ 983563 w 3502770"/>
                  <a:gd name="connsiteY1" fmla="*/ 30795 h 2563627"/>
                  <a:gd name="connsiteX2" fmla="*/ 1870809 w 3502770"/>
                  <a:gd name="connsiteY2" fmla="*/ 1208226 h 2563627"/>
                  <a:gd name="connsiteX3" fmla="*/ 2546211 w 3502770"/>
                  <a:gd name="connsiteY3" fmla="*/ 1969323 h 2563627"/>
                  <a:gd name="connsiteX4" fmla="*/ 3305163 w 3502770"/>
                  <a:gd name="connsiteY4" fmla="*/ 2389947 h 2563627"/>
                  <a:gd name="connsiteX5" fmla="*/ 3481546 w 3502770"/>
                  <a:gd name="connsiteY5" fmla="*/ 2403381 h 2563627"/>
                  <a:gd name="connsiteX0" fmla="*/ 0 w 3486603"/>
                  <a:gd name="connsiteY0" fmla="*/ 2563627 h 2563627"/>
                  <a:gd name="connsiteX1" fmla="*/ 983563 w 3486603"/>
                  <a:gd name="connsiteY1" fmla="*/ 30795 h 2563627"/>
                  <a:gd name="connsiteX2" fmla="*/ 1870809 w 3486603"/>
                  <a:gd name="connsiteY2" fmla="*/ 1208226 h 2563627"/>
                  <a:gd name="connsiteX3" fmla="*/ 2546211 w 3486603"/>
                  <a:gd name="connsiteY3" fmla="*/ 1969323 h 2563627"/>
                  <a:gd name="connsiteX4" fmla="*/ 2840999 w 3486603"/>
                  <a:gd name="connsiteY4" fmla="*/ 2175402 h 2563627"/>
                  <a:gd name="connsiteX5" fmla="*/ 3481546 w 3486603"/>
                  <a:gd name="connsiteY5" fmla="*/ 2403381 h 2563627"/>
                  <a:gd name="connsiteX0" fmla="*/ 0 w 3058198"/>
                  <a:gd name="connsiteY0" fmla="*/ 2563627 h 2563627"/>
                  <a:gd name="connsiteX1" fmla="*/ 983563 w 3058198"/>
                  <a:gd name="connsiteY1" fmla="*/ 30795 h 2563627"/>
                  <a:gd name="connsiteX2" fmla="*/ 1870809 w 3058198"/>
                  <a:gd name="connsiteY2" fmla="*/ 1208226 h 2563627"/>
                  <a:gd name="connsiteX3" fmla="*/ 2546211 w 3058198"/>
                  <a:gd name="connsiteY3" fmla="*/ 1969323 h 2563627"/>
                  <a:gd name="connsiteX4" fmla="*/ 2840999 w 3058198"/>
                  <a:gd name="connsiteY4" fmla="*/ 2175402 h 2563627"/>
                  <a:gd name="connsiteX5" fmla="*/ 3045232 w 3058198"/>
                  <a:gd name="connsiteY5" fmla="*/ 2250134 h 2563627"/>
                  <a:gd name="connsiteX0" fmla="*/ 0 w 3058198"/>
                  <a:gd name="connsiteY0" fmla="*/ 2563548 h 2563548"/>
                  <a:gd name="connsiteX1" fmla="*/ 983563 w 3058198"/>
                  <a:gd name="connsiteY1" fmla="*/ 30716 h 2563548"/>
                  <a:gd name="connsiteX2" fmla="*/ 1870809 w 3058198"/>
                  <a:gd name="connsiteY2" fmla="*/ 1208147 h 2563548"/>
                  <a:gd name="connsiteX3" fmla="*/ 2546211 w 3058198"/>
                  <a:gd name="connsiteY3" fmla="*/ 1948811 h 2563548"/>
                  <a:gd name="connsiteX4" fmla="*/ 2840999 w 3058198"/>
                  <a:gd name="connsiteY4" fmla="*/ 2175323 h 2563548"/>
                  <a:gd name="connsiteX5" fmla="*/ 3045232 w 3058198"/>
                  <a:gd name="connsiteY5" fmla="*/ 2250055 h 2563548"/>
                  <a:gd name="connsiteX0" fmla="*/ 0 w 3058198"/>
                  <a:gd name="connsiteY0" fmla="*/ 2473604 h 2473604"/>
                  <a:gd name="connsiteX1" fmla="*/ 946430 w 3058198"/>
                  <a:gd name="connsiteY1" fmla="*/ 32720 h 2473604"/>
                  <a:gd name="connsiteX2" fmla="*/ 1870809 w 3058198"/>
                  <a:gd name="connsiteY2" fmla="*/ 1118203 h 2473604"/>
                  <a:gd name="connsiteX3" fmla="*/ 2546211 w 3058198"/>
                  <a:gd name="connsiteY3" fmla="*/ 1858867 h 2473604"/>
                  <a:gd name="connsiteX4" fmla="*/ 2840999 w 3058198"/>
                  <a:gd name="connsiteY4" fmla="*/ 2085379 h 2473604"/>
                  <a:gd name="connsiteX5" fmla="*/ 3045232 w 3058198"/>
                  <a:gd name="connsiteY5" fmla="*/ 2160111 h 2473604"/>
                  <a:gd name="connsiteX0" fmla="*/ 0 w 3058198"/>
                  <a:gd name="connsiteY0" fmla="*/ 2470280 h 2470280"/>
                  <a:gd name="connsiteX1" fmla="*/ 946430 w 3058198"/>
                  <a:gd name="connsiteY1" fmla="*/ 29396 h 2470280"/>
                  <a:gd name="connsiteX2" fmla="*/ 1842960 w 3058198"/>
                  <a:gd name="connsiteY2" fmla="*/ 1165961 h 2470280"/>
                  <a:gd name="connsiteX3" fmla="*/ 2546211 w 3058198"/>
                  <a:gd name="connsiteY3" fmla="*/ 1855543 h 2470280"/>
                  <a:gd name="connsiteX4" fmla="*/ 2840999 w 3058198"/>
                  <a:gd name="connsiteY4" fmla="*/ 2082055 h 2470280"/>
                  <a:gd name="connsiteX5" fmla="*/ 3045232 w 3058198"/>
                  <a:gd name="connsiteY5" fmla="*/ 2156787 h 2470280"/>
                  <a:gd name="connsiteX0" fmla="*/ 0 w 3058442"/>
                  <a:gd name="connsiteY0" fmla="*/ 2470400 h 2470400"/>
                  <a:gd name="connsiteX1" fmla="*/ 946430 w 3058442"/>
                  <a:gd name="connsiteY1" fmla="*/ 29516 h 2470400"/>
                  <a:gd name="connsiteX2" fmla="*/ 1842960 w 3058442"/>
                  <a:gd name="connsiteY2" fmla="*/ 1166081 h 2470400"/>
                  <a:gd name="connsiteX3" fmla="*/ 2518361 w 3058442"/>
                  <a:gd name="connsiteY3" fmla="*/ 1886312 h 2470400"/>
                  <a:gd name="connsiteX4" fmla="*/ 2840999 w 3058442"/>
                  <a:gd name="connsiteY4" fmla="*/ 2082175 h 2470400"/>
                  <a:gd name="connsiteX5" fmla="*/ 3045232 w 3058442"/>
                  <a:gd name="connsiteY5" fmla="*/ 2156907 h 2470400"/>
                  <a:gd name="connsiteX0" fmla="*/ 0 w 3058442"/>
                  <a:gd name="connsiteY0" fmla="*/ 2468904 h 2468904"/>
                  <a:gd name="connsiteX1" fmla="*/ 946430 w 3058442"/>
                  <a:gd name="connsiteY1" fmla="*/ 28020 h 2468904"/>
                  <a:gd name="connsiteX2" fmla="*/ 1842960 w 3058442"/>
                  <a:gd name="connsiteY2" fmla="*/ 1164585 h 2468904"/>
                  <a:gd name="connsiteX3" fmla="*/ 2089317 w 3058442"/>
                  <a:gd name="connsiteY3" fmla="*/ 1483956 h 2468904"/>
                  <a:gd name="connsiteX4" fmla="*/ 2518361 w 3058442"/>
                  <a:gd name="connsiteY4" fmla="*/ 1884816 h 2468904"/>
                  <a:gd name="connsiteX5" fmla="*/ 2840999 w 3058442"/>
                  <a:gd name="connsiteY5" fmla="*/ 2080679 h 2468904"/>
                  <a:gd name="connsiteX6" fmla="*/ 3045232 w 3058442"/>
                  <a:gd name="connsiteY6" fmla="*/ 2155411 h 2468904"/>
                  <a:gd name="connsiteX0" fmla="*/ 0 w 3058442"/>
                  <a:gd name="connsiteY0" fmla="*/ 2418796 h 2418796"/>
                  <a:gd name="connsiteX1" fmla="*/ 992847 w 3058442"/>
                  <a:gd name="connsiteY1" fmla="*/ 28995 h 2418796"/>
                  <a:gd name="connsiteX2" fmla="*/ 1842960 w 3058442"/>
                  <a:gd name="connsiteY2" fmla="*/ 1114477 h 2418796"/>
                  <a:gd name="connsiteX3" fmla="*/ 2089317 w 3058442"/>
                  <a:gd name="connsiteY3" fmla="*/ 1433848 h 2418796"/>
                  <a:gd name="connsiteX4" fmla="*/ 2518361 w 3058442"/>
                  <a:gd name="connsiteY4" fmla="*/ 1834708 h 2418796"/>
                  <a:gd name="connsiteX5" fmla="*/ 2840999 w 3058442"/>
                  <a:gd name="connsiteY5" fmla="*/ 2030571 h 2418796"/>
                  <a:gd name="connsiteX6" fmla="*/ 3045232 w 3058442"/>
                  <a:gd name="connsiteY6" fmla="*/ 2105303 h 2418796"/>
                  <a:gd name="connsiteX0" fmla="*/ 0 w 3058442"/>
                  <a:gd name="connsiteY0" fmla="*/ 2418175 h 2418175"/>
                  <a:gd name="connsiteX1" fmla="*/ 992847 w 3058442"/>
                  <a:gd name="connsiteY1" fmla="*/ 28374 h 2418175"/>
                  <a:gd name="connsiteX2" fmla="*/ 1880093 w 3058442"/>
                  <a:gd name="connsiteY2" fmla="*/ 1124072 h 2418175"/>
                  <a:gd name="connsiteX3" fmla="*/ 2089317 w 3058442"/>
                  <a:gd name="connsiteY3" fmla="*/ 1433227 h 2418175"/>
                  <a:gd name="connsiteX4" fmla="*/ 2518361 w 3058442"/>
                  <a:gd name="connsiteY4" fmla="*/ 1834087 h 2418175"/>
                  <a:gd name="connsiteX5" fmla="*/ 2840999 w 3058442"/>
                  <a:gd name="connsiteY5" fmla="*/ 2029950 h 2418175"/>
                  <a:gd name="connsiteX6" fmla="*/ 3045232 w 3058442"/>
                  <a:gd name="connsiteY6" fmla="*/ 2104682 h 2418175"/>
                  <a:gd name="connsiteX0" fmla="*/ 0 w 3058442"/>
                  <a:gd name="connsiteY0" fmla="*/ 2418175 h 2418175"/>
                  <a:gd name="connsiteX1" fmla="*/ 992847 w 3058442"/>
                  <a:gd name="connsiteY1" fmla="*/ 28374 h 2418175"/>
                  <a:gd name="connsiteX2" fmla="*/ 1880093 w 3058442"/>
                  <a:gd name="connsiteY2" fmla="*/ 1124072 h 2418175"/>
                  <a:gd name="connsiteX3" fmla="*/ 2089317 w 3058442"/>
                  <a:gd name="connsiteY3" fmla="*/ 1433227 h 2418175"/>
                  <a:gd name="connsiteX4" fmla="*/ 2518361 w 3058442"/>
                  <a:gd name="connsiteY4" fmla="*/ 1834087 h 2418175"/>
                  <a:gd name="connsiteX5" fmla="*/ 2840999 w 3058442"/>
                  <a:gd name="connsiteY5" fmla="*/ 2029950 h 2418175"/>
                  <a:gd name="connsiteX6" fmla="*/ 3045232 w 3058442"/>
                  <a:gd name="connsiteY6" fmla="*/ 2104682 h 2418175"/>
                  <a:gd name="connsiteX0" fmla="*/ 0 w 3058442"/>
                  <a:gd name="connsiteY0" fmla="*/ 2308130 h 2308130"/>
                  <a:gd name="connsiteX1" fmla="*/ 797898 w 3058442"/>
                  <a:gd name="connsiteY1" fmla="*/ 30710 h 2308130"/>
                  <a:gd name="connsiteX2" fmla="*/ 1880093 w 3058442"/>
                  <a:gd name="connsiteY2" fmla="*/ 1014027 h 2308130"/>
                  <a:gd name="connsiteX3" fmla="*/ 2089317 w 3058442"/>
                  <a:gd name="connsiteY3" fmla="*/ 1323182 h 2308130"/>
                  <a:gd name="connsiteX4" fmla="*/ 2518361 w 3058442"/>
                  <a:gd name="connsiteY4" fmla="*/ 1724042 h 2308130"/>
                  <a:gd name="connsiteX5" fmla="*/ 2840999 w 3058442"/>
                  <a:gd name="connsiteY5" fmla="*/ 1919905 h 2308130"/>
                  <a:gd name="connsiteX6" fmla="*/ 3045232 w 3058442"/>
                  <a:gd name="connsiteY6" fmla="*/ 1994637 h 2308130"/>
                  <a:gd name="connsiteX0" fmla="*/ 0 w 3058442"/>
                  <a:gd name="connsiteY0" fmla="*/ 2306143 h 2306143"/>
                  <a:gd name="connsiteX1" fmla="*/ 797898 w 3058442"/>
                  <a:gd name="connsiteY1" fmla="*/ 28723 h 2306143"/>
                  <a:gd name="connsiteX2" fmla="*/ 1815110 w 3058442"/>
                  <a:gd name="connsiteY2" fmla="*/ 1042690 h 2306143"/>
                  <a:gd name="connsiteX3" fmla="*/ 2089317 w 3058442"/>
                  <a:gd name="connsiteY3" fmla="*/ 1321195 h 2306143"/>
                  <a:gd name="connsiteX4" fmla="*/ 2518361 w 3058442"/>
                  <a:gd name="connsiteY4" fmla="*/ 1722055 h 2306143"/>
                  <a:gd name="connsiteX5" fmla="*/ 2840999 w 3058442"/>
                  <a:gd name="connsiteY5" fmla="*/ 1917918 h 2306143"/>
                  <a:gd name="connsiteX6" fmla="*/ 3045232 w 3058442"/>
                  <a:gd name="connsiteY6" fmla="*/ 1992650 h 2306143"/>
                  <a:gd name="connsiteX0" fmla="*/ 0 w 3058442"/>
                  <a:gd name="connsiteY0" fmla="*/ 2306306 h 2306306"/>
                  <a:gd name="connsiteX1" fmla="*/ 797898 w 3058442"/>
                  <a:gd name="connsiteY1" fmla="*/ 28886 h 2306306"/>
                  <a:gd name="connsiteX2" fmla="*/ 1815110 w 3058442"/>
                  <a:gd name="connsiteY2" fmla="*/ 1042853 h 2306306"/>
                  <a:gd name="connsiteX3" fmla="*/ 2070751 w 3058442"/>
                  <a:gd name="connsiteY3" fmla="*/ 1362224 h 2306306"/>
                  <a:gd name="connsiteX4" fmla="*/ 2518361 w 3058442"/>
                  <a:gd name="connsiteY4" fmla="*/ 1722218 h 2306306"/>
                  <a:gd name="connsiteX5" fmla="*/ 2840999 w 3058442"/>
                  <a:gd name="connsiteY5" fmla="*/ 1918081 h 2306306"/>
                  <a:gd name="connsiteX6" fmla="*/ 3045232 w 3058442"/>
                  <a:gd name="connsiteY6" fmla="*/ 1992813 h 2306306"/>
                  <a:gd name="connsiteX0" fmla="*/ 0 w 3058442"/>
                  <a:gd name="connsiteY0" fmla="*/ 2301479 h 2301479"/>
                  <a:gd name="connsiteX1" fmla="*/ 797898 w 3058442"/>
                  <a:gd name="connsiteY1" fmla="*/ 24059 h 2301479"/>
                  <a:gd name="connsiteX2" fmla="*/ 1750127 w 3058442"/>
                  <a:gd name="connsiteY2" fmla="*/ 1119758 h 2301479"/>
                  <a:gd name="connsiteX3" fmla="*/ 2070751 w 3058442"/>
                  <a:gd name="connsiteY3" fmla="*/ 1357397 h 2301479"/>
                  <a:gd name="connsiteX4" fmla="*/ 2518361 w 3058442"/>
                  <a:gd name="connsiteY4" fmla="*/ 1717391 h 2301479"/>
                  <a:gd name="connsiteX5" fmla="*/ 2840999 w 3058442"/>
                  <a:gd name="connsiteY5" fmla="*/ 1913254 h 2301479"/>
                  <a:gd name="connsiteX6" fmla="*/ 3045232 w 3058442"/>
                  <a:gd name="connsiteY6" fmla="*/ 1987986 h 2301479"/>
                  <a:gd name="connsiteX0" fmla="*/ 0 w 3058442"/>
                  <a:gd name="connsiteY0" fmla="*/ 2301643 h 2301643"/>
                  <a:gd name="connsiteX1" fmla="*/ 797898 w 3058442"/>
                  <a:gd name="connsiteY1" fmla="*/ 24223 h 2301643"/>
                  <a:gd name="connsiteX2" fmla="*/ 1750127 w 3058442"/>
                  <a:gd name="connsiteY2" fmla="*/ 1119922 h 2301643"/>
                  <a:gd name="connsiteX3" fmla="*/ 2052184 w 3058442"/>
                  <a:gd name="connsiteY3" fmla="*/ 1408643 h 2301643"/>
                  <a:gd name="connsiteX4" fmla="*/ 2518361 w 3058442"/>
                  <a:gd name="connsiteY4" fmla="*/ 1717555 h 2301643"/>
                  <a:gd name="connsiteX5" fmla="*/ 2840999 w 3058442"/>
                  <a:gd name="connsiteY5" fmla="*/ 1913418 h 2301643"/>
                  <a:gd name="connsiteX6" fmla="*/ 3045232 w 3058442"/>
                  <a:gd name="connsiteY6" fmla="*/ 1988150 h 2301643"/>
                  <a:gd name="connsiteX0" fmla="*/ 0 w 3058442"/>
                  <a:gd name="connsiteY0" fmla="*/ 2301643 h 2301643"/>
                  <a:gd name="connsiteX1" fmla="*/ 797898 w 3058442"/>
                  <a:gd name="connsiteY1" fmla="*/ 24223 h 2301643"/>
                  <a:gd name="connsiteX2" fmla="*/ 1750127 w 3058442"/>
                  <a:gd name="connsiteY2" fmla="*/ 1119922 h 2301643"/>
                  <a:gd name="connsiteX3" fmla="*/ 2052184 w 3058442"/>
                  <a:gd name="connsiteY3" fmla="*/ 1408643 h 2301643"/>
                  <a:gd name="connsiteX4" fmla="*/ 2518362 w 3058442"/>
                  <a:gd name="connsiteY4" fmla="*/ 1758421 h 2301643"/>
                  <a:gd name="connsiteX5" fmla="*/ 2840999 w 3058442"/>
                  <a:gd name="connsiteY5" fmla="*/ 1913418 h 2301643"/>
                  <a:gd name="connsiteX6" fmla="*/ 3045232 w 3058442"/>
                  <a:gd name="connsiteY6" fmla="*/ 1988150 h 2301643"/>
                  <a:gd name="connsiteX0" fmla="*/ 0 w 3058442"/>
                  <a:gd name="connsiteY0" fmla="*/ 2301843 h 2301843"/>
                  <a:gd name="connsiteX1" fmla="*/ 797898 w 3058442"/>
                  <a:gd name="connsiteY1" fmla="*/ 24423 h 2301843"/>
                  <a:gd name="connsiteX2" fmla="*/ 1750127 w 3058442"/>
                  <a:gd name="connsiteY2" fmla="*/ 1120122 h 2301843"/>
                  <a:gd name="connsiteX3" fmla="*/ 2005768 w 3058442"/>
                  <a:gd name="connsiteY3" fmla="*/ 1470142 h 2301843"/>
                  <a:gd name="connsiteX4" fmla="*/ 2518362 w 3058442"/>
                  <a:gd name="connsiteY4" fmla="*/ 1758621 h 2301843"/>
                  <a:gd name="connsiteX5" fmla="*/ 2840999 w 3058442"/>
                  <a:gd name="connsiteY5" fmla="*/ 1913618 h 2301843"/>
                  <a:gd name="connsiteX6" fmla="*/ 3045232 w 3058442"/>
                  <a:gd name="connsiteY6" fmla="*/ 1988350 h 2301843"/>
                  <a:gd name="connsiteX0" fmla="*/ 0 w 3058442"/>
                  <a:gd name="connsiteY0" fmla="*/ 2301710 h 2301710"/>
                  <a:gd name="connsiteX1" fmla="*/ 797898 w 3058442"/>
                  <a:gd name="connsiteY1" fmla="*/ 24290 h 2301710"/>
                  <a:gd name="connsiteX2" fmla="*/ 1750127 w 3058442"/>
                  <a:gd name="connsiteY2" fmla="*/ 1119989 h 2301710"/>
                  <a:gd name="connsiteX3" fmla="*/ 2033617 w 3058442"/>
                  <a:gd name="connsiteY3" fmla="*/ 1429143 h 2301710"/>
                  <a:gd name="connsiteX4" fmla="*/ 2518362 w 3058442"/>
                  <a:gd name="connsiteY4" fmla="*/ 1758488 h 2301710"/>
                  <a:gd name="connsiteX5" fmla="*/ 2840999 w 3058442"/>
                  <a:gd name="connsiteY5" fmla="*/ 1913485 h 2301710"/>
                  <a:gd name="connsiteX6" fmla="*/ 3045232 w 3058442"/>
                  <a:gd name="connsiteY6" fmla="*/ 1988217 h 230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8442" h="2301710">
                    <a:moveTo>
                      <a:pt x="0" y="2301710"/>
                    </a:moveTo>
                    <a:cubicBezTo>
                      <a:pt x="194310" y="1218908"/>
                      <a:pt x="506210" y="221243"/>
                      <a:pt x="797898" y="24290"/>
                    </a:cubicBezTo>
                    <a:cubicBezTo>
                      <a:pt x="1089586" y="-172663"/>
                      <a:pt x="1544174" y="885847"/>
                      <a:pt x="1750127" y="1119989"/>
                    </a:cubicBezTo>
                    <a:cubicBezTo>
                      <a:pt x="1956080" y="1354131"/>
                      <a:pt x="1921050" y="1309105"/>
                      <a:pt x="2033617" y="1429143"/>
                    </a:cubicBezTo>
                    <a:cubicBezTo>
                      <a:pt x="2146184" y="1549182"/>
                      <a:pt x="2383798" y="1677764"/>
                      <a:pt x="2518362" y="1758488"/>
                    </a:cubicBezTo>
                    <a:cubicBezTo>
                      <a:pt x="2652926" y="1839212"/>
                      <a:pt x="2753187" y="1875197"/>
                      <a:pt x="2840999" y="1913485"/>
                    </a:cubicBezTo>
                    <a:cubicBezTo>
                      <a:pt x="2928811" y="1951773"/>
                      <a:pt x="3108478" y="2034699"/>
                      <a:pt x="3045232" y="1988217"/>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9" name="文本框 28"/>
                  <p:cNvSpPr txBox="1"/>
                  <p:nvPr/>
                </p:nvSpPr>
                <p:spPr>
                  <a:xfrm>
                    <a:off x="8616221" y="4698341"/>
                    <a:ext cx="801630" cy="584775"/>
                  </a:xfrm>
                  <a:prstGeom prst="rect">
                    <a:avLst/>
                  </a:prstGeom>
                  <a:noFill/>
                </p:spPr>
                <p:txBody>
                  <a:bodyPr wrap="none" rtlCol="0">
                    <a:spAutoFit/>
                  </a:bodyPr>
                  <a:lstStyle/>
                  <a:p>
                    <a14:m>
                      <m:oMath xmlns:m="http://schemas.openxmlformats.org/officeDocument/2006/math">
                        <m:r>
                          <a:rPr lang="zh-CN" altLang="en-US" sz="3200" i="1" smtClean="0">
                            <a:latin typeface="Cambria Math" panose="02040503050406030204" pitchFamily="18" charset="0"/>
                          </a:rPr>
                          <m:t>𝜇</m:t>
                        </m:r>
                      </m:oMath>
                    </a14:m>
                    <a:r>
                      <a:rPr lang="en-US" altLang="zh-CN" sz="3200" dirty="0"/>
                      <a:t>-</a:t>
                    </a:r>
                    <a:r>
                      <a:rPr lang="en-US" altLang="zh-CN" sz="3200" i="1" dirty="0"/>
                      <a:t>H</a:t>
                    </a:r>
                    <a:endParaRPr lang="zh-CN" altLang="en-US" sz="3200" i="1" dirty="0"/>
                  </a:p>
                </p:txBody>
              </p:sp>
            </mc:Choice>
            <mc:Fallback xmlns="">
              <p:sp>
                <p:nvSpPr>
                  <p:cNvPr id="29" name="文本框 28"/>
                  <p:cNvSpPr txBox="1">
                    <a:spLocks noRot="1" noChangeAspect="1" noMove="1" noResize="1" noEditPoints="1" noAdjustHandles="1" noChangeArrowheads="1" noChangeShapeType="1" noTextEdit="1"/>
                  </p:cNvSpPr>
                  <p:nvPr/>
                </p:nvSpPr>
                <p:spPr>
                  <a:xfrm>
                    <a:off x="8616221" y="4698341"/>
                    <a:ext cx="801630" cy="584775"/>
                  </a:xfrm>
                  <a:prstGeom prst="rect">
                    <a:avLst/>
                  </a:prstGeom>
                  <a:blipFill>
                    <a:blip r:embed="rId4"/>
                    <a:stretch>
                      <a:fillRect t="-12500" r="-18939" b="-34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8822966" y="2939279"/>
                    <a:ext cx="764953" cy="523220"/>
                  </a:xfrm>
                  <a:prstGeom prst="rect">
                    <a:avLst/>
                  </a:prstGeom>
                  <a:noFill/>
                </p:spPr>
                <p:txBody>
                  <a:bodyPr wrap="none" rtlCol="0">
                    <a:spAutoFit/>
                  </a:bodyPr>
                  <a:lstStyle/>
                  <a:p>
                    <a14:m>
                      <m:oMath xmlns:m="http://schemas.openxmlformats.org/officeDocument/2006/math">
                        <m:r>
                          <a:rPr lang="en-US" altLang="zh-CN" sz="2800" b="0" i="1" smtClean="0">
                            <a:latin typeface="Cambria Math" panose="02040503050406030204" pitchFamily="18" charset="0"/>
                          </a:rPr>
                          <m:t>𝐵</m:t>
                        </m:r>
                      </m:oMath>
                    </a14:m>
                    <a:r>
                      <a:rPr lang="en-US" altLang="zh-CN" sz="2800" dirty="0"/>
                      <a:t>-</a:t>
                    </a:r>
                    <a:r>
                      <a:rPr lang="en-US" altLang="zh-CN" sz="2800" i="1" dirty="0"/>
                      <a:t>H</a:t>
                    </a:r>
                    <a:endParaRPr lang="zh-CN" altLang="en-US" sz="2800" i="1" dirty="0"/>
                  </a:p>
                </p:txBody>
              </p:sp>
            </mc:Choice>
            <mc:Fallback xmlns="">
              <p:sp>
                <p:nvSpPr>
                  <p:cNvPr id="30" name="文本框 29"/>
                  <p:cNvSpPr txBox="1">
                    <a:spLocks noRot="1" noChangeAspect="1" noMove="1" noResize="1" noEditPoints="1" noAdjustHandles="1" noChangeArrowheads="1" noChangeShapeType="1" noTextEdit="1"/>
                  </p:cNvSpPr>
                  <p:nvPr/>
                </p:nvSpPr>
                <p:spPr>
                  <a:xfrm>
                    <a:off x="8822966" y="2939279"/>
                    <a:ext cx="764953" cy="523220"/>
                  </a:xfrm>
                  <a:prstGeom prst="rect">
                    <a:avLst/>
                  </a:prstGeom>
                  <a:blipFill>
                    <a:blip r:embed="rId5"/>
                    <a:stretch>
                      <a:fillRect t="-10465" r="-15200" b="-325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9847042" y="2441859"/>
                    <a:ext cx="475195"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𝑠</m:t>
                          </m:r>
                        </m:oMath>
                      </m:oMathPara>
                    </a14:m>
                    <a:endParaRPr lang="zh-CN" altLang="en-US" sz="3200" i="1" dirty="0"/>
                  </a:p>
                </p:txBody>
              </p:sp>
            </mc:Choice>
            <mc:Fallback xmlns="">
              <p:sp>
                <p:nvSpPr>
                  <p:cNvPr id="31" name="文本框 30"/>
                  <p:cNvSpPr txBox="1">
                    <a:spLocks noRot="1" noChangeAspect="1" noMove="1" noResize="1" noEditPoints="1" noAdjustHandles="1" noChangeArrowheads="1" noChangeShapeType="1" noTextEdit="1"/>
                  </p:cNvSpPr>
                  <p:nvPr/>
                </p:nvSpPr>
                <p:spPr>
                  <a:xfrm>
                    <a:off x="9847042" y="2441859"/>
                    <a:ext cx="475195" cy="584775"/>
                  </a:xfrm>
                  <a:prstGeom prst="rect">
                    <a:avLst/>
                  </a:prstGeom>
                  <a:blipFill>
                    <a:blip r:embed="rId6"/>
                    <a:stretch>
                      <a:fillRect/>
                    </a:stretch>
                  </a:blipFill>
                </p:spPr>
                <p:txBody>
                  <a:bodyPr/>
                  <a:lstStyle/>
                  <a:p>
                    <a:r>
                      <a:rPr lang="zh-CN" altLang="en-US">
                        <a:noFill/>
                      </a:rPr>
                      <a:t> </a:t>
                    </a:r>
                  </a:p>
                </p:txBody>
              </p:sp>
            </mc:Fallback>
          </mc:AlternateContent>
          <p:sp>
            <p:nvSpPr>
              <p:cNvPr id="32" name="文本框 31"/>
              <p:cNvSpPr txBox="1"/>
              <p:nvPr/>
            </p:nvSpPr>
            <p:spPr>
              <a:xfrm>
                <a:off x="6538826" y="2434891"/>
                <a:ext cx="490840" cy="523220"/>
              </a:xfrm>
              <a:prstGeom prst="rect">
                <a:avLst/>
              </a:prstGeom>
              <a:noFill/>
            </p:spPr>
            <p:txBody>
              <a:bodyPr wrap="none" rtlCol="0">
                <a:spAutoFit/>
              </a:bodyPr>
              <a:lstStyle/>
              <a:p>
                <a:r>
                  <a:rPr lang="en-US" altLang="zh-CN" sz="2800" i="1" dirty="0"/>
                  <a:t>B</a:t>
                </a:r>
                <a:r>
                  <a:rPr lang="en-US" altLang="zh-CN" sz="2800" baseline="-25000" dirty="0"/>
                  <a:t>S</a:t>
                </a:r>
                <a:endParaRPr lang="zh-CN" altLang="en-US" sz="2800" baseline="-25000" dirty="0"/>
              </a:p>
            </p:txBody>
          </p:sp>
          <p:sp>
            <p:nvSpPr>
              <p:cNvPr id="33" name="弧形 32"/>
              <p:cNvSpPr/>
              <p:nvPr/>
            </p:nvSpPr>
            <p:spPr>
              <a:xfrm rot="4386952">
                <a:off x="5300414" y="2413822"/>
                <a:ext cx="2821927" cy="3168947"/>
              </a:xfrm>
              <a:prstGeom prst="arc">
                <a:avLst>
                  <a:gd name="adj1" fmla="val 17253846"/>
                  <a:gd name="adj2" fmla="val 0"/>
                </a:avLst>
              </a:prstGeom>
              <a:noFill/>
              <a:ln w="50800">
                <a:solidFill>
                  <a:srgbClr val="00B0F0"/>
                </a:solidFill>
                <a:headEnd type="arrow" w="sm"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C000"/>
                  </a:solidFill>
                </a:endParaRPr>
              </a:p>
            </p:txBody>
          </p:sp>
        </p:grpSp>
      </p:grpSp>
      <p:sp>
        <p:nvSpPr>
          <p:cNvPr id="35" name="文本框 34"/>
          <p:cNvSpPr txBox="1"/>
          <p:nvPr/>
        </p:nvSpPr>
        <p:spPr>
          <a:xfrm>
            <a:off x="1278737" y="5958736"/>
            <a:ext cx="5077031" cy="523220"/>
          </a:xfrm>
          <a:prstGeom prst="rect">
            <a:avLst/>
          </a:prstGeom>
        </p:spPr>
        <p:txBody>
          <a:bodyPr wrap="none">
            <a:spAutoFit/>
          </a:bodyPr>
          <a:lstStyle>
            <a:defPPr>
              <a:defRPr lang="en-US"/>
            </a:defPPr>
            <a:lvl1pPr>
              <a:defRPr sz="2800"/>
            </a:lvl1pPr>
          </a:lstStyle>
          <a:p>
            <a:r>
              <a:rPr lang="zh-CN" altLang="en-US" dirty="0"/>
              <a:t>交变励磁电流产生正负变化的</a:t>
            </a:r>
            <a:r>
              <a:rPr lang="en-US" altLang="zh-CN" dirty="0"/>
              <a:t>H</a:t>
            </a:r>
            <a:endParaRPr lang="zh-CN" altLang="en-US" dirty="0"/>
          </a:p>
        </p:txBody>
      </p:sp>
      <p:sp>
        <p:nvSpPr>
          <p:cNvPr id="5" name="文本框 4"/>
          <p:cNvSpPr txBox="1"/>
          <p:nvPr/>
        </p:nvSpPr>
        <p:spPr>
          <a:xfrm>
            <a:off x="2848498" y="793119"/>
            <a:ext cx="8550450" cy="584775"/>
          </a:xfrm>
          <a:prstGeom prst="rect">
            <a:avLst/>
          </a:prstGeom>
          <a:noFill/>
        </p:spPr>
        <p:txBody>
          <a:bodyPr wrap="square" rtlCol="0">
            <a:spAutoFit/>
          </a:bodyPr>
          <a:lstStyle/>
          <a:p>
            <a:r>
              <a:rPr lang="zh-CN" altLang="en-US" sz="3200" b="1" dirty="0">
                <a:solidFill>
                  <a:srgbClr val="FF0000"/>
                </a:solidFill>
              </a:rPr>
              <a:t>动态法测量铁磁材料的磁化曲线</a:t>
            </a:r>
            <a:endParaRPr lang="en-US" altLang="zh-CN" sz="3200" b="1" dirty="0">
              <a:solidFill>
                <a:srgbClr val="FF0000"/>
              </a:solidFill>
            </a:endParaRPr>
          </a:p>
        </p:txBody>
      </p:sp>
    </p:spTree>
    <p:extLst>
      <p:ext uri="{BB962C8B-B14F-4D97-AF65-F5344CB8AC3E}">
        <p14:creationId xmlns:p14="http://schemas.microsoft.com/office/powerpoint/2010/main" val="448772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8939745" y="4727871"/>
            <a:ext cx="2403599" cy="129463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9044532" y="2370983"/>
            <a:ext cx="2248594" cy="119462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实验原理</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13</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3</a:t>
            </a:r>
            <a:endParaRPr lang="zh-CN" altLang="en-US" sz="4400" b="1" dirty="0">
              <a:solidFill>
                <a:schemeClr val="tx1"/>
              </a:solidFill>
            </a:endParaRPr>
          </a:p>
        </p:txBody>
      </p:sp>
      <p:sp>
        <p:nvSpPr>
          <p:cNvPr id="5" name="文本框 4"/>
          <p:cNvSpPr txBox="1"/>
          <p:nvPr/>
        </p:nvSpPr>
        <p:spPr>
          <a:xfrm>
            <a:off x="280144" y="979516"/>
            <a:ext cx="5978234" cy="584775"/>
          </a:xfrm>
          <a:prstGeom prst="rect">
            <a:avLst/>
          </a:prstGeom>
          <a:noFill/>
        </p:spPr>
        <p:txBody>
          <a:bodyPr wrap="square" rtlCol="0">
            <a:spAutoFit/>
          </a:bodyPr>
          <a:lstStyle/>
          <a:p>
            <a:r>
              <a:rPr lang="en-US" altLang="zh-CN" sz="3200" b="1" dirty="0">
                <a:solidFill>
                  <a:srgbClr val="FF0000"/>
                </a:solidFill>
              </a:rPr>
              <a:t>3.3 </a:t>
            </a:r>
            <a:r>
              <a:rPr lang="zh-CN" altLang="en-US" sz="3200" b="1" dirty="0">
                <a:solidFill>
                  <a:srgbClr val="FF0000"/>
                </a:solidFill>
              </a:rPr>
              <a:t>不同铁磁材料的磁滞回线</a:t>
            </a:r>
            <a:endParaRPr lang="en-US" altLang="zh-CN" sz="3200" b="1" dirty="0">
              <a:solidFill>
                <a:srgbClr val="FF0000"/>
              </a:solidFill>
            </a:endParaRPr>
          </a:p>
        </p:txBody>
      </p:sp>
      <p:pic>
        <p:nvPicPr>
          <p:cNvPr id="4" name="图片 3"/>
          <p:cNvPicPr>
            <a:picLocks noChangeAspect="1"/>
          </p:cNvPicPr>
          <p:nvPr/>
        </p:nvPicPr>
        <p:blipFill rotWithShape="1">
          <a:blip r:embed="rId3"/>
          <a:srcRect r="49442"/>
          <a:stretch/>
        </p:blipFill>
        <p:spPr>
          <a:xfrm>
            <a:off x="3808266" y="1760113"/>
            <a:ext cx="2699990" cy="4549247"/>
          </a:xfrm>
          <a:prstGeom prst="rect">
            <a:avLst/>
          </a:prstGeom>
        </p:spPr>
      </p:pic>
      <p:sp>
        <p:nvSpPr>
          <p:cNvPr id="6" name="文本框 5"/>
          <p:cNvSpPr txBox="1"/>
          <p:nvPr/>
        </p:nvSpPr>
        <p:spPr>
          <a:xfrm>
            <a:off x="1410625" y="2075713"/>
            <a:ext cx="1620957" cy="954107"/>
          </a:xfrm>
          <a:prstGeom prst="rect">
            <a:avLst/>
          </a:prstGeom>
          <a:noFill/>
        </p:spPr>
        <p:txBody>
          <a:bodyPr wrap="none" rtlCol="0">
            <a:spAutoFit/>
          </a:bodyPr>
          <a:lstStyle/>
          <a:p>
            <a:pPr algn="ctr"/>
            <a:r>
              <a:rPr lang="zh-CN" altLang="en-US" sz="2800" b="1" dirty="0"/>
              <a:t>硬磁材料</a:t>
            </a:r>
            <a:endParaRPr lang="en-US" altLang="zh-CN" sz="2800" b="1" dirty="0"/>
          </a:p>
          <a:p>
            <a:pPr algn="ctr"/>
            <a:r>
              <a:rPr lang="zh-CN" altLang="en-US" sz="2800" b="1" dirty="0">
                <a:solidFill>
                  <a:srgbClr val="191B1F"/>
                </a:solidFill>
                <a:latin typeface="-apple-system"/>
              </a:rPr>
              <a:t>“胖”</a:t>
            </a:r>
            <a:endParaRPr lang="en-US" altLang="zh-CN" sz="2800" b="1" dirty="0">
              <a:solidFill>
                <a:srgbClr val="191B1F"/>
              </a:solidFill>
              <a:latin typeface="-apple-system"/>
            </a:endParaRPr>
          </a:p>
        </p:txBody>
      </p:sp>
      <p:sp>
        <p:nvSpPr>
          <p:cNvPr id="11" name="文本框 10"/>
          <p:cNvSpPr txBox="1"/>
          <p:nvPr/>
        </p:nvSpPr>
        <p:spPr>
          <a:xfrm>
            <a:off x="1412195" y="5141408"/>
            <a:ext cx="1620957" cy="954107"/>
          </a:xfrm>
          <a:prstGeom prst="rect">
            <a:avLst/>
          </a:prstGeom>
          <a:noFill/>
        </p:spPr>
        <p:txBody>
          <a:bodyPr wrap="none" rtlCol="0">
            <a:spAutoFit/>
          </a:bodyPr>
          <a:lstStyle/>
          <a:p>
            <a:pPr algn="ctr"/>
            <a:r>
              <a:rPr lang="zh-CN" altLang="en-US" sz="2800" b="1" dirty="0"/>
              <a:t>软磁材料</a:t>
            </a:r>
            <a:endParaRPr lang="en-US" altLang="zh-CN" sz="2800" b="1" dirty="0"/>
          </a:p>
          <a:p>
            <a:pPr algn="ctr"/>
            <a:r>
              <a:rPr lang="zh-CN" altLang="en-US" sz="2800" b="1" dirty="0"/>
              <a:t>“瘦”</a:t>
            </a:r>
            <a:endParaRPr lang="en-US" altLang="zh-CN" sz="2800" b="1" dirty="0"/>
          </a:p>
        </p:txBody>
      </p:sp>
      <p:sp>
        <p:nvSpPr>
          <p:cNvPr id="7" name="矩形 6"/>
          <p:cNvSpPr/>
          <p:nvPr/>
        </p:nvSpPr>
        <p:spPr>
          <a:xfrm>
            <a:off x="6794216" y="1779633"/>
            <a:ext cx="1862352" cy="1569660"/>
          </a:xfrm>
          <a:prstGeom prst="rect">
            <a:avLst/>
          </a:prstGeom>
        </p:spPr>
        <p:txBody>
          <a:bodyPr wrap="square">
            <a:spAutoFit/>
          </a:bodyPr>
          <a:lstStyle/>
          <a:p>
            <a:endParaRPr lang="en-US" altLang="zh-CN" sz="2400" b="1" dirty="0">
              <a:solidFill>
                <a:srgbClr val="191B1F"/>
              </a:solidFill>
              <a:latin typeface="-apple-system"/>
            </a:endParaRPr>
          </a:p>
          <a:p>
            <a:r>
              <a:rPr lang="zh-CN" altLang="en-US" sz="2400" b="1" dirty="0">
                <a:solidFill>
                  <a:srgbClr val="191B1F"/>
                </a:solidFill>
                <a:latin typeface="-apple-system"/>
              </a:rPr>
              <a:t>高剩磁</a:t>
            </a:r>
            <a:r>
              <a:rPr lang="en-US" altLang="zh-CN" sz="2400" b="1" i="1" dirty="0"/>
              <a:t>B</a:t>
            </a:r>
            <a:r>
              <a:rPr lang="en-US" altLang="zh-CN" sz="2400" b="1" baseline="-25000" dirty="0"/>
              <a:t>r</a:t>
            </a:r>
            <a:endParaRPr lang="zh-CN" altLang="en-US" sz="2400" dirty="0"/>
          </a:p>
          <a:p>
            <a:r>
              <a:rPr lang="zh-CN" altLang="en-US" sz="2400" b="1" dirty="0">
                <a:solidFill>
                  <a:srgbClr val="191B1F"/>
                </a:solidFill>
                <a:latin typeface="-apple-system"/>
              </a:rPr>
              <a:t>高矫顽力</a:t>
            </a:r>
            <a:r>
              <a:rPr lang="en-US" altLang="zh-CN" sz="2400" b="1" i="1" dirty="0" err="1"/>
              <a:t>H</a:t>
            </a:r>
            <a:r>
              <a:rPr lang="en-US" altLang="zh-CN" sz="2400" b="1" baseline="-25000" dirty="0" err="1"/>
              <a:t>c</a:t>
            </a:r>
            <a:endParaRPr lang="en-US" altLang="zh-CN" sz="2400" b="1" dirty="0">
              <a:solidFill>
                <a:srgbClr val="191B1F"/>
              </a:solidFill>
              <a:latin typeface="-apple-system"/>
            </a:endParaRPr>
          </a:p>
          <a:p>
            <a:endParaRPr lang="en-US" altLang="zh-CN" sz="2400" b="1" dirty="0">
              <a:solidFill>
                <a:srgbClr val="191B1F"/>
              </a:solidFill>
              <a:latin typeface="-apple-system"/>
            </a:endParaRPr>
          </a:p>
        </p:txBody>
      </p:sp>
      <p:sp>
        <p:nvSpPr>
          <p:cNvPr id="8" name="矩形 7"/>
          <p:cNvSpPr/>
          <p:nvPr/>
        </p:nvSpPr>
        <p:spPr>
          <a:xfrm>
            <a:off x="8843078" y="4822602"/>
            <a:ext cx="2876213" cy="1200329"/>
          </a:xfrm>
          <a:prstGeom prst="rect">
            <a:avLst/>
          </a:prstGeom>
        </p:spPr>
        <p:txBody>
          <a:bodyPr wrap="square">
            <a:spAutoFit/>
          </a:bodyPr>
          <a:lstStyle/>
          <a:p>
            <a:pPr algn="ctr"/>
            <a:r>
              <a:rPr lang="zh-CN" altLang="en-US" sz="2400" kern="100" dirty="0">
                <a:latin typeface="+mn-ea"/>
                <a:cs typeface="Times New Roman" panose="02020603050405020304" pitchFamily="18" charset="0"/>
              </a:rPr>
              <a:t>反复磁化去磁：</a:t>
            </a:r>
            <a:endParaRPr lang="en-US" altLang="zh-CN" sz="2400" kern="100" dirty="0">
              <a:latin typeface="+mn-ea"/>
              <a:cs typeface="Times New Roman" panose="02020603050405020304" pitchFamily="18" charset="0"/>
            </a:endParaRPr>
          </a:p>
          <a:p>
            <a:pPr algn="ctr"/>
            <a:r>
              <a:rPr lang="zh-CN" altLang="zh-CN" sz="2400" kern="100" dirty="0">
                <a:latin typeface="+mn-ea"/>
                <a:cs typeface="Times New Roman" panose="02020603050405020304" pitchFamily="18" charset="0"/>
              </a:rPr>
              <a:t>继电器、变压器、电动机的铁芯</a:t>
            </a:r>
            <a:endParaRPr lang="zh-CN" altLang="en-US" sz="2400" dirty="0">
              <a:latin typeface="+mn-ea"/>
            </a:endParaRPr>
          </a:p>
        </p:txBody>
      </p:sp>
      <p:sp>
        <p:nvSpPr>
          <p:cNvPr id="12" name="椭圆 11"/>
          <p:cNvSpPr/>
          <p:nvPr/>
        </p:nvSpPr>
        <p:spPr>
          <a:xfrm>
            <a:off x="5304809" y="2990088"/>
            <a:ext cx="145015" cy="14516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4954289" y="2346960"/>
            <a:ext cx="145015" cy="14516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p:cNvSpPr/>
          <p:nvPr/>
        </p:nvSpPr>
        <p:spPr>
          <a:xfrm>
            <a:off x="5109737" y="5282184"/>
            <a:ext cx="145015" cy="14516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椭圆 14"/>
          <p:cNvSpPr/>
          <p:nvPr/>
        </p:nvSpPr>
        <p:spPr>
          <a:xfrm>
            <a:off x="4978673" y="5068824"/>
            <a:ext cx="145015" cy="14516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16" name="矩形 15"/>
              <p:cNvSpPr/>
              <p:nvPr/>
            </p:nvSpPr>
            <p:spPr>
              <a:xfrm>
                <a:off x="6904147" y="4356578"/>
                <a:ext cx="1736373" cy="1569660"/>
              </a:xfrm>
              <a:prstGeom prst="rect">
                <a:avLst/>
              </a:prstGeom>
            </p:spPr>
            <p:txBody>
              <a:bodyPr wrap="none">
                <a:spAutoFit/>
              </a:bodyPr>
              <a:lstStyle/>
              <a:p>
                <a:r>
                  <a:rPr lang="zh-CN" altLang="en-US" sz="2400" b="1" dirty="0">
                    <a:solidFill>
                      <a:srgbClr val="191B1F"/>
                    </a:solidFill>
                    <a:latin typeface="-apple-system"/>
                  </a:rPr>
                  <a:t>高磁导率</a:t>
                </a:r>
                <a14:m>
                  <m:oMath xmlns:m="http://schemas.openxmlformats.org/officeDocument/2006/math">
                    <m:r>
                      <a:rPr lang="zh-CN" altLang="en-US" sz="2400" i="1">
                        <a:latin typeface="Cambria Math" panose="02040503050406030204" pitchFamily="18" charset="0"/>
                      </a:rPr>
                      <m:t>𝜇</m:t>
                    </m:r>
                  </m:oMath>
                </a14:m>
                <a:endParaRPr lang="en-US" altLang="zh-CN" sz="2400" b="1" dirty="0">
                  <a:solidFill>
                    <a:srgbClr val="191B1F"/>
                  </a:solidFill>
                  <a:latin typeface="-apple-system"/>
                </a:endParaRPr>
              </a:p>
              <a:p>
                <a:r>
                  <a:rPr lang="zh-CN" altLang="en-US" sz="2400" b="1" dirty="0">
                    <a:solidFill>
                      <a:srgbClr val="191B1F"/>
                    </a:solidFill>
                    <a:latin typeface="-apple-system"/>
                  </a:rPr>
                  <a:t>低剩磁</a:t>
                </a:r>
                <a:r>
                  <a:rPr lang="en-US" altLang="zh-CN" sz="2400" b="1" i="1" dirty="0"/>
                  <a:t>B</a:t>
                </a:r>
                <a:r>
                  <a:rPr lang="en-US" altLang="zh-CN" sz="2400" b="1" baseline="-25000" dirty="0"/>
                  <a:t>r</a:t>
                </a:r>
                <a:endParaRPr lang="zh-CN" altLang="en-US" sz="2400" dirty="0"/>
              </a:p>
              <a:p>
                <a:r>
                  <a:rPr lang="zh-CN" altLang="en-US" sz="2400" b="1" dirty="0">
                    <a:solidFill>
                      <a:srgbClr val="191B1F"/>
                    </a:solidFill>
                    <a:latin typeface="-apple-system"/>
                  </a:rPr>
                  <a:t>低矫顽力</a:t>
                </a:r>
                <a:r>
                  <a:rPr lang="en-US" altLang="zh-CN" sz="2400" b="1" i="1" dirty="0" err="1"/>
                  <a:t>H</a:t>
                </a:r>
                <a:r>
                  <a:rPr lang="en-US" altLang="zh-CN" sz="2400" b="1" baseline="-25000" dirty="0" err="1"/>
                  <a:t>c</a:t>
                </a:r>
                <a:endParaRPr lang="en-US" altLang="zh-CN" sz="2400" b="1" dirty="0">
                  <a:solidFill>
                    <a:srgbClr val="191B1F"/>
                  </a:solidFill>
                  <a:latin typeface="-apple-system"/>
                </a:endParaRPr>
              </a:p>
              <a:p>
                <a:endParaRPr lang="en-US" altLang="zh-CN" sz="2400" b="1" dirty="0">
                  <a:solidFill>
                    <a:srgbClr val="191B1F"/>
                  </a:solidFill>
                  <a:latin typeface="-apple-system"/>
                </a:endParaRPr>
              </a:p>
            </p:txBody>
          </p:sp>
        </mc:Choice>
        <mc:Fallback xmlns="">
          <p:sp>
            <p:nvSpPr>
              <p:cNvPr id="16" name="矩形 15"/>
              <p:cNvSpPr>
                <a:spLocks noRot="1" noChangeAspect="1" noMove="1" noResize="1" noEditPoints="1" noAdjustHandles="1" noChangeArrowheads="1" noChangeShapeType="1" noTextEdit="1"/>
              </p:cNvSpPr>
              <p:nvPr/>
            </p:nvSpPr>
            <p:spPr>
              <a:xfrm>
                <a:off x="6904147" y="4356578"/>
                <a:ext cx="1736373" cy="1569660"/>
              </a:xfrm>
              <a:prstGeom prst="rect">
                <a:avLst/>
              </a:prstGeom>
              <a:blipFill>
                <a:blip r:embed="rId4"/>
                <a:stretch>
                  <a:fillRect l="-5634" t="-2335"/>
                </a:stretch>
              </a:blipFill>
            </p:spPr>
            <p:txBody>
              <a:bodyPr/>
              <a:lstStyle/>
              <a:p>
                <a:r>
                  <a:rPr lang="zh-CN" altLang="en-US">
                    <a:noFill/>
                  </a:rPr>
                  <a:t> </a:t>
                </a:r>
              </a:p>
            </p:txBody>
          </p:sp>
        </mc:Fallback>
      </mc:AlternateContent>
      <p:cxnSp>
        <p:nvCxnSpPr>
          <p:cNvPr id="18" name="直接箭头连接符 17"/>
          <p:cNvCxnSpPr/>
          <p:nvPr/>
        </p:nvCxnSpPr>
        <p:spPr>
          <a:xfrm flipH="1">
            <a:off x="5212572" y="2323821"/>
            <a:ext cx="1203985" cy="12383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5490940" y="2816104"/>
            <a:ext cx="1230744" cy="14507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6749214" y="3029820"/>
            <a:ext cx="1949573" cy="461665"/>
          </a:xfrm>
          <a:prstGeom prst="rect">
            <a:avLst/>
          </a:prstGeom>
        </p:spPr>
        <p:txBody>
          <a:bodyPr wrap="none">
            <a:spAutoFit/>
          </a:bodyPr>
          <a:lstStyle/>
          <a:p>
            <a:r>
              <a:rPr lang="zh-CN" altLang="zh-CN" sz="2400" kern="100" dirty="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10</a:t>
            </a:r>
            <a:r>
              <a:rPr lang="en-US" altLang="zh-CN" sz="2400" kern="100" baseline="30000" dirty="0">
                <a:latin typeface="Times New Roman" panose="02020603050405020304" pitchFamily="18" charset="0"/>
                <a:ea typeface="宋体" panose="02010600030101010101" pitchFamily="2" charset="-122"/>
              </a:rPr>
              <a:t>4</a:t>
            </a:r>
            <a:r>
              <a:rPr lang="en-US" altLang="zh-CN" sz="2400" kern="100" dirty="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10</a:t>
            </a:r>
            <a:r>
              <a:rPr lang="en-US" altLang="zh-CN" sz="2400" kern="100" baseline="30000" dirty="0">
                <a:latin typeface="Times New Roman" panose="02020603050405020304" pitchFamily="18" charset="0"/>
                <a:ea typeface="宋体" panose="02010600030101010101" pitchFamily="2" charset="-122"/>
              </a:rPr>
              <a:t>6</a:t>
            </a:r>
            <a:r>
              <a:rPr lang="en-US" altLang="zh-CN" sz="2400" kern="100" dirty="0">
                <a:ea typeface="宋体" panose="02010600030101010101" pitchFamily="2" charset="-122"/>
                <a:cs typeface="Times New Roman" panose="02020603050405020304" pitchFamily="18" charset="0"/>
              </a:rPr>
              <a:t>A/m</a:t>
            </a:r>
            <a:endParaRPr lang="zh-CN" altLang="en-US" sz="2400" dirty="0"/>
          </a:p>
        </p:txBody>
      </p:sp>
      <p:sp>
        <p:nvSpPr>
          <p:cNvPr id="26" name="矩形 25"/>
          <p:cNvSpPr/>
          <p:nvPr/>
        </p:nvSpPr>
        <p:spPr>
          <a:xfrm>
            <a:off x="6984293" y="5578826"/>
            <a:ext cx="1444626" cy="461665"/>
          </a:xfrm>
          <a:prstGeom prst="rect">
            <a:avLst/>
          </a:prstGeom>
        </p:spPr>
        <p:txBody>
          <a:bodyPr wrap="none">
            <a:spAutoFit/>
          </a:bodyPr>
          <a:lstStyle/>
          <a:p>
            <a:r>
              <a:rPr lang="zh-CN" altLang="zh-CN" sz="2400" kern="100" dirty="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10</a:t>
            </a:r>
            <a:r>
              <a:rPr lang="en-US" altLang="zh-CN" sz="2400" kern="100" baseline="30000" dirty="0">
                <a:latin typeface="Times New Roman" panose="02020603050405020304" pitchFamily="18" charset="0"/>
                <a:ea typeface="宋体" panose="02010600030101010101" pitchFamily="2" charset="-122"/>
              </a:rPr>
              <a:t>0</a:t>
            </a:r>
            <a:r>
              <a:rPr lang="en-US" altLang="zh-CN" sz="2400" kern="100" dirty="0">
                <a:ea typeface="宋体" panose="02010600030101010101" pitchFamily="2" charset="-122"/>
                <a:cs typeface="Times New Roman" panose="02020603050405020304" pitchFamily="18" charset="0"/>
              </a:rPr>
              <a:t>A/m</a:t>
            </a:r>
            <a:endParaRPr lang="zh-CN" altLang="en-US" sz="2400" dirty="0"/>
          </a:p>
        </p:txBody>
      </p:sp>
      <p:sp>
        <p:nvSpPr>
          <p:cNvPr id="28" name="矩形 27"/>
          <p:cNvSpPr/>
          <p:nvPr/>
        </p:nvSpPr>
        <p:spPr>
          <a:xfrm>
            <a:off x="9004798" y="2545677"/>
            <a:ext cx="2288328" cy="830997"/>
          </a:xfrm>
          <a:prstGeom prst="rect">
            <a:avLst/>
          </a:prstGeom>
        </p:spPr>
        <p:txBody>
          <a:bodyPr wrap="square">
            <a:spAutoFit/>
          </a:bodyPr>
          <a:lstStyle/>
          <a:p>
            <a:pPr algn="ctr"/>
            <a:r>
              <a:rPr lang="zh-CN" altLang="en-US" sz="2400" kern="100" dirty="0">
                <a:latin typeface="+mn-ea"/>
                <a:cs typeface="Times New Roman" panose="02020603050405020304" pitchFamily="18" charset="0"/>
              </a:rPr>
              <a:t>电表、</a:t>
            </a:r>
            <a:r>
              <a:rPr lang="zh-CN" altLang="zh-CN" sz="2400" kern="100" dirty="0">
                <a:latin typeface="+mn-ea"/>
                <a:cs typeface="Times New Roman" panose="02020603050405020304" pitchFamily="18" charset="0"/>
              </a:rPr>
              <a:t>扬声器</a:t>
            </a:r>
            <a:r>
              <a:rPr lang="zh-CN" altLang="en-US" sz="2400" kern="100" dirty="0">
                <a:latin typeface="+mn-ea"/>
                <a:cs typeface="Times New Roman" panose="02020603050405020304" pitchFamily="18" charset="0"/>
              </a:rPr>
              <a:t>内</a:t>
            </a:r>
            <a:r>
              <a:rPr lang="zh-CN" altLang="zh-CN" sz="2400" kern="100" dirty="0">
                <a:latin typeface="+mn-ea"/>
                <a:cs typeface="Times New Roman" panose="02020603050405020304" pitchFamily="18" charset="0"/>
              </a:rPr>
              <a:t>永磁体</a:t>
            </a:r>
            <a:endParaRPr lang="en-US" altLang="zh-CN" sz="2400" kern="100" dirty="0">
              <a:latin typeface="+mn-ea"/>
              <a:cs typeface="Times New Roman" panose="02020603050405020304" pitchFamily="18" charset="0"/>
            </a:endParaRPr>
          </a:p>
        </p:txBody>
      </p:sp>
      <p:sp>
        <p:nvSpPr>
          <p:cNvPr id="30" name="椭圆 29"/>
          <p:cNvSpPr/>
          <p:nvPr/>
        </p:nvSpPr>
        <p:spPr>
          <a:xfrm>
            <a:off x="1089991" y="3535787"/>
            <a:ext cx="2208557" cy="10270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266864" y="3771803"/>
            <a:ext cx="1826141" cy="584775"/>
          </a:xfrm>
          <a:prstGeom prst="rect">
            <a:avLst/>
          </a:prstGeom>
        </p:spPr>
        <p:txBody>
          <a:bodyPr wrap="none">
            <a:spAutoFit/>
          </a:bodyPr>
          <a:lstStyle/>
          <a:p>
            <a:r>
              <a:rPr lang="zh-CN" altLang="en-US" sz="3200" b="1" dirty="0">
                <a:solidFill>
                  <a:schemeClr val="bg1"/>
                </a:solidFill>
              </a:rPr>
              <a:t>磁滞损耗</a:t>
            </a:r>
          </a:p>
        </p:txBody>
      </p:sp>
      <p:sp>
        <p:nvSpPr>
          <p:cNvPr id="31" name="上箭头 30"/>
          <p:cNvSpPr/>
          <p:nvPr/>
        </p:nvSpPr>
        <p:spPr>
          <a:xfrm>
            <a:off x="2038201" y="3029820"/>
            <a:ext cx="295739" cy="60499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上箭头 31"/>
          <p:cNvSpPr/>
          <p:nvPr/>
        </p:nvSpPr>
        <p:spPr>
          <a:xfrm flipV="1">
            <a:off x="2038905" y="4469219"/>
            <a:ext cx="295036" cy="54687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46632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实验原理</a:t>
            </a:r>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3</a:t>
            </a:r>
            <a:endParaRPr lang="zh-CN" altLang="en-US" sz="4400" b="1" dirty="0">
              <a:solidFill>
                <a:schemeClr val="tx1"/>
              </a:solidFill>
            </a:endParaRPr>
          </a:p>
        </p:txBody>
      </p:sp>
      <p:sp>
        <p:nvSpPr>
          <p:cNvPr id="5" name="文本框 4"/>
          <p:cNvSpPr txBox="1"/>
          <p:nvPr/>
        </p:nvSpPr>
        <p:spPr>
          <a:xfrm>
            <a:off x="322060" y="970122"/>
            <a:ext cx="5978234" cy="584775"/>
          </a:xfrm>
          <a:prstGeom prst="rect">
            <a:avLst/>
          </a:prstGeom>
          <a:noFill/>
        </p:spPr>
        <p:txBody>
          <a:bodyPr wrap="square" rtlCol="0">
            <a:spAutoFit/>
          </a:bodyPr>
          <a:lstStyle/>
          <a:p>
            <a:r>
              <a:rPr lang="en-US" altLang="zh-CN" sz="3200" b="1" dirty="0">
                <a:solidFill>
                  <a:srgbClr val="FF0000"/>
                </a:solidFill>
              </a:rPr>
              <a:t>3.4</a:t>
            </a:r>
            <a:r>
              <a:rPr lang="zh-CN" altLang="en-US" sz="3200" b="1" dirty="0">
                <a:solidFill>
                  <a:srgbClr val="FF0000"/>
                </a:solidFill>
              </a:rPr>
              <a:t>示波器显示</a:t>
            </a:r>
            <a:r>
              <a:rPr lang="en-US" altLang="zh-CN" sz="3200" b="1" i="1" dirty="0">
                <a:solidFill>
                  <a:srgbClr val="FF0000"/>
                </a:solidFill>
              </a:rPr>
              <a:t>B</a:t>
            </a:r>
            <a:r>
              <a:rPr lang="en-US" altLang="zh-CN" sz="3200" b="1" dirty="0">
                <a:solidFill>
                  <a:srgbClr val="FF0000"/>
                </a:solidFill>
              </a:rPr>
              <a:t>-</a:t>
            </a:r>
            <a:r>
              <a:rPr lang="en-US" altLang="zh-CN" sz="3200" b="1" i="1" dirty="0">
                <a:solidFill>
                  <a:srgbClr val="FF0000"/>
                </a:solidFill>
              </a:rPr>
              <a:t>H</a:t>
            </a:r>
            <a:r>
              <a:rPr lang="zh-CN" altLang="en-US" sz="3200" b="1" dirty="0">
                <a:solidFill>
                  <a:srgbClr val="FF0000"/>
                </a:solidFill>
              </a:rPr>
              <a:t>曲线的原理</a:t>
            </a:r>
            <a:endParaRPr lang="en-US" altLang="zh-CN" sz="3200" b="1" dirty="0">
              <a:solidFill>
                <a:srgbClr val="FF0000"/>
              </a:solidFill>
            </a:endParaRPr>
          </a:p>
        </p:txBody>
      </p:sp>
      <p:sp>
        <p:nvSpPr>
          <p:cNvPr id="4" name="椭圆 3"/>
          <p:cNvSpPr/>
          <p:nvPr/>
        </p:nvSpPr>
        <p:spPr>
          <a:xfrm>
            <a:off x="4715263" y="3298512"/>
            <a:ext cx="594360" cy="56692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rot="16200000">
            <a:off x="4704502" y="1850723"/>
            <a:ext cx="600643" cy="5791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648781" y="1629296"/>
            <a:ext cx="5669341" cy="4991282"/>
            <a:chOff x="648782" y="1683245"/>
            <a:chExt cx="5386258" cy="4816538"/>
          </a:xfrm>
        </p:grpSpPr>
        <p:pic>
          <p:nvPicPr>
            <p:cNvPr id="10" name="图片 9"/>
            <p:cNvPicPr>
              <a:picLocks noChangeAspect="1"/>
            </p:cNvPicPr>
            <p:nvPr/>
          </p:nvPicPr>
          <p:blipFill rotWithShape="1">
            <a:blip r:embed="rId3"/>
            <a:srcRect t="2595" r="50696"/>
            <a:stretch/>
          </p:blipFill>
          <p:spPr>
            <a:xfrm>
              <a:off x="648782" y="1683245"/>
              <a:ext cx="5386258" cy="4816538"/>
            </a:xfrm>
            <a:prstGeom prst="rect">
              <a:avLst/>
            </a:prstGeom>
          </p:spPr>
        </p:pic>
        <p:pic>
          <p:nvPicPr>
            <p:cNvPr id="6146" name="图片 13" descr="FB310B讲义用图1"/>
            <p:cNvPicPr>
              <a:picLocks noChangeAspect="1" noChangeArrowheads="1"/>
            </p:cNvPicPr>
            <p:nvPr/>
          </p:nvPicPr>
          <p:blipFill rotWithShape="1">
            <a:blip r:embed="rId4">
              <a:extLst>
                <a:ext uri="{28A0092B-C50C-407E-A947-70E740481C1C}">
                  <a14:useLocalDpi xmlns:a14="http://schemas.microsoft.com/office/drawing/2010/main" val="0"/>
                </a:ext>
              </a:extLst>
            </a:blip>
            <a:srcRect r="-315"/>
            <a:stretch/>
          </p:blipFill>
          <p:spPr bwMode="auto">
            <a:xfrm>
              <a:off x="894571" y="1813373"/>
              <a:ext cx="4819142" cy="2080286"/>
            </a:xfrm>
            <a:prstGeom prst="flowChartAlternate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 name="图片 11"/>
          <p:cNvPicPr>
            <a:picLocks noChangeAspect="1"/>
          </p:cNvPicPr>
          <p:nvPr/>
        </p:nvPicPr>
        <p:blipFill rotWithShape="1">
          <a:blip r:embed="rId3"/>
          <a:srcRect l="50369" t="49334"/>
          <a:stretch/>
        </p:blipFill>
        <p:spPr>
          <a:xfrm>
            <a:off x="6300294" y="1645921"/>
            <a:ext cx="5254397" cy="2535162"/>
          </a:xfrm>
          <a:prstGeom prst="rect">
            <a:avLst/>
          </a:prstGeom>
        </p:spPr>
      </p:pic>
      <mc:AlternateContent xmlns:mc="http://schemas.openxmlformats.org/markup-compatibility/2006" xmlns:a14="http://schemas.microsoft.com/office/drawing/2010/main">
        <mc:Choice Requires="a14">
          <p:sp>
            <p:nvSpPr>
              <p:cNvPr id="13" name="文本框 12"/>
              <p:cNvSpPr txBox="1"/>
              <p:nvPr/>
            </p:nvSpPr>
            <p:spPr>
              <a:xfrm>
                <a:off x="6638509" y="2511805"/>
                <a:ext cx="4467377" cy="660437"/>
              </a:xfrm>
              <a:prstGeom prst="rect">
                <a:avLst/>
              </a:prstGeom>
              <a:solidFill>
                <a:schemeClr val="accent1">
                  <a:lumMod val="60000"/>
                  <a:lumOff val="4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FF0000"/>
                              </a:solidFill>
                              <a:latin typeface="Cambria Math" panose="02040503050406030204" pitchFamily="18" charset="0"/>
                            </a:rPr>
                          </m:ctrlPr>
                        </m:sSubPr>
                        <m:e>
                          <m:r>
                            <a:rPr lang="en-US" altLang="zh-CN" sz="2200" b="0" i="1" smtClean="0">
                              <a:solidFill>
                                <a:srgbClr val="FF0000"/>
                              </a:solidFill>
                              <a:latin typeface="Cambria Math" panose="02040503050406030204" pitchFamily="18" charset="0"/>
                            </a:rPr>
                            <m:t>𝐼</m:t>
                          </m:r>
                        </m:e>
                        <m:sub>
                          <m:r>
                            <a:rPr lang="en-US" altLang="zh-CN" sz="2200" b="0" i="1" smtClean="0">
                              <a:solidFill>
                                <a:srgbClr val="FF0000"/>
                              </a:solidFill>
                              <a:latin typeface="Cambria Math" panose="02040503050406030204" pitchFamily="18" charset="0"/>
                            </a:rPr>
                            <m:t>2</m:t>
                          </m:r>
                        </m:sub>
                      </m:sSub>
                      <m:r>
                        <a:rPr lang="en-US" altLang="zh-CN" sz="2200" i="1" smtClean="0">
                          <a:solidFill>
                            <a:srgbClr val="FF0000"/>
                          </a:solidFill>
                          <a:latin typeface="Cambria Math" panose="02040503050406030204" pitchFamily="18" charset="0"/>
                          <a:ea typeface="Cambria Math" panose="02040503050406030204" pitchFamily="18" charset="0"/>
                        </a:rPr>
                        <m:t>=</m:t>
                      </m:r>
                      <m:f>
                        <m:fPr>
                          <m:ctrlPr>
                            <a:rPr lang="en-US" altLang="zh-CN" sz="2200" i="1" smtClean="0">
                              <a:solidFill>
                                <a:srgbClr val="FF0000"/>
                              </a:solidFill>
                              <a:latin typeface="Cambria Math" panose="02040503050406030204" pitchFamily="18" charset="0"/>
                              <a:ea typeface="Cambria Math" panose="02040503050406030204" pitchFamily="18" charset="0"/>
                            </a:rPr>
                          </m:ctrlPr>
                        </m:fPr>
                        <m:num>
                          <m:sSub>
                            <m:sSubPr>
                              <m:ctrlPr>
                                <a:rPr lang="en-US" altLang="zh-CN" sz="2200" b="0" i="1" smtClean="0">
                                  <a:solidFill>
                                    <a:srgbClr val="FF0000"/>
                                  </a:solidFill>
                                  <a:latin typeface="Cambria Math" panose="02040503050406030204" pitchFamily="18" charset="0"/>
                                  <a:ea typeface="Cambria Math" panose="02040503050406030204" pitchFamily="18" charset="0"/>
                                </a:rPr>
                              </m:ctrlPr>
                            </m:sSubPr>
                            <m:e>
                              <m:r>
                                <a:rPr lang="zh-CN" altLang="en-US" sz="2200" b="0" i="1" smtClean="0">
                                  <a:solidFill>
                                    <a:srgbClr val="FF0000"/>
                                  </a:solidFill>
                                  <a:latin typeface="Cambria Math" panose="02040503050406030204" pitchFamily="18" charset="0"/>
                                  <a:ea typeface="Cambria Math" panose="02040503050406030204" pitchFamily="18" charset="0"/>
                                </a:rPr>
                                <m:t>𝜀</m:t>
                              </m:r>
                            </m:e>
                            <m:sub>
                              <m:r>
                                <a:rPr lang="en-US" altLang="zh-CN" sz="2200" b="0" i="1" smtClean="0">
                                  <a:solidFill>
                                    <a:srgbClr val="FF0000"/>
                                  </a:solidFill>
                                  <a:latin typeface="Cambria Math" panose="02040503050406030204" pitchFamily="18" charset="0"/>
                                  <a:ea typeface="Cambria Math" panose="02040503050406030204" pitchFamily="18" charset="0"/>
                                </a:rPr>
                                <m:t>2</m:t>
                              </m:r>
                            </m:sub>
                          </m:sSub>
                        </m:num>
                        <m:den>
                          <m:r>
                            <a:rPr lang="en-US" altLang="zh-CN" sz="2200" b="0" i="1" smtClean="0">
                              <a:solidFill>
                                <a:srgbClr val="FF0000"/>
                              </a:solidFill>
                              <a:latin typeface="Cambria Math" panose="02040503050406030204" pitchFamily="18" charset="0"/>
                              <a:ea typeface="Cambria Math" panose="02040503050406030204" pitchFamily="18" charset="0"/>
                            </a:rPr>
                            <m:t>𝑍</m:t>
                          </m:r>
                        </m:den>
                      </m:f>
                      <m:r>
                        <a:rPr lang="en-US" altLang="zh-CN" sz="2200" b="0" i="1" smtClean="0">
                          <a:solidFill>
                            <a:srgbClr val="FF0000"/>
                          </a:solidFill>
                          <a:latin typeface="Cambria Math" panose="02040503050406030204" pitchFamily="18" charset="0"/>
                          <a:ea typeface="Cambria Math" panose="02040503050406030204" pitchFamily="18" charset="0"/>
                        </a:rPr>
                        <m:t>=</m:t>
                      </m:r>
                      <m:f>
                        <m:fPr>
                          <m:ctrlPr>
                            <a:rPr lang="en-US" altLang="zh-CN" sz="2200" i="1" smtClean="0">
                              <a:solidFill>
                                <a:srgbClr val="FF0000"/>
                              </a:solidFill>
                              <a:latin typeface="Cambria Math" panose="02040503050406030204" pitchFamily="18" charset="0"/>
                              <a:ea typeface="Cambria Math" panose="02040503050406030204" pitchFamily="18" charset="0"/>
                            </a:rPr>
                          </m:ctrlPr>
                        </m:fPr>
                        <m:num>
                          <m:sSub>
                            <m:sSubPr>
                              <m:ctrlPr>
                                <a:rPr lang="en-US" altLang="zh-CN" sz="2200" i="1" smtClean="0">
                                  <a:solidFill>
                                    <a:srgbClr val="FF0000"/>
                                  </a:solidFill>
                                  <a:latin typeface="Cambria Math" panose="02040503050406030204" pitchFamily="18" charset="0"/>
                                  <a:ea typeface="Cambria Math" panose="02040503050406030204" pitchFamily="18" charset="0"/>
                                </a:rPr>
                              </m:ctrlPr>
                            </m:sSubPr>
                            <m:e>
                              <m:r>
                                <a:rPr lang="zh-CN" altLang="en-US" sz="2200" i="1" smtClean="0">
                                  <a:solidFill>
                                    <a:srgbClr val="FF0000"/>
                                  </a:solidFill>
                                  <a:latin typeface="Cambria Math" panose="02040503050406030204" pitchFamily="18" charset="0"/>
                                  <a:ea typeface="Cambria Math" panose="02040503050406030204" pitchFamily="18" charset="0"/>
                                </a:rPr>
                                <m:t>𝜀</m:t>
                              </m:r>
                            </m:e>
                            <m:sub>
                              <m:r>
                                <a:rPr lang="en-US" altLang="zh-CN" sz="2200" b="0" i="1" smtClean="0">
                                  <a:solidFill>
                                    <a:srgbClr val="FF0000"/>
                                  </a:solidFill>
                                  <a:latin typeface="Cambria Math" panose="02040503050406030204" pitchFamily="18" charset="0"/>
                                  <a:ea typeface="Cambria Math" panose="02040503050406030204" pitchFamily="18" charset="0"/>
                                </a:rPr>
                                <m:t>2</m:t>
                              </m:r>
                            </m:sub>
                          </m:sSub>
                        </m:num>
                        <m:den>
                          <m:sSub>
                            <m:sSubPr>
                              <m:ctrlPr>
                                <a:rPr lang="en-US" altLang="zh-CN" sz="2200" i="1" smtClean="0">
                                  <a:solidFill>
                                    <a:srgbClr val="FF0000"/>
                                  </a:solidFill>
                                  <a:latin typeface="Cambria Math" panose="02040503050406030204" pitchFamily="18" charset="0"/>
                                  <a:ea typeface="Cambria Math" panose="02040503050406030204" pitchFamily="18" charset="0"/>
                                </a:rPr>
                              </m:ctrlPr>
                            </m:sSubPr>
                            <m:e>
                              <m:r>
                                <a:rPr lang="en-US" altLang="zh-CN" sz="2200" b="0" i="1" smtClean="0">
                                  <a:solidFill>
                                    <a:srgbClr val="FF0000"/>
                                  </a:solidFill>
                                  <a:latin typeface="Cambria Math" panose="02040503050406030204" pitchFamily="18" charset="0"/>
                                  <a:ea typeface="Cambria Math" panose="02040503050406030204" pitchFamily="18" charset="0"/>
                                </a:rPr>
                                <m:t>𝑅</m:t>
                              </m:r>
                            </m:e>
                            <m:sub>
                              <m:r>
                                <a:rPr lang="en-US" altLang="zh-CN" sz="2200" b="0" i="1" smtClean="0">
                                  <a:solidFill>
                                    <a:srgbClr val="FF0000"/>
                                  </a:solidFill>
                                  <a:latin typeface="Cambria Math" panose="02040503050406030204" pitchFamily="18" charset="0"/>
                                  <a:ea typeface="Cambria Math" panose="02040503050406030204" pitchFamily="18" charset="0"/>
                                </a:rPr>
                                <m:t>2</m:t>
                              </m:r>
                            </m:sub>
                          </m:sSub>
                          <m:r>
                            <a:rPr lang="en-US" altLang="zh-CN" sz="2200" b="0" i="1" smtClean="0">
                              <a:solidFill>
                                <a:srgbClr val="FF0000"/>
                              </a:solidFill>
                              <a:latin typeface="Cambria Math" panose="02040503050406030204" pitchFamily="18" charset="0"/>
                              <a:ea typeface="Cambria Math" panose="02040503050406030204" pitchFamily="18" charset="0"/>
                            </a:rPr>
                            <m:t>+</m:t>
                          </m:r>
                          <m:f>
                            <m:fPr>
                              <m:type m:val="lin"/>
                              <m:ctrlPr>
                                <a:rPr lang="en-US" altLang="zh-CN" sz="2200" b="0" i="1" smtClean="0">
                                  <a:solidFill>
                                    <a:srgbClr val="FF0000"/>
                                  </a:solidFill>
                                  <a:latin typeface="Cambria Math" panose="02040503050406030204" pitchFamily="18" charset="0"/>
                                  <a:ea typeface="Cambria Math" panose="02040503050406030204" pitchFamily="18" charset="0"/>
                                </a:rPr>
                              </m:ctrlPr>
                            </m:fPr>
                            <m:num>
                              <m:r>
                                <a:rPr lang="en-US" altLang="zh-CN" sz="2200" b="0" i="1" smtClean="0">
                                  <a:solidFill>
                                    <a:srgbClr val="FF0000"/>
                                  </a:solidFill>
                                  <a:latin typeface="Cambria Math" panose="02040503050406030204" pitchFamily="18" charset="0"/>
                                  <a:ea typeface="Cambria Math" panose="02040503050406030204" pitchFamily="18" charset="0"/>
                                </a:rPr>
                                <m:t>1</m:t>
                              </m:r>
                            </m:num>
                            <m:den>
                              <m:r>
                                <a:rPr lang="zh-CN" altLang="en-US" sz="2200" b="0" i="1" smtClean="0">
                                  <a:solidFill>
                                    <a:srgbClr val="FF0000"/>
                                  </a:solidFill>
                                  <a:latin typeface="Cambria Math" panose="02040503050406030204" pitchFamily="18" charset="0"/>
                                  <a:ea typeface="Cambria Math" panose="02040503050406030204" pitchFamily="18" charset="0"/>
                                </a:rPr>
                                <m:t>𝜔</m:t>
                              </m:r>
                              <m:r>
                                <a:rPr lang="en-US" altLang="zh-CN" sz="2200" b="0" i="1" smtClean="0">
                                  <a:solidFill>
                                    <a:srgbClr val="FF0000"/>
                                  </a:solidFill>
                                  <a:latin typeface="Cambria Math" panose="02040503050406030204" pitchFamily="18" charset="0"/>
                                  <a:ea typeface="Cambria Math" panose="02040503050406030204" pitchFamily="18" charset="0"/>
                                </a:rPr>
                                <m:t>𝑐</m:t>
                              </m:r>
                            </m:den>
                          </m:f>
                        </m:den>
                      </m:f>
                      <m:r>
                        <a:rPr lang="en-US" altLang="zh-CN" sz="2200" b="0" i="1" smtClean="0">
                          <a:solidFill>
                            <a:srgbClr val="FF0000"/>
                          </a:solidFill>
                          <a:latin typeface="Cambria Math" panose="02040503050406030204" pitchFamily="18" charset="0"/>
                          <a:ea typeface="Cambria Math" panose="02040503050406030204" pitchFamily="18" charset="0"/>
                        </a:rPr>
                        <m:t>    </m:t>
                      </m:r>
                      <m:groupChr>
                        <m:groupChrPr>
                          <m:chr m:val="→"/>
                          <m:vertJc m:val="bot"/>
                          <m:ctrlPr>
                            <a:rPr lang="en-US" altLang="zh-CN" sz="2200" i="1" smtClean="0">
                              <a:solidFill>
                                <a:srgbClr val="FF0000"/>
                              </a:solidFill>
                              <a:latin typeface="Cambria Math" panose="02040503050406030204" pitchFamily="18" charset="0"/>
                              <a:ea typeface="Cambria Math" panose="02040503050406030204" pitchFamily="18" charset="0"/>
                            </a:rPr>
                          </m:ctrlPr>
                        </m:groupChrPr>
                        <m:e>
                          <m:sSub>
                            <m:sSubPr>
                              <m:ctrlPr>
                                <a:rPr lang="en-US" altLang="zh-CN" sz="2200" i="1" smtClean="0">
                                  <a:solidFill>
                                    <a:srgbClr val="FF0000"/>
                                  </a:solidFill>
                                  <a:latin typeface="Cambria Math" panose="02040503050406030204" pitchFamily="18" charset="0"/>
                                  <a:ea typeface="Cambria Math" panose="02040503050406030204" pitchFamily="18" charset="0"/>
                                </a:rPr>
                              </m:ctrlPr>
                            </m:sSubPr>
                            <m:e>
                              <m:r>
                                <a:rPr lang="en-US" altLang="zh-CN" sz="2200" b="0" i="1" smtClean="0">
                                  <a:solidFill>
                                    <a:srgbClr val="FF0000"/>
                                  </a:solidFill>
                                  <a:latin typeface="Cambria Math" panose="02040503050406030204" pitchFamily="18" charset="0"/>
                                  <a:ea typeface="Cambria Math" panose="02040503050406030204" pitchFamily="18" charset="0"/>
                                </a:rPr>
                                <m:t>𝑅</m:t>
                              </m:r>
                            </m:e>
                            <m:sub>
                              <m:r>
                                <a:rPr lang="en-US" altLang="zh-CN" sz="2200" b="0" i="1" smtClean="0">
                                  <a:solidFill>
                                    <a:srgbClr val="FF0000"/>
                                  </a:solidFill>
                                  <a:latin typeface="Cambria Math" panose="02040503050406030204" pitchFamily="18" charset="0"/>
                                  <a:ea typeface="Cambria Math" panose="02040503050406030204" pitchFamily="18" charset="0"/>
                                </a:rPr>
                                <m:t>2</m:t>
                              </m:r>
                            </m:sub>
                          </m:sSub>
                          <m:r>
                            <m:rPr>
                              <m:brk m:alnAt="2"/>
                            </m:rPr>
                            <a:rPr lang="en-US" altLang="zh-CN" sz="2200" i="1" smtClean="0">
                              <a:solidFill>
                                <a:srgbClr val="FF0000"/>
                              </a:solidFill>
                              <a:latin typeface="Cambria Math" panose="02040503050406030204" pitchFamily="18" charset="0"/>
                              <a:ea typeface="Cambria Math" panose="02040503050406030204" pitchFamily="18" charset="0"/>
                            </a:rPr>
                            <m:t>≫</m:t>
                          </m:r>
                          <m:f>
                            <m:fPr>
                              <m:type m:val="lin"/>
                              <m:ctrlPr>
                                <a:rPr lang="en-US" altLang="zh-CN" sz="2200" i="1" smtClean="0">
                                  <a:solidFill>
                                    <a:srgbClr val="FF0000"/>
                                  </a:solidFill>
                                  <a:latin typeface="Cambria Math" panose="02040503050406030204" pitchFamily="18" charset="0"/>
                                  <a:ea typeface="Cambria Math" panose="02040503050406030204" pitchFamily="18" charset="0"/>
                                </a:rPr>
                              </m:ctrlPr>
                            </m:fPr>
                            <m:num>
                              <m:r>
                                <a:rPr lang="en-US" altLang="zh-CN" sz="2200" b="0" i="1" smtClean="0">
                                  <a:solidFill>
                                    <a:srgbClr val="FF0000"/>
                                  </a:solidFill>
                                  <a:latin typeface="Cambria Math" panose="02040503050406030204" pitchFamily="18" charset="0"/>
                                  <a:ea typeface="Cambria Math" panose="02040503050406030204" pitchFamily="18" charset="0"/>
                                </a:rPr>
                                <m:t>1</m:t>
                              </m:r>
                            </m:num>
                            <m:den>
                              <m:r>
                                <a:rPr lang="zh-CN" altLang="en-US" sz="2200" i="1" smtClean="0">
                                  <a:solidFill>
                                    <a:srgbClr val="FF0000"/>
                                  </a:solidFill>
                                  <a:latin typeface="Cambria Math" panose="02040503050406030204" pitchFamily="18" charset="0"/>
                                  <a:ea typeface="Cambria Math" panose="02040503050406030204" pitchFamily="18" charset="0"/>
                                </a:rPr>
                                <m:t>𝜔</m:t>
                              </m:r>
                              <m:r>
                                <a:rPr lang="en-US" altLang="zh-CN" sz="2200" b="0" i="1" smtClean="0">
                                  <a:solidFill>
                                    <a:srgbClr val="FF0000"/>
                                  </a:solidFill>
                                  <a:latin typeface="Cambria Math" panose="02040503050406030204" pitchFamily="18" charset="0"/>
                                  <a:ea typeface="Cambria Math" panose="02040503050406030204" pitchFamily="18" charset="0"/>
                                </a:rPr>
                                <m:t>𝑐</m:t>
                              </m:r>
                            </m:den>
                          </m:f>
                        </m:e>
                      </m:groupChr>
                      <m:r>
                        <a:rPr lang="en-US" altLang="zh-CN" sz="2200" b="0" i="1" smtClean="0">
                          <a:solidFill>
                            <a:srgbClr val="FF0000"/>
                          </a:solidFill>
                          <a:latin typeface="Cambria Math" panose="02040503050406030204" pitchFamily="18" charset="0"/>
                          <a:ea typeface="Cambria Math" panose="02040503050406030204" pitchFamily="18" charset="0"/>
                        </a:rPr>
                        <m:t> ≈</m:t>
                      </m:r>
                      <m:f>
                        <m:fPr>
                          <m:ctrlPr>
                            <a:rPr lang="en-US" altLang="zh-CN" sz="2200" i="1" smtClean="0">
                              <a:solidFill>
                                <a:srgbClr val="FF0000"/>
                              </a:solidFill>
                              <a:latin typeface="Cambria Math" panose="02040503050406030204" pitchFamily="18" charset="0"/>
                              <a:ea typeface="Cambria Math" panose="02040503050406030204" pitchFamily="18" charset="0"/>
                            </a:rPr>
                          </m:ctrlPr>
                        </m:fPr>
                        <m:num>
                          <m:sSub>
                            <m:sSubPr>
                              <m:ctrlPr>
                                <a:rPr lang="en-US" altLang="zh-CN" sz="2200" i="1" smtClean="0">
                                  <a:solidFill>
                                    <a:srgbClr val="FF0000"/>
                                  </a:solidFill>
                                  <a:latin typeface="Cambria Math" panose="02040503050406030204" pitchFamily="18" charset="0"/>
                                  <a:ea typeface="Cambria Math" panose="02040503050406030204" pitchFamily="18" charset="0"/>
                                </a:rPr>
                              </m:ctrlPr>
                            </m:sSubPr>
                            <m:e>
                              <m:r>
                                <a:rPr lang="zh-CN" altLang="en-US" sz="2200" b="0" i="1" smtClean="0">
                                  <a:solidFill>
                                    <a:srgbClr val="FF0000"/>
                                  </a:solidFill>
                                  <a:latin typeface="Cambria Math" panose="02040503050406030204" pitchFamily="18" charset="0"/>
                                  <a:ea typeface="Cambria Math" panose="02040503050406030204" pitchFamily="18" charset="0"/>
                                </a:rPr>
                                <m:t>𝜀</m:t>
                              </m:r>
                            </m:e>
                            <m:sub>
                              <m:r>
                                <a:rPr lang="en-US" altLang="zh-CN" sz="2200" b="0" i="1" smtClean="0">
                                  <a:solidFill>
                                    <a:srgbClr val="FF0000"/>
                                  </a:solidFill>
                                  <a:latin typeface="Cambria Math" panose="02040503050406030204" pitchFamily="18" charset="0"/>
                                  <a:ea typeface="Cambria Math" panose="02040503050406030204" pitchFamily="18" charset="0"/>
                                </a:rPr>
                                <m:t>2</m:t>
                              </m:r>
                            </m:sub>
                          </m:sSub>
                        </m:num>
                        <m:den>
                          <m:sSub>
                            <m:sSubPr>
                              <m:ctrlPr>
                                <a:rPr lang="en-US" altLang="zh-CN" sz="2200" i="1" smtClean="0">
                                  <a:solidFill>
                                    <a:srgbClr val="FF0000"/>
                                  </a:solidFill>
                                  <a:latin typeface="Cambria Math" panose="02040503050406030204" pitchFamily="18" charset="0"/>
                                  <a:ea typeface="Cambria Math" panose="02040503050406030204" pitchFamily="18" charset="0"/>
                                </a:rPr>
                              </m:ctrlPr>
                            </m:sSubPr>
                            <m:e>
                              <m:r>
                                <a:rPr lang="en-US" altLang="zh-CN" sz="2200" b="0" i="1" smtClean="0">
                                  <a:solidFill>
                                    <a:srgbClr val="FF0000"/>
                                  </a:solidFill>
                                  <a:latin typeface="Cambria Math" panose="02040503050406030204" pitchFamily="18" charset="0"/>
                                  <a:ea typeface="Cambria Math" panose="02040503050406030204" pitchFamily="18" charset="0"/>
                                </a:rPr>
                                <m:t>𝑅</m:t>
                              </m:r>
                            </m:e>
                            <m:sub>
                              <m:r>
                                <a:rPr lang="en-US" altLang="zh-CN" sz="2200" b="0" i="1" smtClean="0">
                                  <a:solidFill>
                                    <a:srgbClr val="FF0000"/>
                                  </a:solidFill>
                                  <a:latin typeface="Cambria Math" panose="02040503050406030204" pitchFamily="18" charset="0"/>
                                  <a:ea typeface="Cambria Math" panose="02040503050406030204" pitchFamily="18" charset="0"/>
                                </a:rPr>
                                <m:t>2</m:t>
                              </m:r>
                            </m:sub>
                          </m:sSub>
                        </m:den>
                      </m:f>
                    </m:oMath>
                  </m:oMathPara>
                </a14:m>
                <a:endParaRPr lang="zh-CN" altLang="en-US" sz="22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6638509" y="2511805"/>
                <a:ext cx="4467377" cy="660437"/>
              </a:xfrm>
              <a:prstGeom prst="rect">
                <a:avLst/>
              </a:prstGeom>
              <a:blipFill>
                <a:blip r:embed="rId5"/>
                <a:stretch>
                  <a:fillRect/>
                </a:stretch>
              </a:blipFill>
            </p:spPr>
            <p:txBody>
              <a:bodyPr/>
              <a:lstStyle/>
              <a:p>
                <a:r>
                  <a:rPr lang="zh-CN" altLang="en-US">
                    <a:noFill/>
                  </a:rPr>
                  <a:t> </a:t>
                </a:r>
              </a:p>
            </p:txBody>
          </p:sp>
        </mc:Fallback>
      </mc:AlternateContent>
      <p:pic>
        <p:nvPicPr>
          <p:cNvPr id="16" name="图片 15"/>
          <p:cNvPicPr>
            <a:picLocks noChangeAspect="1"/>
          </p:cNvPicPr>
          <p:nvPr/>
        </p:nvPicPr>
        <p:blipFill rotWithShape="1">
          <a:blip r:embed="rId3"/>
          <a:srcRect l="50158" t="49087" r="817"/>
          <a:stretch/>
        </p:blipFill>
        <p:spPr>
          <a:xfrm>
            <a:off x="6261521" y="4142249"/>
            <a:ext cx="5293170" cy="2478329"/>
          </a:xfrm>
          <a:prstGeom prst="rect">
            <a:avLst/>
          </a:prstGeom>
        </p:spPr>
      </p:pic>
      <p:grpSp>
        <p:nvGrpSpPr>
          <p:cNvPr id="17" name="组合 16"/>
          <p:cNvGrpSpPr/>
          <p:nvPr/>
        </p:nvGrpSpPr>
        <p:grpSpPr>
          <a:xfrm>
            <a:off x="6435560" y="4124937"/>
            <a:ext cx="5119131" cy="2383561"/>
            <a:chOff x="8123044" y="3872882"/>
            <a:chExt cx="5119131" cy="2383561"/>
          </a:xfrm>
        </p:grpSpPr>
        <p:sp>
          <p:nvSpPr>
            <p:cNvPr id="14" name="圆角矩形 13"/>
            <p:cNvSpPr/>
            <p:nvPr/>
          </p:nvSpPr>
          <p:spPr>
            <a:xfrm>
              <a:off x="8123044" y="3981566"/>
              <a:ext cx="4983863" cy="227487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圆角矩形 10"/>
                <p:cNvSpPr/>
                <p:nvPr/>
              </p:nvSpPr>
              <p:spPr>
                <a:xfrm>
                  <a:off x="8163098" y="3872882"/>
                  <a:ext cx="5079077" cy="2383561"/>
                </a:xfrm>
                <a:prstGeom prst="roundRect">
                  <a:avLst/>
                </a:prstGeom>
                <a:noFill/>
              </p:spPr>
              <p:txBody>
                <a:bodyPr wrap="square">
                  <a:spAutoFit/>
                </a:bodyPr>
                <a:lstStyle/>
                <a:p>
                  <a:pPr>
                    <a:lnSpc>
                      <a:spcPct val="150000"/>
                    </a:lnSpc>
                  </a:pPr>
                  <a:r>
                    <a:rPr lang="zh-CN" altLang="en-US" sz="2000" dirty="0">
                      <a:latin typeface="Cambria Math" panose="02040503050406030204" pitchFamily="18" charset="0"/>
                      <a:ea typeface="微软雅黑" panose="020B0503020204020204" pitchFamily="34" charset="-122"/>
                    </a:rPr>
                    <a:t>将</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latin typeface="Cambria Math" panose="02040503050406030204" pitchFamily="18" charset="0"/>
                      <a:ea typeface="微软雅黑" panose="020B0503020204020204" pitchFamily="34" charset="-122"/>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dirty="0">
                      <a:latin typeface="Cambria Math" panose="02040503050406030204" pitchFamily="18" charset="0"/>
                      <a:ea typeface="微软雅黑" panose="020B0503020204020204" pitchFamily="34" charset="-122"/>
                    </a:rPr>
                    <a:t>分别作为接入示波器</a:t>
                  </a:r>
                  <a:r>
                    <a:rPr lang="en-US" altLang="zh-CN" sz="2000" dirty="0">
                      <a:latin typeface="Cambria Math" panose="02040503050406030204" pitchFamily="18" charset="0"/>
                      <a:ea typeface="微软雅黑" panose="020B0503020204020204" pitchFamily="34" charset="-122"/>
                    </a:rPr>
                    <a:t>x</a:t>
                  </a:r>
                  <a:r>
                    <a:rPr lang="zh-CN" altLang="en-US" sz="2000" dirty="0">
                      <a:latin typeface="Cambria Math" panose="02040503050406030204" pitchFamily="18" charset="0"/>
                      <a:ea typeface="微软雅黑" panose="020B0503020204020204" pitchFamily="34" charset="-122"/>
                    </a:rPr>
                    <a:t>轴、</a:t>
                  </a:r>
                  <a:r>
                    <a:rPr lang="en-US" altLang="zh-CN" sz="2000" dirty="0">
                      <a:latin typeface="Cambria Math" panose="02040503050406030204" pitchFamily="18" charset="0"/>
                      <a:ea typeface="微软雅黑" panose="020B0503020204020204" pitchFamily="34" charset="-122"/>
                    </a:rPr>
                    <a:t>y</a:t>
                  </a:r>
                  <a:r>
                    <a:rPr lang="zh-CN" altLang="en-US" sz="2000" dirty="0">
                      <a:latin typeface="Cambria Math" panose="02040503050406030204" pitchFamily="18" charset="0"/>
                      <a:ea typeface="微软雅黑" panose="020B0503020204020204" pitchFamily="34" charset="-122"/>
                    </a:rPr>
                    <a:t>轴的输入信号，显示稳定的动态磁滞回线</a:t>
                  </a:r>
                  <a:endParaRPr lang="en-US" altLang="zh-CN" dirty="0">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US" altLang="zh-CN" sz="2400" i="1" smtClean="0">
                          <a:solidFill>
                            <a:schemeClr val="tx1"/>
                          </a:solidFill>
                          <a:latin typeface="Cambria Math" panose="02040503050406030204" pitchFamily="18" charset="0"/>
                        </a:rPr>
                        <m:t>𝐻</m:t>
                      </m:r>
                      <m:r>
                        <a:rPr lang="en-US" altLang="zh-CN" sz="2400" i="1" smtClean="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𝑁</m:t>
                              </m:r>
                            </m:e>
                            <m:sub>
                              <m:r>
                                <a:rPr lang="en-US" altLang="zh-CN" sz="2400" i="1">
                                  <a:solidFill>
                                    <a:schemeClr val="tx1"/>
                                  </a:solidFill>
                                  <a:latin typeface="Cambria Math" panose="02040503050406030204" pitchFamily="18" charset="0"/>
                                </a:rPr>
                                <m:t>1</m:t>
                              </m:r>
                            </m:sub>
                          </m:sSub>
                        </m:num>
                        <m:den>
                          <m:r>
                            <a:rPr lang="en-US" altLang="zh-CN" sz="2400" i="1">
                              <a:solidFill>
                                <a:schemeClr val="tx1"/>
                              </a:solidFill>
                              <a:latin typeface="Cambria Math" panose="02040503050406030204" pitchFamily="18" charset="0"/>
                            </a:rPr>
                            <m:t>𝐿</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𝑅</m:t>
                              </m:r>
                            </m:e>
                            <m:sub>
                              <m:r>
                                <a:rPr lang="en-US" altLang="zh-CN" sz="2400" i="1">
                                  <a:solidFill>
                                    <a:schemeClr val="tx1"/>
                                  </a:solidFill>
                                  <a:latin typeface="Cambria Math" panose="02040503050406030204" pitchFamily="18" charset="0"/>
                                </a:rPr>
                                <m:t>1</m:t>
                              </m:r>
                            </m:sub>
                          </m:sSub>
                        </m:den>
                      </m:f>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𝑈</m:t>
                          </m:r>
                        </m:e>
                        <m:sub>
                          <m:r>
                            <a:rPr lang="en-US" altLang="zh-CN" sz="2400" i="1">
                              <a:solidFill>
                                <a:schemeClr val="tx1"/>
                              </a:solidFill>
                              <a:latin typeface="Cambria Math" panose="02040503050406030204" pitchFamily="18" charset="0"/>
                            </a:rPr>
                            <m:t>𝑥</m:t>
                          </m:r>
                        </m:sub>
                      </m:sSub>
                    </m:oMath>
                  </a14:m>
                  <a:endParaRPr lang="en-US" altLang="zh-CN" sz="2400" i="1" dirty="0">
                    <a:solidFill>
                      <a:schemeClr val="tx1"/>
                    </a:solidFill>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US" altLang="zh-CN" sz="2400" i="1">
                          <a:solidFill>
                            <a:schemeClr val="tx1"/>
                          </a:solidFill>
                          <a:latin typeface="Cambria Math" panose="02040503050406030204" pitchFamily="18" charset="0"/>
                        </a:rPr>
                        <m:t>𝐵</m:t>
                      </m:r>
                      <m:r>
                        <a:rPr lang="en-US" altLang="zh-CN" sz="2400" i="1">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𝑅</m:t>
                              </m:r>
                            </m:e>
                            <m:sub>
                              <m:r>
                                <a:rPr lang="en-US" altLang="zh-CN" sz="2400" i="1">
                                  <a:solidFill>
                                    <a:schemeClr val="tx1"/>
                                  </a:solidFill>
                                  <a:latin typeface="Cambria Math" panose="02040503050406030204" pitchFamily="18" charset="0"/>
                                </a:rPr>
                                <m:t>2</m:t>
                              </m:r>
                            </m:sub>
                          </m:sSub>
                          <m:r>
                            <a:rPr lang="en-US" altLang="zh-CN" sz="2400" i="1">
                              <a:solidFill>
                                <a:schemeClr val="tx1"/>
                              </a:solidFill>
                              <a:latin typeface="Cambria Math" panose="02040503050406030204" pitchFamily="18" charset="0"/>
                            </a:rPr>
                            <m:t>𝐶</m:t>
                          </m:r>
                        </m:num>
                        <m:den>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𝑁</m:t>
                              </m:r>
                            </m:e>
                            <m:sub>
                              <m:r>
                                <a:rPr lang="en-US" altLang="zh-CN" sz="2400" i="1">
                                  <a:solidFill>
                                    <a:schemeClr val="tx1"/>
                                  </a:solidFill>
                                  <a:latin typeface="Cambria Math" panose="02040503050406030204" pitchFamily="18" charset="0"/>
                                </a:rPr>
                                <m:t>2</m:t>
                              </m:r>
                            </m:sub>
                          </m:sSub>
                          <m:r>
                            <a:rPr lang="en-US" altLang="zh-CN" sz="2400" i="1">
                              <a:solidFill>
                                <a:schemeClr val="tx1"/>
                              </a:solidFill>
                              <a:latin typeface="Cambria Math" panose="02040503050406030204" pitchFamily="18" charset="0"/>
                            </a:rPr>
                            <m:t>𝑆</m:t>
                          </m:r>
                        </m:den>
                      </m:f>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𝑈</m:t>
                          </m:r>
                        </m:e>
                        <m:sub>
                          <m:r>
                            <a:rPr lang="en-US" altLang="zh-CN" sz="2400" i="1">
                              <a:solidFill>
                                <a:schemeClr val="tx1"/>
                              </a:solidFill>
                              <a:latin typeface="Cambria Math" panose="02040503050406030204" pitchFamily="18" charset="0"/>
                            </a:rPr>
                            <m:t>𝑦</m:t>
                          </m:r>
                        </m:sub>
                      </m:sSub>
                    </m:oMath>
                  </a14:m>
                  <a:endParaRPr lang="zh-CN" altLang="en-US" sz="2800" dirty="0">
                    <a:solidFill>
                      <a:srgbClr val="FF0000"/>
                    </a:solidFill>
                  </a:endParaRPr>
                </a:p>
              </p:txBody>
            </p:sp>
          </mc:Choice>
          <mc:Fallback xmlns="">
            <p:sp>
              <p:nvSpPr>
                <p:cNvPr id="11" name="圆角矩形 10"/>
                <p:cNvSpPr>
                  <a:spLocks noRot="1" noChangeAspect="1" noMove="1" noResize="1" noEditPoints="1" noAdjustHandles="1" noChangeArrowheads="1" noChangeShapeType="1" noTextEdit="1"/>
                </p:cNvSpPr>
                <p:nvPr/>
              </p:nvSpPr>
              <p:spPr>
                <a:xfrm>
                  <a:off x="8163098" y="3872882"/>
                  <a:ext cx="5079077" cy="2383561"/>
                </a:xfrm>
                <a:prstGeom prst="roundRect">
                  <a:avLst/>
                </a:prstGeom>
                <a:blipFill>
                  <a:blip r:embed="rId6"/>
                  <a:stretch>
                    <a:fillRect/>
                  </a:stretch>
                </a:blipFill>
              </p:spPr>
              <p:txBody>
                <a:bodyPr/>
                <a:lstStyle/>
                <a:p>
                  <a:r>
                    <a:rPr lang="zh-CN" altLang="en-US">
                      <a:noFill/>
                    </a:rPr>
                    <a:t> </a:t>
                  </a:r>
                </a:p>
              </p:txBody>
            </p:sp>
          </mc:Fallback>
        </mc:AlternateContent>
      </p:grpSp>
      <p:sp>
        <p:nvSpPr>
          <p:cNvPr id="19" name="矩形 18"/>
          <p:cNvSpPr/>
          <p:nvPr/>
        </p:nvSpPr>
        <p:spPr>
          <a:xfrm>
            <a:off x="8908106" y="5316717"/>
            <a:ext cx="2619727" cy="923330"/>
          </a:xfrm>
          <a:prstGeom prst="rect">
            <a:avLst/>
          </a:prstGeom>
          <a:noFill/>
        </p:spPr>
        <p:txBody>
          <a:bodyPr wrap="square" lIns="91440" tIns="45720" rIns="91440" bIns="45720">
            <a:spAutoFit/>
          </a:bodyPr>
          <a:lstStyle/>
          <a:p>
            <a:pPr algn="ctr"/>
            <a:r>
              <a:rPr lang="zh-CN" altLang="en-US" sz="5400" b="1" dirty="0">
                <a:ln w="22225">
                  <a:noFill/>
                  <a:prstDash val="solid"/>
                </a:ln>
                <a:solidFill>
                  <a:srgbClr val="FF0000"/>
                </a:solidFill>
                <a:effectLst>
                  <a:outerShdw blurRad="50800" dist="38100" dir="18900000" algn="bl" rotWithShape="0">
                    <a:prstClr val="black">
                      <a:alpha val="40000"/>
                    </a:prstClr>
                  </a:outerShdw>
                </a:effectLst>
              </a:rPr>
              <a:t>转换法！</a:t>
            </a:r>
          </a:p>
        </p:txBody>
      </p:sp>
      <p:sp>
        <p:nvSpPr>
          <p:cNvPr id="22" name="椭圆 21"/>
          <p:cNvSpPr/>
          <p:nvPr/>
        </p:nvSpPr>
        <p:spPr>
          <a:xfrm>
            <a:off x="4715262" y="1576838"/>
            <a:ext cx="1045457" cy="133834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6638509" y="3919904"/>
            <a:ext cx="17656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5571838" y="2949546"/>
            <a:ext cx="1008885" cy="550111"/>
            <a:chOff x="5571838" y="2949547"/>
            <a:chExt cx="1008885" cy="432932"/>
          </a:xfrm>
          <a:solidFill>
            <a:schemeClr val="accent6">
              <a:lumMod val="60000"/>
              <a:lumOff val="40000"/>
            </a:schemeClr>
          </a:solidFill>
        </p:grpSpPr>
        <p:sp>
          <p:nvSpPr>
            <p:cNvPr id="27" name="右箭头 26"/>
            <p:cNvSpPr/>
            <p:nvPr/>
          </p:nvSpPr>
          <p:spPr>
            <a:xfrm rot="2385222">
              <a:off x="5610997" y="2949547"/>
              <a:ext cx="969726" cy="43293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rot="2392402">
              <a:off x="5571838" y="3007178"/>
              <a:ext cx="902811" cy="307777"/>
            </a:xfrm>
            <a:prstGeom prst="rect">
              <a:avLst/>
            </a:prstGeom>
            <a:noFill/>
          </p:spPr>
          <p:txBody>
            <a:bodyPr wrap="none" rtlCol="0">
              <a:spAutoFit/>
            </a:bodyPr>
            <a:lstStyle/>
            <a:p>
              <a:r>
                <a:rPr lang="zh-CN" altLang="en-US" sz="1400" dirty="0"/>
                <a:t>积分电路</a:t>
              </a:r>
            </a:p>
          </p:txBody>
        </p:sp>
      </p:grpSp>
    </p:spTree>
    <p:extLst>
      <p:ext uri="{BB962C8B-B14F-4D97-AF65-F5344CB8AC3E}">
        <p14:creationId xmlns:p14="http://schemas.microsoft.com/office/powerpoint/2010/main" val="671927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实验原理</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15</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3</a:t>
            </a:r>
            <a:endParaRPr lang="zh-CN" altLang="en-US" sz="4400" b="1" dirty="0">
              <a:solidFill>
                <a:schemeClr val="tx1"/>
              </a:solidFill>
            </a:endParaRPr>
          </a:p>
        </p:txBody>
      </p:sp>
      <p:sp>
        <p:nvSpPr>
          <p:cNvPr id="10" name="矩形 9">
            <a:extLst>
              <a:ext uri="{FF2B5EF4-FFF2-40B4-BE49-F238E27FC236}">
                <a16:creationId xmlns:a16="http://schemas.microsoft.com/office/drawing/2014/main" id="{4493438A-4D46-488C-8D25-527200604AD8}"/>
              </a:ext>
            </a:extLst>
          </p:cNvPr>
          <p:cNvSpPr/>
          <p:nvPr/>
        </p:nvSpPr>
        <p:spPr>
          <a:xfrm>
            <a:off x="487970" y="1011210"/>
            <a:ext cx="6447456" cy="1631216"/>
          </a:xfrm>
          <a:prstGeom prst="rect">
            <a:avLst/>
          </a:prstGeom>
          <a:solidFill>
            <a:schemeClr val="accent4">
              <a:lumMod val="40000"/>
              <a:lumOff val="60000"/>
            </a:schemeClr>
          </a:solidFill>
        </p:spPr>
        <p:txBody>
          <a:bodyPr wrap="square">
            <a:spAutoFit/>
          </a:bodyPr>
          <a:lstStyle/>
          <a:p>
            <a:r>
              <a:rPr lang="zh-CN" altLang="en-US" sz="2400" dirty="0"/>
              <a:t>示波器能将电压信号以 波形（正弦波、 方波、锯齿波） 显示在荧光屏 上。它由</a:t>
            </a:r>
            <a:r>
              <a:rPr lang="zh-CN" altLang="en-US" sz="2400" dirty="0">
                <a:solidFill>
                  <a:srgbClr val="FF0000"/>
                </a:solidFill>
              </a:rPr>
              <a:t>示波管、 放大器（包括 </a:t>
            </a:r>
            <a:r>
              <a:rPr lang="en-US" altLang="zh-CN" sz="2400" dirty="0">
                <a:solidFill>
                  <a:srgbClr val="FF0000"/>
                </a:solidFill>
              </a:rPr>
              <a:t>X </a:t>
            </a:r>
            <a:r>
              <a:rPr lang="zh-CN" altLang="en-US" sz="2400" dirty="0">
                <a:solidFill>
                  <a:srgbClr val="FF0000"/>
                </a:solidFill>
              </a:rPr>
              <a:t>轴放大和 </a:t>
            </a:r>
            <a:r>
              <a:rPr lang="en-US" altLang="zh-CN" sz="2400" dirty="0">
                <a:solidFill>
                  <a:srgbClr val="FF0000"/>
                </a:solidFill>
              </a:rPr>
              <a:t>Y </a:t>
            </a:r>
            <a:r>
              <a:rPr lang="zh-CN" altLang="en-US" sz="2400" dirty="0">
                <a:solidFill>
                  <a:srgbClr val="FF0000"/>
                </a:solidFill>
              </a:rPr>
              <a:t>轴 放大）、扫描与触发同步系统和电源</a:t>
            </a:r>
            <a:r>
              <a:rPr lang="zh-CN" altLang="en-US" sz="2400" dirty="0"/>
              <a:t>四个基本部分组成。</a:t>
            </a:r>
          </a:p>
        </p:txBody>
      </p:sp>
      <p:pic>
        <p:nvPicPr>
          <p:cNvPr id="11" name="图片 10">
            <a:extLst>
              <a:ext uri="{FF2B5EF4-FFF2-40B4-BE49-F238E27FC236}">
                <a16:creationId xmlns:a16="http://schemas.microsoft.com/office/drawing/2014/main" id="{CA83824A-2E31-46AA-BBB0-787377064FD5}"/>
              </a:ext>
            </a:extLst>
          </p:cNvPr>
          <p:cNvPicPr>
            <a:picLocks noChangeAspect="1"/>
          </p:cNvPicPr>
          <p:nvPr/>
        </p:nvPicPr>
        <p:blipFill>
          <a:blip r:embed="rId3"/>
          <a:stretch>
            <a:fillRect/>
          </a:stretch>
        </p:blipFill>
        <p:spPr>
          <a:xfrm>
            <a:off x="487970" y="2941990"/>
            <a:ext cx="6536285" cy="3355794"/>
          </a:xfrm>
          <a:prstGeom prst="rect">
            <a:avLst/>
          </a:prstGeom>
        </p:spPr>
      </p:pic>
      <p:sp>
        <p:nvSpPr>
          <p:cNvPr id="12" name="文本框 11">
            <a:extLst>
              <a:ext uri="{FF2B5EF4-FFF2-40B4-BE49-F238E27FC236}">
                <a16:creationId xmlns:a16="http://schemas.microsoft.com/office/drawing/2014/main" id="{E232FCA3-26E5-40B5-8E13-7A4315F93672}"/>
              </a:ext>
            </a:extLst>
          </p:cNvPr>
          <p:cNvSpPr txBox="1"/>
          <p:nvPr/>
        </p:nvSpPr>
        <p:spPr>
          <a:xfrm>
            <a:off x="7732168" y="5720092"/>
            <a:ext cx="3645183" cy="738664"/>
          </a:xfrm>
          <a:prstGeom prst="rect">
            <a:avLst/>
          </a:prstGeom>
          <a:noFill/>
        </p:spPr>
        <p:txBody>
          <a:bodyPr wrap="square" rtlCol="0">
            <a:spAutoFit/>
          </a:bodyPr>
          <a:lstStyle/>
          <a:p>
            <a:r>
              <a:rPr lang="en-US" altLang="zh-CN" sz="3200" dirty="0">
                <a:solidFill>
                  <a:srgbClr val="FF0000"/>
                </a:solidFill>
              </a:rPr>
              <a:t>X-Y</a:t>
            </a:r>
            <a:r>
              <a:rPr lang="zh-CN" altLang="en-US" sz="3200" dirty="0">
                <a:solidFill>
                  <a:srgbClr val="FF0000"/>
                </a:solidFill>
              </a:rPr>
              <a:t>模式的李萨如图</a:t>
            </a:r>
            <a:endParaRPr lang="en-US" altLang="zh-CN" sz="3200" dirty="0">
              <a:solidFill>
                <a:srgbClr val="FF0000"/>
              </a:solidFill>
            </a:endParaRPr>
          </a:p>
          <a:p>
            <a:endParaRPr lang="en-US" altLang="zh-CN" sz="1000" dirty="0">
              <a:solidFill>
                <a:srgbClr val="FF0000"/>
              </a:solidFill>
            </a:endParaRPr>
          </a:p>
        </p:txBody>
      </p:sp>
      <p:sp>
        <p:nvSpPr>
          <p:cNvPr id="13" name="文本框 12"/>
          <p:cNvSpPr txBox="1"/>
          <p:nvPr/>
        </p:nvSpPr>
        <p:spPr>
          <a:xfrm>
            <a:off x="8247458" y="950227"/>
            <a:ext cx="2441694" cy="954107"/>
          </a:xfrm>
          <a:prstGeom prst="rect">
            <a:avLst/>
          </a:prstGeom>
          <a:noFill/>
        </p:spPr>
        <p:txBody>
          <a:bodyPr wrap="none" rtlCol="0">
            <a:spAutoFit/>
          </a:bodyPr>
          <a:lstStyle/>
          <a:p>
            <a:r>
              <a:rPr lang="en-US" altLang="zh-CN" sz="2800" dirty="0"/>
              <a:t>X-ch1</a:t>
            </a:r>
            <a:r>
              <a:rPr lang="zh-CN" altLang="en-US" sz="2800" dirty="0"/>
              <a:t>信号输入</a:t>
            </a:r>
            <a:endParaRPr lang="en-US" altLang="zh-CN" sz="2800" dirty="0"/>
          </a:p>
          <a:p>
            <a:r>
              <a:rPr lang="en-US" altLang="zh-CN" sz="2800" dirty="0"/>
              <a:t>Y-ch2</a:t>
            </a:r>
            <a:r>
              <a:rPr lang="zh-CN" altLang="en-US" sz="2800" dirty="0"/>
              <a:t>信号输入</a:t>
            </a:r>
          </a:p>
        </p:txBody>
      </p:sp>
      <p:pic>
        <p:nvPicPr>
          <p:cNvPr id="15" name="图片 14">
            <a:extLst>
              <a:ext uri="{FF2B5EF4-FFF2-40B4-BE49-F238E27FC236}">
                <a16:creationId xmlns:a16="http://schemas.microsoft.com/office/drawing/2014/main" id="{AC7D6866-321F-553E-7CC5-D74F25E937D2}"/>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l="49372" t="58582" r="24518" b="20461"/>
          <a:stretch/>
        </p:blipFill>
        <p:spPr>
          <a:xfrm>
            <a:off x="7937933" y="2223984"/>
            <a:ext cx="3233651" cy="3460519"/>
          </a:xfrm>
          <a:prstGeom prst="rect">
            <a:avLst/>
          </a:prstGeom>
        </p:spPr>
      </p:pic>
    </p:spTree>
    <p:extLst>
      <p:ext uri="{BB962C8B-B14F-4D97-AF65-F5344CB8AC3E}">
        <p14:creationId xmlns:p14="http://schemas.microsoft.com/office/powerpoint/2010/main" val="19644578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63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4" name="组 3"/>
          <p:cNvGrpSpPr/>
          <p:nvPr/>
        </p:nvGrpSpPr>
        <p:grpSpPr>
          <a:xfrm>
            <a:off x="-1" y="2847434"/>
            <a:ext cx="12192001" cy="1291039"/>
            <a:chOff x="0" y="2847433"/>
            <a:chExt cx="12192000" cy="1291039"/>
          </a:xfrm>
        </p:grpSpPr>
        <p:sp>
          <p:nvSpPr>
            <p:cNvPr id="51" name="矩形 50"/>
            <p:cNvSpPr/>
            <p:nvPr/>
          </p:nvSpPr>
          <p:spPr>
            <a:xfrm flipH="1">
              <a:off x="0" y="2886409"/>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6600" noProof="0" dirty="0">
                  <a:solidFill>
                    <a:prstClr val="white"/>
                  </a:solidFill>
                  <a:latin typeface="Calibri" panose="020F0502020204030204"/>
                  <a:ea typeface="等线" panose="02010600030101010101" pitchFamily="2" charset="-122"/>
                </a:rPr>
                <a:t>4</a:t>
              </a:r>
              <a:endParaRPr kumimoji="0" lang="zh-CN" altLang="en-US" sz="66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42" name="文本框 41"/>
            <p:cNvSpPr txBox="1"/>
            <p:nvPr/>
          </p:nvSpPr>
          <p:spPr>
            <a:xfrm>
              <a:off x="1945790" y="2847433"/>
              <a:ext cx="3884393" cy="1107994"/>
            </a:xfrm>
            <a:prstGeom prst="rect">
              <a:avLst/>
            </a:prstGeom>
            <a:noFill/>
          </p:spPr>
          <p:txBody>
            <a:bodyPr wrap="none" lIns="91438" tIns="45719" rIns="91438" bIns="45719"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60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实验内容</a:t>
              </a:r>
            </a:p>
          </p:txBody>
        </p:sp>
        <p:sp>
          <p:nvSpPr>
            <p:cNvPr id="53" name="矩形 52"/>
            <p:cNvSpPr/>
            <p:nvPr/>
          </p:nvSpPr>
          <p:spPr>
            <a:xfrm>
              <a:off x="6523777" y="3220053"/>
              <a:ext cx="4974627" cy="584773"/>
            </a:xfrm>
            <a:prstGeom prst="rect">
              <a:avLst/>
            </a:prstGeom>
          </p:spPr>
          <p:txBody>
            <a:bodyPr wrap="none" lIns="91438" tIns="45719" rIns="91438" bIns="45719">
              <a:spAutoFit/>
            </a:bodyPr>
            <a:lstStyle/>
            <a:p>
              <a:pPr lvl="0" algn="ctr"/>
              <a:r>
                <a:rPr kumimoji="0" lang="en-US" altLang="zh-CN"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EXPERIMENT </a:t>
              </a:r>
              <a:r>
                <a:rPr lang="en-US" altLang="zh-CN" sz="3200" dirty="0">
                  <a:solidFill>
                    <a:prstClr val="white"/>
                  </a:solidFill>
                  <a:latin typeface="微软雅黑" panose="020B0503020204020204" pitchFamily="34" charset="-122"/>
                  <a:ea typeface="微软雅黑" panose="020B0503020204020204" pitchFamily="34" charset="-122"/>
                </a:rPr>
                <a:t>CONTENT</a:t>
              </a:r>
            </a:p>
          </p:txBody>
        </p:sp>
      </p:grpSp>
    </p:spTree>
    <p:extLst>
      <p:ext uri="{BB962C8B-B14F-4D97-AF65-F5344CB8AC3E}">
        <p14:creationId xmlns:p14="http://schemas.microsoft.com/office/powerpoint/2010/main" val="4143589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598735" y="120289"/>
            <a:ext cx="8655953" cy="601075"/>
          </a:xfrm>
        </p:spPr>
        <p:txBody>
          <a:bodyPr>
            <a:noAutofit/>
          </a:bodyPr>
          <a:lstStyle/>
          <a:p>
            <a:r>
              <a:rPr lang="zh-CN" altLang="en-US" sz="4400" dirty="0"/>
              <a:t>实验内容</a:t>
            </a:r>
          </a:p>
        </p:txBody>
      </p:sp>
      <p:sp>
        <p:nvSpPr>
          <p:cNvPr id="9" name="圆角矩形 8"/>
          <p:cNvSpPr/>
          <p:nvPr/>
        </p:nvSpPr>
        <p:spPr>
          <a:xfrm rot="10800000" flipV="1">
            <a:off x="648780" y="83982"/>
            <a:ext cx="748020"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4</a:t>
            </a:r>
            <a:endParaRPr lang="zh-CN" altLang="en-US" sz="4400" b="1" dirty="0">
              <a:solidFill>
                <a:schemeClr val="tx1"/>
              </a:solidFill>
            </a:endParaRPr>
          </a:p>
        </p:txBody>
      </p:sp>
      <p:sp>
        <p:nvSpPr>
          <p:cNvPr id="7" name="文本框 6"/>
          <p:cNvSpPr txBox="1"/>
          <p:nvPr/>
        </p:nvSpPr>
        <p:spPr>
          <a:xfrm>
            <a:off x="711962" y="934733"/>
            <a:ext cx="11074403" cy="1631216"/>
          </a:xfrm>
          <a:prstGeom prst="rect">
            <a:avLst/>
          </a:prstGeom>
          <a:solidFill>
            <a:schemeClr val="accent6">
              <a:lumMod val="40000"/>
              <a:lumOff val="60000"/>
            </a:schemeClr>
          </a:solidFill>
        </p:spPr>
        <p:txBody>
          <a:bodyPr wrap="square" rtlCol="0">
            <a:spAutoFit/>
          </a:bodyPr>
          <a:lstStyle/>
          <a:p>
            <a:pPr marL="457200" indent="-457200">
              <a:spcBef>
                <a:spcPts val="600"/>
              </a:spcBef>
              <a:spcAft>
                <a:spcPts val="600"/>
              </a:spcAft>
              <a:buFont typeface="Arial" panose="020B0604020202020204" pitchFamily="34" charset="0"/>
              <a:buChar char="•"/>
            </a:pPr>
            <a:r>
              <a:rPr lang="zh-CN" altLang="en-US" sz="2000" dirty="0">
                <a:latin typeface="Calibri" panose="020F0502020204030204" pitchFamily="34" charset="0"/>
              </a:rPr>
              <a:t>按图示连接样品</a:t>
            </a:r>
            <a:r>
              <a:rPr lang="en-US" altLang="zh-CN" sz="2000" dirty="0">
                <a:latin typeface="Calibri" panose="020F0502020204030204" pitchFamily="34" charset="0"/>
              </a:rPr>
              <a:t>1</a:t>
            </a:r>
            <a:r>
              <a:rPr lang="zh-CN" altLang="en-US" sz="2000" dirty="0">
                <a:latin typeface="Calibri" panose="020F0502020204030204" pitchFamily="34" charset="0"/>
              </a:rPr>
              <a:t>，</a:t>
            </a:r>
            <a:r>
              <a:rPr lang="zh-CN" altLang="en-US" sz="2000" dirty="0">
                <a:solidFill>
                  <a:srgbClr val="FF0000"/>
                </a:solidFill>
                <a:latin typeface="Calibri" panose="020F0502020204030204" pitchFamily="34" charset="0"/>
              </a:rPr>
              <a:t>设置电阻值</a:t>
            </a:r>
            <a:r>
              <a:rPr lang="en-US" altLang="zh-CN" sz="2000" i="1" dirty="0">
                <a:solidFill>
                  <a:srgbClr val="FF0000"/>
                </a:solidFill>
                <a:latin typeface="Calibri" panose="020F0502020204030204" pitchFamily="34" charset="0"/>
                <a:cs typeface="Arial" panose="020B0604020202020204" pitchFamily="34" charset="0"/>
              </a:rPr>
              <a:t>R</a:t>
            </a:r>
            <a:r>
              <a:rPr lang="en-US" altLang="zh-CN" sz="2000" baseline="-25000" dirty="0">
                <a:solidFill>
                  <a:srgbClr val="FF0000"/>
                </a:solidFill>
                <a:latin typeface="Calibri" panose="020F0502020204030204" pitchFamily="34" charset="0"/>
                <a:cs typeface="Arial" panose="020B0604020202020204" pitchFamily="34" charset="0"/>
              </a:rPr>
              <a:t>1</a:t>
            </a:r>
            <a:r>
              <a:rPr lang="en-US" altLang="zh-CN" sz="2000" dirty="0">
                <a:solidFill>
                  <a:srgbClr val="FF0000"/>
                </a:solidFill>
                <a:latin typeface="Calibri" panose="020F0502020204030204" pitchFamily="34" charset="0"/>
                <a:cs typeface="Arial" panose="020B0604020202020204" pitchFamily="34" charset="0"/>
              </a:rPr>
              <a:t>=2.5Ω</a:t>
            </a:r>
            <a:r>
              <a:rPr lang="zh-CN" altLang="en-US" sz="2000" dirty="0">
                <a:solidFill>
                  <a:srgbClr val="FF0000"/>
                </a:solidFill>
                <a:latin typeface="Calibri" panose="020F0502020204030204" pitchFamily="34" charset="0"/>
                <a:cs typeface="Arial" panose="020B0604020202020204" pitchFamily="34" charset="0"/>
              </a:rPr>
              <a:t>、</a:t>
            </a:r>
            <a:r>
              <a:rPr lang="en-US" altLang="zh-CN" sz="2000" i="1" dirty="0">
                <a:solidFill>
                  <a:srgbClr val="FF0000"/>
                </a:solidFill>
                <a:latin typeface="Calibri" panose="020F0502020204030204" pitchFamily="34" charset="0"/>
                <a:cs typeface="Arial" panose="020B0604020202020204" pitchFamily="34" charset="0"/>
              </a:rPr>
              <a:t>R</a:t>
            </a:r>
            <a:r>
              <a:rPr lang="en-US" altLang="zh-CN" sz="2000" baseline="-25000" dirty="0">
                <a:solidFill>
                  <a:srgbClr val="FF0000"/>
                </a:solidFill>
                <a:latin typeface="Calibri" panose="020F0502020204030204" pitchFamily="34" charset="0"/>
                <a:cs typeface="Arial" panose="020B0604020202020204" pitchFamily="34" charset="0"/>
              </a:rPr>
              <a:t>2</a:t>
            </a:r>
            <a:r>
              <a:rPr lang="en-US" altLang="zh-CN" sz="2000" dirty="0">
                <a:solidFill>
                  <a:srgbClr val="FF0000"/>
                </a:solidFill>
                <a:latin typeface="Calibri" panose="020F0502020204030204" pitchFamily="34" charset="0"/>
                <a:cs typeface="Arial" panose="020B0604020202020204" pitchFamily="34" charset="0"/>
              </a:rPr>
              <a:t>=10kΩ</a:t>
            </a:r>
            <a:r>
              <a:rPr lang="zh-CN" altLang="en-US" sz="2000" dirty="0">
                <a:solidFill>
                  <a:srgbClr val="FF0000"/>
                </a:solidFill>
                <a:latin typeface="Calibri" panose="020F0502020204030204" pitchFamily="34" charset="0"/>
                <a:cs typeface="Arial" panose="020B0604020202020204" pitchFamily="34" charset="0"/>
              </a:rPr>
              <a:t>、</a:t>
            </a:r>
            <a:r>
              <a:rPr lang="en-US" altLang="zh-CN" sz="2000" i="1" dirty="0">
                <a:solidFill>
                  <a:srgbClr val="FF0000"/>
                </a:solidFill>
                <a:latin typeface="Calibri" panose="020F0502020204030204" pitchFamily="34" charset="0"/>
                <a:cs typeface="Arial" panose="020B0604020202020204" pitchFamily="34" charset="0"/>
              </a:rPr>
              <a:t>C</a:t>
            </a:r>
            <a:r>
              <a:rPr lang="en-US" altLang="zh-CN" sz="2000" dirty="0">
                <a:solidFill>
                  <a:srgbClr val="FF0000"/>
                </a:solidFill>
                <a:latin typeface="Calibri" panose="020F0502020204030204" pitchFamily="34" charset="0"/>
                <a:cs typeface="Arial" panose="020B0604020202020204" pitchFamily="34" charset="0"/>
              </a:rPr>
              <a:t>=3µF</a:t>
            </a:r>
            <a:r>
              <a:rPr lang="zh-CN" altLang="en-US" sz="2000" dirty="0">
                <a:solidFill>
                  <a:srgbClr val="FF0000"/>
                </a:solidFill>
                <a:latin typeface="Calibri" panose="020F0502020204030204" pitchFamily="34" charset="0"/>
                <a:cs typeface="Arial" panose="020B0604020202020204" pitchFamily="34" charset="0"/>
              </a:rPr>
              <a:t>，交流励磁频率设置</a:t>
            </a:r>
            <a:r>
              <a:rPr lang="en-US" altLang="zh-CN" sz="2000" dirty="0">
                <a:solidFill>
                  <a:srgbClr val="FF0000"/>
                </a:solidFill>
                <a:latin typeface="Calibri" panose="020F0502020204030204" pitchFamily="34" charset="0"/>
                <a:cs typeface="Arial" panose="020B0604020202020204" pitchFamily="34" charset="0"/>
              </a:rPr>
              <a:t>130Hz</a:t>
            </a:r>
            <a:r>
              <a:rPr lang="zh-CN" altLang="en-US" sz="2000" dirty="0">
                <a:latin typeface="Calibri" panose="020F0502020204030204" pitchFamily="34" charset="0"/>
                <a:cs typeface="Arial" panose="020B0604020202020204" pitchFamily="34" charset="0"/>
              </a:rPr>
              <a:t>。</a:t>
            </a:r>
            <a:endParaRPr lang="en-US" altLang="zh-CN" sz="2000" dirty="0">
              <a:latin typeface="Calibri" panose="020F0502020204030204" pitchFamily="34" charset="0"/>
              <a:cs typeface="Arial" panose="020B0604020202020204" pitchFamily="34" charset="0"/>
            </a:endParaRPr>
          </a:p>
          <a:p>
            <a:pPr marL="457200" indent="-457200">
              <a:spcBef>
                <a:spcPts val="600"/>
              </a:spcBef>
              <a:spcAft>
                <a:spcPts val="600"/>
              </a:spcAft>
              <a:buFont typeface="Arial" panose="020B0604020202020204" pitchFamily="34" charset="0"/>
              <a:buChar char="•"/>
            </a:pPr>
            <a:r>
              <a:rPr lang="zh-CN" altLang="zh-CN" sz="2000" dirty="0">
                <a:latin typeface="Calibri" panose="020F0502020204030204" pitchFamily="34" charset="0"/>
              </a:rPr>
              <a:t>调节示波器为</a:t>
            </a:r>
            <a:r>
              <a:rPr lang="en-US" altLang="zh-CN" sz="2000" dirty="0">
                <a:latin typeface="Calibri" panose="020F0502020204030204" pitchFamily="34" charset="0"/>
              </a:rPr>
              <a:t>X-Y</a:t>
            </a:r>
            <a:r>
              <a:rPr lang="zh-CN" altLang="zh-CN" sz="2000" dirty="0">
                <a:latin typeface="Calibri" panose="020F0502020204030204" pitchFamily="34" charset="0"/>
              </a:rPr>
              <a:t>模式，将交流励磁信号的电压</a:t>
            </a:r>
            <a:r>
              <a:rPr lang="zh-CN" altLang="en-US" sz="2000" dirty="0">
                <a:latin typeface="Calibri" panose="020F0502020204030204" pitchFamily="34" charset="0"/>
              </a:rPr>
              <a:t>单调上升至</a:t>
            </a:r>
            <a:r>
              <a:rPr lang="en-US" altLang="zh-CN" sz="2000" dirty="0">
                <a:latin typeface="Calibri" panose="020F0502020204030204" pitchFamily="34" charset="0"/>
              </a:rPr>
              <a:t>3.5V</a:t>
            </a:r>
            <a:r>
              <a:rPr lang="zh-CN" altLang="en-US" sz="2000" dirty="0">
                <a:latin typeface="Calibri" panose="020F0502020204030204" pitchFamily="34" charset="0"/>
              </a:rPr>
              <a:t>，调节</a:t>
            </a:r>
            <a:r>
              <a:rPr lang="en-US" altLang="zh-CN" sz="2000" dirty="0">
                <a:latin typeface="Calibri" panose="020F0502020204030204" pitchFamily="34" charset="0"/>
              </a:rPr>
              <a:t>X-Y</a:t>
            </a:r>
            <a:r>
              <a:rPr lang="zh-CN" altLang="en-US" sz="2000" dirty="0">
                <a:latin typeface="Calibri" panose="020F0502020204030204" pitchFamily="34" charset="0"/>
              </a:rPr>
              <a:t>放大增益（</a:t>
            </a:r>
            <a:r>
              <a:rPr lang="en-US" altLang="zh-CN" sz="2000" dirty="0">
                <a:solidFill>
                  <a:srgbClr val="FF0000"/>
                </a:solidFill>
                <a:latin typeface="Calibri" panose="020F0502020204030204" pitchFamily="34" charset="0"/>
              </a:rPr>
              <a:t>Volt-div</a:t>
            </a:r>
            <a:r>
              <a:rPr lang="zh-CN" altLang="en-US" sz="2000" dirty="0">
                <a:solidFill>
                  <a:srgbClr val="FF0000"/>
                </a:solidFill>
                <a:latin typeface="Calibri" panose="020F0502020204030204" pitchFamily="34" charset="0"/>
              </a:rPr>
              <a:t>旋钮</a:t>
            </a:r>
            <a:r>
              <a:rPr lang="zh-CN" altLang="en-US" sz="2000" dirty="0">
                <a:latin typeface="Calibri" panose="020F0502020204030204" pitchFamily="34" charset="0"/>
              </a:rPr>
              <a:t>）使磁滞回线完整显示并尽可能占据更大的屏幕面积。微调电子束聚焦、亮度等显示。</a:t>
            </a:r>
            <a:endParaRPr lang="en-US" altLang="zh-CN" sz="2000" dirty="0">
              <a:latin typeface="Calibri" panose="020F0502020204030204" pitchFamily="34" charset="0"/>
            </a:endParaRPr>
          </a:p>
          <a:p>
            <a:pPr marL="457200" indent="-457200">
              <a:spcBef>
                <a:spcPts val="600"/>
              </a:spcBef>
              <a:spcAft>
                <a:spcPts val="600"/>
              </a:spcAft>
              <a:buFont typeface="Arial" panose="020B0604020202020204" pitchFamily="34" charset="0"/>
              <a:buChar char="•"/>
            </a:pPr>
            <a:r>
              <a:rPr lang="zh-CN" altLang="en-US" sz="2000" dirty="0">
                <a:latin typeface="Calibri" panose="020F0502020204030204" pitchFamily="34" charset="0"/>
              </a:rPr>
              <a:t>将</a:t>
            </a:r>
            <a:r>
              <a:rPr lang="zh-CN" altLang="zh-CN" sz="2000" dirty="0">
                <a:latin typeface="Calibri" panose="020F0502020204030204" pitchFamily="34" charset="0"/>
              </a:rPr>
              <a:t>交流励磁</a:t>
            </a:r>
            <a:r>
              <a:rPr lang="zh-CN" altLang="en-US" sz="2000" dirty="0">
                <a:latin typeface="Calibri" panose="020F0502020204030204" pitchFamily="34" charset="0"/>
              </a:rPr>
              <a:t>电压单调下降至</a:t>
            </a:r>
            <a:r>
              <a:rPr lang="en-US" altLang="zh-CN" sz="2000" dirty="0">
                <a:latin typeface="Calibri" panose="020F0502020204030204" pitchFamily="34" charset="0"/>
              </a:rPr>
              <a:t>0V</a:t>
            </a:r>
            <a:r>
              <a:rPr lang="zh-CN" altLang="zh-CN" sz="2000" dirty="0">
                <a:latin typeface="Calibri" panose="020F0502020204030204" pitchFamily="34" charset="0"/>
              </a:rPr>
              <a:t>，</a:t>
            </a:r>
            <a:r>
              <a:rPr lang="zh-CN" altLang="en-US" sz="2000" dirty="0">
                <a:latin typeface="Calibri" panose="020F0502020204030204" pitchFamily="34" charset="0"/>
              </a:rPr>
              <a:t>进行退磁，并</a:t>
            </a:r>
            <a:r>
              <a:rPr lang="zh-CN" altLang="zh-CN" sz="2000" dirty="0">
                <a:latin typeface="Calibri" panose="020F0502020204030204" pitchFamily="34" charset="0"/>
              </a:rPr>
              <a:t>调节电子束光斑至屏幕中心。</a:t>
            </a:r>
            <a:r>
              <a:rPr lang="zh-CN" altLang="en-US" sz="2000" dirty="0">
                <a:latin typeface="Calibri" panose="020F0502020204030204" pitchFamily="34" charset="0"/>
              </a:rPr>
              <a:t>（</a:t>
            </a:r>
            <a:r>
              <a:rPr lang="en-US" altLang="zh-CN" sz="2000" dirty="0">
                <a:solidFill>
                  <a:srgbClr val="FF0000"/>
                </a:solidFill>
                <a:latin typeface="Calibri" panose="020F0502020204030204" pitchFamily="34" charset="0"/>
              </a:rPr>
              <a:t>position</a:t>
            </a:r>
            <a:r>
              <a:rPr lang="zh-CN" altLang="en-US" sz="2000" dirty="0">
                <a:solidFill>
                  <a:srgbClr val="FF0000"/>
                </a:solidFill>
                <a:latin typeface="Calibri" panose="020F0502020204030204" pitchFamily="34" charset="0"/>
              </a:rPr>
              <a:t>旋钮</a:t>
            </a:r>
            <a:r>
              <a:rPr lang="zh-CN" altLang="en-US" sz="2000" dirty="0">
                <a:latin typeface="Calibri" panose="020F0502020204030204" pitchFamily="34" charset="0"/>
              </a:rPr>
              <a:t>）</a:t>
            </a:r>
            <a:endParaRPr lang="zh-CN" altLang="zh-CN" sz="2000" dirty="0">
              <a:latin typeface="Calibri" panose="020F0502020204030204" pitchFamily="34" charset="0"/>
            </a:endParaRPr>
          </a:p>
        </p:txBody>
      </p:sp>
      <p:pic>
        <p:nvPicPr>
          <p:cNvPr id="14" name="图片 13"/>
          <p:cNvPicPr>
            <a:picLocks noChangeAspect="1"/>
          </p:cNvPicPr>
          <p:nvPr/>
        </p:nvPicPr>
        <p:blipFill rotWithShape="1">
          <a:blip r:embed="rId3"/>
          <a:srcRect l="7522" t="1585" r="8318"/>
          <a:stretch/>
        </p:blipFill>
        <p:spPr>
          <a:xfrm rot="16200000">
            <a:off x="6985461" y="1645131"/>
            <a:ext cx="3647725" cy="5687434"/>
          </a:xfrm>
          <a:prstGeom prst="rect">
            <a:avLst/>
          </a:prstGeom>
        </p:spPr>
      </p:pic>
      <p:sp>
        <p:nvSpPr>
          <p:cNvPr id="15" name="椭圆 14"/>
          <p:cNvSpPr/>
          <p:nvPr/>
        </p:nvSpPr>
        <p:spPr>
          <a:xfrm>
            <a:off x="8004516" y="3234913"/>
            <a:ext cx="341698" cy="97337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a:off x="4190035" y="4733285"/>
            <a:ext cx="1834890" cy="1723097"/>
          </a:xfrm>
          <a:custGeom>
            <a:avLst/>
            <a:gdLst>
              <a:gd name="connsiteX0" fmla="*/ 82296 w 2916936"/>
              <a:gd name="connsiteY0" fmla="*/ 676656 h 1143000"/>
              <a:gd name="connsiteX1" fmla="*/ 45720 w 2916936"/>
              <a:gd name="connsiteY1" fmla="*/ 722376 h 1143000"/>
              <a:gd name="connsiteX2" fmla="*/ 18288 w 2916936"/>
              <a:gd name="connsiteY2" fmla="*/ 740664 h 1143000"/>
              <a:gd name="connsiteX3" fmla="*/ 9144 w 2916936"/>
              <a:gd name="connsiteY3" fmla="*/ 777240 h 1143000"/>
              <a:gd name="connsiteX4" fmla="*/ 0 w 2916936"/>
              <a:gd name="connsiteY4" fmla="*/ 804672 h 1143000"/>
              <a:gd name="connsiteX5" fmla="*/ 18288 w 2916936"/>
              <a:gd name="connsiteY5" fmla="*/ 932688 h 1143000"/>
              <a:gd name="connsiteX6" fmla="*/ 27432 w 2916936"/>
              <a:gd name="connsiteY6" fmla="*/ 960120 h 1143000"/>
              <a:gd name="connsiteX7" fmla="*/ 91440 w 2916936"/>
              <a:gd name="connsiteY7" fmla="*/ 1042416 h 1143000"/>
              <a:gd name="connsiteX8" fmla="*/ 146304 w 2916936"/>
              <a:gd name="connsiteY8" fmla="*/ 1078992 h 1143000"/>
              <a:gd name="connsiteX9" fmla="*/ 173736 w 2916936"/>
              <a:gd name="connsiteY9" fmla="*/ 1088136 h 1143000"/>
              <a:gd name="connsiteX10" fmla="*/ 210312 w 2916936"/>
              <a:gd name="connsiteY10" fmla="*/ 1106424 h 1143000"/>
              <a:gd name="connsiteX11" fmla="*/ 310896 w 2916936"/>
              <a:gd name="connsiteY11" fmla="*/ 1124712 h 1143000"/>
              <a:gd name="connsiteX12" fmla="*/ 740664 w 2916936"/>
              <a:gd name="connsiteY12" fmla="*/ 1133856 h 1143000"/>
              <a:gd name="connsiteX13" fmla="*/ 1051560 w 2916936"/>
              <a:gd name="connsiteY13" fmla="*/ 1143000 h 1143000"/>
              <a:gd name="connsiteX14" fmla="*/ 1591056 w 2916936"/>
              <a:gd name="connsiteY14" fmla="*/ 1133856 h 1143000"/>
              <a:gd name="connsiteX15" fmla="*/ 1636776 w 2916936"/>
              <a:gd name="connsiteY15" fmla="*/ 1124712 h 1143000"/>
              <a:gd name="connsiteX16" fmla="*/ 1773936 w 2916936"/>
              <a:gd name="connsiteY16" fmla="*/ 1115568 h 1143000"/>
              <a:gd name="connsiteX17" fmla="*/ 1810512 w 2916936"/>
              <a:gd name="connsiteY17" fmla="*/ 1106424 h 1143000"/>
              <a:gd name="connsiteX18" fmla="*/ 1837944 w 2916936"/>
              <a:gd name="connsiteY18" fmla="*/ 1078992 h 1143000"/>
              <a:gd name="connsiteX19" fmla="*/ 1865376 w 2916936"/>
              <a:gd name="connsiteY19" fmla="*/ 1060704 h 1143000"/>
              <a:gd name="connsiteX20" fmla="*/ 1901952 w 2916936"/>
              <a:gd name="connsiteY20" fmla="*/ 1042416 h 1143000"/>
              <a:gd name="connsiteX21" fmla="*/ 1956816 w 2916936"/>
              <a:gd name="connsiteY21" fmla="*/ 1005840 h 1143000"/>
              <a:gd name="connsiteX22" fmla="*/ 2029968 w 2916936"/>
              <a:gd name="connsiteY22" fmla="*/ 969264 h 1143000"/>
              <a:gd name="connsiteX23" fmla="*/ 2057400 w 2916936"/>
              <a:gd name="connsiteY23" fmla="*/ 950976 h 1143000"/>
              <a:gd name="connsiteX24" fmla="*/ 2084832 w 2916936"/>
              <a:gd name="connsiteY24" fmla="*/ 923544 h 1143000"/>
              <a:gd name="connsiteX25" fmla="*/ 2121408 w 2916936"/>
              <a:gd name="connsiteY25" fmla="*/ 914400 h 1143000"/>
              <a:gd name="connsiteX26" fmla="*/ 2157984 w 2916936"/>
              <a:gd name="connsiteY26" fmla="*/ 886968 h 1143000"/>
              <a:gd name="connsiteX27" fmla="*/ 2185416 w 2916936"/>
              <a:gd name="connsiteY27" fmla="*/ 868680 h 1143000"/>
              <a:gd name="connsiteX28" fmla="*/ 2212848 w 2916936"/>
              <a:gd name="connsiteY28" fmla="*/ 841248 h 1143000"/>
              <a:gd name="connsiteX29" fmla="*/ 2240280 w 2916936"/>
              <a:gd name="connsiteY29" fmla="*/ 822960 h 1143000"/>
              <a:gd name="connsiteX30" fmla="*/ 2267712 w 2916936"/>
              <a:gd name="connsiteY30" fmla="*/ 795528 h 1143000"/>
              <a:gd name="connsiteX31" fmla="*/ 2322576 w 2916936"/>
              <a:gd name="connsiteY31" fmla="*/ 758952 h 1143000"/>
              <a:gd name="connsiteX32" fmla="*/ 2377440 w 2916936"/>
              <a:gd name="connsiteY32" fmla="*/ 676656 h 1143000"/>
              <a:gd name="connsiteX33" fmla="*/ 2395728 w 2916936"/>
              <a:gd name="connsiteY33" fmla="*/ 649224 h 1143000"/>
              <a:gd name="connsiteX34" fmla="*/ 2423160 w 2916936"/>
              <a:gd name="connsiteY34" fmla="*/ 621792 h 1143000"/>
              <a:gd name="connsiteX35" fmla="*/ 2441448 w 2916936"/>
              <a:gd name="connsiteY35" fmla="*/ 585216 h 1143000"/>
              <a:gd name="connsiteX36" fmla="*/ 2478024 w 2916936"/>
              <a:gd name="connsiteY36" fmla="*/ 530352 h 1143000"/>
              <a:gd name="connsiteX37" fmla="*/ 2532888 w 2916936"/>
              <a:gd name="connsiteY37" fmla="*/ 448056 h 1143000"/>
              <a:gd name="connsiteX38" fmla="*/ 2551176 w 2916936"/>
              <a:gd name="connsiteY38" fmla="*/ 420624 h 1143000"/>
              <a:gd name="connsiteX39" fmla="*/ 2587752 w 2916936"/>
              <a:gd name="connsiteY39" fmla="*/ 338328 h 1143000"/>
              <a:gd name="connsiteX40" fmla="*/ 2615184 w 2916936"/>
              <a:gd name="connsiteY40" fmla="*/ 246888 h 1143000"/>
              <a:gd name="connsiteX41" fmla="*/ 2633472 w 2916936"/>
              <a:gd name="connsiteY41" fmla="*/ 210312 h 1143000"/>
              <a:gd name="connsiteX42" fmla="*/ 2651760 w 2916936"/>
              <a:gd name="connsiteY42" fmla="*/ 182880 h 1143000"/>
              <a:gd name="connsiteX43" fmla="*/ 2670048 w 2916936"/>
              <a:gd name="connsiteY43" fmla="*/ 128016 h 1143000"/>
              <a:gd name="connsiteX44" fmla="*/ 2679192 w 2916936"/>
              <a:gd name="connsiteY44" fmla="*/ 100584 h 1143000"/>
              <a:gd name="connsiteX45" fmla="*/ 2706624 w 2916936"/>
              <a:gd name="connsiteY45" fmla="*/ 82296 h 1143000"/>
              <a:gd name="connsiteX46" fmla="*/ 2743200 w 2916936"/>
              <a:gd name="connsiteY46" fmla="*/ 36576 h 1143000"/>
              <a:gd name="connsiteX47" fmla="*/ 2788920 w 2916936"/>
              <a:gd name="connsiteY47" fmla="*/ 0 h 1143000"/>
              <a:gd name="connsiteX48" fmla="*/ 2916936 w 2916936"/>
              <a:gd name="connsiteY48" fmla="*/ 9144 h 114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916936" h="1143000">
                <a:moveTo>
                  <a:pt x="82296" y="676656"/>
                </a:moveTo>
                <a:cubicBezTo>
                  <a:pt x="70104" y="691896"/>
                  <a:pt x="59520" y="708576"/>
                  <a:pt x="45720" y="722376"/>
                </a:cubicBezTo>
                <a:cubicBezTo>
                  <a:pt x="37949" y="730147"/>
                  <a:pt x="24384" y="731520"/>
                  <a:pt x="18288" y="740664"/>
                </a:cubicBezTo>
                <a:cubicBezTo>
                  <a:pt x="11317" y="751121"/>
                  <a:pt x="12596" y="765156"/>
                  <a:pt x="9144" y="777240"/>
                </a:cubicBezTo>
                <a:cubicBezTo>
                  <a:pt x="6496" y="786508"/>
                  <a:pt x="3048" y="795528"/>
                  <a:pt x="0" y="804672"/>
                </a:cubicBezTo>
                <a:cubicBezTo>
                  <a:pt x="7287" y="877542"/>
                  <a:pt x="2990" y="879143"/>
                  <a:pt x="18288" y="932688"/>
                </a:cubicBezTo>
                <a:cubicBezTo>
                  <a:pt x="20936" y="941956"/>
                  <a:pt x="22751" y="951694"/>
                  <a:pt x="27432" y="960120"/>
                </a:cubicBezTo>
                <a:cubicBezTo>
                  <a:pt x="42463" y="987176"/>
                  <a:pt x="65362" y="1022133"/>
                  <a:pt x="91440" y="1042416"/>
                </a:cubicBezTo>
                <a:cubicBezTo>
                  <a:pt x="108790" y="1055910"/>
                  <a:pt x="125452" y="1072041"/>
                  <a:pt x="146304" y="1078992"/>
                </a:cubicBezTo>
                <a:cubicBezTo>
                  <a:pt x="155448" y="1082040"/>
                  <a:pt x="164877" y="1084339"/>
                  <a:pt x="173736" y="1088136"/>
                </a:cubicBezTo>
                <a:cubicBezTo>
                  <a:pt x="186265" y="1093506"/>
                  <a:pt x="197380" y="1102113"/>
                  <a:pt x="210312" y="1106424"/>
                </a:cubicBezTo>
                <a:cubicBezTo>
                  <a:pt x="219724" y="1109561"/>
                  <a:pt x="305702" y="1124516"/>
                  <a:pt x="310896" y="1124712"/>
                </a:cubicBezTo>
                <a:cubicBezTo>
                  <a:pt x="454083" y="1130115"/>
                  <a:pt x="597419" y="1130319"/>
                  <a:pt x="740664" y="1133856"/>
                </a:cubicBezTo>
                <a:lnTo>
                  <a:pt x="1051560" y="1143000"/>
                </a:lnTo>
                <a:lnTo>
                  <a:pt x="1591056" y="1133856"/>
                </a:lnTo>
                <a:cubicBezTo>
                  <a:pt x="1606590" y="1133371"/>
                  <a:pt x="1621311" y="1126258"/>
                  <a:pt x="1636776" y="1124712"/>
                </a:cubicBezTo>
                <a:cubicBezTo>
                  <a:pt x="1682370" y="1120153"/>
                  <a:pt x="1728216" y="1118616"/>
                  <a:pt x="1773936" y="1115568"/>
                </a:cubicBezTo>
                <a:cubicBezTo>
                  <a:pt x="1786128" y="1112520"/>
                  <a:pt x="1799601" y="1112659"/>
                  <a:pt x="1810512" y="1106424"/>
                </a:cubicBezTo>
                <a:cubicBezTo>
                  <a:pt x="1821740" y="1100008"/>
                  <a:pt x="1828010" y="1087271"/>
                  <a:pt x="1837944" y="1078992"/>
                </a:cubicBezTo>
                <a:cubicBezTo>
                  <a:pt x="1846387" y="1071957"/>
                  <a:pt x="1855834" y="1066156"/>
                  <a:pt x="1865376" y="1060704"/>
                </a:cubicBezTo>
                <a:cubicBezTo>
                  <a:pt x="1877211" y="1053941"/>
                  <a:pt x="1890263" y="1049429"/>
                  <a:pt x="1901952" y="1042416"/>
                </a:cubicBezTo>
                <a:cubicBezTo>
                  <a:pt x="1920799" y="1031108"/>
                  <a:pt x="1937157" y="1015670"/>
                  <a:pt x="1956816" y="1005840"/>
                </a:cubicBezTo>
                <a:cubicBezTo>
                  <a:pt x="1981200" y="993648"/>
                  <a:pt x="2007285" y="984386"/>
                  <a:pt x="2029968" y="969264"/>
                </a:cubicBezTo>
                <a:cubicBezTo>
                  <a:pt x="2039112" y="963168"/>
                  <a:pt x="2048957" y="958011"/>
                  <a:pt x="2057400" y="950976"/>
                </a:cubicBezTo>
                <a:cubicBezTo>
                  <a:pt x="2067334" y="942697"/>
                  <a:pt x="2073604" y="929960"/>
                  <a:pt x="2084832" y="923544"/>
                </a:cubicBezTo>
                <a:cubicBezTo>
                  <a:pt x="2095743" y="917309"/>
                  <a:pt x="2109216" y="917448"/>
                  <a:pt x="2121408" y="914400"/>
                </a:cubicBezTo>
                <a:cubicBezTo>
                  <a:pt x="2133600" y="905256"/>
                  <a:pt x="2145583" y="895826"/>
                  <a:pt x="2157984" y="886968"/>
                </a:cubicBezTo>
                <a:cubicBezTo>
                  <a:pt x="2166927" y="880580"/>
                  <a:pt x="2176973" y="875715"/>
                  <a:pt x="2185416" y="868680"/>
                </a:cubicBezTo>
                <a:cubicBezTo>
                  <a:pt x="2195350" y="860401"/>
                  <a:pt x="2202914" y="849527"/>
                  <a:pt x="2212848" y="841248"/>
                </a:cubicBezTo>
                <a:cubicBezTo>
                  <a:pt x="2221291" y="834213"/>
                  <a:pt x="2231837" y="829995"/>
                  <a:pt x="2240280" y="822960"/>
                </a:cubicBezTo>
                <a:cubicBezTo>
                  <a:pt x="2250214" y="814681"/>
                  <a:pt x="2257504" y="803467"/>
                  <a:pt x="2267712" y="795528"/>
                </a:cubicBezTo>
                <a:cubicBezTo>
                  <a:pt x="2285062" y="782034"/>
                  <a:pt x="2322576" y="758952"/>
                  <a:pt x="2322576" y="758952"/>
                </a:cubicBezTo>
                <a:lnTo>
                  <a:pt x="2377440" y="676656"/>
                </a:lnTo>
                <a:cubicBezTo>
                  <a:pt x="2383536" y="667512"/>
                  <a:pt x="2387957" y="656995"/>
                  <a:pt x="2395728" y="649224"/>
                </a:cubicBezTo>
                <a:cubicBezTo>
                  <a:pt x="2404872" y="640080"/>
                  <a:pt x="2415644" y="632315"/>
                  <a:pt x="2423160" y="621792"/>
                </a:cubicBezTo>
                <a:cubicBezTo>
                  <a:pt x="2431083" y="610700"/>
                  <a:pt x="2434435" y="596905"/>
                  <a:pt x="2441448" y="585216"/>
                </a:cubicBezTo>
                <a:cubicBezTo>
                  <a:pt x="2452756" y="566369"/>
                  <a:pt x="2465832" y="548640"/>
                  <a:pt x="2478024" y="530352"/>
                </a:cubicBezTo>
                <a:lnTo>
                  <a:pt x="2532888" y="448056"/>
                </a:lnTo>
                <a:cubicBezTo>
                  <a:pt x="2538984" y="438912"/>
                  <a:pt x="2547701" y="431050"/>
                  <a:pt x="2551176" y="420624"/>
                </a:cubicBezTo>
                <a:cubicBezTo>
                  <a:pt x="2572939" y="355334"/>
                  <a:pt x="2558771" y="381800"/>
                  <a:pt x="2587752" y="338328"/>
                </a:cubicBezTo>
                <a:cubicBezTo>
                  <a:pt x="2594315" y="312077"/>
                  <a:pt x="2604053" y="269150"/>
                  <a:pt x="2615184" y="246888"/>
                </a:cubicBezTo>
                <a:cubicBezTo>
                  <a:pt x="2621280" y="234696"/>
                  <a:pt x="2626709" y="222147"/>
                  <a:pt x="2633472" y="210312"/>
                </a:cubicBezTo>
                <a:cubicBezTo>
                  <a:pt x="2638924" y="200770"/>
                  <a:pt x="2647297" y="192923"/>
                  <a:pt x="2651760" y="182880"/>
                </a:cubicBezTo>
                <a:cubicBezTo>
                  <a:pt x="2659589" y="165264"/>
                  <a:pt x="2663952" y="146304"/>
                  <a:pt x="2670048" y="128016"/>
                </a:cubicBezTo>
                <a:cubicBezTo>
                  <a:pt x="2673096" y="118872"/>
                  <a:pt x="2671172" y="105931"/>
                  <a:pt x="2679192" y="100584"/>
                </a:cubicBezTo>
                <a:lnTo>
                  <a:pt x="2706624" y="82296"/>
                </a:lnTo>
                <a:cubicBezTo>
                  <a:pt x="2724425" y="28892"/>
                  <a:pt x="2701840" y="77936"/>
                  <a:pt x="2743200" y="36576"/>
                </a:cubicBezTo>
                <a:cubicBezTo>
                  <a:pt x="2784560" y="-4784"/>
                  <a:pt x="2735516" y="17801"/>
                  <a:pt x="2788920" y="0"/>
                </a:cubicBezTo>
                <a:cubicBezTo>
                  <a:pt x="2910831" y="9378"/>
                  <a:pt x="2868051" y="9144"/>
                  <a:pt x="2916936" y="9144"/>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a:off x="4641448" y="5528326"/>
            <a:ext cx="6952271" cy="1190191"/>
          </a:xfrm>
          <a:custGeom>
            <a:avLst/>
            <a:gdLst>
              <a:gd name="connsiteX0" fmla="*/ 10671 w 8139687"/>
              <a:gd name="connsiteY0" fmla="*/ 0 h 1618488"/>
              <a:gd name="connsiteX1" fmla="*/ 19815 w 8139687"/>
              <a:gd name="connsiteY1" fmla="*/ 274320 h 1618488"/>
              <a:gd name="connsiteX2" fmla="*/ 56391 w 8139687"/>
              <a:gd name="connsiteY2" fmla="*/ 338328 h 1618488"/>
              <a:gd name="connsiteX3" fmla="*/ 83823 w 8139687"/>
              <a:gd name="connsiteY3" fmla="*/ 374904 h 1618488"/>
              <a:gd name="connsiteX4" fmla="*/ 184407 w 8139687"/>
              <a:gd name="connsiteY4" fmla="*/ 512064 h 1618488"/>
              <a:gd name="connsiteX5" fmla="*/ 239271 w 8139687"/>
              <a:gd name="connsiteY5" fmla="*/ 576072 h 1618488"/>
              <a:gd name="connsiteX6" fmla="*/ 275847 w 8139687"/>
              <a:gd name="connsiteY6" fmla="*/ 612648 h 1618488"/>
              <a:gd name="connsiteX7" fmla="*/ 330711 w 8139687"/>
              <a:gd name="connsiteY7" fmla="*/ 685800 h 1618488"/>
              <a:gd name="connsiteX8" fmla="*/ 385575 w 8139687"/>
              <a:gd name="connsiteY8" fmla="*/ 758952 h 1618488"/>
              <a:gd name="connsiteX9" fmla="*/ 413007 w 8139687"/>
              <a:gd name="connsiteY9" fmla="*/ 777240 h 1618488"/>
              <a:gd name="connsiteX10" fmla="*/ 449583 w 8139687"/>
              <a:gd name="connsiteY10" fmla="*/ 822960 h 1618488"/>
              <a:gd name="connsiteX11" fmla="*/ 486159 w 8139687"/>
              <a:gd name="connsiteY11" fmla="*/ 841248 h 1618488"/>
              <a:gd name="connsiteX12" fmla="*/ 513591 w 8139687"/>
              <a:gd name="connsiteY12" fmla="*/ 859536 h 1618488"/>
              <a:gd name="connsiteX13" fmla="*/ 531879 w 8139687"/>
              <a:gd name="connsiteY13" fmla="*/ 886968 h 1618488"/>
              <a:gd name="connsiteX14" fmla="*/ 586743 w 8139687"/>
              <a:gd name="connsiteY14" fmla="*/ 914400 h 1618488"/>
              <a:gd name="connsiteX15" fmla="*/ 614175 w 8139687"/>
              <a:gd name="connsiteY15" fmla="*/ 932688 h 1618488"/>
              <a:gd name="connsiteX16" fmla="*/ 659895 w 8139687"/>
              <a:gd name="connsiteY16" fmla="*/ 950976 h 1618488"/>
              <a:gd name="connsiteX17" fmla="*/ 705615 w 8139687"/>
              <a:gd name="connsiteY17" fmla="*/ 978408 h 1618488"/>
              <a:gd name="connsiteX18" fmla="*/ 751335 w 8139687"/>
              <a:gd name="connsiteY18" fmla="*/ 996696 h 1618488"/>
              <a:gd name="connsiteX19" fmla="*/ 797055 w 8139687"/>
              <a:gd name="connsiteY19" fmla="*/ 1024128 h 1618488"/>
              <a:gd name="connsiteX20" fmla="*/ 879351 w 8139687"/>
              <a:gd name="connsiteY20" fmla="*/ 1051560 h 1618488"/>
              <a:gd name="connsiteX21" fmla="*/ 915927 w 8139687"/>
              <a:gd name="connsiteY21" fmla="*/ 1078992 h 1618488"/>
              <a:gd name="connsiteX22" fmla="*/ 1007367 w 8139687"/>
              <a:gd name="connsiteY22" fmla="*/ 1106424 h 1618488"/>
              <a:gd name="connsiteX23" fmla="*/ 1062231 w 8139687"/>
              <a:gd name="connsiteY23" fmla="*/ 1124712 h 1618488"/>
              <a:gd name="connsiteX24" fmla="*/ 1089663 w 8139687"/>
              <a:gd name="connsiteY24" fmla="*/ 1133856 h 1618488"/>
              <a:gd name="connsiteX25" fmla="*/ 1126239 w 8139687"/>
              <a:gd name="connsiteY25" fmla="*/ 1143000 h 1618488"/>
              <a:gd name="connsiteX26" fmla="*/ 1181103 w 8139687"/>
              <a:gd name="connsiteY26" fmla="*/ 1161288 h 1618488"/>
              <a:gd name="connsiteX27" fmla="*/ 1345695 w 8139687"/>
              <a:gd name="connsiteY27" fmla="*/ 1179576 h 1618488"/>
              <a:gd name="connsiteX28" fmla="*/ 1473711 w 8139687"/>
              <a:gd name="connsiteY28" fmla="*/ 1197864 h 1618488"/>
              <a:gd name="connsiteX29" fmla="*/ 1620015 w 8139687"/>
              <a:gd name="connsiteY29" fmla="*/ 1216152 h 1618488"/>
              <a:gd name="connsiteX30" fmla="*/ 1665735 w 8139687"/>
              <a:gd name="connsiteY30" fmla="*/ 1225296 h 1618488"/>
              <a:gd name="connsiteX31" fmla="*/ 1711455 w 8139687"/>
              <a:gd name="connsiteY31" fmla="*/ 1243584 h 1618488"/>
              <a:gd name="connsiteX32" fmla="*/ 2004063 w 8139687"/>
              <a:gd name="connsiteY32" fmla="*/ 1271016 h 1618488"/>
              <a:gd name="connsiteX33" fmla="*/ 2186943 w 8139687"/>
              <a:gd name="connsiteY33" fmla="*/ 1289304 h 1618488"/>
              <a:gd name="connsiteX34" fmla="*/ 2278383 w 8139687"/>
              <a:gd name="connsiteY34" fmla="*/ 1307592 h 1618488"/>
              <a:gd name="connsiteX35" fmla="*/ 2378967 w 8139687"/>
              <a:gd name="connsiteY35" fmla="*/ 1325880 h 1618488"/>
              <a:gd name="connsiteX36" fmla="*/ 2415543 w 8139687"/>
              <a:gd name="connsiteY36" fmla="*/ 1344168 h 1618488"/>
              <a:gd name="connsiteX37" fmla="*/ 2452119 w 8139687"/>
              <a:gd name="connsiteY37" fmla="*/ 1353312 h 1618488"/>
              <a:gd name="connsiteX38" fmla="*/ 2534415 w 8139687"/>
              <a:gd name="connsiteY38" fmla="*/ 1380744 h 1618488"/>
              <a:gd name="connsiteX39" fmla="*/ 2662431 w 8139687"/>
              <a:gd name="connsiteY39" fmla="*/ 1435608 h 1618488"/>
              <a:gd name="connsiteX40" fmla="*/ 2763015 w 8139687"/>
              <a:gd name="connsiteY40" fmla="*/ 1463040 h 1618488"/>
              <a:gd name="connsiteX41" fmla="*/ 2836167 w 8139687"/>
              <a:gd name="connsiteY41" fmla="*/ 1472184 h 1618488"/>
              <a:gd name="connsiteX42" fmla="*/ 2918463 w 8139687"/>
              <a:gd name="connsiteY42" fmla="*/ 1490472 h 1618488"/>
              <a:gd name="connsiteX43" fmla="*/ 2991615 w 8139687"/>
              <a:gd name="connsiteY43" fmla="*/ 1517904 h 1618488"/>
              <a:gd name="connsiteX44" fmla="*/ 3092199 w 8139687"/>
              <a:gd name="connsiteY44" fmla="*/ 1527048 h 1618488"/>
              <a:gd name="connsiteX45" fmla="*/ 3183639 w 8139687"/>
              <a:gd name="connsiteY45" fmla="*/ 1545336 h 1618488"/>
              <a:gd name="connsiteX46" fmla="*/ 3211071 w 8139687"/>
              <a:gd name="connsiteY46" fmla="*/ 1554480 h 1618488"/>
              <a:gd name="connsiteX47" fmla="*/ 3540255 w 8139687"/>
              <a:gd name="connsiteY47" fmla="*/ 1572768 h 1618488"/>
              <a:gd name="connsiteX48" fmla="*/ 3631695 w 8139687"/>
              <a:gd name="connsiteY48" fmla="*/ 1581912 h 1618488"/>
              <a:gd name="connsiteX49" fmla="*/ 3695703 w 8139687"/>
              <a:gd name="connsiteY49" fmla="*/ 1591056 h 1618488"/>
              <a:gd name="connsiteX50" fmla="*/ 3878583 w 8139687"/>
              <a:gd name="connsiteY50" fmla="*/ 1600200 h 1618488"/>
              <a:gd name="connsiteX51" fmla="*/ 4116327 w 8139687"/>
              <a:gd name="connsiteY51" fmla="*/ 1618488 h 1618488"/>
              <a:gd name="connsiteX52" fmla="*/ 4427223 w 8139687"/>
              <a:gd name="connsiteY52" fmla="*/ 1609344 h 1618488"/>
              <a:gd name="connsiteX53" fmla="*/ 4802127 w 8139687"/>
              <a:gd name="connsiteY53" fmla="*/ 1600200 h 1618488"/>
              <a:gd name="connsiteX54" fmla="*/ 4939287 w 8139687"/>
              <a:gd name="connsiteY54" fmla="*/ 1581912 h 1618488"/>
              <a:gd name="connsiteX55" fmla="*/ 5250183 w 8139687"/>
              <a:gd name="connsiteY55" fmla="*/ 1554480 h 1618488"/>
              <a:gd name="connsiteX56" fmla="*/ 5378199 w 8139687"/>
              <a:gd name="connsiteY56" fmla="*/ 1536192 h 1618488"/>
              <a:gd name="connsiteX57" fmla="*/ 5698239 w 8139687"/>
              <a:gd name="connsiteY57" fmla="*/ 1527048 h 1618488"/>
              <a:gd name="connsiteX58" fmla="*/ 5862831 w 8139687"/>
              <a:gd name="connsiteY58" fmla="*/ 1508760 h 1618488"/>
              <a:gd name="connsiteX59" fmla="*/ 5935983 w 8139687"/>
              <a:gd name="connsiteY59" fmla="*/ 1490472 h 1618488"/>
              <a:gd name="connsiteX60" fmla="*/ 5972559 w 8139687"/>
              <a:gd name="connsiteY60" fmla="*/ 1481328 h 1618488"/>
              <a:gd name="connsiteX61" fmla="*/ 6036567 w 8139687"/>
              <a:gd name="connsiteY61" fmla="*/ 1463040 h 1618488"/>
              <a:gd name="connsiteX62" fmla="*/ 6484623 w 8139687"/>
              <a:gd name="connsiteY62" fmla="*/ 1472184 h 1618488"/>
              <a:gd name="connsiteX63" fmla="*/ 6576063 w 8139687"/>
              <a:gd name="connsiteY63" fmla="*/ 1481328 h 1618488"/>
              <a:gd name="connsiteX64" fmla="*/ 6704079 w 8139687"/>
              <a:gd name="connsiteY64" fmla="*/ 1508760 h 1618488"/>
              <a:gd name="connsiteX65" fmla="*/ 7142991 w 8139687"/>
              <a:gd name="connsiteY65" fmla="*/ 1499616 h 1618488"/>
              <a:gd name="connsiteX66" fmla="*/ 7252719 w 8139687"/>
              <a:gd name="connsiteY66" fmla="*/ 1481328 h 1618488"/>
              <a:gd name="connsiteX67" fmla="*/ 7344159 w 8139687"/>
              <a:gd name="connsiteY67" fmla="*/ 1472184 h 1618488"/>
              <a:gd name="connsiteX68" fmla="*/ 7417311 w 8139687"/>
              <a:gd name="connsiteY68" fmla="*/ 1444752 h 1618488"/>
              <a:gd name="connsiteX69" fmla="*/ 7444743 w 8139687"/>
              <a:gd name="connsiteY69" fmla="*/ 1435608 h 1618488"/>
              <a:gd name="connsiteX70" fmla="*/ 7481319 w 8139687"/>
              <a:gd name="connsiteY70" fmla="*/ 1417320 h 1618488"/>
              <a:gd name="connsiteX71" fmla="*/ 7517895 w 8139687"/>
              <a:gd name="connsiteY71" fmla="*/ 1408176 h 1618488"/>
              <a:gd name="connsiteX72" fmla="*/ 7545327 w 8139687"/>
              <a:gd name="connsiteY72" fmla="*/ 1399032 h 1618488"/>
              <a:gd name="connsiteX73" fmla="*/ 7636767 w 8139687"/>
              <a:gd name="connsiteY73" fmla="*/ 1380744 h 1618488"/>
              <a:gd name="connsiteX74" fmla="*/ 7764783 w 8139687"/>
              <a:gd name="connsiteY74" fmla="*/ 1344168 h 1618488"/>
              <a:gd name="connsiteX75" fmla="*/ 7764783 w 8139687"/>
              <a:gd name="connsiteY75" fmla="*/ 1344168 h 1618488"/>
              <a:gd name="connsiteX76" fmla="*/ 7828791 w 8139687"/>
              <a:gd name="connsiteY76" fmla="*/ 1325880 h 1618488"/>
              <a:gd name="connsiteX77" fmla="*/ 7856223 w 8139687"/>
              <a:gd name="connsiteY77" fmla="*/ 1307592 h 1618488"/>
              <a:gd name="connsiteX78" fmla="*/ 7938519 w 8139687"/>
              <a:gd name="connsiteY78" fmla="*/ 1271016 h 1618488"/>
              <a:gd name="connsiteX79" fmla="*/ 7984239 w 8139687"/>
              <a:gd name="connsiteY79" fmla="*/ 1225296 h 1618488"/>
              <a:gd name="connsiteX80" fmla="*/ 8039103 w 8139687"/>
              <a:gd name="connsiteY80" fmla="*/ 1170432 h 1618488"/>
              <a:gd name="connsiteX81" fmla="*/ 8066535 w 8139687"/>
              <a:gd name="connsiteY81" fmla="*/ 1143000 h 1618488"/>
              <a:gd name="connsiteX82" fmla="*/ 8093967 w 8139687"/>
              <a:gd name="connsiteY82" fmla="*/ 1124712 h 1618488"/>
              <a:gd name="connsiteX83" fmla="*/ 8121399 w 8139687"/>
              <a:gd name="connsiteY83" fmla="*/ 1042416 h 1618488"/>
              <a:gd name="connsiteX84" fmla="*/ 8130543 w 8139687"/>
              <a:gd name="connsiteY84" fmla="*/ 1014984 h 1618488"/>
              <a:gd name="connsiteX85" fmla="*/ 8139687 w 8139687"/>
              <a:gd name="connsiteY85" fmla="*/ 987552 h 1618488"/>
              <a:gd name="connsiteX86" fmla="*/ 8130543 w 8139687"/>
              <a:gd name="connsiteY86" fmla="*/ 914400 h 1618488"/>
              <a:gd name="connsiteX87" fmla="*/ 8093967 w 8139687"/>
              <a:gd name="connsiteY87" fmla="*/ 850392 h 1618488"/>
              <a:gd name="connsiteX88" fmla="*/ 8075679 w 8139687"/>
              <a:gd name="connsiteY88" fmla="*/ 795528 h 1618488"/>
              <a:gd name="connsiteX89" fmla="*/ 8048247 w 8139687"/>
              <a:gd name="connsiteY89" fmla="*/ 740664 h 1618488"/>
              <a:gd name="connsiteX90" fmla="*/ 8039103 w 8139687"/>
              <a:gd name="connsiteY90" fmla="*/ 621792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8139687" h="1618488">
                <a:moveTo>
                  <a:pt x="10671" y="0"/>
                </a:moveTo>
                <a:cubicBezTo>
                  <a:pt x="-3073" y="123692"/>
                  <a:pt x="-6916" y="107253"/>
                  <a:pt x="19815" y="274320"/>
                </a:cubicBezTo>
                <a:cubicBezTo>
                  <a:pt x="22024" y="288129"/>
                  <a:pt x="47467" y="325835"/>
                  <a:pt x="56391" y="338328"/>
                </a:cubicBezTo>
                <a:cubicBezTo>
                  <a:pt x="65249" y="350729"/>
                  <a:pt x="75083" y="362419"/>
                  <a:pt x="83823" y="374904"/>
                </a:cubicBezTo>
                <a:cubicBezTo>
                  <a:pt x="116307" y="421310"/>
                  <a:pt x="143854" y="471511"/>
                  <a:pt x="184407" y="512064"/>
                </a:cubicBezTo>
                <a:cubicBezTo>
                  <a:pt x="262429" y="590086"/>
                  <a:pt x="157159" y="482229"/>
                  <a:pt x="239271" y="576072"/>
                </a:cubicBezTo>
                <a:cubicBezTo>
                  <a:pt x="250625" y="589048"/>
                  <a:pt x="264809" y="599402"/>
                  <a:pt x="275847" y="612648"/>
                </a:cubicBezTo>
                <a:cubicBezTo>
                  <a:pt x="295360" y="636063"/>
                  <a:pt x="330711" y="685800"/>
                  <a:pt x="330711" y="685800"/>
                </a:cubicBezTo>
                <a:cubicBezTo>
                  <a:pt x="345288" y="729532"/>
                  <a:pt x="336130" y="715687"/>
                  <a:pt x="385575" y="758952"/>
                </a:cubicBezTo>
                <a:cubicBezTo>
                  <a:pt x="393846" y="766189"/>
                  <a:pt x="405236" y="769469"/>
                  <a:pt x="413007" y="777240"/>
                </a:cubicBezTo>
                <a:cubicBezTo>
                  <a:pt x="426807" y="791040"/>
                  <a:pt x="434895" y="810108"/>
                  <a:pt x="449583" y="822960"/>
                </a:cubicBezTo>
                <a:cubicBezTo>
                  <a:pt x="459841" y="831936"/>
                  <a:pt x="474324" y="834485"/>
                  <a:pt x="486159" y="841248"/>
                </a:cubicBezTo>
                <a:cubicBezTo>
                  <a:pt x="495701" y="846700"/>
                  <a:pt x="504447" y="853440"/>
                  <a:pt x="513591" y="859536"/>
                </a:cubicBezTo>
                <a:cubicBezTo>
                  <a:pt x="519687" y="868680"/>
                  <a:pt x="523087" y="880374"/>
                  <a:pt x="531879" y="886968"/>
                </a:cubicBezTo>
                <a:cubicBezTo>
                  <a:pt x="548236" y="899236"/>
                  <a:pt x="568869" y="904470"/>
                  <a:pt x="586743" y="914400"/>
                </a:cubicBezTo>
                <a:cubicBezTo>
                  <a:pt x="596350" y="919737"/>
                  <a:pt x="604345" y="927773"/>
                  <a:pt x="614175" y="932688"/>
                </a:cubicBezTo>
                <a:cubicBezTo>
                  <a:pt x="628856" y="940029"/>
                  <a:pt x="645214" y="943635"/>
                  <a:pt x="659895" y="950976"/>
                </a:cubicBezTo>
                <a:cubicBezTo>
                  <a:pt x="675791" y="958924"/>
                  <a:pt x="689719" y="970460"/>
                  <a:pt x="705615" y="978408"/>
                </a:cubicBezTo>
                <a:cubicBezTo>
                  <a:pt x="720296" y="985749"/>
                  <a:pt x="736654" y="989355"/>
                  <a:pt x="751335" y="996696"/>
                </a:cubicBezTo>
                <a:cubicBezTo>
                  <a:pt x="767231" y="1004644"/>
                  <a:pt x="781159" y="1016180"/>
                  <a:pt x="797055" y="1024128"/>
                </a:cubicBezTo>
                <a:cubicBezTo>
                  <a:pt x="831488" y="1041345"/>
                  <a:pt x="844427" y="1042829"/>
                  <a:pt x="879351" y="1051560"/>
                </a:cubicBezTo>
                <a:cubicBezTo>
                  <a:pt x="891543" y="1060704"/>
                  <a:pt x="902296" y="1072176"/>
                  <a:pt x="915927" y="1078992"/>
                </a:cubicBezTo>
                <a:cubicBezTo>
                  <a:pt x="948256" y="1095157"/>
                  <a:pt x="974553" y="1096580"/>
                  <a:pt x="1007367" y="1106424"/>
                </a:cubicBezTo>
                <a:cubicBezTo>
                  <a:pt x="1025831" y="1111963"/>
                  <a:pt x="1043943" y="1118616"/>
                  <a:pt x="1062231" y="1124712"/>
                </a:cubicBezTo>
                <a:cubicBezTo>
                  <a:pt x="1071375" y="1127760"/>
                  <a:pt x="1080312" y="1131518"/>
                  <a:pt x="1089663" y="1133856"/>
                </a:cubicBezTo>
                <a:cubicBezTo>
                  <a:pt x="1101855" y="1136904"/>
                  <a:pt x="1114202" y="1139389"/>
                  <a:pt x="1126239" y="1143000"/>
                </a:cubicBezTo>
                <a:cubicBezTo>
                  <a:pt x="1144703" y="1148539"/>
                  <a:pt x="1162505" y="1156216"/>
                  <a:pt x="1181103" y="1161288"/>
                </a:cubicBezTo>
                <a:cubicBezTo>
                  <a:pt x="1234336" y="1175806"/>
                  <a:pt x="1291761" y="1175427"/>
                  <a:pt x="1345695" y="1179576"/>
                </a:cubicBezTo>
                <a:cubicBezTo>
                  <a:pt x="1407933" y="1200322"/>
                  <a:pt x="1353511" y="1184508"/>
                  <a:pt x="1473711" y="1197864"/>
                </a:cubicBezTo>
                <a:cubicBezTo>
                  <a:pt x="1522558" y="1203291"/>
                  <a:pt x="1571822" y="1206513"/>
                  <a:pt x="1620015" y="1216152"/>
                </a:cubicBezTo>
                <a:cubicBezTo>
                  <a:pt x="1635255" y="1219200"/>
                  <a:pt x="1650849" y="1220830"/>
                  <a:pt x="1665735" y="1225296"/>
                </a:cubicBezTo>
                <a:cubicBezTo>
                  <a:pt x="1681457" y="1230013"/>
                  <a:pt x="1695264" y="1240886"/>
                  <a:pt x="1711455" y="1243584"/>
                </a:cubicBezTo>
                <a:cubicBezTo>
                  <a:pt x="1799725" y="1258296"/>
                  <a:pt x="1912431" y="1262686"/>
                  <a:pt x="2004063" y="1271016"/>
                </a:cubicBezTo>
                <a:cubicBezTo>
                  <a:pt x="2065075" y="1276563"/>
                  <a:pt x="2126869" y="1277289"/>
                  <a:pt x="2186943" y="1289304"/>
                </a:cubicBezTo>
                <a:cubicBezTo>
                  <a:pt x="2217423" y="1295400"/>
                  <a:pt x="2247612" y="1303196"/>
                  <a:pt x="2278383" y="1307592"/>
                </a:cubicBezTo>
                <a:cubicBezTo>
                  <a:pt x="2301747" y="1310930"/>
                  <a:pt x="2352435" y="1315931"/>
                  <a:pt x="2378967" y="1325880"/>
                </a:cubicBezTo>
                <a:cubicBezTo>
                  <a:pt x="2391730" y="1330666"/>
                  <a:pt x="2402780" y="1339382"/>
                  <a:pt x="2415543" y="1344168"/>
                </a:cubicBezTo>
                <a:cubicBezTo>
                  <a:pt x="2427310" y="1348581"/>
                  <a:pt x="2440352" y="1348899"/>
                  <a:pt x="2452119" y="1353312"/>
                </a:cubicBezTo>
                <a:cubicBezTo>
                  <a:pt x="2538651" y="1385762"/>
                  <a:pt x="2434220" y="1360705"/>
                  <a:pt x="2534415" y="1380744"/>
                </a:cubicBezTo>
                <a:cubicBezTo>
                  <a:pt x="2587075" y="1415851"/>
                  <a:pt x="2565986" y="1404921"/>
                  <a:pt x="2662431" y="1435608"/>
                </a:cubicBezTo>
                <a:cubicBezTo>
                  <a:pt x="2695548" y="1446145"/>
                  <a:pt x="2729008" y="1455881"/>
                  <a:pt x="2763015" y="1463040"/>
                </a:cubicBezTo>
                <a:cubicBezTo>
                  <a:pt x="2787062" y="1468102"/>
                  <a:pt x="2811967" y="1467913"/>
                  <a:pt x="2836167" y="1472184"/>
                </a:cubicBezTo>
                <a:cubicBezTo>
                  <a:pt x="2863841" y="1477068"/>
                  <a:pt x="2891504" y="1482543"/>
                  <a:pt x="2918463" y="1490472"/>
                </a:cubicBezTo>
                <a:cubicBezTo>
                  <a:pt x="2943447" y="1497820"/>
                  <a:pt x="2966131" y="1512539"/>
                  <a:pt x="2991615" y="1517904"/>
                </a:cubicBezTo>
                <a:cubicBezTo>
                  <a:pt x="3024559" y="1524840"/>
                  <a:pt x="3058671" y="1524000"/>
                  <a:pt x="3092199" y="1527048"/>
                </a:cubicBezTo>
                <a:cubicBezTo>
                  <a:pt x="3154174" y="1547706"/>
                  <a:pt x="3078568" y="1524322"/>
                  <a:pt x="3183639" y="1545336"/>
                </a:cubicBezTo>
                <a:cubicBezTo>
                  <a:pt x="3193090" y="1547226"/>
                  <a:pt x="3201588" y="1552756"/>
                  <a:pt x="3211071" y="1554480"/>
                </a:cubicBezTo>
                <a:cubicBezTo>
                  <a:pt x="3307560" y="1572023"/>
                  <a:pt x="3473048" y="1570368"/>
                  <a:pt x="3540255" y="1572768"/>
                </a:cubicBezTo>
                <a:lnTo>
                  <a:pt x="3631695" y="1581912"/>
                </a:lnTo>
                <a:cubicBezTo>
                  <a:pt x="3653100" y="1584430"/>
                  <a:pt x="3674209" y="1589464"/>
                  <a:pt x="3695703" y="1591056"/>
                </a:cubicBezTo>
                <a:cubicBezTo>
                  <a:pt x="3756572" y="1595565"/>
                  <a:pt x="3817676" y="1596228"/>
                  <a:pt x="3878583" y="1600200"/>
                </a:cubicBezTo>
                <a:cubicBezTo>
                  <a:pt x="3957897" y="1605373"/>
                  <a:pt x="4037079" y="1612392"/>
                  <a:pt x="4116327" y="1618488"/>
                </a:cubicBezTo>
                <a:lnTo>
                  <a:pt x="4427223" y="1609344"/>
                </a:lnTo>
                <a:lnTo>
                  <a:pt x="4802127" y="1600200"/>
                </a:lnTo>
                <a:cubicBezTo>
                  <a:pt x="4945752" y="1594568"/>
                  <a:pt x="4844899" y="1594497"/>
                  <a:pt x="4939287" y="1581912"/>
                </a:cubicBezTo>
                <a:cubicBezTo>
                  <a:pt x="5042493" y="1568151"/>
                  <a:pt x="5146867" y="1567394"/>
                  <a:pt x="5250183" y="1554480"/>
                </a:cubicBezTo>
                <a:cubicBezTo>
                  <a:pt x="5292955" y="1549133"/>
                  <a:pt x="5335174" y="1538826"/>
                  <a:pt x="5378199" y="1536192"/>
                </a:cubicBezTo>
                <a:cubicBezTo>
                  <a:pt x="5484723" y="1529670"/>
                  <a:pt x="5591559" y="1530096"/>
                  <a:pt x="5698239" y="1527048"/>
                </a:cubicBezTo>
                <a:cubicBezTo>
                  <a:pt x="5753103" y="1520952"/>
                  <a:pt x="5809278" y="1522148"/>
                  <a:pt x="5862831" y="1508760"/>
                </a:cubicBezTo>
                <a:lnTo>
                  <a:pt x="5935983" y="1490472"/>
                </a:lnTo>
                <a:cubicBezTo>
                  <a:pt x="5948175" y="1487424"/>
                  <a:pt x="5960637" y="1485302"/>
                  <a:pt x="5972559" y="1481328"/>
                </a:cubicBezTo>
                <a:cubicBezTo>
                  <a:pt x="6011913" y="1468210"/>
                  <a:pt x="5990640" y="1474522"/>
                  <a:pt x="6036567" y="1463040"/>
                </a:cubicBezTo>
                <a:lnTo>
                  <a:pt x="6484623" y="1472184"/>
                </a:lnTo>
                <a:cubicBezTo>
                  <a:pt x="6515237" y="1473222"/>
                  <a:pt x="6545897" y="1476005"/>
                  <a:pt x="6576063" y="1481328"/>
                </a:cubicBezTo>
                <a:cubicBezTo>
                  <a:pt x="6936171" y="1544877"/>
                  <a:pt x="6350635" y="1458268"/>
                  <a:pt x="6704079" y="1508760"/>
                </a:cubicBezTo>
                <a:cubicBezTo>
                  <a:pt x="6850383" y="1505712"/>
                  <a:pt x="6996838" y="1506924"/>
                  <a:pt x="7142991" y="1499616"/>
                </a:cubicBezTo>
                <a:cubicBezTo>
                  <a:pt x="7180025" y="1497764"/>
                  <a:pt x="7215979" y="1486338"/>
                  <a:pt x="7252719" y="1481328"/>
                </a:cubicBezTo>
                <a:cubicBezTo>
                  <a:pt x="7283070" y="1477189"/>
                  <a:pt x="7313679" y="1475232"/>
                  <a:pt x="7344159" y="1472184"/>
                </a:cubicBezTo>
                <a:cubicBezTo>
                  <a:pt x="7406424" y="1451429"/>
                  <a:pt x="7329840" y="1477554"/>
                  <a:pt x="7417311" y="1444752"/>
                </a:cubicBezTo>
                <a:cubicBezTo>
                  <a:pt x="7426336" y="1441368"/>
                  <a:pt x="7435884" y="1439405"/>
                  <a:pt x="7444743" y="1435608"/>
                </a:cubicBezTo>
                <a:cubicBezTo>
                  <a:pt x="7457272" y="1430238"/>
                  <a:pt x="7468556" y="1422106"/>
                  <a:pt x="7481319" y="1417320"/>
                </a:cubicBezTo>
                <a:cubicBezTo>
                  <a:pt x="7493086" y="1412907"/>
                  <a:pt x="7505811" y="1411628"/>
                  <a:pt x="7517895" y="1408176"/>
                </a:cubicBezTo>
                <a:cubicBezTo>
                  <a:pt x="7527163" y="1405528"/>
                  <a:pt x="7536059" y="1401680"/>
                  <a:pt x="7545327" y="1399032"/>
                </a:cubicBezTo>
                <a:cubicBezTo>
                  <a:pt x="7603003" y="1382553"/>
                  <a:pt x="7564914" y="1396141"/>
                  <a:pt x="7636767" y="1380744"/>
                </a:cubicBezTo>
                <a:cubicBezTo>
                  <a:pt x="7701065" y="1366966"/>
                  <a:pt x="7707209" y="1363359"/>
                  <a:pt x="7764783" y="1344168"/>
                </a:cubicBezTo>
                <a:lnTo>
                  <a:pt x="7764783" y="1344168"/>
                </a:lnTo>
                <a:cubicBezTo>
                  <a:pt x="7776502" y="1341238"/>
                  <a:pt x="7815673" y="1332439"/>
                  <a:pt x="7828791" y="1325880"/>
                </a:cubicBezTo>
                <a:cubicBezTo>
                  <a:pt x="7838621" y="1320965"/>
                  <a:pt x="7846180" y="1312055"/>
                  <a:pt x="7856223" y="1307592"/>
                </a:cubicBezTo>
                <a:cubicBezTo>
                  <a:pt x="7954158" y="1264065"/>
                  <a:pt x="7876437" y="1312404"/>
                  <a:pt x="7938519" y="1271016"/>
                </a:cubicBezTo>
                <a:cubicBezTo>
                  <a:pt x="7976203" y="1214489"/>
                  <a:pt x="7934363" y="1269631"/>
                  <a:pt x="7984239" y="1225296"/>
                </a:cubicBezTo>
                <a:cubicBezTo>
                  <a:pt x="8003569" y="1208113"/>
                  <a:pt x="8020815" y="1188720"/>
                  <a:pt x="8039103" y="1170432"/>
                </a:cubicBezTo>
                <a:cubicBezTo>
                  <a:pt x="8048247" y="1161288"/>
                  <a:pt x="8055775" y="1150173"/>
                  <a:pt x="8066535" y="1143000"/>
                </a:cubicBezTo>
                <a:lnTo>
                  <a:pt x="8093967" y="1124712"/>
                </a:lnTo>
                <a:lnTo>
                  <a:pt x="8121399" y="1042416"/>
                </a:lnTo>
                <a:lnTo>
                  <a:pt x="8130543" y="1014984"/>
                </a:lnTo>
                <a:lnTo>
                  <a:pt x="8139687" y="987552"/>
                </a:lnTo>
                <a:cubicBezTo>
                  <a:pt x="8136639" y="963168"/>
                  <a:pt x="8136503" y="938240"/>
                  <a:pt x="8130543" y="914400"/>
                </a:cubicBezTo>
                <a:cubicBezTo>
                  <a:pt x="8120117" y="872695"/>
                  <a:pt x="8109515" y="885376"/>
                  <a:pt x="8093967" y="850392"/>
                </a:cubicBezTo>
                <a:cubicBezTo>
                  <a:pt x="8086138" y="832776"/>
                  <a:pt x="8086372" y="811568"/>
                  <a:pt x="8075679" y="795528"/>
                </a:cubicBezTo>
                <a:cubicBezTo>
                  <a:pt x="8055641" y="765472"/>
                  <a:pt x="8057711" y="773790"/>
                  <a:pt x="8048247" y="740664"/>
                </a:cubicBezTo>
                <a:cubicBezTo>
                  <a:pt x="8032450" y="685374"/>
                  <a:pt x="8039103" y="699414"/>
                  <a:pt x="8039103" y="621792"/>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9070254" y="2964437"/>
            <a:ext cx="451570" cy="860801"/>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6069917" y="4926554"/>
            <a:ext cx="2045934" cy="10753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9419646" y="3825238"/>
            <a:ext cx="2109194" cy="1012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椭圆 20"/>
          <p:cNvSpPr/>
          <p:nvPr/>
        </p:nvSpPr>
        <p:spPr>
          <a:xfrm>
            <a:off x="9469851" y="4926554"/>
            <a:ext cx="1986741" cy="110568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6024925" y="2876117"/>
            <a:ext cx="1896228" cy="1690973"/>
          </a:xfrm>
          <a:prstGeom prst="round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977798" y="3042312"/>
            <a:ext cx="206656" cy="1384995"/>
          </a:xfrm>
          <a:prstGeom prst="rect">
            <a:avLst/>
          </a:prstGeom>
          <a:noFill/>
        </p:spPr>
        <p:txBody>
          <a:bodyPr wrap="square" rtlCol="0">
            <a:spAutoFit/>
          </a:bodyPr>
          <a:lstStyle/>
          <a:p>
            <a:r>
              <a:rPr lang="zh-CN" altLang="en-US" sz="1400" b="1" dirty="0">
                <a:solidFill>
                  <a:srgbClr val="FF0000"/>
                </a:solidFill>
              </a:rPr>
              <a:t>交流励磁信号</a:t>
            </a:r>
          </a:p>
        </p:txBody>
      </p:sp>
      <p:sp>
        <p:nvSpPr>
          <p:cNvPr id="24" name="文本框 23"/>
          <p:cNvSpPr txBox="1"/>
          <p:nvPr/>
        </p:nvSpPr>
        <p:spPr>
          <a:xfrm>
            <a:off x="9771943" y="2915689"/>
            <a:ext cx="1552004" cy="307777"/>
          </a:xfrm>
          <a:prstGeom prst="rect">
            <a:avLst/>
          </a:prstGeom>
          <a:noFill/>
        </p:spPr>
        <p:txBody>
          <a:bodyPr wrap="square" rtlCol="0">
            <a:spAutoFit/>
          </a:bodyPr>
          <a:lstStyle/>
          <a:p>
            <a:r>
              <a:rPr lang="zh-CN" altLang="en-US" sz="1400" b="1" dirty="0">
                <a:solidFill>
                  <a:srgbClr val="FF0000"/>
                </a:solidFill>
              </a:rPr>
              <a:t>直流励磁信号</a:t>
            </a:r>
          </a:p>
        </p:txBody>
      </p:sp>
      <p:sp>
        <p:nvSpPr>
          <p:cNvPr id="25" name="文本框 24"/>
          <p:cNvSpPr txBox="1"/>
          <p:nvPr/>
        </p:nvSpPr>
        <p:spPr>
          <a:xfrm>
            <a:off x="8474648" y="5739005"/>
            <a:ext cx="595606" cy="307777"/>
          </a:xfrm>
          <a:prstGeom prst="rect">
            <a:avLst/>
          </a:prstGeom>
          <a:noFill/>
        </p:spPr>
        <p:txBody>
          <a:bodyPr wrap="square" rtlCol="0">
            <a:spAutoFit/>
          </a:bodyPr>
          <a:lstStyle/>
          <a:p>
            <a:r>
              <a:rPr lang="zh-CN" altLang="en-US" sz="1400" b="1" dirty="0">
                <a:solidFill>
                  <a:srgbClr val="FF0000"/>
                </a:solidFill>
              </a:rPr>
              <a:t>接地</a:t>
            </a:r>
          </a:p>
        </p:txBody>
      </p:sp>
      <p:pic>
        <p:nvPicPr>
          <p:cNvPr id="22" name="图片 21">
            <a:extLst>
              <a:ext uri="{FF2B5EF4-FFF2-40B4-BE49-F238E27FC236}">
                <a16:creationId xmlns:a16="http://schemas.microsoft.com/office/drawing/2014/main" id="{20B6CABA-B282-75CC-6A0B-64B6267F17BB}"/>
              </a:ext>
            </a:extLst>
          </p:cNvPr>
          <p:cNvPicPr>
            <a:picLocks noChangeAspect="1"/>
          </p:cNvPicPr>
          <p:nvPr/>
        </p:nvPicPr>
        <p:blipFill rotWithShape="1">
          <a:blip r:embed="rId4">
            <a:extLst>
              <a:ext uri="{28A0092B-C50C-407E-A947-70E740481C1C}">
                <a14:useLocalDpi xmlns:a14="http://schemas.microsoft.com/office/drawing/2010/main" val="0"/>
              </a:ext>
            </a:extLst>
          </a:blip>
          <a:srcRect l="6269" t="22966"/>
          <a:stretch/>
        </p:blipFill>
        <p:spPr>
          <a:xfrm>
            <a:off x="508461" y="2815625"/>
            <a:ext cx="4998272" cy="3346446"/>
          </a:xfrm>
          <a:prstGeom prst="rect">
            <a:avLst/>
          </a:prstGeom>
        </p:spPr>
      </p:pic>
    </p:spTree>
    <p:extLst>
      <p:ext uri="{BB962C8B-B14F-4D97-AF65-F5344CB8AC3E}">
        <p14:creationId xmlns:p14="http://schemas.microsoft.com/office/powerpoint/2010/main" val="1819087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a:xfrm>
            <a:off x="9081654" y="6414318"/>
            <a:ext cx="2743200" cy="341761"/>
          </a:xfrm>
        </p:spPr>
        <p:txBody>
          <a:bodyPr/>
          <a:lstStyle/>
          <a:p>
            <a:fld id="{1AAC388E-FA9E-4A2C-95EA-1F6B3A07935A}" type="slidenum">
              <a:rPr lang="zh-CN" altLang="en-US" sz="2800" smtClean="0"/>
              <a:pPr/>
              <a:t>18</a:t>
            </a:fld>
            <a:endParaRPr lang="zh-CN" altLang="en-US" sz="2800" dirty="0"/>
          </a:p>
        </p:txBody>
      </p:sp>
      <p:sp>
        <p:nvSpPr>
          <p:cNvPr id="7" name="文本框 6"/>
          <p:cNvSpPr txBox="1"/>
          <p:nvPr/>
        </p:nvSpPr>
        <p:spPr>
          <a:xfrm>
            <a:off x="510695" y="1658668"/>
            <a:ext cx="5697155" cy="1169551"/>
          </a:xfrm>
          <a:prstGeom prst="rect">
            <a:avLst/>
          </a:prstGeom>
          <a:solidFill>
            <a:schemeClr val="accent6">
              <a:lumMod val="40000"/>
              <a:lumOff val="60000"/>
            </a:schemeClr>
          </a:solidFill>
        </p:spPr>
        <p:txBody>
          <a:bodyPr wrap="square" rtlCol="0">
            <a:spAutoFit/>
          </a:bodyPr>
          <a:lstStyle/>
          <a:p>
            <a:pPr>
              <a:spcBef>
                <a:spcPts val="600"/>
              </a:spcBef>
              <a:spcAft>
                <a:spcPts val="600"/>
              </a:spcAft>
            </a:pPr>
            <a:r>
              <a:rPr lang="zh-CN" altLang="en-US" sz="2000" dirty="0">
                <a:latin typeface="Calibri" panose="020F0502020204030204" pitchFamily="34" charset="0"/>
                <a:cs typeface="Arial" panose="020B0604020202020204" pitchFamily="34" charset="0"/>
              </a:rPr>
              <a:t>以</a:t>
            </a:r>
            <a:r>
              <a:rPr lang="en-US" altLang="zh-CN" sz="2000" dirty="0">
                <a:latin typeface="Times New Roman" panose="02020603050405020304" pitchFamily="18" charset="0"/>
                <a:cs typeface="Times New Roman" panose="02020603050405020304" pitchFamily="18" charset="0"/>
              </a:rPr>
              <a:t>0.5V</a:t>
            </a:r>
            <a:r>
              <a:rPr lang="zh-CN" altLang="en-US" sz="2000" dirty="0">
                <a:latin typeface="Calibri" panose="020F0502020204030204" pitchFamily="34" charset="0"/>
                <a:cs typeface="Arial" panose="020B0604020202020204" pitchFamily="34" charset="0"/>
              </a:rPr>
              <a:t>的间隔增加交流励磁电压直至</a:t>
            </a:r>
            <a:r>
              <a:rPr lang="en-US" altLang="zh-CN" sz="2000" dirty="0">
                <a:latin typeface="Times New Roman" panose="02020603050405020304" pitchFamily="18" charset="0"/>
                <a:cs typeface="Times New Roman" panose="02020603050405020304" pitchFamily="18" charset="0"/>
              </a:rPr>
              <a:t>3V</a:t>
            </a:r>
            <a:r>
              <a:rPr lang="zh-CN" altLang="en-US" sz="2000" dirty="0">
                <a:latin typeface="Calibri" panose="020F0502020204030204" pitchFamily="34" charset="0"/>
                <a:cs typeface="Arial" panose="020B0604020202020204" pitchFamily="34" charset="0"/>
              </a:rPr>
              <a:t>，示波器光标读出磁滞曲线的端点电压的峰值坐标</a:t>
            </a:r>
            <a:endParaRPr lang="en-US" altLang="zh-CN" sz="2000" dirty="0">
              <a:latin typeface="Calibri" panose="020F0502020204030204" pitchFamily="34" charset="0"/>
              <a:cs typeface="Arial" panose="020B0604020202020204" pitchFamily="34" charset="0"/>
            </a:endParaRPr>
          </a:p>
          <a:p>
            <a:pPr>
              <a:spcBef>
                <a:spcPts val="600"/>
              </a:spcBef>
              <a:spcAft>
                <a:spcPts val="600"/>
              </a:spcAft>
            </a:pPr>
            <a:endParaRPr lang="en-US" altLang="zh-CN" sz="2000" dirty="0">
              <a:latin typeface="Calibri" panose="020F0502020204030204" pitchFamily="34" charset="0"/>
              <a:cs typeface="Arial" panose="020B0604020202020204" pitchFamily="34" charset="0"/>
            </a:endParaRPr>
          </a:p>
        </p:txBody>
      </p:sp>
      <p:grpSp>
        <p:nvGrpSpPr>
          <p:cNvPr id="8" name="组合 3"/>
          <p:cNvGrpSpPr>
            <a:grpSpLocks noChangeAspect="1"/>
          </p:cNvGrpSpPr>
          <p:nvPr/>
        </p:nvGrpSpPr>
        <p:grpSpPr bwMode="auto">
          <a:xfrm>
            <a:off x="6636792" y="1044885"/>
            <a:ext cx="5000457" cy="4911664"/>
            <a:chOff x="1547813" y="333375"/>
            <a:chExt cx="5903912" cy="5799138"/>
          </a:xfrm>
        </p:grpSpPr>
        <p:pic>
          <p:nvPicPr>
            <p:cNvPr id="10" name="Picture 4"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333375"/>
              <a:ext cx="5903912" cy="579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8"/>
            <p:cNvSpPr>
              <a:spLocks/>
            </p:cNvSpPr>
            <p:nvPr/>
          </p:nvSpPr>
          <p:spPr bwMode="auto">
            <a:xfrm>
              <a:off x="4284663" y="1412875"/>
              <a:ext cx="1655762" cy="2016125"/>
            </a:xfrm>
            <a:custGeom>
              <a:avLst/>
              <a:gdLst>
                <a:gd name="T0" fmla="*/ 0 w 1043"/>
                <a:gd name="T1" fmla="*/ 2147483646 h 1270"/>
                <a:gd name="T2" fmla="*/ 2147483646 w 1043"/>
                <a:gd name="T3" fmla="*/ 2147483646 h 1270"/>
                <a:gd name="T4" fmla="*/ 2147483646 w 1043"/>
                <a:gd name="T5" fmla="*/ 2147483646 h 1270"/>
                <a:gd name="T6" fmla="*/ 2147483646 w 1043"/>
                <a:gd name="T7" fmla="*/ 2147483646 h 1270"/>
                <a:gd name="T8" fmla="*/ 2147483646 w 1043"/>
                <a:gd name="T9" fmla="*/ 0 h 12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3" h="1270">
                  <a:moveTo>
                    <a:pt x="0" y="1270"/>
                  </a:moveTo>
                  <a:cubicBezTo>
                    <a:pt x="53" y="1114"/>
                    <a:pt x="106" y="959"/>
                    <a:pt x="181" y="816"/>
                  </a:cubicBezTo>
                  <a:cubicBezTo>
                    <a:pt x="256" y="673"/>
                    <a:pt x="355" y="521"/>
                    <a:pt x="453" y="408"/>
                  </a:cubicBezTo>
                  <a:cubicBezTo>
                    <a:pt x="551" y="295"/>
                    <a:pt x="673" y="204"/>
                    <a:pt x="771" y="136"/>
                  </a:cubicBezTo>
                  <a:cubicBezTo>
                    <a:pt x="869" y="68"/>
                    <a:pt x="998" y="23"/>
                    <a:pt x="1043" y="0"/>
                  </a:cubicBezTo>
                </a:path>
              </a:pathLst>
            </a:custGeom>
            <a:noFill/>
            <a:ln w="635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 name="圆角矩形 3"/>
          <p:cNvSpPr/>
          <p:nvPr/>
        </p:nvSpPr>
        <p:spPr>
          <a:xfrm>
            <a:off x="6528816" y="1170482"/>
            <a:ext cx="5248656" cy="4912333"/>
          </a:xfrm>
          <a:prstGeom prst="round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58644" y="976599"/>
            <a:ext cx="3977371" cy="523220"/>
          </a:xfrm>
          <a:prstGeom prst="rect">
            <a:avLst/>
          </a:prstGeom>
        </p:spPr>
        <p:txBody>
          <a:bodyPr wrap="none">
            <a:spAutoFit/>
          </a:bodyPr>
          <a:lstStyle/>
          <a:p>
            <a:pPr lvl="0">
              <a:spcBef>
                <a:spcPts val="600"/>
              </a:spcBef>
              <a:spcAft>
                <a:spcPts val="600"/>
              </a:spcAft>
            </a:pPr>
            <a:r>
              <a:rPr lang="en-US" altLang="zh-CN" sz="2800" b="1" dirty="0">
                <a:solidFill>
                  <a:srgbClr val="FF0000"/>
                </a:solidFill>
              </a:rPr>
              <a:t>4.1 </a:t>
            </a:r>
            <a:r>
              <a:rPr lang="zh-CN" altLang="en-US" sz="2800" b="1" dirty="0">
                <a:solidFill>
                  <a:srgbClr val="FF0000"/>
                </a:solidFill>
              </a:rPr>
              <a:t>初始磁化曲线的测量</a:t>
            </a:r>
          </a:p>
        </p:txBody>
      </p:sp>
      <p:pic>
        <p:nvPicPr>
          <p:cNvPr id="13" name="图片 12"/>
          <p:cNvPicPr>
            <a:picLocks noChangeAspect="1"/>
          </p:cNvPicPr>
          <p:nvPr/>
        </p:nvPicPr>
        <p:blipFill>
          <a:blip r:embed="rId4"/>
          <a:stretch>
            <a:fillRect/>
          </a:stretch>
        </p:blipFill>
        <p:spPr>
          <a:xfrm>
            <a:off x="532863" y="2905641"/>
            <a:ext cx="5462740" cy="3508677"/>
          </a:xfrm>
          <a:prstGeom prst="rect">
            <a:avLst/>
          </a:prstGeom>
        </p:spPr>
      </p:pic>
      <p:cxnSp>
        <p:nvCxnSpPr>
          <p:cNvPr id="6" name="直接连接符 5"/>
          <p:cNvCxnSpPr/>
          <p:nvPr/>
        </p:nvCxnSpPr>
        <p:spPr>
          <a:xfrm>
            <a:off x="6924502" y="3067396"/>
            <a:ext cx="4314305" cy="33251"/>
          </a:xfrm>
          <a:prstGeom prst="line">
            <a:avLst/>
          </a:prstGeom>
          <a:ln w="28575">
            <a:solidFill>
              <a:srgbClr val="FF0000"/>
            </a:solidFill>
            <a:prstDash val="dash"/>
          </a:ln>
        </p:spPr>
        <p:style>
          <a:lnRef idx="3">
            <a:schemeClr val="accent2"/>
          </a:lnRef>
          <a:fillRef idx="0">
            <a:schemeClr val="accent2"/>
          </a:fillRef>
          <a:effectRef idx="2">
            <a:schemeClr val="accent2"/>
          </a:effectRef>
          <a:fontRef idx="minor">
            <a:schemeClr val="tx1"/>
          </a:fontRef>
        </p:style>
      </p:cxnSp>
      <p:cxnSp>
        <p:nvCxnSpPr>
          <p:cNvPr id="14" name="直接连接符 13"/>
          <p:cNvCxnSpPr/>
          <p:nvPr/>
        </p:nvCxnSpPr>
        <p:spPr>
          <a:xfrm rot="5400000">
            <a:off x="7038888" y="3673643"/>
            <a:ext cx="4314305" cy="33251"/>
          </a:xfrm>
          <a:prstGeom prst="line">
            <a:avLst/>
          </a:prstGeom>
          <a:ln w="28575">
            <a:solidFill>
              <a:srgbClr val="FF0000"/>
            </a:solidFill>
            <a:prstDash val="dash"/>
          </a:ln>
        </p:spPr>
        <p:style>
          <a:lnRef idx="3">
            <a:schemeClr val="accent2"/>
          </a:lnRef>
          <a:fillRef idx="0">
            <a:schemeClr val="accent2"/>
          </a:fillRef>
          <a:effectRef idx="2">
            <a:schemeClr val="accent2"/>
          </a:effectRef>
          <a:fontRef idx="minor">
            <a:schemeClr val="tx1"/>
          </a:fontRef>
        </p:style>
      </p:cxnSp>
      <p:sp>
        <p:nvSpPr>
          <p:cNvPr id="15" name="文本框 14"/>
          <p:cNvSpPr txBox="1"/>
          <p:nvPr/>
        </p:nvSpPr>
        <p:spPr>
          <a:xfrm>
            <a:off x="5135399" y="2021480"/>
            <a:ext cx="1048685" cy="369332"/>
          </a:xfrm>
          <a:prstGeom prst="rect">
            <a:avLst/>
          </a:prstGeom>
          <a:noFill/>
        </p:spPr>
        <p:txBody>
          <a:bodyPr wrap="none"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i="1" dirty="0" err="1">
                <a:solidFill>
                  <a:srgbClr val="FF0000"/>
                </a:solidFill>
                <a:latin typeface="Times New Roman" panose="02020603050405020304" pitchFamily="18" charset="0"/>
                <a:cs typeface="Times New Roman" panose="02020603050405020304" pitchFamily="18" charset="0"/>
              </a:rPr>
              <a:t>U</a:t>
            </a:r>
            <a:r>
              <a:rPr lang="en-US" altLang="zh-CN" b="1" i="1" baseline="-25000" dirty="0" err="1">
                <a:solidFill>
                  <a:srgbClr val="FF0000"/>
                </a:solidFill>
                <a:latin typeface="Times New Roman" panose="02020603050405020304" pitchFamily="18" charset="0"/>
                <a:cs typeface="Times New Roman" panose="02020603050405020304" pitchFamily="18" charset="0"/>
              </a:rPr>
              <a:t>x</a:t>
            </a:r>
            <a:r>
              <a:rPr lang="en-US" altLang="zh-CN" b="1" dirty="0">
                <a:solidFill>
                  <a:srgbClr val="FF0000"/>
                </a:solidFill>
                <a:latin typeface="Times New Roman" panose="02020603050405020304" pitchFamily="18" charset="0"/>
                <a:cs typeface="Times New Roman" panose="02020603050405020304" pitchFamily="18" charset="0"/>
              </a:rPr>
              <a:t>,</a:t>
            </a:r>
            <a:r>
              <a:rPr lang="en-US" altLang="zh-CN" b="1" i="1" dirty="0">
                <a:solidFill>
                  <a:srgbClr val="FF0000"/>
                </a:solidFill>
                <a:latin typeface="Times New Roman" panose="02020603050405020304" pitchFamily="18" charset="0"/>
                <a:cs typeface="Times New Roman" panose="02020603050405020304" pitchFamily="18" charset="0"/>
              </a:rPr>
              <a:t> </a:t>
            </a:r>
            <a:r>
              <a:rPr lang="en-US" altLang="zh-CN" b="1" i="1" dirty="0" err="1">
                <a:solidFill>
                  <a:srgbClr val="FF0000"/>
                </a:solidFill>
                <a:latin typeface="Times New Roman" panose="02020603050405020304" pitchFamily="18" charset="0"/>
                <a:cs typeface="Times New Roman" panose="02020603050405020304" pitchFamily="18" charset="0"/>
              </a:rPr>
              <a:t>U</a:t>
            </a:r>
            <a:r>
              <a:rPr lang="en-US" altLang="zh-CN" b="1" i="1" baseline="-25000" dirty="0" err="1">
                <a:solidFill>
                  <a:srgbClr val="FF0000"/>
                </a:solidFill>
                <a:latin typeface="Times New Roman" panose="02020603050405020304" pitchFamily="18" charset="0"/>
                <a:cs typeface="Times New Roman" panose="02020603050405020304" pitchFamily="18" charset="0"/>
              </a:rPr>
              <a:t>y</a:t>
            </a:r>
            <a:r>
              <a:rPr lang="en-US" altLang="zh-CN" b="1" i="1" dirty="0">
                <a:solidFill>
                  <a:srgbClr val="FF0000"/>
                </a:solidFill>
                <a:latin typeface="Times New Roman" panose="02020603050405020304" pitchFamily="18" charset="0"/>
                <a:cs typeface="Times New Roman" panose="02020603050405020304" pitchFamily="18" charset="0"/>
              </a:rPr>
              <a:t> </a:t>
            </a:r>
            <a:r>
              <a:rPr lang="en-US" altLang="zh-CN" b="1" dirty="0">
                <a:solidFill>
                  <a:srgbClr val="FF0000"/>
                </a:solidFill>
                <a:latin typeface="Times New Roman" panose="02020603050405020304" pitchFamily="18" charset="0"/>
                <a:cs typeface="Times New Roman" panose="02020603050405020304" pitchFamily="18" charset="0"/>
              </a:rPr>
              <a:t>)</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16" name="椭圆 15"/>
          <p:cNvSpPr/>
          <p:nvPr/>
        </p:nvSpPr>
        <p:spPr>
          <a:xfrm>
            <a:off x="9143972" y="3031940"/>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9570691" y="2394632"/>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9922596" y="2098146"/>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7357275" y="2417380"/>
            <a:ext cx="4314305" cy="33251"/>
          </a:xfrm>
          <a:prstGeom prst="line">
            <a:avLst/>
          </a:prstGeom>
          <a:ln w="28575">
            <a:solidFill>
              <a:srgbClr val="FF0000"/>
            </a:solidFill>
            <a:prstDash val="dash"/>
          </a:ln>
        </p:spPr>
        <p:style>
          <a:lnRef idx="3">
            <a:schemeClr val="accent2"/>
          </a:lnRef>
          <a:fillRef idx="0">
            <a:schemeClr val="accent2"/>
          </a:fillRef>
          <a:effectRef idx="2">
            <a:schemeClr val="accent2"/>
          </a:effectRef>
          <a:fontRef idx="minor">
            <a:schemeClr val="tx1"/>
          </a:fontRef>
        </p:style>
      </p:cxnSp>
      <p:cxnSp>
        <p:nvCxnSpPr>
          <p:cNvPr id="20" name="直接连接符 19"/>
          <p:cNvCxnSpPr/>
          <p:nvPr/>
        </p:nvCxnSpPr>
        <p:spPr>
          <a:xfrm rot="5400000">
            <a:off x="7471661" y="3023627"/>
            <a:ext cx="4314305" cy="33251"/>
          </a:xfrm>
          <a:prstGeom prst="line">
            <a:avLst/>
          </a:prstGeom>
          <a:ln w="28575">
            <a:solidFill>
              <a:srgbClr val="FF0000"/>
            </a:solidFill>
            <a:prstDash val="dash"/>
          </a:ln>
        </p:spPr>
        <p:style>
          <a:lnRef idx="3">
            <a:schemeClr val="accent2"/>
          </a:lnRef>
          <a:fillRef idx="0">
            <a:schemeClr val="accent2"/>
          </a:fillRef>
          <a:effectRef idx="2">
            <a:schemeClr val="accent2"/>
          </a:effectRef>
          <a:fontRef idx="minor">
            <a:schemeClr val="tx1"/>
          </a:fontRef>
        </p:style>
      </p:cxnSp>
      <p:sp>
        <p:nvSpPr>
          <p:cNvPr id="22" name="文本框 21"/>
          <p:cNvSpPr txBox="1"/>
          <p:nvPr/>
        </p:nvSpPr>
        <p:spPr>
          <a:xfrm>
            <a:off x="7483301" y="3171508"/>
            <a:ext cx="351504" cy="321545"/>
          </a:xfrm>
          <a:prstGeom prst="rect">
            <a:avLst/>
          </a:prstGeom>
          <a:noFill/>
        </p:spPr>
        <p:txBody>
          <a:bodyPr wrap="none" rtlCol="0">
            <a:spAutoFit/>
          </a:bodyPr>
          <a:lstStyle/>
          <a:p>
            <a:r>
              <a:rPr lang="en-US" altLang="zh-CN" dirty="0" err="1">
                <a:solidFill>
                  <a:srgbClr val="FF0000"/>
                </a:solidFill>
              </a:rPr>
              <a:t>Uy</a:t>
            </a:r>
            <a:endParaRPr lang="zh-CN" altLang="en-US" dirty="0">
              <a:solidFill>
                <a:srgbClr val="FF0000"/>
              </a:solidFill>
            </a:endParaRPr>
          </a:p>
        </p:txBody>
      </p:sp>
      <p:cxnSp>
        <p:nvCxnSpPr>
          <p:cNvPr id="23" name="直接箭头连接符 22"/>
          <p:cNvCxnSpPr/>
          <p:nvPr/>
        </p:nvCxnSpPr>
        <p:spPr>
          <a:xfrm flipV="1">
            <a:off x="7460524" y="3035300"/>
            <a:ext cx="4052" cy="2926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7460524" y="3385081"/>
            <a:ext cx="4052" cy="2926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8856333" y="5742915"/>
            <a:ext cx="354530" cy="302355"/>
          </a:xfrm>
          <a:prstGeom prst="rect">
            <a:avLst/>
          </a:prstGeom>
          <a:noFill/>
        </p:spPr>
        <p:txBody>
          <a:bodyPr wrap="none" rtlCol="0">
            <a:spAutoFit/>
          </a:bodyPr>
          <a:lstStyle/>
          <a:p>
            <a:r>
              <a:rPr lang="en-US" altLang="zh-CN" dirty="0" err="1">
                <a:solidFill>
                  <a:srgbClr val="FF0000"/>
                </a:solidFill>
              </a:rPr>
              <a:t>Ux</a:t>
            </a:r>
            <a:endParaRPr lang="zh-CN" altLang="en-US" dirty="0">
              <a:solidFill>
                <a:srgbClr val="FF0000"/>
              </a:solidFill>
            </a:endParaRPr>
          </a:p>
        </p:txBody>
      </p:sp>
      <p:cxnSp>
        <p:nvCxnSpPr>
          <p:cNvPr id="31" name="直接箭头连接符 30"/>
          <p:cNvCxnSpPr/>
          <p:nvPr/>
        </p:nvCxnSpPr>
        <p:spPr>
          <a:xfrm flipV="1">
            <a:off x="8909987" y="5762023"/>
            <a:ext cx="301778" cy="8313"/>
          </a:xfrm>
          <a:prstGeom prst="straightConnector1">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矩形 31"/>
              <p:cNvSpPr/>
              <p:nvPr/>
            </p:nvSpPr>
            <p:spPr>
              <a:xfrm>
                <a:off x="524767" y="2322868"/>
                <a:ext cx="3470181" cy="400110"/>
              </a:xfrm>
              <a:prstGeom prst="rect">
                <a:avLst/>
              </a:prstGeom>
            </p:spPr>
            <p:txBody>
              <a:bodyPr wrap="none">
                <a:spAutoFit/>
              </a:bodyPr>
              <a:lstStyle/>
              <a:p>
                <a:pPr>
                  <a:spcBef>
                    <a:spcPts val="600"/>
                  </a:spcBef>
                  <a:spcAft>
                    <a:spcPts val="600"/>
                  </a:spcAft>
                </a:pPr>
                <a:r>
                  <a:rPr lang="zh-CN" altLang="en-US" sz="2000" dirty="0">
                    <a:solidFill>
                      <a:srgbClr val="FF0000"/>
                    </a:solidFill>
                  </a:rPr>
                  <a:t>根据公式计算对应的</a:t>
                </a:r>
                <a14:m>
                  <m:oMath xmlns:m="http://schemas.openxmlformats.org/officeDocument/2006/math">
                    <m:r>
                      <a:rPr lang="en-US" altLang="zh-CN" sz="2000">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𝐻</m:t>
                    </m:r>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𝐵</m:t>
                    </m:r>
                    <m:r>
                      <a:rPr lang="en-US" altLang="zh-CN" sz="2000" b="0" i="1" smtClean="0">
                        <a:solidFill>
                          <a:srgbClr val="FF0000"/>
                        </a:solidFill>
                        <a:latin typeface="Cambria Math" panose="02040503050406030204" pitchFamily="18" charset="0"/>
                      </a:rPr>
                      <m:t>,</m:t>
                    </m:r>
                    <m:r>
                      <a:rPr lang="zh-CN" altLang="en-US" sz="2000" b="0" i="1" smtClean="0">
                        <a:solidFill>
                          <a:srgbClr val="FF0000"/>
                        </a:solidFill>
                        <a:latin typeface="Cambria Math" panose="02040503050406030204" pitchFamily="18" charset="0"/>
                      </a:rPr>
                      <m:t>𝜇</m:t>
                    </m:r>
                    <m:r>
                      <a:rPr lang="en-US" altLang="zh-CN" sz="2000" i="1">
                        <a:solidFill>
                          <a:srgbClr val="FF0000"/>
                        </a:solidFill>
                        <a:latin typeface="Cambria Math" panose="02040503050406030204" pitchFamily="18" charset="0"/>
                      </a:rPr>
                      <m:t>)</m:t>
                    </m:r>
                  </m:oMath>
                </a14:m>
                <a:r>
                  <a:rPr lang="zh-CN" altLang="en-US" sz="2000" dirty="0"/>
                  <a:t> </a:t>
                </a:r>
                <a:endParaRPr lang="en-US" altLang="zh-CN" sz="2000" dirty="0"/>
              </a:p>
            </p:txBody>
          </p:sp>
        </mc:Choice>
        <mc:Fallback xmlns="">
          <p:sp>
            <p:nvSpPr>
              <p:cNvPr id="32" name="矩形 31"/>
              <p:cNvSpPr>
                <a:spLocks noRot="1" noChangeAspect="1" noMove="1" noResize="1" noEditPoints="1" noAdjustHandles="1" noChangeArrowheads="1" noChangeShapeType="1" noTextEdit="1"/>
              </p:cNvSpPr>
              <p:nvPr/>
            </p:nvSpPr>
            <p:spPr>
              <a:xfrm>
                <a:off x="524767" y="2322868"/>
                <a:ext cx="3470181" cy="400110"/>
              </a:xfrm>
              <a:prstGeom prst="rect">
                <a:avLst/>
              </a:prstGeom>
              <a:blipFill>
                <a:blip r:embed="rId5"/>
                <a:stretch>
                  <a:fillRect l="-1757" t="-7576"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9723274" y="4328238"/>
                <a:ext cx="1955472" cy="1231043"/>
              </a:xfrm>
              <a:prstGeom prst="rect">
                <a:avLst/>
              </a:prstGeom>
              <a:solidFill>
                <a:schemeClr val="accent6">
                  <a:lumMod val="40000"/>
                  <a:lumOff val="60000"/>
                </a:schemeClr>
              </a:solidFill>
            </p:spPr>
            <p:txBody>
              <a:bodyPr wrap="none">
                <a:spAutoFit/>
              </a:bodyPr>
              <a:lstStyle/>
              <a:p>
                <a:pPr marL="342900" indent="-342900">
                  <a:buFont typeface="Arial" panose="020B0604020202020204" pitchFamily="34" charset="0"/>
                  <a:buChar char="•"/>
                </a:pPr>
                <a14:m>
                  <m:oMath xmlns:m="http://schemas.openxmlformats.org/officeDocument/2006/math">
                    <m:r>
                      <a:rPr lang="en-US" altLang="zh-CN" sz="2400" i="1" smtClean="0">
                        <a:latin typeface="Cambria Math" panose="02040503050406030204" pitchFamily="18" charset="0"/>
                      </a:rPr>
                      <m:t>𝐻</m:t>
                    </m:r>
                    <m:r>
                      <a:rPr lang="en-US" altLang="zh-CN" sz="2400" i="1" smtClean="0">
                        <a:latin typeface="Cambria Math" panose="02040503050406030204" pitchFamily="18" charset="0"/>
                      </a:rPr>
                      <m:t>=</m:t>
                    </m:r>
                    <m:f>
                      <m:fPr>
                        <m:ctrlPr>
                          <a:rPr lang="en-US" altLang="zh-CN" sz="2400" i="1">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1</m:t>
                            </m:r>
                          </m:sub>
                        </m:sSub>
                      </m:num>
                      <m:den>
                        <m:r>
                          <a:rPr lang="en-US" altLang="zh-CN" sz="2400" i="1">
                            <a:latin typeface="Cambria Math" panose="02040503050406030204" pitchFamily="18" charset="0"/>
                          </a:rPr>
                          <m:t>𝐿</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1</m:t>
                            </m:r>
                          </m:sub>
                        </m:sSub>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𝑥</m:t>
                        </m:r>
                      </m:sub>
                    </m:sSub>
                  </m:oMath>
                </a14:m>
                <a:endParaRPr lang="en-US" altLang="zh-CN" sz="2400" i="1" dirty="0">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US" altLang="zh-CN" sz="2400" i="1">
                        <a:latin typeface="Cambria Math" panose="02040503050406030204" pitchFamily="18" charset="0"/>
                      </a:rPr>
                      <m:t>𝐵</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𝐶</m:t>
                        </m:r>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𝑆</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𝑦</m:t>
                        </m:r>
                      </m:sub>
                    </m:sSub>
                  </m:oMath>
                </a14:m>
                <a:endParaRPr lang="en-US" altLang="zh-CN" sz="2400" dirty="0"/>
              </a:p>
            </p:txBody>
          </p:sp>
        </mc:Choice>
        <mc:Fallback xmlns="">
          <p:sp>
            <p:nvSpPr>
              <p:cNvPr id="33" name="矩形 32"/>
              <p:cNvSpPr>
                <a:spLocks noRot="1" noChangeAspect="1" noMove="1" noResize="1" noEditPoints="1" noAdjustHandles="1" noChangeArrowheads="1" noChangeShapeType="1" noTextEdit="1"/>
              </p:cNvSpPr>
              <p:nvPr/>
            </p:nvSpPr>
            <p:spPr>
              <a:xfrm>
                <a:off x="9723274" y="4328238"/>
                <a:ext cx="1955472" cy="1231043"/>
              </a:xfrm>
              <a:prstGeom prst="rect">
                <a:avLst/>
              </a:prstGeom>
              <a:blipFill>
                <a:blip r:embed="rId6"/>
                <a:stretch>
                  <a:fillRect/>
                </a:stretch>
              </a:blipFill>
            </p:spPr>
            <p:txBody>
              <a:bodyPr/>
              <a:lstStyle/>
              <a:p>
                <a:r>
                  <a:rPr lang="zh-CN" altLang="en-US">
                    <a:noFill/>
                  </a:rPr>
                  <a:t> </a:t>
                </a:r>
              </a:p>
            </p:txBody>
          </p:sp>
        </mc:Fallback>
      </mc:AlternateContent>
      <p:sp>
        <p:nvSpPr>
          <p:cNvPr id="34" name="矩形 33"/>
          <p:cNvSpPr/>
          <p:nvPr/>
        </p:nvSpPr>
        <p:spPr>
          <a:xfrm>
            <a:off x="9750593" y="5541016"/>
            <a:ext cx="2339102" cy="461665"/>
          </a:xfrm>
          <a:prstGeom prst="rect">
            <a:avLst/>
          </a:prstGeom>
        </p:spPr>
        <p:txBody>
          <a:bodyPr wrap="none">
            <a:spAutoFit/>
          </a:bodyPr>
          <a:lstStyle/>
          <a:p>
            <a:r>
              <a:rPr lang="zh-CN" altLang="en-US" sz="2400" b="1" dirty="0">
                <a:solidFill>
                  <a:srgbClr val="FF0000"/>
                </a:solidFill>
              </a:rPr>
              <a:t>注意量纲转换！</a:t>
            </a:r>
          </a:p>
        </p:txBody>
      </p:sp>
      <p:sp>
        <p:nvSpPr>
          <p:cNvPr id="29" name="标题 1">
            <a:extLst>
              <a:ext uri="{FF2B5EF4-FFF2-40B4-BE49-F238E27FC236}">
                <a16:creationId xmlns:a16="http://schemas.microsoft.com/office/drawing/2014/main" id="{5F14AAC9-ACB0-49FC-A6EE-6BDA13EC5753}"/>
              </a:ext>
            </a:extLst>
          </p:cNvPr>
          <p:cNvSpPr>
            <a:spLocks noGrp="1"/>
          </p:cNvSpPr>
          <p:nvPr>
            <p:ph type="title"/>
          </p:nvPr>
        </p:nvSpPr>
        <p:spPr>
          <a:xfrm>
            <a:off x="1598735" y="120289"/>
            <a:ext cx="8655953" cy="601075"/>
          </a:xfrm>
        </p:spPr>
        <p:txBody>
          <a:bodyPr>
            <a:noAutofit/>
          </a:bodyPr>
          <a:lstStyle/>
          <a:p>
            <a:r>
              <a:rPr lang="zh-CN" altLang="en-US" sz="4400" dirty="0"/>
              <a:t>实验内容</a:t>
            </a:r>
          </a:p>
        </p:txBody>
      </p:sp>
      <p:sp>
        <p:nvSpPr>
          <p:cNvPr id="30" name="圆角矩形 29"/>
          <p:cNvSpPr/>
          <p:nvPr/>
        </p:nvSpPr>
        <p:spPr>
          <a:xfrm rot="10800000" flipV="1">
            <a:off x="648780" y="83982"/>
            <a:ext cx="748020"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4</a:t>
            </a:r>
            <a:endParaRPr lang="zh-CN" altLang="en-US" sz="4400" b="1" dirty="0">
              <a:solidFill>
                <a:schemeClr val="tx1"/>
              </a:solidFill>
            </a:endParaRPr>
          </a:p>
        </p:txBody>
      </p:sp>
    </p:spTree>
    <p:extLst>
      <p:ext uri="{BB962C8B-B14F-4D97-AF65-F5344CB8AC3E}">
        <p14:creationId xmlns:p14="http://schemas.microsoft.com/office/powerpoint/2010/main" val="3664498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19</a:t>
            </a:fld>
            <a:endParaRPr lang="zh-CN" altLang="en-US" sz="2800" dirty="0"/>
          </a:p>
        </p:txBody>
      </p:sp>
      <p:sp>
        <p:nvSpPr>
          <p:cNvPr id="12" name="矩形 11"/>
          <p:cNvSpPr/>
          <p:nvPr/>
        </p:nvSpPr>
        <p:spPr>
          <a:xfrm>
            <a:off x="423318" y="950119"/>
            <a:ext cx="3959738" cy="523220"/>
          </a:xfrm>
          <a:prstGeom prst="rect">
            <a:avLst/>
          </a:prstGeom>
        </p:spPr>
        <p:txBody>
          <a:bodyPr wrap="none">
            <a:spAutoFit/>
          </a:bodyPr>
          <a:lstStyle/>
          <a:p>
            <a:pPr lvl="0">
              <a:spcBef>
                <a:spcPts val="600"/>
              </a:spcBef>
              <a:spcAft>
                <a:spcPts val="600"/>
              </a:spcAft>
            </a:pPr>
            <a:r>
              <a:rPr lang="en-US" altLang="zh-CN" sz="2800" b="1" dirty="0">
                <a:solidFill>
                  <a:srgbClr val="FF0000"/>
                </a:solidFill>
              </a:rPr>
              <a:t>4.2 </a:t>
            </a:r>
            <a:r>
              <a:rPr lang="zh-CN" altLang="en-US" sz="2800" b="1" dirty="0">
                <a:solidFill>
                  <a:srgbClr val="FF0000"/>
                </a:solidFill>
              </a:rPr>
              <a:t>动态磁滞回线的测量</a:t>
            </a:r>
          </a:p>
        </p:txBody>
      </p:sp>
      <mc:AlternateContent xmlns:mc="http://schemas.openxmlformats.org/markup-compatibility/2006" xmlns:a14="http://schemas.microsoft.com/office/drawing/2010/main">
        <mc:Choice Requires="a14">
          <p:sp>
            <p:nvSpPr>
              <p:cNvPr id="28" name="文本框 27"/>
              <p:cNvSpPr txBox="1"/>
              <p:nvPr/>
            </p:nvSpPr>
            <p:spPr>
              <a:xfrm>
                <a:off x="423318" y="1607956"/>
                <a:ext cx="5686286" cy="707886"/>
              </a:xfrm>
              <a:prstGeom prst="rect">
                <a:avLst/>
              </a:prstGeom>
              <a:solidFill>
                <a:schemeClr val="accent6">
                  <a:lumMod val="40000"/>
                  <a:lumOff val="60000"/>
                </a:schemeClr>
              </a:solidFill>
            </p:spPr>
            <p:txBody>
              <a:bodyPr wrap="square" rtlCol="0">
                <a:spAutoFit/>
              </a:bodyPr>
              <a:lstStyle/>
              <a:p>
                <a:pPr>
                  <a:spcBef>
                    <a:spcPts val="600"/>
                  </a:spcBef>
                  <a:spcAft>
                    <a:spcPts val="600"/>
                  </a:spcAft>
                </a:pPr>
                <a:r>
                  <a:rPr lang="zh-CN" altLang="en-US" sz="2000" dirty="0"/>
                  <a:t>保持励磁电压为</a:t>
                </a:r>
                <a:r>
                  <a:rPr lang="en-US" altLang="zh-CN" sz="2000" dirty="0"/>
                  <a:t>3V</a:t>
                </a:r>
                <a:r>
                  <a:rPr lang="zh-CN" altLang="en-US" sz="2000" dirty="0"/>
                  <a:t>。利用光标逐点读出饱和状态磁滞回线上各点的电压的值</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rPr>
                  <a:t>U</a:t>
                </a:r>
                <a:r>
                  <a:rPr lang="en-US" altLang="zh-CN" sz="2000" baseline="-25000" dirty="0" err="1">
                    <a:solidFill>
                      <a:srgbClr val="FF0000"/>
                    </a:solidFill>
                    <a:latin typeface="Times New Roman" panose="02020603050405020304" pitchFamily="18" charset="0"/>
                    <a:cs typeface="Times New Roman" panose="02020603050405020304" pitchFamily="18" charset="0"/>
                  </a:rPr>
                  <a:t>x</a:t>
                </a:r>
                <a:r>
                  <a:rPr lang="en-US" altLang="zh-CN" sz="2000" dirty="0">
                    <a:solidFill>
                      <a:srgbClr val="FF0000"/>
                    </a:solidFill>
                    <a:latin typeface="Times New Roman" panose="02020603050405020304" pitchFamily="18" charset="0"/>
                    <a:cs typeface="Times New Roman" panose="02020603050405020304" pitchFamily="18" charset="0"/>
                  </a:rPr>
                  <a:t>, </a:t>
                </a:r>
                <a:r>
                  <a:rPr lang="en-US" altLang="zh-CN" sz="2000" i="1" dirty="0" err="1">
                    <a:solidFill>
                      <a:srgbClr val="FF0000"/>
                    </a:solidFill>
                    <a:latin typeface="Times New Roman" panose="02020603050405020304" pitchFamily="18" charset="0"/>
                    <a:cs typeface="Times New Roman" panose="02020603050405020304" pitchFamily="18" charset="0"/>
                  </a:rPr>
                  <a:t>U</a:t>
                </a:r>
                <a:r>
                  <a:rPr lang="en-US" altLang="zh-CN" sz="2000" baseline="-25000" dirty="0" err="1">
                    <a:solidFill>
                      <a:srgbClr val="FF0000"/>
                    </a:solidFill>
                    <a:latin typeface="Times New Roman" panose="02020603050405020304" pitchFamily="18" charset="0"/>
                    <a:cs typeface="Times New Roman" panose="02020603050405020304" pitchFamily="18" charset="0"/>
                  </a:rPr>
                  <a:t>y</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 </a:t>
                </a:r>
                <a:r>
                  <a:rPr lang="zh-CN" altLang="en-US" sz="2000" dirty="0">
                    <a:solidFill>
                      <a:srgbClr val="FF0000"/>
                    </a:solidFill>
                  </a:rPr>
                  <a:t>计算</a:t>
                </a:r>
                <a14:m>
                  <m:oMath xmlns:m="http://schemas.openxmlformats.org/officeDocument/2006/math">
                    <m:r>
                      <a:rPr lang="en-US" altLang="zh-CN" sz="2000">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𝐻</m:t>
                    </m:r>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𝐵</m:t>
                    </m:r>
                    <m:r>
                      <a:rPr lang="en-US" altLang="zh-CN" sz="2000" i="1">
                        <a:solidFill>
                          <a:srgbClr val="FF0000"/>
                        </a:solidFill>
                        <a:latin typeface="Cambria Math" panose="02040503050406030204" pitchFamily="18" charset="0"/>
                      </a:rPr>
                      <m:t>)</m:t>
                    </m:r>
                  </m:oMath>
                </a14:m>
                <a:endParaRPr lang="en-US" altLang="zh-CN" sz="2000" dirty="0"/>
              </a:p>
            </p:txBody>
          </p:sp>
        </mc:Choice>
        <mc:Fallback xmlns="">
          <p:sp>
            <p:nvSpPr>
              <p:cNvPr id="28" name="文本框 27"/>
              <p:cNvSpPr txBox="1">
                <a:spLocks noRot="1" noChangeAspect="1" noMove="1" noResize="1" noEditPoints="1" noAdjustHandles="1" noChangeArrowheads="1" noChangeShapeType="1" noTextEdit="1"/>
              </p:cNvSpPr>
              <p:nvPr/>
            </p:nvSpPr>
            <p:spPr>
              <a:xfrm>
                <a:off x="423318" y="1607956"/>
                <a:ext cx="5686286" cy="707886"/>
              </a:xfrm>
              <a:prstGeom prst="rect">
                <a:avLst/>
              </a:prstGeom>
              <a:blipFill>
                <a:blip r:embed="rId6"/>
                <a:stretch>
                  <a:fillRect l="-1072" t="-5172" b="-14655"/>
                </a:stretch>
              </a:blipFill>
            </p:spPr>
            <p:txBody>
              <a:bodyPr/>
              <a:lstStyle/>
              <a:p>
                <a:r>
                  <a:rPr lang="zh-CN" altLang="en-US">
                    <a:noFill/>
                  </a:rPr>
                  <a:t> </a:t>
                </a:r>
              </a:p>
            </p:txBody>
          </p:sp>
        </mc:Fallback>
      </mc:AlternateContent>
      <p:pic>
        <p:nvPicPr>
          <p:cNvPr id="29" name="图片 28"/>
          <p:cNvPicPr>
            <a:picLocks noChangeAspect="1"/>
          </p:cNvPicPr>
          <p:nvPr/>
        </p:nvPicPr>
        <p:blipFill>
          <a:blip r:embed="rId7"/>
          <a:stretch>
            <a:fillRect/>
          </a:stretch>
        </p:blipFill>
        <p:spPr>
          <a:xfrm>
            <a:off x="251850" y="2369649"/>
            <a:ext cx="5825345" cy="4205539"/>
          </a:xfrm>
          <a:prstGeom prst="rect">
            <a:avLst/>
          </a:prstGeom>
        </p:spPr>
      </p:pic>
      <p:sp>
        <p:nvSpPr>
          <p:cNvPr id="33" name="标题 1">
            <a:extLst>
              <a:ext uri="{FF2B5EF4-FFF2-40B4-BE49-F238E27FC236}">
                <a16:creationId xmlns:a16="http://schemas.microsoft.com/office/drawing/2014/main" id="{5F14AAC9-ACB0-49FC-A6EE-6BDA13EC5753}"/>
              </a:ext>
            </a:extLst>
          </p:cNvPr>
          <p:cNvSpPr>
            <a:spLocks noGrp="1"/>
          </p:cNvSpPr>
          <p:nvPr>
            <p:ph type="title"/>
          </p:nvPr>
        </p:nvSpPr>
        <p:spPr>
          <a:xfrm>
            <a:off x="1598735" y="120289"/>
            <a:ext cx="8655953" cy="601075"/>
          </a:xfrm>
        </p:spPr>
        <p:txBody>
          <a:bodyPr>
            <a:noAutofit/>
          </a:bodyPr>
          <a:lstStyle/>
          <a:p>
            <a:r>
              <a:rPr lang="zh-CN" altLang="en-US" sz="4400" dirty="0"/>
              <a:t>实验内容</a:t>
            </a:r>
          </a:p>
        </p:txBody>
      </p:sp>
      <p:sp>
        <p:nvSpPr>
          <p:cNvPr id="34" name="圆角矩形 33"/>
          <p:cNvSpPr/>
          <p:nvPr/>
        </p:nvSpPr>
        <p:spPr>
          <a:xfrm rot="10800000" flipV="1">
            <a:off x="648780" y="83982"/>
            <a:ext cx="748020"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4</a:t>
            </a:r>
            <a:endParaRPr lang="zh-CN" altLang="en-US" sz="4400" b="1" dirty="0">
              <a:solidFill>
                <a:schemeClr val="tx1"/>
              </a:solidFill>
            </a:endParaRPr>
          </a:p>
        </p:txBody>
      </p: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D6EC619D-A5E9-00C6-9A21-1D7C2B821DBF}"/>
                  </a:ext>
                </a:extLst>
              </p:cNvPr>
              <p:cNvSpPr/>
              <p:nvPr/>
            </p:nvSpPr>
            <p:spPr>
              <a:xfrm>
                <a:off x="6472762" y="5247690"/>
                <a:ext cx="4915674" cy="1370632"/>
              </a:xfrm>
              <a:prstGeom prst="rect">
                <a:avLst/>
              </a:prstGeom>
              <a:solidFill>
                <a:schemeClr val="accent6">
                  <a:lumMod val="40000"/>
                  <a:lumOff val="60000"/>
                </a:schemeClr>
              </a:solidFill>
            </p:spPr>
            <p:txBody>
              <a:bodyPr wrap="square">
                <a:spAutoFit/>
              </a:bodyPr>
              <a:lstStyle/>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400" i="1" smtClean="0">
                        <a:latin typeface="Cambria Math" panose="02040503050406030204" pitchFamily="18" charset="0"/>
                      </a:rPr>
                      <m:t>𝐻</m:t>
                    </m:r>
                    <m:r>
                      <a:rPr lang="en-US" altLang="zh-CN" sz="2400" i="1" smtClean="0">
                        <a:latin typeface="Cambria Math" panose="02040503050406030204" pitchFamily="18" charset="0"/>
                      </a:rPr>
                      <m:t>=</m:t>
                    </m:r>
                    <m:f>
                      <m:fPr>
                        <m:ctrlPr>
                          <a:rPr lang="en-US" altLang="zh-CN" sz="2400" i="1">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1</m:t>
                            </m:r>
                          </m:sub>
                        </m:sSub>
                      </m:num>
                      <m:den>
                        <m:r>
                          <a:rPr lang="en-US" altLang="zh-CN" sz="2400" i="1">
                            <a:latin typeface="Cambria Math" panose="02040503050406030204" pitchFamily="18" charset="0"/>
                          </a:rPr>
                          <m:t>𝐿</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1</m:t>
                            </m:r>
                          </m:sub>
                        </m:sSub>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𝑥</m:t>
                        </m:r>
                      </m:sub>
                    </m:sSub>
                    <m:r>
                      <a:rPr lang="en-US" altLang="zh-CN" sz="2400" b="0" i="1" smtClean="0">
                        <a:latin typeface="Cambria Math" panose="02040503050406030204" pitchFamily="18" charset="0"/>
                      </a:rPr>
                      <m:t>      </m:t>
                    </m:r>
                    <m:r>
                      <a:rPr lang="en-US" altLang="zh-CN" sz="2400" i="1">
                        <a:latin typeface="Cambria Math" panose="02040503050406030204" pitchFamily="18" charset="0"/>
                      </a:rPr>
                      <m:t>𝐵</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𝐶</m:t>
                        </m:r>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𝑆</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𝑦</m:t>
                        </m:r>
                      </m:sub>
                    </m:sSub>
                  </m:oMath>
                </a14:m>
                <a:endParaRPr lang="en-US" altLang="zh-CN" sz="2400" dirty="0"/>
              </a:p>
              <a:p>
                <a:pPr marL="342900" indent="-342900">
                  <a:spcBef>
                    <a:spcPts val="600"/>
                  </a:spcBef>
                  <a:spcAft>
                    <a:spcPts val="600"/>
                  </a:spcAft>
                  <a:buFont typeface="Arial" panose="020B0604020202020204" pitchFamily="34" charset="0"/>
                  <a:buChar char="•"/>
                </a:pPr>
                <a:r>
                  <a:rPr lang="zh-CN" altLang="en-US" dirty="0"/>
                  <a:t>样品</a:t>
                </a:r>
                <a:r>
                  <a:rPr lang="en-US" altLang="zh-CN" dirty="0"/>
                  <a:t>1 </a:t>
                </a:r>
                <a:r>
                  <a:rPr lang="zh-CN" altLang="en-US" dirty="0"/>
                  <a:t>铁芯参数</a:t>
                </a:r>
                <a:r>
                  <a:rPr lang="en-US" altLang="zh-CN" dirty="0">
                    <a:latin typeface="Times New Roman" panose="02020603050405020304" pitchFamily="18" charset="0"/>
                    <a:cs typeface="Times New Roman" panose="02020603050405020304" pitchFamily="18" charset="0"/>
                  </a:rPr>
                  <a:t>N1=N2=N3=150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L = 0.130 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 = 1.24 × 10</a:t>
                </a:r>
                <a:r>
                  <a:rPr lang="en-US" altLang="zh-CN" baseline="30000" dirty="0">
                    <a:latin typeface="Times New Roman" panose="02020603050405020304" pitchFamily="18" charset="0"/>
                    <a:cs typeface="Times New Roman" panose="02020603050405020304" pitchFamily="18" charset="0"/>
                  </a:rPr>
                  <a:t>-4</a:t>
                </a:r>
                <a:r>
                  <a:rPr lang="en-US" altLang="zh-CN" dirty="0">
                    <a:latin typeface="Times New Roman" panose="02020603050405020304" pitchFamily="18" charset="0"/>
                    <a:cs typeface="Times New Roman" panose="02020603050405020304" pitchFamily="18" charset="0"/>
                  </a:rPr>
                  <a:t>m</a:t>
                </a:r>
                <a:r>
                  <a:rPr lang="en-US" altLang="zh-CN" baseline="30000" dirty="0">
                    <a:latin typeface="Times New Roman" panose="02020603050405020304" pitchFamily="18" charset="0"/>
                    <a:cs typeface="Times New Roman" panose="02020603050405020304" pitchFamily="18" charset="0"/>
                  </a:rPr>
                  <a:t>2</a:t>
                </a:r>
              </a:p>
            </p:txBody>
          </p:sp>
        </mc:Choice>
        <mc:Fallback xmlns="">
          <p:sp>
            <p:nvSpPr>
              <p:cNvPr id="35" name="矩形 34">
                <a:extLst>
                  <a:ext uri="{FF2B5EF4-FFF2-40B4-BE49-F238E27FC236}">
                    <a16:creationId xmlns:a16="http://schemas.microsoft.com/office/drawing/2014/main" id="{D6EC619D-A5E9-00C6-9A21-1D7C2B821DBF}"/>
                  </a:ext>
                </a:extLst>
              </p:cNvPr>
              <p:cNvSpPr>
                <a:spLocks noRot="1" noChangeAspect="1" noMove="1" noResize="1" noEditPoints="1" noAdjustHandles="1" noChangeArrowheads="1" noChangeShapeType="1" noTextEdit="1"/>
              </p:cNvSpPr>
              <p:nvPr/>
            </p:nvSpPr>
            <p:spPr>
              <a:xfrm>
                <a:off x="6472762" y="5247690"/>
                <a:ext cx="4915674" cy="1370632"/>
              </a:xfrm>
              <a:prstGeom prst="rect">
                <a:avLst/>
              </a:prstGeom>
              <a:blipFill>
                <a:blip r:embed="rId8"/>
                <a:stretch>
                  <a:fillRect l="-868" b="-6222"/>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28E3A989-716A-C876-A03A-00F550B84387}"/>
              </a:ext>
            </a:extLst>
          </p:cNvPr>
          <p:cNvGrpSpPr/>
          <p:nvPr/>
        </p:nvGrpSpPr>
        <p:grpSpPr>
          <a:xfrm>
            <a:off x="6852973" y="1087113"/>
            <a:ext cx="3952153" cy="3794827"/>
            <a:chOff x="6737226" y="1211729"/>
            <a:chExt cx="3952153" cy="3794827"/>
          </a:xfrm>
        </p:grpSpPr>
        <p:grpSp>
          <p:nvGrpSpPr>
            <p:cNvPr id="36" name="组合 35">
              <a:extLst>
                <a:ext uri="{FF2B5EF4-FFF2-40B4-BE49-F238E27FC236}">
                  <a16:creationId xmlns:a16="http://schemas.microsoft.com/office/drawing/2014/main" id="{2836923C-B933-DBFF-2370-FA75586D6AB7}"/>
                </a:ext>
              </a:extLst>
            </p:cNvPr>
            <p:cNvGrpSpPr/>
            <p:nvPr/>
          </p:nvGrpSpPr>
          <p:grpSpPr>
            <a:xfrm>
              <a:off x="6737226" y="1211729"/>
              <a:ext cx="3952153" cy="3794827"/>
              <a:chOff x="6088735" y="2175663"/>
              <a:chExt cx="3952153" cy="3794827"/>
            </a:xfrm>
          </p:grpSpPr>
          <p:pic>
            <p:nvPicPr>
              <p:cNvPr id="37" name="图片 36">
                <a:extLst>
                  <a:ext uri="{FF2B5EF4-FFF2-40B4-BE49-F238E27FC236}">
                    <a16:creationId xmlns:a16="http://schemas.microsoft.com/office/drawing/2014/main" id="{3DA4C199-9C83-9763-60B9-47D0FBCD8986}"/>
                  </a:ext>
                </a:extLst>
              </p:cNvPr>
              <p:cNvPicPr>
                <a:picLocks noChangeAspect="1"/>
              </p:cNvPicPr>
              <p:nvPr/>
            </p:nvPicPr>
            <p:blipFill rotWithShape="1">
              <a:blip r:embed="rId9" cstate="hqprint">
                <a:extLst>
                  <a:ext uri="{28A0092B-C50C-407E-A947-70E740481C1C}">
                    <a14:useLocalDpi xmlns:a14="http://schemas.microsoft.com/office/drawing/2010/main" val="0"/>
                  </a:ext>
                </a:extLst>
              </a:blip>
              <a:srcRect l="43146" t="10212" b="17000"/>
              <a:stretch/>
            </p:blipFill>
            <p:spPr>
              <a:xfrm rot="21444923">
                <a:off x="6088735" y="2175663"/>
                <a:ext cx="3952153" cy="3794827"/>
              </a:xfrm>
              <a:prstGeom prst="rect">
                <a:avLst/>
              </a:prstGeom>
            </p:spPr>
          </p:pic>
          <p:grpSp>
            <p:nvGrpSpPr>
              <p:cNvPr id="38" name="组合 37">
                <a:extLst>
                  <a:ext uri="{FF2B5EF4-FFF2-40B4-BE49-F238E27FC236}">
                    <a16:creationId xmlns:a16="http://schemas.microsoft.com/office/drawing/2014/main" id="{0DD723D0-A15C-3638-888F-3D0D521D9675}"/>
                  </a:ext>
                </a:extLst>
              </p:cNvPr>
              <p:cNvGrpSpPr/>
              <p:nvPr/>
            </p:nvGrpSpPr>
            <p:grpSpPr>
              <a:xfrm>
                <a:off x="7241989" y="3612080"/>
                <a:ext cx="849694" cy="460996"/>
                <a:chOff x="2390140" y="1730632"/>
                <a:chExt cx="579866" cy="369332"/>
              </a:xfrm>
            </p:grpSpPr>
            <p:cxnSp>
              <p:nvCxnSpPr>
                <p:cNvPr id="44" name="直接箭头连接符 43">
                  <a:extLst>
                    <a:ext uri="{FF2B5EF4-FFF2-40B4-BE49-F238E27FC236}">
                      <a16:creationId xmlns:a16="http://schemas.microsoft.com/office/drawing/2014/main" id="{6F13CFAD-4BCE-4211-C7C4-0CFECA9DF412}"/>
                    </a:ext>
                  </a:extLst>
                </p:cNvPr>
                <p:cNvCxnSpPr/>
                <p:nvPr/>
              </p:nvCxnSpPr>
              <p:spPr>
                <a:xfrm flipH="1" flipV="1">
                  <a:off x="2390140" y="1985253"/>
                  <a:ext cx="222431" cy="745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C37B3C3C-B899-4327-9554-4E27109FB517}"/>
                    </a:ext>
                  </a:extLst>
                </p:cNvPr>
                <p:cNvSpPr txBox="1"/>
                <p:nvPr/>
              </p:nvSpPr>
              <p:spPr>
                <a:xfrm>
                  <a:off x="2520140" y="1730632"/>
                  <a:ext cx="431528" cy="369332"/>
                </a:xfrm>
                <a:prstGeom prst="rect">
                  <a:avLst/>
                </a:prstGeom>
                <a:noFill/>
              </p:spPr>
              <p:txBody>
                <a:bodyPr wrap="none" rtlCol="0">
                  <a:spAutoFit/>
                </a:bodyPr>
                <a:lstStyle/>
                <a:p>
                  <a:r>
                    <a:rPr lang="en-US" altLang="zh-CN" dirty="0" err="1">
                      <a:solidFill>
                        <a:srgbClr val="FF0000"/>
                      </a:solidFill>
                    </a:rPr>
                    <a:t>Ux</a:t>
                  </a:r>
                  <a:endParaRPr lang="zh-CN" altLang="en-US" dirty="0">
                    <a:solidFill>
                      <a:srgbClr val="FF0000"/>
                    </a:solidFill>
                  </a:endParaRPr>
                </a:p>
              </p:txBody>
            </p:sp>
            <p:cxnSp>
              <p:nvCxnSpPr>
                <p:cNvPr id="46" name="直接箭头连接符 45">
                  <a:extLst>
                    <a:ext uri="{FF2B5EF4-FFF2-40B4-BE49-F238E27FC236}">
                      <a16:creationId xmlns:a16="http://schemas.microsoft.com/office/drawing/2014/main" id="{277C76C2-8266-DE83-B807-639B105B7607}"/>
                    </a:ext>
                  </a:extLst>
                </p:cNvPr>
                <p:cNvCxnSpPr/>
                <p:nvPr/>
              </p:nvCxnSpPr>
              <p:spPr>
                <a:xfrm>
                  <a:off x="2715746" y="1980569"/>
                  <a:ext cx="254260" cy="745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组合 38">
                <a:extLst>
                  <a:ext uri="{FF2B5EF4-FFF2-40B4-BE49-F238E27FC236}">
                    <a16:creationId xmlns:a16="http://schemas.microsoft.com/office/drawing/2014/main" id="{6B287791-D390-88D3-B0CA-A73F5C252A03}"/>
                  </a:ext>
                </a:extLst>
              </p:cNvPr>
              <p:cNvGrpSpPr/>
              <p:nvPr/>
            </p:nvGrpSpPr>
            <p:grpSpPr>
              <a:xfrm>
                <a:off x="8255305" y="3127891"/>
                <a:ext cx="374281" cy="933704"/>
                <a:chOff x="7399724" y="2184857"/>
                <a:chExt cx="464612" cy="737864"/>
              </a:xfrm>
            </p:grpSpPr>
            <p:sp>
              <p:nvSpPr>
                <p:cNvPr id="41" name="文本框 40">
                  <a:extLst>
                    <a:ext uri="{FF2B5EF4-FFF2-40B4-BE49-F238E27FC236}">
                      <a16:creationId xmlns:a16="http://schemas.microsoft.com/office/drawing/2014/main" id="{88A55638-C248-F9E0-516F-9D0678E6ADF3}"/>
                    </a:ext>
                  </a:extLst>
                </p:cNvPr>
                <p:cNvSpPr txBox="1"/>
                <p:nvPr/>
              </p:nvSpPr>
              <p:spPr>
                <a:xfrm>
                  <a:off x="7427998" y="2341308"/>
                  <a:ext cx="436338" cy="369332"/>
                </a:xfrm>
                <a:prstGeom prst="rect">
                  <a:avLst/>
                </a:prstGeom>
                <a:noFill/>
              </p:spPr>
              <p:txBody>
                <a:bodyPr wrap="none" rtlCol="0">
                  <a:spAutoFit/>
                </a:bodyPr>
                <a:lstStyle/>
                <a:p>
                  <a:r>
                    <a:rPr lang="en-US" altLang="zh-CN" dirty="0" err="1">
                      <a:solidFill>
                        <a:srgbClr val="FF0000"/>
                      </a:solidFill>
                    </a:rPr>
                    <a:t>Uy</a:t>
                  </a:r>
                  <a:endParaRPr lang="zh-CN" altLang="en-US" dirty="0">
                    <a:solidFill>
                      <a:srgbClr val="FF0000"/>
                    </a:solidFill>
                  </a:endParaRPr>
                </a:p>
              </p:txBody>
            </p:sp>
            <p:cxnSp>
              <p:nvCxnSpPr>
                <p:cNvPr id="42" name="直接箭头连接符 41">
                  <a:extLst>
                    <a:ext uri="{FF2B5EF4-FFF2-40B4-BE49-F238E27FC236}">
                      <a16:creationId xmlns:a16="http://schemas.microsoft.com/office/drawing/2014/main" id="{2DB80D3C-3C43-D245-77FC-7A2A18100EC9}"/>
                    </a:ext>
                  </a:extLst>
                </p:cNvPr>
                <p:cNvCxnSpPr/>
                <p:nvPr/>
              </p:nvCxnSpPr>
              <p:spPr>
                <a:xfrm flipV="1">
                  <a:off x="7399724" y="2184857"/>
                  <a:ext cx="5030" cy="33609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DC478DA2-0CA4-CB74-C3AF-CE470D4F590E}"/>
                    </a:ext>
                  </a:extLst>
                </p:cNvPr>
                <p:cNvCxnSpPr/>
                <p:nvPr/>
              </p:nvCxnSpPr>
              <p:spPr>
                <a:xfrm>
                  <a:off x="7399724" y="2586622"/>
                  <a:ext cx="5030" cy="33609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椭圆 39">
                <a:extLst>
                  <a:ext uri="{FF2B5EF4-FFF2-40B4-BE49-F238E27FC236}">
                    <a16:creationId xmlns:a16="http://schemas.microsoft.com/office/drawing/2014/main" id="{5938879E-4D69-728F-01E8-959745417F4E}"/>
                  </a:ext>
                </a:extLst>
              </p:cNvPr>
              <p:cNvSpPr/>
              <p:nvPr/>
            </p:nvSpPr>
            <p:spPr>
              <a:xfrm>
                <a:off x="8104883" y="3081818"/>
                <a:ext cx="72000" cy="72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圆角矩形 33">
              <a:extLst>
                <a:ext uri="{FF2B5EF4-FFF2-40B4-BE49-F238E27FC236}">
                  <a16:creationId xmlns:a16="http://schemas.microsoft.com/office/drawing/2014/main" id="{1ABE60FB-A917-DCDF-9144-4A0CF8250445}"/>
                </a:ext>
              </a:extLst>
            </p:cNvPr>
            <p:cNvSpPr/>
            <p:nvPr/>
          </p:nvSpPr>
          <p:spPr>
            <a:xfrm>
              <a:off x="9655272" y="1361960"/>
              <a:ext cx="791121" cy="91874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3792725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295115" y="3155722"/>
            <a:ext cx="10896885" cy="3102510"/>
          </a:xfrm>
          <a:prstGeom prst="rect">
            <a:avLst/>
          </a:prstGeom>
        </p:spPr>
      </p:pic>
      <p:sp>
        <p:nvSpPr>
          <p:cNvPr id="3" name="灯片编号占位符 2"/>
          <p:cNvSpPr>
            <a:spLocks noGrp="1"/>
          </p:cNvSpPr>
          <p:nvPr>
            <p:ph type="sldNum" sz="quarter" idx="12"/>
          </p:nvPr>
        </p:nvSpPr>
        <p:spPr/>
        <p:txBody>
          <a:bodyPr/>
          <a:lstStyle/>
          <a:p>
            <a:fld id="{1AAC388E-FA9E-4A2C-95EA-1F6B3A07935A}" type="slidenum">
              <a:rPr lang="zh-CN" altLang="en-US" smtClean="0"/>
              <a:pPr/>
              <a:t>20</a:t>
            </a:fld>
            <a:endParaRPr lang="zh-CN" altLang="en-US" dirty="0"/>
          </a:p>
        </p:txBody>
      </p:sp>
      <p:sp>
        <p:nvSpPr>
          <p:cNvPr id="20" name="标题 1">
            <a:extLst>
              <a:ext uri="{FF2B5EF4-FFF2-40B4-BE49-F238E27FC236}">
                <a16:creationId xmlns:a16="http://schemas.microsoft.com/office/drawing/2014/main" id="{5F14AAC9-ACB0-49FC-A6EE-6BDA13EC5753}"/>
              </a:ext>
            </a:extLst>
          </p:cNvPr>
          <p:cNvSpPr txBox="1">
            <a:spLocks/>
          </p:cNvSpPr>
          <p:nvPr/>
        </p:nvSpPr>
        <p:spPr>
          <a:xfrm>
            <a:off x="872633" y="110132"/>
            <a:ext cx="8982567" cy="60107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1575" b="1" kern="1200">
                <a:solidFill>
                  <a:schemeClr val="tx1"/>
                </a:solidFill>
                <a:latin typeface="方正粗雅宋简体" panose="02000000000000000000" pitchFamily="2" charset="-122"/>
                <a:ea typeface="方正粗雅宋简体" panose="02000000000000000000" pitchFamily="2" charset="-122"/>
                <a:cs typeface="+mj-cs"/>
              </a:defRPr>
            </a:lvl1pPr>
          </a:lstStyle>
          <a:p>
            <a:r>
              <a:rPr lang="zh-CN" altLang="en-US" sz="4400" dirty="0"/>
              <a:t>数据处理示范：</a:t>
            </a:r>
            <a:r>
              <a:rPr lang="en-US" altLang="zh-CN" sz="4400" dirty="0">
                <a:latin typeface="Times New Roman" panose="02020603050405020304" pitchFamily="18" charset="0"/>
                <a:cs typeface="Times New Roman" panose="02020603050405020304" pitchFamily="18" charset="0"/>
              </a:rPr>
              <a:t>Origin</a:t>
            </a:r>
            <a:r>
              <a:rPr lang="zh-CN" altLang="en-US" sz="4400" dirty="0"/>
              <a:t>软件教程</a:t>
            </a:r>
          </a:p>
        </p:txBody>
      </p:sp>
      <p:pic>
        <p:nvPicPr>
          <p:cNvPr id="23" name="图片 22"/>
          <p:cNvPicPr>
            <a:picLocks noChangeAspect="1"/>
          </p:cNvPicPr>
          <p:nvPr/>
        </p:nvPicPr>
        <p:blipFill>
          <a:blip r:embed="rId3"/>
          <a:stretch>
            <a:fillRect/>
          </a:stretch>
        </p:blipFill>
        <p:spPr>
          <a:xfrm>
            <a:off x="277463" y="1399417"/>
            <a:ext cx="5543110" cy="3102406"/>
          </a:xfrm>
          <a:prstGeom prst="rect">
            <a:avLst/>
          </a:prstGeom>
        </p:spPr>
      </p:pic>
      <p:sp>
        <p:nvSpPr>
          <p:cNvPr id="24" name="文本框 23"/>
          <p:cNvSpPr txBox="1"/>
          <p:nvPr/>
        </p:nvSpPr>
        <p:spPr>
          <a:xfrm>
            <a:off x="277463" y="844749"/>
            <a:ext cx="7202613" cy="584775"/>
          </a:xfrm>
          <a:prstGeom prst="rect">
            <a:avLst/>
          </a:prstGeom>
          <a:noFill/>
        </p:spPr>
        <p:txBody>
          <a:bodyPr wrap="none" rtlCol="0">
            <a:spAutoFit/>
          </a:bodyPr>
          <a:lstStyle/>
          <a:p>
            <a:r>
              <a:rPr lang="zh-CN" altLang="en-US" sz="3200" dirty="0"/>
              <a:t>磁化曲线</a:t>
            </a:r>
            <a:r>
              <a:rPr lang="en-US" altLang="zh-CN" sz="3200" dirty="0"/>
              <a:t>Origin</a:t>
            </a:r>
            <a:r>
              <a:rPr lang="zh-CN" altLang="en-US" sz="3200" dirty="0"/>
              <a:t>软件绘图示例：</a:t>
            </a:r>
            <a:r>
              <a:rPr lang="en-US" altLang="zh-CN" sz="3200" dirty="0"/>
              <a:t>double-Y</a:t>
            </a:r>
            <a:endParaRPr lang="zh-CN" altLang="en-US" sz="3200" dirty="0"/>
          </a:p>
        </p:txBody>
      </p:sp>
      <p:sp>
        <p:nvSpPr>
          <p:cNvPr id="5" name="椭圆 4"/>
          <p:cNvSpPr/>
          <p:nvPr/>
        </p:nvSpPr>
        <p:spPr>
          <a:xfrm>
            <a:off x="5942715" y="3657599"/>
            <a:ext cx="622208" cy="3985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0252899" y="4507684"/>
            <a:ext cx="782423" cy="3985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946400" y="1408954"/>
            <a:ext cx="2336800" cy="65602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019532" y="1408954"/>
            <a:ext cx="3262432" cy="830997"/>
          </a:xfrm>
          <a:prstGeom prst="rect">
            <a:avLst/>
          </a:prstGeom>
          <a:noFill/>
        </p:spPr>
        <p:txBody>
          <a:bodyPr wrap="none" rtlCol="0">
            <a:spAutoFit/>
          </a:bodyPr>
          <a:lstStyle/>
          <a:p>
            <a:r>
              <a:rPr lang="zh-CN" altLang="en-US" sz="2400" b="1" dirty="0">
                <a:solidFill>
                  <a:srgbClr val="FF0000"/>
                </a:solidFill>
              </a:rPr>
              <a:t>设置为</a:t>
            </a:r>
            <a:r>
              <a:rPr lang="en-US" altLang="zh-CN" sz="2400" b="1" dirty="0">
                <a:solidFill>
                  <a:srgbClr val="FF0000"/>
                </a:solidFill>
              </a:rPr>
              <a:t>X\Y\Y</a:t>
            </a:r>
          </a:p>
          <a:p>
            <a:r>
              <a:rPr lang="zh-CN" altLang="en-US" sz="2400" b="1" dirty="0">
                <a:solidFill>
                  <a:srgbClr val="FF0000"/>
                </a:solidFill>
              </a:rPr>
              <a:t>选中该三列数据后右键</a:t>
            </a:r>
          </a:p>
        </p:txBody>
      </p:sp>
      <p:cxnSp>
        <p:nvCxnSpPr>
          <p:cNvPr id="8" name="直接箭头连接符 7"/>
          <p:cNvCxnSpPr/>
          <p:nvPr/>
        </p:nvCxnSpPr>
        <p:spPr>
          <a:xfrm>
            <a:off x="5516247" y="1736968"/>
            <a:ext cx="426468"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2891692" y="2336800"/>
            <a:ext cx="2391508" cy="14849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684217" y="2226380"/>
            <a:ext cx="1107996" cy="369332"/>
          </a:xfrm>
          <a:prstGeom prst="rect">
            <a:avLst/>
          </a:prstGeom>
        </p:spPr>
        <p:txBody>
          <a:bodyPr wrap="none">
            <a:spAutoFit/>
          </a:bodyPr>
          <a:lstStyle/>
          <a:p>
            <a:r>
              <a:rPr lang="zh-CN" altLang="en-US" b="1" dirty="0">
                <a:solidFill>
                  <a:srgbClr val="FF0000"/>
                </a:solidFill>
              </a:rPr>
              <a:t>编辑公式</a:t>
            </a:r>
            <a:endParaRPr lang="zh-CN" altLang="en-US" dirty="0"/>
          </a:p>
        </p:txBody>
      </p:sp>
    </p:spTree>
    <p:extLst>
      <p:ext uri="{BB962C8B-B14F-4D97-AF65-F5344CB8AC3E}">
        <p14:creationId xmlns:p14="http://schemas.microsoft.com/office/powerpoint/2010/main" val="137600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p:nvSpPr>
        <p:spPr>
          <a:xfrm>
            <a:off x="6647178" y="1235764"/>
            <a:ext cx="5046574" cy="1815882"/>
          </a:xfrm>
          <a:prstGeom prst="rect">
            <a:avLst/>
          </a:prstGeom>
          <a:noFill/>
        </p:spPr>
        <p:txBody>
          <a:bodyPr wrap="none" rtlCol="0">
            <a:spAutoFit/>
          </a:bodyPr>
          <a:lstStyle/>
          <a:p>
            <a:r>
              <a:rPr lang="zh-CN" altLang="en-US" sz="2800" dirty="0"/>
              <a:t>作图规范：</a:t>
            </a:r>
            <a:endParaRPr lang="en-US" altLang="zh-CN" sz="2800" dirty="0"/>
          </a:p>
          <a:p>
            <a:pPr marL="457200" indent="-457200">
              <a:buFont typeface="Arial" panose="020B0604020202020204" pitchFamily="34" charset="0"/>
              <a:buChar char="•"/>
            </a:pPr>
            <a:r>
              <a:rPr lang="zh-CN" altLang="en-US" sz="2800" i="1" dirty="0"/>
              <a:t>物理量</a:t>
            </a:r>
            <a:r>
              <a:rPr lang="zh-CN" altLang="en-US" sz="2800" dirty="0"/>
              <a:t>（单位）</a:t>
            </a:r>
            <a:endParaRPr lang="en-US" altLang="zh-CN" sz="2800" dirty="0"/>
          </a:p>
          <a:p>
            <a:pPr marL="457200" indent="-457200">
              <a:buFont typeface="Arial" panose="020B0604020202020204" pitchFamily="34" charset="0"/>
              <a:buChar char="•"/>
            </a:pPr>
            <a:r>
              <a:rPr lang="zh-CN" altLang="en-US" sz="2800" dirty="0"/>
              <a:t>坐标轴：粗细、间隔、数值</a:t>
            </a:r>
            <a:endParaRPr lang="en-US" altLang="zh-CN" sz="2800" dirty="0"/>
          </a:p>
          <a:p>
            <a:pPr marL="457200" indent="-457200">
              <a:buFont typeface="Arial" panose="020B0604020202020204" pitchFamily="34" charset="0"/>
              <a:buChar char="•"/>
            </a:pPr>
            <a:r>
              <a:rPr lang="zh-CN" altLang="en-US" sz="2800" dirty="0"/>
              <a:t>图号</a:t>
            </a:r>
            <a:r>
              <a:rPr lang="en-US" altLang="zh-CN" sz="2800" dirty="0"/>
              <a:t>.</a:t>
            </a:r>
            <a:r>
              <a:rPr lang="zh-CN" altLang="en-US" sz="2800" dirty="0"/>
              <a:t>图表名称</a:t>
            </a:r>
          </a:p>
        </p:txBody>
      </p:sp>
      <p:pic>
        <p:nvPicPr>
          <p:cNvPr id="33" name="图片 32"/>
          <p:cNvPicPr>
            <a:picLocks noChangeAspect="1"/>
          </p:cNvPicPr>
          <p:nvPr/>
        </p:nvPicPr>
        <p:blipFill>
          <a:blip r:embed="rId2"/>
          <a:stretch>
            <a:fillRect/>
          </a:stretch>
        </p:blipFill>
        <p:spPr>
          <a:xfrm>
            <a:off x="6574692" y="3371959"/>
            <a:ext cx="4942244" cy="2960992"/>
          </a:xfrm>
          <a:prstGeom prst="rect">
            <a:avLst/>
          </a:prstGeom>
        </p:spPr>
      </p:pic>
      <p:sp>
        <p:nvSpPr>
          <p:cNvPr id="3" name="灯片编号占位符 2"/>
          <p:cNvSpPr>
            <a:spLocks noGrp="1"/>
          </p:cNvSpPr>
          <p:nvPr>
            <p:ph type="sldNum" sz="quarter" idx="12"/>
          </p:nvPr>
        </p:nvSpPr>
        <p:spPr/>
        <p:txBody>
          <a:bodyPr/>
          <a:lstStyle/>
          <a:p>
            <a:fld id="{1AAC388E-FA9E-4A2C-95EA-1F6B3A07935A}" type="slidenum">
              <a:rPr lang="zh-CN" altLang="en-US" smtClean="0"/>
              <a:pPr/>
              <a:t>21</a:t>
            </a:fld>
            <a:endParaRPr lang="zh-CN" altLang="en-US" dirty="0"/>
          </a:p>
        </p:txBody>
      </p:sp>
      <p:sp>
        <p:nvSpPr>
          <p:cNvPr id="14" name="矩形 13"/>
          <p:cNvSpPr/>
          <p:nvPr/>
        </p:nvSpPr>
        <p:spPr>
          <a:xfrm>
            <a:off x="1278452" y="5367837"/>
            <a:ext cx="2972289" cy="523220"/>
          </a:xfrm>
          <a:prstGeom prst="rect">
            <a:avLst/>
          </a:prstGeom>
        </p:spPr>
        <p:txBody>
          <a:bodyPr wrap="none">
            <a:spAutoFit/>
          </a:bodyPr>
          <a:lstStyle/>
          <a:p>
            <a:r>
              <a:rPr lang="zh-CN" altLang="en-US" sz="2800" dirty="0"/>
              <a:t>图</a:t>
            </a:r>
            <a:r>
              <a:rPr lang="en-US" altLang="zh-CN" sz="2800" dirty="0"/>
              <a:t>1.</a:t>
            </a:r>
            <a:r>
              <a:rPr lang="zh-CN" altLang="en-US" sz="2800" dirty="0"/>
              <a:t>磁化曲线图。</a:t>
            </a:r>
            <a:endParaRPr lang="en-US" altLang="zh-CN" sz="2800" dirty="0"/>
          </a:p>
        </p:txBody>
      </p:sp>
      <p:sp>
        <p:nvSpPr>
          <p:cNvPr id="20" name="标题 1">
            <a:extLst>
              <a:ext uri="{FF2B5EF4-FFF2-40B4-BE49-F238E27FC236}">
                <a16:creationId xmlns:a16="http://schemas.microsoft.com/office/drawing/2014/main" id="{5F14AAC9-ACB0-49FC-A6EE-6BDA13EC5753}"/>
              </a:ext>
            </a:extLst>
          </p:cNvPr>
          <p:cNvSpPr txBox="1">
            <a:spLocks/>
          </p:cNvSpPr>
          <p:nvPr/>
        </p:nvSpPr>
        <p:spPr>
          <a:xfrm>
            <a:off x="872633" y="110132"/>
            <a:ext cx="8655953" cy="60107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1575" b="1" kern="1200">
                <a:solidFill>
                  <a:schemeClr val="tx1"/>
                </a:solidFill>
                <a:latin typeface="方正粗雅宋简体" panose="02000000000000000000" pitchFamily="2" charset="-122"/>
                <a:ea typeface="方正粗雅宋简体" panose="02000000000000000000" pitchFamily="2" charset="-122"/>
                <a:cs typeface="+mj-cs"/>
              </a:defRPr>
            </a:lvl1pPr>
          </a:lstStyle>
          <a:p>
            <a:r>
              <a:rPr lang="zh-CN" altLang="en-US" sz="3200" dirty="0"/>
              <a:t>绘制双</a:t>
            </a:r>
            <a:r>
              <a:rPr lang="en-US" altLang="zh-CN" sz="3200" dirty="0"/>
              <a:t>Y</a:t>
            </a:r>
            <a:r>
              <a:rPr lang="zh-CN" altLang="en-US" sz="3200" dirty="0"/>
              <a:t>轴磁化曲线图</a:t>
            </a:r>
          </a:p>
        </p:txBody>
      </p:sp>
      <p:graphicFrame>
        <p:nvGraphicFramePr>
          <p:cNvPr id="21" name="对象 20"/>
          <p:cNvGraphicFramePr>
            <a:graphicFrameLocks noChangeAspect="1"/>
          </p:cNvGraphicFramePr>
          <p:nvPr>
            <p:extLst>
              <p:ext uri="{D42A27DB-BD31-4B8C-83A1-F6EECF244321}">
                <p14:modId xmlns:p14="http://schemas.microsoft.com/office/powerpoint/2010/main" val="899585151"/>
              </p:ext>
            </p:extLst>
          </p:nvPr>
        </p:nvGraphicFramePr>
        <p:xfrm>
          <a:off x="163558" y="888494"/>
          <a:ext cx="6228668" cy="4766555"/>
        </p:xfrm>
        <a:graphic>
          <a:graphicData uri="http://schemas.openxmlformats.org/presentationml/2006/ole">
            <mc:AlternateContent xmlns:mc="http://schemas.openxmlformats.org/markup-compatibility/2006">
              <mc:Choice xmlns:v="urn:schemas-microsoft-com:vml" Requires="v">
                <p:oleObj name="Graph" r:id="rId3" imgW="9802440" imgH="7502760" progId="Origin95.Graph">
                  <p:embed/>
                </p:oleObj>
              </mc:Choice>
              <mc:Fallback>
                <p:oleObj name="Graph" r:id="rId3" imgW="9802440" imgH="7502760" progId="Origin95.Graph">
                  <p:embed/>
                  <p:pic>
                    <p:nvPicPr>
                      <p:cNvPr id="0" name=""/>
                      <p:cNvPicPr/>
                      <p:nvPr/>
                    </p:nvPicPr>
                    <p:blipFill>
                      <a:blip r:embed="rId4"/>
                      <a:stretch>
                        <a:fillRect/>
                      </a:stretch>
                    </p:blipFill>
                    <p:spPr>
                      <a:xfrm>
                        <a:off x="163558" y="888494"/>
                        <a:ext cx="6228668" cy="4766555"/>
                      </a:xfrm>
                      <a:prstGeom prst="rect">
                        <a:avLst/>
                      </a:prstGeom>
                    </p:spPr>
                  </p:pic>
                </p:oleObj>
              </mc:Fallback>
            </mc:AlternateContent>
          </a:graphicData>
        </a:graphic>
      </p:graphicFrame>
      <p:sp>
        <p:nvSpPr>
          <p:cNvPr id="26" name="椭圆 25"/>
          <p:cNvSpPr/>
          <p:nvPr/>
        </p:nvSpPr>
        <p:spPr>
          <a:xfrm>
            <a:off x="6574692" y="3271771"/>
            <a:ext cx="3845434" cy="84063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7158891" y="1597338"/>
            <a:ext cx="1219201" cy="64445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箭头连接符 28"/>
          <p:cNvCxnSpPr/>
          <p:nvPr/>
        </p:nvCxnSpPr>
        <p:spPr>
          <a:xfrm flipH="1" flipV="1">
            <a:off x="4798646" y="4603262"/>
            <a:ext cx="595394" cy="5411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200609" y="5203734"/>
            <a:ext cx="2281573" cy="923330"/>
          </a:xfrm>
          <a:prstGeom prst="rect">
            <a:avLst/>
          </a:prstGeom>
          <a:noFill/>
        </p:spPr>
        <p:txBody>
          <a:bodyPr wrap="square" rtlCol="0">
            <a:spAutoFit/>
          </a:bodyPr>
          <a:lstStyle/>
          <a:p>
            <a:r>
              <a:rPr lang="zh-CN" altLang="en-US" b="1" dirty="0">
                <a:solidFill>
                  <a:srgbClr val="FF0000"/>
                </a:solidFill>
              </a:rPr>
              <a:t>双击数据点（坐标轴）可更改线的粗细等绘图参数</a:t>
            </a:r>
          </a:p>
        </p:txBody>
      </p:sp>
      <p:sp>
        <p:nvSpPr>
          <p:cNvPr id="34" name="文本框 33"/>
          <p:cNvSpPr txBox="1"/>
          <p:nvPr/>
        </p:nvSpPr>
        <p:spPr>
          <a:xfrm>
            <a:off x="8399483" y="1378182"/>
            <a:ext cx="646331" cy="369332"/>
          </a:xfrm>
          <a:prstGeom prst="rect">
            <a:avLst/>
          </a:prstGeom>
          <a:noFill/>
        </p:spPr>
        <p:txBody>
          <a:bodyPr wrap="none" rtlCol="0">
            <a:spAutoFit/>
          </a:bodyPr>
          <a:lstStyle/>
          <a:p>
            <a:r>
              <a:rPr lang="zh-CN" altLang="en-US" dirty="0">
                <a:solidFill>
                  <a:srgbClr val="FF0000"/>
                </a:solidFill>
              </a:rPr>
              <a:t>斜体</a:t>
            </a:r>
          </a:p>
        </p:txBody>
      </p:sp>
      <p:cxnSp>
        <p:nvCxnSpPr>
          <p:cNvPr id="36" name="直接箭头连接符 35"/>
          <p:cNvCxnSpPr/>
          <p:nvPr/>
        </p:nvCxnSpPr>
        <p:spPr>
          <a:xfrm flipH="1" flipV="1">
            <a:off x="5187576" y="4239567"/>
            <a:ext cx="283193" cy="76915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26624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a:stretch>
            <a:fillRect/>
          </a:stretch>
        </p:blipFill>
        <p:spPr>
          <a:xfrm>
            <a:off x="211923" y="1493181"/>
            <a:ext cx="5744237" cy="3970808"/>
          </a:xfrm>
          <a:prstGeom prst="rect">
            <a:avLst/>
          </a:prstGeom>
        </p:spPr>
      </p:pic>
      <p:sp>
        <p:nvSpPr>
          <p:cNvPr id="3" name="灯片编号占位符 2"/>
          <p:cNvSpPr>
            <a:spLocks noGrp="1"/>
          </p:cNvSpPr>
          <p:nvPr>
            <p:ph type="sldNum" sz="quarter" idx="12"/>
          </p:nvPr>
        </p:nvSpPr>
        <p:spPr/>
        <p:txBody>
          <a:bodyPr/>
          <a:lstStyle/>
          <a:p>
            <a:fld id="{1AAC388E-FA9E-4A2C-95EA-1F6B3A07935A}" type="slidenum">
              <a:rPr lang="zh-CN" altLang="en-US" smtClean="0"/>
              <a:pPr/>
              <a:t>22</a:t>
            </a:fld>
            <a:endParaRPr lang="zh-CN" altLang="en-US" dirty="0"/>
          </a:p>
        </p:txBody>
      </p:sp>
      <p:sp>
        <p:nvSpPr>
          <p:cNvPr id="20" name="标题 1">
            <a:extLst>
              <a:ext uri="{FF2B5EF4-FFF2-40B4-BE49-F238E27FC236}">
                <a16:creationId xmlns:a16="http://schemas.microsoft.com/office/drawing/2014/main" id="{5F14AAC9-ACB0-49FC-A6EE-6BDA13EC5753}"/>
              </a:ext>
            </a:extLst>
          </p:cNvPr>
          <p:cNvSpPr txBox="1">
            <a:spLocks/>
          </p:cNvSpPr>
          <p:nvPr/>
        </p:nvSpPr>
        <p:spPr>
          <a:xfrm>
            <a:off x="872633" y="110132"/>
            <a:ext cx="8655953" cy="60107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1575" b="1" kern="1200">
                <a:solidFill>
                  <a:schemeClr val="tx1"/>
                </a:solidFill>
                <a:latin typeface="方正粗雅宋简体" panose="02000000000000000000" pitchFamily="2" charset="-122"/>
                <a:ea typeface="方正粗雅宋简体" panose="02000000000000000000" pitchFamily="2" charset="-122"/>
                <a:cs typeface="+mj-cs"/>
              </a:defRPr>
            </a:lvl1pPr>
          </a:lstStyle>
          <a:p>
            <a:r>
              <a:rPr lang="zh-CN" altLang="en-US" sz="3200" dirty="0"/>
              <a:t>磁滞回线图中特殊点的坐标标记</a:t>
            </a:r>
          </a:p>
        </p:txBody>
      </p:sp>
      <p:sp>
        <p:nvSpPr>
          <p:cNvPr id="12" name="矩形 11"/>
          <p:cNvSpPr/>
          <p:nvPr/>
        </p:nvSpPr>
        <p:spPr>
          <a:xfrm>
            <a:off x="211923" y="5577072"/>
            <a:ext cx="7095386" cy="707886"/>
          </a:xfrm>
          <a:prstGeom prst="rect">
            <a:avLst/>
          </a:prstGeom>
        </p:spPr>
        <p:txBody>
          <a:bodyPr wrap="square">
            <a:spAutoFit/>
          </a:bodyPr>
          <a:lstStyle/>
          <a:p>
            <a:r>
              <a:rPr lang="zh-CN" altLang="en-US" sz="2000" dirty="0"/>
              <a:t>图</a:t>
            </a:r>
            <a:r>
              <a:rPr lang="en-US" altLang="zh-CN" sz="2000" dirty="0"/>
              <a:t>2. </a:t>
            </a:r>
            <a:r>
              <a:rPr lang="zh-CN" altLang="en-US" sz="2000" dirty="0"/>
              <a:t>磁滞回线图。由该数据可知，样品</a:t>
            </a:r>
            <a:r>
              <a:rPr lang="en-US" altLang="zh-CN" sz="2000" i="1" dirty="0"/>
              <a:t>B</a:t>
            </a:r>
            <a:r>
              <a:rPr lang="en-US" altLang="zh-CN" sz="2000" baseline="-25000" dirty="0"/>
              <a:t>r1</a:t>
            </a:r>
            <a:r>
              <a:rPr lang="en-US" altLang="zh-CN" sz="2000" dirty="0"/>
              <a:t>=</a:t>
            </a:r>
            <a:r>
              <a:rPr lang="en-US" altLang="zh-CN" sz="2000" u="sng" dirty="0"/>
              <a:t>      </a:t>
            </a:r>
            <a:r>
              <a:rPr lang="en-US" altLang="zh-CN" sz="2000" dirty="0"/>
              <a:t>(T) </a:t>
            </a:r>
            <a:r>
              <a:rPr lang="zh-CN" altLang="en-US" sz="2000" dirty="0"/>
              <a:t>，</a:t>
            </a:r>
            <a:r>
              <a:rPr lang="en-US" altLang="zh-CN" sz="2000" i="1" dirty="0"/>
              <a:t> B</a:t>
            </a:r>
            <a:r>
              <a:rPr lang="en-US" altLang="zh-CN" sz="2000" baseline="-25000" dirty="0"/>
              <a:t>r2 </a:t>
            </a:r>
            <a:r>
              <a:rPr lang="en-US" altLang="zh-CN" sz="2000" dirty="0"/>
              <a:t>=</a:t>
            </a:r>
            <a:r>
              <a:rPr lang="en-US" altLang="zh-CN" sz="2000" u="sng" dirty="0"/>
              <a:t>     </a:t>
            </a:r>
            <a:r>
              <a:rPr lang="en-US" altLang="zh-CN" sz="2000" dirty="0"/>
              <a:t> (T)</a:t>
            </a:r>
            <a:r>
              <a:rPr lang="zh-CN" altLang="en-US" sz="2000" dirty="0"/>
              <a:t>，</a:t>
            </a:r>
            <a:r>
              <a:rPr lang="en-US" altLang="zh-CN" sz="2000" i="1" dirty="0"/>
              <a:t>H</a:t>
            </a:r>
            <a:r>
              <a:rPr lang="en-US" altLang="zh-CN" sz="2000" baseline="-25000" dirty="0"/>
              <a:t>c1</a:t>
            </a:r>
            <a:r>
              <a:rPr lang="en-US" altLang="zh-CN" sz="2000" dirty="0"/>
              <a:t>= </a:t>
            </a:r>
            <a:r>
              <a:rPr lang="en-US" altLang="zh-CN" sz="2000" u="sng" dirty="0"/>
              <a:t>      </a:t>
            </a:r>
            <a:r>
              <a:rPr lang="en-US" altLang="zh-CN" sz="2000" dirty="0"/>
              <a:t>( A/m)</a:t>
            </a:r>
            <a:r>
              <a:rPr lang="zh-CN" altLang="en-US" sz="2000" dirty="0"/>
              <a:t>，</a:t>
            </a:r>
            <a:r>
              <a:rPr lang="en-US" altLang="zh-CN" sz="2000" i="1" dirty="0"/>
              <a:t> H</a:t>
            </a:r>
            <a:r>
              <a:rPr lang="en-US" altLang="zh-CN" sz="2000" baseline="-25000" dirty="0"/>
              <a:t>c2</a:t>
            </a:r>
            <a:r>
              <a:rPr lang="en-US" altLang="zh-CN" sz="2000" dirty="0"/>
              <a:t>= </a:t>
            </a:r>
            <a:r>
              <a:rPr lang="en-US" altLang="zh-CN" sz="2000" u="sng" dirty="0"/>
              <a:t>      </a:t>
            </a:r>
            <a:r>
              <a:rPr lang="en-US" altLang="zh-CN" sz="2000" dirty="0"/>
              <a:t>( A/m)</a:t>
            </a:r>
            <a:r>
              <a:rPr lang="zh-CN" altLang="en-US" sz="2000" dirty="0"/>
              <a:t>，</a:t>
            </a:r>
            <a:r>
              <a:rPr lang="en-US" altLang="zh-CN" sz="2000" dirty="0"/>
              <a:t> </a:t>
            </a:r>
            <a:r>
              <a:rPr lang="zh-CN" altLang="en-US" sz="2000" dirty="0">
                <a:sym typeface="Symbol" panose="05050102010706020507" pitchFamily="18" charset="2"/>
              </a:rPr>
              <a:t></a:t>
            </a:r>
            <a:r>
              <a:rPr lang="en-US" altLang="zh-CN" sz="2000" dirty="0">
                <a:sym typeface="Symbol" panose="05050102010706020507" pitchFamily="18" charset="2"/>
              </a:rPr>
              <a:t>BH</a:t>
            </a:r>
            <a:r>
              <a:rPr lang="zh-CN" altLang="en-US" sz="2000" dirty="0">
                <a:sym typeface="Symbol" panose="05050102010706020507" pitchFamily="18" charset="2"/>
              </a:rPr>
              <a:t></a:t>
            </a:r>
            <a:r>
              <a:rPr lang="en-US" altLang="zh-CN" sz="2000" dirty="0">
                <a:sym typeface="Symbol" panose="05050102010706020507" pitchFamily="18" charset="2"/>
              </a:rPr>
              <a:t>= </a:t>
            </a:r>
            <a:r>
              <a:rPr lang="en-US" altLang="zh-CN" sz="2000" u="sng" dirty="0">
                <a:sym typeface="Symbol" panose="05050102010706020507" pitchFamily="18" charset="2"/>
              </a:rPr>
              <a:t>      </a:t>
            </a:r>
            <a:r>
              <a:rPr lang="en-US" altLang="zh-CN" sz="2000" dirty="0">
                <a:sym typeface="Symbol" panose="05050102010706020507" pitchFamily="18" charset="2"/>
              </a:rPr>
              <a:t> (?)</a:t>
            </a:r>
            <a:r>
              <a:rPr lang="zh-CN" altLang="en-US" sz="2000" dirty="0"/>
              <a:t>。</a:t>
            </a:r>
            <a:endParaRPr lang="en-US" altLang="zh-CN" sz="2000" dirty="0"/>
          </a:p>
        </p:txBody>
      </p:sp>
      <p:pic>
        <p:nvPicPr>
          <p:cNvPr id="18" name="图片 17"/>
          <p:cNvPicPr>
            <a:picLocks noChangeAspect="1"/>
          </p:cNvPicPr>
          <p:nvPr/>
        </p:nvPicPr>
        <p:blipFill rotWithShape="1">
          <a:blip r:embed="rId3"/>
          <a:srcRect r="5539"/>
          <a:stretch/>
        </p:blipFill>
        <p:spPr>
          <a:xfrm>
            <a:off x="5956160" y="2033764"/>
            <a:ext cx="5924061" cy="2645011"/>
          </a:xfrm>
          <a:prstGeom prst="rect">
            <a:avLst/>
          </a:prstGeom>
        </p:spPr>
      </p:pic>
      <p:sp>
        <p:nvSpPr>
          <p:cNvPr id="19" name="椭圆 18"/>
          <p:cNvSpPr/>
          <p:nvPr/>
        </p:nvSpPr>
        <p:spPr>
          <a:xfrm>
            <a:off x="5956160" y="2500790"/>
            <a:ext cx="421194" cy="31274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7340210" y="4907095"/>
            <a:ext cx="4376751" cy="646331"/>
          </a:xfrm>
          <a:prstGeom prst="rect">
            <a:avLst/>
          </a:prstGeom>
          <a:noFill/>
        </p:spPr>
        <p:txBody>
          <a:bodyPr wrap="square" rtlCol="0">
            <a:spAutoFit/>
          </a:bodyPr>
          <a:lstStyle/>
          <a:p>
            <a:r>
              <a:rPr lang="zh-CN" altLang="en-US" dirty="0">
                <a:solidFill>
                  <a:srgbClr val="FF0000"/>
                </a:solidFill>
              </a:rPr>
              <a:t>自由绘点的坐标：标记坐标轴的交点</a:t>
            </a:r>
            <a:endParaRPr lang="en-US" altLang="zh-CN" dirty="0">
              <a:solidFill>
                <a:srgbClr val="FF0000"/>
              </a:solidFill>
            </a:endParaRPr>
          </a:p>
          <a:p>
            <a:r>
              <a:rPr lang="zh-CN" altLang="en-US" dirty="0">
                <a:solidFill>
                  <a:srgbClr val="FF0000"/>
                </a:solidFill>
              </a:rPr>
              <a:t>求得</a:t>
            </a:r>
            <a:r>
              <a:rPr lang="en-US" altLang="zh-CN" dirty="0" err="1">
                <a:solidFill>
                  <a:srgbClr val="FF0000"/>
                </a:solidFill>
              </a:rPr>
              <a:t>Hr</a:t>
            </a:r>
            <a:r>
              <a:rPr lang="zh-CN" altLang="en-US" dirty="0">
                <a:solidFill>
                  <a:srgbClr val="FF0000"/>
                </a:solidFill>
              </a:rPr>
              <a:t>、</a:t>
            </a:r>
            <a:r>
              <a:rPr lang="en-US" altLang="zh-CN" dirty="0">
                <a:solidFill>
                  <a:srgbClr val="FF0000"/>
                </a:solidFill>
              </a:rPr>
              <a:t>Br</a:t>
            </a:r>
            <a:r>
              <a:rPr lang="zh-CN" altLang="en-US" dirty="0">
                <a:solidFill>
                  <a:srgbClr val="FF0000"/>
                </a:solidFill>
              </a:rPr>
              <a:t>、</a:t>
            </a:r>
            <a:r>
              <a:rPr lang="en-US" altLang="zh-CN" dirty="0" err="1">
                <a:solidFill>
                  <a:srgbClr val="FF0000"/>
                </a:solidFill>
              </a:rPr>
              <a:t>Bm</a:t>
            </a:r>
            <a:r>
              <a:rPr lang="zh-CN" altLang="en-US" dirty="0">
                <a:solidFill>
                  <a:srgbClr val="FF0000"/>
                </a:solidFill>
              </a:rPr>
              <a:t>的值。</a:t>
            </a:r>
            <a:endParaRPr lang="en-US" altLang="zh-CN" dirty="0">
              <a:solidFill>
                <a:srgbClr val="FF0000"/>
              </a:solidFill>
            </a:endParaRPr>
          </a:p>
        </p:txBody>
      </p:sp>
      <p:cxnSp>
        <p:nvCxnSpPr>
          <p:cNvPr id="10" name="直接箭头连接符 9"/>
          <p:cNvCxnSpPr/>
          <p:nvPr/>
        </p:nvCxnSpPr>
        <p:spPr>
          <a:xfrm flipH="1" flipV="1">
            <a:off x="9722339" y="3051337"/>
            <a:ext cx="320431" cy="14584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flipV="1">
            <a:off x="6231019" y="2891123"/>
            <a:ext cx="1035317" cy="21654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48640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1AAC388E-FA9E-4A2C-95EA-1F6B3A07935A}" type="slidenum">
              <a:rPr lang="zh-CN" altLang="en-US" smtClean="0"/>
              <a:pPr/>
              <a:t>23</a:t>
            </a:fld>
            <a:endParaRPr lang="zh-CN" altLang="en-US" dirty="0"/>
          </a:p>
        </p:txBody>
      </p:sp>
      <p:sp>
        <p:nvSpPr>
          <p:cNvPr id="20" name="标题 1">
            <a:extLst>
              <a:ext uri="{FF2B5EF4-FFF2-40B4-BE49-F238E27FC236}">
                <a16:creationId xmlns:a16="http://schemas.microsoft.com/office/drawing/2014/main" id="{5F14AAC9-ACB0-49FC-A6EE-6BDA13EC5753}"/>
              </a:ext>
            </a:extLst>
          </p:cNvPr>
          <p:cNvSpPr txBox="1">
            <a:spLocks/>
          </p:cNvSpPr>
          <p:nvPr/>
        </p:nvSpPr>
        <p:spPr>
          <a:xfrm>
            <a:off x="872633" y="110132"/>
            <a:ext cx="8655953" cy="60107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1575" b="1" kern="1200">
                <a:solidFill>
                  <a:schemeClr val="tx1"/>
                </a:solidFill>
                <a:latin typeface="方正粗雅宋简体" panose="02000000000000000000" pitchFamily="2" charset="-122"/>
                <a:ea typeface="方正粗雅宋简体" panose="02000000000000000000" pitchFamily="2" charset="-122"/>
                <a:cs typeface="+mj-cs"/>
              </a:defRPr>
            </a:lvl1pPr>
          </a:lstStyle>
          <a:p>
            <a:r>
              <a:rPr lang="zh-CN" altLang="en-US" sz="3200" dirty="0"/>
              <a:t>使用</a:t>
            </a:r>
            <a:r>
              <a:rPr lang="en-US" altLang="zh-CN" sz="3200" dirty="0">
                <a:latin typeface="Times New Roman" panose="02020603050405020304" pitchFamily="18" charset="0"/>
              </a:rPr>
              <a:t>Origin</a:t>
            </a:r>
            <a:r>
              <a:rPr lang="zh-CN" altLang="en-US" sz="3200" dirty="0"/>
              <a:t>求闭合曲线包围的面积（方法一）</a:t>
            </a:r>
          </a:p>
        </p:txBody>
      </p:sp>
      <p:graphicFrame>
        <p:nvGraphicFramePr>
          <p:cNvPr id="7" name="对象 6"/>
          <p:cNvGraphicFramePr>
            <a:graphicFrameLocks noChangeAspect="1"/>
          </p:cNvGraphicFramePr>
          <p:nvPr>
            <p:extLst>
              <p:ext uri="{D42A27DB-BD31-4B8C-83A1-F6EECF244321}">
                <p14:modId xmlns:p14="http://schemas.microsoft.com/office/powerpoint/2010/main" val="1410581143"/>
              </p:ext>
            </p:extLst>
          </p:nvPr>
        </p:nvGraphicFramePr>
        <p:xfrm>
          <a:off x="-962453" y="1001506"/>
          <a:ext cx="7401031" cy="5663719"/>
        </p:xfrm>
        <a:graphic>
          <a:graphicData uri="http://schemas.openxmlformats.org/presentationml/2006/ole">
            <mc:AlternateContent xmlns:mc="http://schemas.openxmlformats.org/markup-compatibility/2006">
              <mc:Choice xmlns:v="urn:schemas-microsoft-com:vml" Requires="v">
                <p:oleObj name="Graph" r:id="rId3" imgW="9802440" imgH="7502760" progId="Origin95.Graph">
                  <p:embed/>
                </p:oleObj>
              </mc:Choice>
              <mc:Fallback>
                <p:oleObj name="Graph" r:id="rId3" imgW="9802440" imgH="7502760" progId="Origin95.Graph">
                  <p:embed/>
                  <p:pic>
                    <p:nvPicPr>
                      <p:cNvPr id="7" name="对象 6"/>
                      <p:cNvPicPr/>
                      <p:nvPr/>
                    </p:nvPicPr>
                    <p:blipFill>
                      <a:blip r:embed="rId4"/>
                      <a:stretch>
                        <a:fillRect/>
                      </a:stretch>
                    </p:blipFill>
                    <p:spPr>
                      <a:xfrm>
                        <a:off x="-962453" y="1001506"/>
                        <a:ext cx="7401031" cy="5663719"/>
                      </a:xfrm>
                      <a:prstGeom prst="rect">
                        <a:avLst/>
                      </a:prstGeom>
                    </p:spPr>
                  </p:pic>
                </p:oleObj>
              </mc:Fallback>
            </mc:AlternateContent>
          </a:graphicData>
        </a:graphic>
      </p:graphicFrame>
      <p:sp>
        <p:nvSpPr>
          <p:cNvPr id="6" name="文本框 5"/>
          <p:cNvSpPr txBox="1"/>
          <p:nvPr/>
        </p:nvSpPr>
        <p:spPr>
          <a:xfrm>
            <a:off x="5689130" y="5349501"/>
            <a:ext cx="6502870" cy="1200329"/>
          </a:xfrm>
          <a:prstGeom prst="rect">
            <a:avLst/>
          </a:prstGeom>
          <a:noFill/>
        </p:spPr>
        <p:txBody>
          <a:bodyPr wrap="none" rtlCol="0">
            <a:spAutoFit/>
          </a:bodyPr>
          <a:lstStyle/>
          <a:p>
            <a:r>
              <a:rPr lang="zh-CN" altLang="en-US" sz="2400" dirty="0">
                <a:solidFill>
                  <a:srgbClr val="FF0000"/>
                </a:solidFill>
              </a:rPr>
              <a:t>选中数据点，</a:t>
            </a:r>
            <a:r>
              <a:rPr lang="en-US" altLang="zh-CN" sz="2400" dirty="0">
                <a:solidFill>
                  <a:srgbClr val="FF0000"/>
                </a:solidFill>
              </a:rPr>
              <a:t>Analysis-Mathematics-Polygon Area</a:t>
            </a:r>
          </a:p>
          <a:p>
            <a:r>
              <a:rPr lang="zh-CN" altLang="en-US" sz="2400" dirty="0">
                <a:solidFill>
                  <a:srgbClr val="FF0000"/>
                </a:solidFill>
              </a:rPr>
              <a:t>求曲线包围的面积，计算</a:t>
            </a:r>
            <a:r>
              <a:rPr lang="zh-CN" altLang="en-US" sz="2400" dirty="0">
                <a:solidFill>
                  <a:srgbClr val="FF0000"/>
                </a:solidFill>
                <a:sym typeface="Symbol" panose="05050102010706020507" pitchFamily="18" charset="2"/>
              </a:rPr>
              <a:t></a:t>
            </a:r>
            <a:r>
              <a:rPr lang="en-US" altLang="zh-CN" sz="2400" dirty="0">
                <a:solidFill>
                  <a:srgbClr val="FF0000"/>
                </a:solidFill>
                <a:sym typeface="Symbol" panose="05050102010706020507" pitchFamily="18" charset="2"/>
              </a:rPr>
              <a:t>BH</a:t>
            </a:r>
            <a:r>
              <a:rPr lang="zh-CN" altLang="en-US" sz="2400" dirty="0">
                <a:solidFill>
                  <a:srgbClr val="FF0000"/>
                </a:solidFill>
                <a:sym typeface="Symbol" panose="05050102010706020507" pitchFamily="18" charset="2"/>
              </a:rPr>
              <a:t></a:t>
            </a:r>
            <a:r>
              <a:rPr lang="en-US" altLang="zh-CN" sz="2400" dirty="0">
                <a:solidFill>
                  <a:srgbClr val="FF0000"/>
                </a:solidFill>
                <a:sym typeface="Symbol" panose="05050102010706020507" pitchFamily="18" charset="2"/>
              </a:rPr>
              <a:t>= </a:t>
            </a:r>
            <a:r>
              <a:rPr lang="en-US" altLang="zh-CN" sz="2400" u="sng" dirty="0">
                <a:solidFill>
                  <a:srgbClr val="FF0000"/>
                </a:solidFill>
                <a:sym typeface="Symbol" panose="05050102010706020507" pitchFamily="18" charset="2"/>
              </a:rPr>
              <a:t>      </a:t>
            </a:r>
            <a:r>
              <a:rPr lang="en-US" altLang="zh-CN" sz="2400" dirty="0">
                <a:solidFill>
                  <a:srgbClr val="FF0000"/>
                </a:solidFill>
                <a:sym typeface="Symbol" panose="05050102010706020507" pitchFamily="18" charset="2"/>
              </a:rPr>
              <a:t> (?)</a:t>
            </a:r>
          </a:p>
          <a:p>
            <a:r>
              <a:rPr lang="zh-CN" altLang="en-US" sz="2400" dirty="0">
                <a:solidFill>
                  <a:srgbClr val="FF0000"/>
                </a:solidFill>
                <a:sym typeface="Symbol" panose="05050102010706020507" pitchFamily="18" charset="2"/>
              </a:rPr>
              <a:t>推导：</a:t>
            </a:r>
            <a:r>
              <a:rPr lang="en-US" altLang="zh-CN" sz="2400" dirty="0">
                <a:solidFill>
                  <a:srgbClr val="FF0000"/>
                </a:solidFill>
                <a:sym typeface="Symbol" panose="05050102010706020507" pitchFamily="18" charset="2"/>
              </a:rPr>
              <a:t>BH</a:t>
            </a:r>
            <a:r>
              <a:rPr lang="zh-CN" altLang="en-US" sz="2400" dirty="0">
                <a:solidFill>
                  <a:srgbClr val="FF0000"/>
                </a:solidFill>
                <a:sym typeface="Symbol" panose="05050102010706020507" pitchFamily="18" charset="2"/>
              </a:rPr>
              <a:t>单位是多少？</a:t>
            </a:r>
            <a:endParaRPr lang="zh-CN" altLang="en-US" sz="2400" dirty="0">
              <a:solidFill>
                <a:srgbClr val="FF0000"/>
              </a:solidFill>
            </a:endParaRPr>
          </a:p>
        </p:txBody>
      </p:sp>
      <p:pic>
        <p:nvPicPr>
          <p:cNvPr id="9" name="图片 8"/>
          <p:cNvPicPr>
            <a:picLocks noChangeAspect="1"/>
          </p:cNvPicPr>
          <p:nvPr/>
        </p:nvPicPr>
        <p:blipFill>
          <a:blip r:embed="rId5"/>
          <a:stretch>
            <a:fillRect/>
          </a:stretch>
        </p:blipFill>
        <p:spPr>
          <a:xfrm>
            <a:off x="7552481" y="1173702"/>
            <a:ext cx="4218325" cy="3646810"/>
          </a:xfrm>
          <a:prstGeom prst="rect">
            <a:avLst/>
          </a:prstGeom>
        </p:spPr>
      </p:pic>
      <p:sp>
        <p:nvSpPr>
          <p:cNvPr id="2" name="椭圆 1"/>
          <p:cNvSpPr/>
          <p:nvPr/>
        </p:nvSpPr>
        <p:spPr>
          <a:xfrm>
            <a:off x="9661643" y="3963217"/>
            <a:ext cx="996418" cy="3126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6"/>
          <a:stretch>
            <a:fillRect/>
          </a:stretch>
        </p:blipFill>
        <p:spPr>
          <a:xfrm>
            <a:off x="6037002" y="2791718"/>
            <a:ext cx="3028642" cy="2232653"/>
          </a:xfrm>
          <a:prstGeom prst="rect">
            <a:avLst/>
          </a:prstGeom>
        </p:spPr>
      </p:pic>
      <p:sp>
        <p:nvSpPr>
          <p:cNvPr id="14" name="椭圆 13"/>
          <p:cNvSpPr/>
          <p:nvPr/>
        </p:nvSpPr>
        <p:spPr>
          <a:xfrm>
            <a:off x="6141653" y="4275833"/>
            <a:ext cx="1510449" cy="44889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7551323" y="1173702"/>
            <a:ext cx="996418" cy="3126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71340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1AAC388E-FA9E-4A2C-95EA-1F6B3A07935A}" type="slidenum">
              <a:rPr lang="zh-CN" altLang="en-US" smtClean="0"/>
              <a:pPr/>
              <a:t>24</a:t>
            </a:fld>
            <a:endParaRPr lang="zh-CN" altLang="en-US" dirty="0"/>
          </a:p>
        </p:txBody>
      </p:sp>
      <p:pic>
        <p:nvPicPr>
          <p:cNvPr id="4" name="图片 3"/>
          <p:cNvPicPr>
            <a:picLocks noChangeAspect="1"/>
          </p:cNvPicPr>
          <p:nvPr/>
        </p:nvPicPr>
        <p:blipFill>
          <a:blip r:embed="rId2"/>
          <a:stretch>
            <a:fillRect/>
          </a:stretch>
        </p:blipFill>
        <p:spPr>
          <a:xfrm>
            <a:off x="9987738" y="995790"/>
            <a:ext cx="1892483" cy="5368472"/>
          </a:xfrm>
          <a:prstGeom prst="rect">
            <a:avLst/>
          </a:prstGeom>
        </p:spPr>
      </p:pic>
      <p:pic>
        <p:nvPicPr>
          <p:cNvPr id="7" name="图片 6"/>
          <p:cNvPicPr>
            <a:picLocks noChangeAspect="1"/>
          </p:cNvPicPr>
          <p:nvPr/>
        </p:nvPicPr>
        <p:blipFill>
          <a:blip r:embed="rId3"/>
          <a:stretch>
            <a:fillRect/>
          </a:stretch>
        </p:blipFill>
        <p:spPr>
          <a:xfrm>
            <a:off x="5625805" y="944254"/>
            <a:ext cx="4267312" cy="3989719"/>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1028629073"/>
              </p:ext>
            </p:extLst>
          </p:nvPr>
        </p:nvGraphicFramePr>
        <p:xfrm>
          <a:off x="-1134388" y="833734"/>
          <a:ext cx="7056416" cy="5400000"/>
        </p:xfrm>
        <a:graphic>
          <a:graphicData uri="http://schemas.openxmlformats.org/presentationml/2006/ole">
            <mc:AlternateContent xmlns:mc="http://schemas.openxmlformats.org/markup-compatibility/2006">
              <mc:Choice xmlns:v="urn:schemas-microsoft-com:vml" Requires="v">
                <p:oleObj name="Graph" r:id="rId4" imgW="9802440" imgH="7502760" progId="Origin95.Graph">
                  <p:embed/>
                </p:oleObj>
              </mc:Choice>
              <mc:Fallback>
                <p:oleObj name="Graph" r:id="rId4" imgW="9802440" imgH="7502760" progId="Origin95.Graph">
                  <p:embed/>
                  <p:pic>
                    <p:nvPicPr>
                      <p:cNvPr id="7" name="对象 6"/>
                      <p:cNvPicPr/>
                      <p:nvPr/>
                    </p:nvPicPr>
                    <p:blipFill>
                      <a:blip r:embed="rId5"/>
                      <a:stretch>
                        <a:fillRect/>
                      </a:stretch>
                    </p:blipFill>
                    <p:spPr>
                      <a:xfrm>
                        <a:off x="-1134388" y="833734"/>
                        <a:ext cx="7056416" cy="5400000"/>
                      </a:xfrm>
                      <a:prstGeom prst="rect">
                        <a:avLst/>
                      </a:prstGeom>
                    </p:spPr>
                  </p:pic>
                </p:oleObj>
              </mc:Fallback>
            </mc:AlternateContent>
          </a:graphicData>
        </a:graphic>
      </p:graphicFrame>
      <p:sp>
        <p:nvSpPr>
          <p:cNvPr id="9" name="矩形 8"/>
          <p:cNvSpPr/>
          <p:nvPr/>
        </p:nvSpPr>
        <p:spPr>
          <a:xfrm>
            <a:off x="5482249" y="5360216"/>
            <a:ext cx="5039969" cy="1015663"/>
          </a:xfrm>
          <a:prstGeom prst="rect">
            <a:avLst/>
          </a:prstGeom>
        </p:spPr>
        <p:txBody>
          <a:bodyPr wrap="none">
            <a:spAutoFit/>
          </a:bodyPr>
          <a:lstStyle/>
          <a:p>
            <a:r>
              <a:rPr lang="zh-CN" altLang="en-US" sz="2000" dirty="0">
                <a:solidFill>
                  <a:srgbClr val="FF0000"/>
                </a:solidFill>
              </a:rPr>
              <a:t>选中数据点，</a:t>
            </a:r>
            <a:r>
              <a:rPr lang="en-US" altLang="zh-CN" sz="2000" dirty="0">
                <a:solidFill>
                  <a:srgbClr val="FF0000"/>
                </a:solidFill>
              </a:rPr>
              <a:t>Analysis-Mathematics-Integrate</a:t>
            </a:r>
          </a:p>
          <a:p>
            <a:r>
              <a:rPr lang="zh-CN" altLang="en-US" sz="2000" dirty="0">
                <a:solidFill>
                  <a:srgbClr val="FF0000"/>
                </a:solidFill>
              </a:rPr>
              <a:t>数值积分的方法求得闭合曲线包围的面积</a:t>
            </a:r>
            <a:endParaRPr lang="en-US" altLang="zh-CN" sz="2000" dirty="0">
              <a:solidFill>
                <a:srgbClr val="FF0000"/>
              </a:solidFill>
            </a:endParaRPr>
          </a:p>
          <a:p>
            <a:r>
              <a:rPr lang="zh-CN" altLang="en-US" sz="2000" dirty="0">
                <a:solidFill>
                  <a:srgbClr val="FF0000"/>
                </a:solidFill>
              </a:rPr>
              <a:t>注意：表格中数据点的顺序</a:t>
            </a:r>
            <a:endParaRPr lang="en-US" altLang="zh-CN" sz="2000" dirty="0">
              <a:solidFill>
                <a:srgbClr val="FF0000"/>
              </a:solidFill>
            </a:endParaRPr>
          </a:p>
        </p:txBody>
      </p:sp>
      <p:sp>
        <p:nvSpPr>
          <p:cNvPr id="10" name="标题 1">
            <a:extLst>
              <a:ext uri="{FF2B5EF4-FFF2-40B4-BE49-F238E27FC236}">
                <a16:creationId xmlns:a16="http://schemas.microsoft.com/office/drawing/2014/main" id="{5F14AAC9-ACB0-49FC-A6EE-6BDA13EC5753}"/>
              </a:ext>
            </a:extLst>
          </p:cNvPr>
          <p:cNvSpPr txBox="1">
            <a:spLocks/>
          </p:cNvSpPr>
          <p:nvPr/>
        </p:nvSpPr>
        <p:spPr>
          <a:xfrm>
            <a:off x="872633" y="110132"/>
            <a:ext cx="8655953" cy="60107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1575" b="1" kern="1200">
                <a:solidFill>
                  <a:schemeClr val="tx1"/>
                </a:solidFill>
                <a:latin typeface="方正粗雅宋简体" panose="02000000000000000000" pitchFamily="2" charset="-122"/>
                <a:ea typeface="方正粗雅宋简体" panose="02000000000000000000" pitchFamily="2" charset="-122"/>
                <a:cs typeface="+mj-cs"/>
              </a:defRPr>
            </a:lvl1pPr>
          </a:lstStyle>
          <a:p>
            <a:r>
              <a:rPr lang="zh-CN" altLang="en-US" sz="3200" dirty="0"/>
              <a:t>使用</a:t>
            </a:r>
            <a:r>
              <a:rPr lang="en-US" altLang="zh-CN" sz="3200" dirty="0">
                <a:latin typeface="Times New Roman" panose="02020603050405020304" pitchFamily="18" charset="0"/>
              </a:rPr>
              <a:t>Origin</a:t>
            </a:r>
            <a:r>
              <a:rPr lang="zh-CN" altLang="en-US" sz="3200" dirty="0"/>
              <a:t>求闭合曲线包围的面积（方法二）</a:t>
            </a:r>
          </a:p>
        </p:txBody>
      </p:sp>
    </p:spTree>
    <p:extLst>
      <p:ext uri="{BB962C8B-B14F-4D97-AF65-F5344CB8AC3E}">
        <p14:creationId xmlns:p14="http://schemas.microsoft.com/office/powerpoint/2010/main" val="6426303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63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4" name="组 3"/>
          <p:cNvGrpSpPr/>
          <p:nvPr/>
        </p:nvGrpSpPr>
        <p:grpSpPr>
          <a:xfrm>
            <a:off x="-1" y="2847434"/>
            <a:ext cx="12192001" cy="1291039"/>
            <a:chOff x="0" y="2847433"/>
            <a:chExt cx="12192000" cy="1291039"/>
          </a:xfrm>
        </p:grpSpPr>
        <p:sp>
          <p:nvSpPr>
            <p:cNvPr id="51" name="矩形 50"/>
            <p:cNvSpPr/>
            <p:nvPr/>
          </p:nvSpPr>
          <p:spPr>
            <a:xfrm flipH="1">
              <a:off x="0" y="2886409"/>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6600" dirty="0">
                  <a:solidFill>
                    <a:prstClr val="white"/>
                  </a:solidFill>
                  <a:latin typeface="Calibri" panose="020F0502020204030204"/>
                  <a:ea typeface="等线" panose="02010600030101010101" pitchFamily="2" charset="-122"/>
                </a:rPr>
                <a:t>5</a:t>
              </a:r>
              <a:endParaRPr kumimoji="0" lang="zh-CN" altLang="en-US" sz="66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42" name="文本框 41"/>
            <p:cNvSpPr txBox="1"/>
            <p:nvPr/>
          </p:nvSpPr>
          <p:spPr>
            <a:xfrm>
              <a:off x="1945790" y="2847433"/>
              <a:ext cx="3884393" cy="1107994"/>
            </a:xfrm>
            <a:prstGeom prst="rect">
              <a:avLst/>
            </a:prstGeom>
            <a:noFill/>
          </p:spPr>
          <p:txBody>
            <a:bodyPr wrap="none" lIns="91438" tIns="45719" rIns="91438" bIns="45719"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60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实验思考</a:t>
              </a:r>
            </a:p>
          </p:txBody>
        </p:sp>
        <p:sp>
          <p:nvSpPr>
            <p:cNvPr id="53" name="矩形 52"/>
            <p:cNvSpPr/>
            <p:nvPr/>
          </p:nvSpPr>
          <p:spPr>
            <a:xfrm>
              <a:off x="6275215" y="3220053"/>
              <a:ext cx="5471751" cy="584773"/>
            </a:xfrm>
            <a:prstGeom prst="rect">
              <a:avLst/>
            </a:prstGeom>
          </p:spPr>
          <p:txBody>
            <a:bodyPr wrap="none" lIns="91438" tIns="45719" rIns="91438" bIns="45719">
              <a:spAutoFit/>
            </a:bodyPr>
            <a:lstStyle/>
            <a:p>
              <a:pPr lvl="0" algn="ctr"/>
              <a:r>
                <a:rPr kumimoji="0" lang="en-US" altLang="zh-CN" sz="3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EXPERIMENT </a:t>
              </a:r>
              <a:r>
                <a:rPr lang="en-US" altLang="zh-CN" sz="3200" dirty="0">
                  <a:solidFill>
                    <a:prstClr val="white"/>
                  </a:solidFill>
                  <a:latin typeface="微软雅黑" panose="020B0503020204020204" pitchFamily="34" charset="-122"/>
                  <a:ea typeface="微软雅黑" panose="020B0503020204020204" pitchFamily="34" charset="-122"/>
                </a:rPr>
                <a:t>INSPIRATION</a:t>
              </a:r>
            </a:p>
          </p:txBody>
        </p:sp>
      </p:grpSp>
    </p:spTree>
    <p:extLst>
      <p:ext uri="{BB962C8B-B14F-4D97-AF65-F5344CB8AC3E}">
        <p14:creationId xmlns:p14="http://schemas.microsoft.com/office/powerpoint/2010/main" val="3299836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实验思考</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26</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5</a:t>
            </a:r>
            <a:endParaRPr lang="zh-CN" altLang="en-US" sz="4400" b="1" dirty="0">
              <a:solidFill>
                <a:schemeClr val="tx1"/>
              </a:solidFill>
            </a:endParaRPr>
          </a:p>
        </p:txBody>
      </p:sp>
      <mc:AlternateContent xmlns:mc="http://schemas.openxmlformats.org/markup-compatibility/2006" xmlns:a14="http://schemas.microsoft.com/office/drawing/2010/main">
        <mc:Choice Requires="a14">
          <p:sp>
            <p:nvSpPr>
              <p:cNvPr id="4" name="矩形 3"/>
              <p:cNvSpPr/>
              <p:nvPr/>
            </p:nvSpPr>
            <p:spPr>
              <a:xfrm>
                <a:off x="648781" y="1519500"/>
                <a:ext cx="10788993" cy="3370153"/>
              </a:xfrm>
              <a:prstGeom prst="rect">
                <a:avLst/>
              </a:prstGeom>
              <a:noFill/>
            </p:spPr>
            <p:txBody>
              <a:bodyPr wrap="square">
                <a:spAutoFit/>
              </a:bodyPr>
              <a:lstStyle/>
              <a:p>
                <a:pPr>
                  <a:spcAft>
                    <a:spcPts val="1800"/>
                  </a:spcAft>
                </a:pPr>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思考题：</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indent="-742950">
                  <a:spcAft>
                    <a:spcPts val="1800"/>
                  </a:spcAft>
                  <a:buFont typeface="+mj-lt"/>
                  <a:buAutoNum type="arabicPeriod"/>
                </a:pPr>
                <a14:m>
                  <m:oMath xmlns:m="http://schemas.openxmlformats.org/officeDocument/2006/math">
                    <m:r>
                      <a:rPr lang="en-US" altLang="zh-CN" sz="2800">
                        <a:latin typeface="Cambria Math" panose="02040503050406030204" pitchFamily="18" charset="0"/>
                        <a:ea typeface="宋体" panose="02010600030101010101" pitchFamily="2" charset="-122"/>
                        <a:cs typeface="Times New Roman" panose="02020603050405020304" pitchFamily="18" charset="0"/>
                      </a:rPr>
                      <m:t>𝐵</m:t>
                    </m:r>
                    <m:r>
                      <a:rPr lang="en-US" altLang="zh-CN" sz="2800">
                        <a:latin typeface="Cambria Math" panose="02040503050406030204" pitchFamily="18" charset="0"/>
                        <a:ea typeface="宋体" panose="02010600030101010101" pitchFamily="2" charset="-122"/>
                        <a:cs typeface="Times New Roman" panose="02020603050405020304" pitchFamily="18" charset="0"/>
                      </a:rPr>
                      <m:t>∙</m:t>
                    </m:r>
                    <m:r>
                      <a:rPr lang="en-US" altLang="zh-CN" sz="2800">
                        <a:latin typeface="Cambria Math" panose="02040503050406030204" pitchFamily="18" charset="0"/>
                        <a:ea typeface="宋体" panose="02010600030101010101" pitchFamily="2" charset="-122"/>
                        <a:cs typeface="Times New Roman" panose="02020603050405020304" pitchFamily="18" charset="0"/>
                      </a:rPr>
                      <m:t>𝐻</m:t>
                    </m:r>
                  </m:oMath>
                </a14:m>
                <a:r>
                  <a:rPr lang="zh-CN" altLang="en-US" sz="2800" dirty="0">
                    <a:latin typeface="宋体" panose="02010600030101010101" pitchFamily="2" charset="-122"/>
                    <a:ea typeface="宋体" panose="02010600030101010101" pitchFamily="2" charset="-122"/>
                    <a:cs typeface="Times New Roman" panose="02020603050405020304" pitchFamily="18" charset="0"/>
                  </a:rPr>
                  <a:t>（磁能积）的单位是否与能量能关？请给出量纲的推导过程。</a:t>
                </a:r>
                <a:endParaRPr lang="en-US" altLang="zh-CN" sz="2800" dirty="0">
                  <a:latin typeface="宋体" panose="02010600030101010101" pitchFamily="2" charset="-122"/>
                  <a:ea typeface="宋体" panose="02010600030101010101" pitchFamily="2" charset="-122"/>
                  <a:cs typeface="Times New Roman" panose="02020603050405020304" pitchFamily="18" charset="0"/>
                </a:endParaRPr>
              </a:p>
              <a:p>
                <a:pPr marL="742950" indent="-742950">
                  <a:spcAft>
                    <a:spcPts val="1800"/>
                  </a:spcAft>
                  <a:buFont typeface="+mj-lt"/>
                  <a:buAutoNum type="arabicPeriod"/>
                </a:pPr>
                <a:r>
                  <a:rPr lang="zh-CN" altLang="en-US" sz="2800" dirty="0">
                    <a:latin typeface="宋体" panose="02010600030101010101" pitchFamily="2" charset="-122"/>
                    <a:ea typeface="宋体" panose="02010600030101010101" pitchFamily="2" charset="-122"/>
                    <a:cs typeface="Times New Roman" panose="02020603050405020304" pitchFamily="18" charset="0"/>
                  </a:rPr>
                  <a:t>查阅有关资料，简要回答积分电路的原理与有关应用。</a:t>
                </a:r>
                <a:endParaRPr lang="en-US" altLang="zh-CN" sz="2800" dirty="0">
                  <a:latin typeface="宋体" panose="02010600030101010101" pitchFamily="2" charset="-122"/>
                  <a:ea typeface="宋体" panose="02010600030101010101" pitchFamily="2" charset="-122"/>
                  <a:cs typeface="Times New Roman" panose="02020603050405020304" pitchFamily="18" charset="0"/>
                </a:endParaRPr>
              </a:p>
              <a:p>
                <a:pPr marL="742950" indent="-742950">
                  <a:spcAft>
                    <a:spcPts val="1800"/>
                  </a:spcAft>
                  <a:buFont typeface="+mj-lt"/>
                  <a:buAutoNum type="arabicPeriod"/>
                </a:pPr>
                <a:r>
                  <a:rPr lang="zh-CN" altLang="en-US" sz="2800" dirty="0">
                    <a:latin typeface="宋体" panose="02010600030101010101" pitchFamily="2" charset="-122"/>
                    <a:ea typeface="宋体" panose="02010600030101010101" pitchFamily="2" charset="-122"/>
                    <a:cs typeface="Times New Roman" panose="02020603050405020304" pitchFamily="18" charset="0"/>
                  </a:rPr>
                  <a:t>磁性材料内部的涡流损耗的能量是否可以被利用起来？请列出应用实例。</a:t>
                </a:r>
                <a:endParaRPr lang="en-US" altLang="zh-CN" sz="2800" dirty="0">
                  <a:latin typeface="宋体" panose="02010600030101010101" pitchFamily="2" charset="-122"/>
                  <a:ea typeface="宋体" panose="02010600030101010101" pitchFamily="2" charset="-122"/>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648781" y="1519500"/>
                <a:ext cx="10788993" cy="3370153"/>
              </a:xfrm>
              <a:prstGeom prst="rect">
                <a:avLst/>
              </a:prstGeom>
              <a:blipFill>
                <a:blip r:embed="rId3"/>
                <a:stretch>
                  <a:fillRect l="-1130" t="-2351" b="-41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271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a:xfrm>
            <a:off x="1385737" y="110571"/>
            <a:ext cx="8655953" cy="601075"/>
          </a:xfrm>
        </p:spPr>
        <p:txBody>
          <a:bodyPr>
            <a:noAutofit/>
          </a:bodyPr>
          <a:lstStyle/>
          <a:p>
            <a:r>
              <a:rPr lang="zh-CN" altLang="en-US" sz="4400" dirty="0"/>
              <a:t>实验思考</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2800" smtClean="0"/>
              <a:pPr/>
              <a:t>27</a:t>
            </a:fld>
            <a:endParaRPr lang="zh-CN" altLang="en-US" sz="2800" dirty="0"/>
          </a:p>
        </p:txBody>
      </p:sp>
      <p:sp>
        <p:nvSpPr>
          <p:cNvPr id="9" name="圆角矩形 8"/>
          <p:cNvSpPr/>
          <p:nvPr/>
        </p:nvSpPr>
        <p:spPr>
          <a:xfrm rot="10800000" flipV="1">
            <a:off x="648781" y="83982"/>
            <a:ext cx="618083" cy="601075"/>
          </a:xfrm>
          <a:prstGeom prst="roundRect">
            <a:avLst>
              <a:gd name="adj" fmla="val 5039"/>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4400" b="1" dirty="0">
                <a:solidFill>
                  <a:schemeClr val="tx1"/>
                </a:solidFill>
              </a:rPr>
              <a:t>5</a:t>
            </a:r>
            <a:endParaRPr lang="zh-CN" altLang="en-US" sz="4400" b="1" dirty="0">
              <a:solidFill>
                <a:schemeClr val="tx1"/>
              </a:solidFill>
            </a:endParaRPr>
          </a:p>
        </p:txBody>
      </p:sp>
      <p:sp>
        <p:nvSpPr>
          <p:cNvPr id="7" name="文本框 6"/>
          <p:cNvSpPr txBox="1"/>
          <p:nvPr/>
        </p:nvSpPr>
        <p:spPr>
          <a:xfrm>
            <a:off x="526250" y="1144713"/>
            <a:ext cx="8078254" cy="646331"/>
          </a:xfrm>
          <a:prstGeom prst="rect">
            <a:avLst/>
          </a:prstGeom>
          <a:noFill/>
        </p:spPr>
        <p:txBody>
          <a:bodyPr wrap="square" rtlCol="0">
            <a:spAutoFit/>
          </a:bodyPr>
          <a:lstStyle/>
          <a:p>
            <a:r>
              <a:rPr lang="en-US" altLang="zh-CN" sz="3600" b="1" dirty="0">
                <a:solidFill>
                  <a:srgbClr val="FF0000"/>
                </a:solidFill>
              </a:rPr>
              <a:t>2023</a:t>
            </a:r>
            <a:r>
              <a:rPr lang="zh-CN" altLang="en-US" sz="3600" b="1" dirty="0">
                <a:solidFill>
                  <a:srgbClr val="FF0000"/>
                </a:solidFill>
              </a:rPr>
              <a:t>年韩国室温常压超导的乌龙：</a:t>
            </a:r>
            <a:r>
              <a:rPr lang="en-US" altLang="zh-CN" sz="3600" b="1" dirty="0">
                <a:solidFill>
                  <a:srgbClr val="FF0000"/>
                </a:solidFill>
              </a:rPr>
              <a:t>LK99!</a:t>
            </a:r>
          </a:p>
        </p:txBody>
      </p:sp>
      <p:sp>
        <p:nvSpPr>
          <p:cNvPr id="4" name="椭圆 3"/>
          <p:cNvSpPr/>
          <p:nvPr/>
        </p:nvSpPr>
        <p:spPr>
          <a:xfrm>
            <a:off x="7982942" y="3802197"/>
            <a:ext cx="3888365" cy="2402649"/>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b="1" dirty="0"/>
          </a:p>
        </p:txBody>
      </p:sp>
      <p:pic>
        <p:nvPicPr>
          <p:cNvPr id="5122" name="Picture 2" descr="科技人物|竺可桢 | 近代中国“问天”第一人！_澎湃号·政务_澎湃新闻-The Pa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2489" y="1791044"/>
            <a:ext cx="2112264" cy="242747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8289496" y="4373763"/>
            <a:ext cx="3275256" cy="1015663"/>
          </a:xfrm>
          <a:prstGeom prst="rect">
            <a:avLst/>
          </a:prstGeom>
        </p:spPr>
        <p:txBody>
          <a:bodyPr wrap="none">
            <a:spAutoFit/>
          </a:bodyPr>
          <a:lstStyle/>
          <a:p>
            <a:pPr lvl="0" algn="ctr"/>
            <a:r>
              <a:rPr lang="zh-CN" altLang="en-US" sz="6000" b="1" dirty="0">
                <a:solidFill>
                  <a:srgbClr val="FF0000"/>
                </a:solidFill>
                <a:latin typeface="隶书" panose="02010509060101010101" pitchFamily="49" charset="-122"/>
                <a:ea typeface="隶书" panose="02010509060101010101" pitchFamily="49" charset="-122"/>
              </a:rPr>
              <a:t>求是</a:t>
            </a:r>
            <a:r>
              <a:rPr lang="zh-CN" altLang="en-US" sz="6000" b="1" dirty="0">
                <a:solidFill>
                  <a:prstClr val="black"/>
                </a:solidFill>
                <a:latin typeface="隶书" panose="02010509060101010101" pitchFamily="49" charset="-122"/>
                <a:ea typeface="隶书" panose="02010509060101010101" pitchFamily="49" charset="-122"/>
              </a:rPr>
              <a:t>创新</a:t>
            </a:r>
            <a:endParaRPr lang="zh-CN" altLang="en-US" sz="6000" b="1" dirty="0">
              <a:solidFill>
                <a:prstClr val="white"/>
              </a:solidFill>
              <a:latin typeface="隶书" panose="02010509060101010101" pitchFamily="49" charset="-122"/>
              <a:ea typeface="隶书" panose="02010509060101010101" pitchFamily="49"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720" y="2046595"/>
            <a:ext cx="4047744" cy="2498217"/>
          </a:xfrm>
          <a:prstGeom prst="rect">
            <a:avLst/>
          </a:prstGeom>
        </p:spPr>
      </p:pic>
      <p:pic>
        <p:nvPicPr>
          <p:cNvPr id="10" name="图片 9"/>
          <p:cNvPicPr>
            <a:picLocks noChangeAspect="1"/>
          </p:cNvPicPr>
          <p:nvPr/>
        </p:nvPicPr>
        <p:blipFill rotWithShape="1">
          <a:blip r:embed="rId5"/>
          <a:srcRect b="27877"/>
          <a:stretch/>
        </p:blipFill>
        <p:spPr>
          <a:xfrm>
            <a:off x="526250" y="4825633"/>
            <a:ext cx="5893543" cy="1371871"/>
          </a:xfrm>
          <a:prstGeom prst="rect">
            <a:avLst/>
          </a:prstGeom>
        </p:spPr>
      </p:pic>
      <p:pic>
        <p:nvPicPr>
          <p:cNvPr id="5124" name="Picture 4" descr="https://1-im.guokr.com/7Bxf7U6ztw9ruJ7yVdciNoa6zsLRU4GSOJ2wCxhu25Z_AgAAqwEAAEpQ.jpg?imageView2/1/w/555/h/3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2587" y="2775183"/>
            <a:ext cx="3574412" cy="2382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5151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16" descr="图片包含 建筑物, 蛋糕&#10;&#10;描述已自动生成">
            <a:extLst>
              <a:ext uri="{FF2B5EF4-FFF2-40B4-BE49-F238E27FC236}">
                <a16:creationId xmlns:a16="http://schemas.microsoft.com/office/drawing/2014/main" id="{FB82ED54-5D9B-4BE2-B820-EC20C87D730D}"/>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rcRect t="3926" b="3926"/>
          <a:stretch>
            <a:fillRect/>
          </a:stretch>
        </p:blipFill>
        <p:spPr>
          <a:xfrm>
            <a:off x="306041" y="375129"/>
            <a:ext cx="10858207" cy="6107742"/>
          </a:xfrm>
          <a:prstGeom prst="rect">
            <a:avLst/>
          </a:prstGeom>
        </p:spPr>
      </p:pic>
      <p:sp>
        <p:nvSpPr>
          <p:cNvPr id="2" name="日期占位符 2">
            <a:extLst>
              <a:ext uri="{FF2B5EF4-FFF2-40B4-BE49-F238E27FC236}">
                <a16:creationId xmlns:a16="http://schemas.microsoft.com/office/drawing/2014/main" id="{D68E5461-33C8-4ECD-B0EA-78223C314149}"/>
              </a:ext>
            </a:extLst>
          </p:cNvPr>
          <p:cNvSpPr txBox="1">
            <a:spLocks/>
          </p:cNvSpPr>
          <p:nvPr/>
        </p:nvSpPr>
        <p:spPr>
          <a:xfrm>
            <a:off x="1196455" y="4608513"/>
            <a:ext cx="2071273" cy="289488"/>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56"/>
              </a:spcAft>
            </a:pPr>
            <a:fld id="{87A43631-42BC-4255-9B30-786C9543311F}" type="datetimeFigureOut">
              <a:rPr lang="zh-CN" altLang="en-US" sz="1013"/>
              <a:pPr>
                <a:lnSpc>
                  <a:spcPct val="120000"/>
                </a:lnSpc>
                <a:spcAft>
                  <a:spcPts val="56"/>
                </a:spcAft>
              </a:pPr>
              <a:t>2025/7/10</a:t>
            </a:fld>
            <a:endParaRPr lang="zh-CN" altLang="en-US" sz="1013"/>
          </a:p>
        </p:txBody>
      </p:sp>
      <p:sp>
        <p:nvSpPr>
          <p:cNvPr id="3" name="灯片编号占位符 4">
            <a:extLst>
              <a:ext uri="{FF2B5EF4-FFF2-40B4-BE49-F238E27FC236}">
                <a16:creationId xmlns:a16="http://schemas.microsoft.com/office/drawing/2014/main" id="{6EA75E7D-BC97-4B1B-B614-6CEC5627A44A}"/>
              </a:ext>
            </a:extLst>
          </p:cNvPr>
          <p:cNvSpPr txBox="1">
            <a:spLocks/>
          </p:cNvSpPr>
          <p:nvPr/>
        </p:nvSpPr>
        <p:spPr>
          <a:xfrm>
            <a:off x="6160654" y="4607795"/>
            <a:ext cx="2071273" cy="2905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56"/>
              </a:spcAft>
            </a:pPr>
            <a:fld id="{1AAC388E-FA9E-4A2C-95EA-1F6B3A07935A}" type="slidenum">
              <a:rPr lang="zh-CN" altLang="en-US" sz="1013"/>
              <a:pPr>
                <a:lnSpc>
                  <a:spcPct val="120000"/>
                </a:lnSpc>
                <a:spcAft>
                  <a:spcPts val="56"/>
                </a:spcAft>
              </a:pPr>
              <a:t>28</a:t>
            </a:fld>
            <a:endParaRPr lang="zh-CN" altLang="en-US" sz="1013"/>
          </a:p>
        </p:txBody>
      </p:sp>
      <p:sp>
        <p:nvSpPr>
          <p:cNvPr id="5" name="任意多边形: 形状 4">
            <a:extLst>
              <a:ext uri="{FF2B5EF4-FFF2-40B4-BE49-F238E27FC236}">
                <a16:creationId xmlns:a16="http://schemas.microsoft.com/office/drawing/2014/main" id="{49559A8C-B727-4F4A-8F37-516EADD8DB9C}"/>
              </a:ext>
            </a:extLst>
          </p:cNvPr>
          <p:cNvSpPr/>
          <p:nvPr/>
        </p:nvSpPr>
        <p:spPr>
          <a:xfrm>
            <a:off x="-6265" y="3036521"/>
            <a:ext cx="12192000" cy="3433128"/>
          </a:xfrm>
          <a:custGeom>
            <a:avLst/>
            <a:gdLst>
              <a:gd name="connsiteX0" fmla="*/ 0 w 12192000"/>
              <a:gd name="connsiteY0" fmla="*/ 0 h 4037813"/>
              <a:gd name="connsiteX1" fmla="*/ 106773 w 12192000"/>
              <a:gd name="connsiteY1" fmla="*/ 36445 h 4037813"/>
              <a:gd name="connsiteX2" fmla="*/ 6096001 w 12192000"/>
              <a:gd name="connsiteY2" fmla="*/ 883678 h 4037813"/>
              <a:gd name="connsiteX3" fmla="*/ 12085229 w 12192000"/>
              <a:gd name="connsiteY3" fmla="*/ 36445 h 4037813"/>
              <a:gd name="connsiteX4" fmla="*/ 12192000 w 12192000"/>
              <a:gd name="connsiteY4" fmla="*/ 1 h 4037813"/>
              <a:gd name="connsiteX5" fmla="*/ 12192000 w 12192000"/>
              <a:gd name="connsiteY5" fmla="*/ 4037813 h 4037813"/>
              <a:gd name="connsiteX6" fmla="*/ 0 w 12192000"/>
              <a:gd name="connsiteY6" fmla="*/ 4037813 h 403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7813">
                <a:moveTo>
                  <a:pt x="0" y="0"/>
                </a:moveTo>
                <a:lnTo>
                  <a:pt x="106773" y="36445"/>
                </a:lnTo>
                <a:cubicBezTo>
                  <a:pt x="1734353" y="565729"/>
                  <a:pt x="3820949" y="883678"/>
                  <a:pt x="6096001" y="883678"/>
                </a:cubicBezTo>
                <a:cubicBezTo>
                  <a:pt x="8371054" y="883678"/>
                  <a:pt x="10457649" y="565729"/>
                  <a:pt x="12085229" y="36445"/>
                </a:cubicBezTo>
                <a:lnTo>
                  <a:pt x="12192000" y="1"/>
                </a:lnTo>
                <a:lnTo>
                  <a:pt x="12192000" y="4037813"/>
                </a:lnTo>
                <a:lnTo>
                  <a:pt x="0" y="4037813"/>
                </a:lnTo>
                <a:close/>
              </a:path>
            </a:pathLst>
          </a:cu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56"/>
              </a:spcAft>
            </a:pPr>
            <a:endParaRPr lang="zh-CN" altLang="en-US" sz="1013"/>
          </a:p>
        </p:txBody>
      </p:sp>
      <p:sp>
        <p:nvSpPr>
          <p:cNvPr id="75" name="标题 86">
            <a:extLst>
              <a:ext uri="{FF2B5EF4-FFF2-40B4-BE49-F238E27FC236}">
                <a16:creationId xmlns:a16="http://schemas.microsoft.com/office/drawing/2014/main" id="{5EB85CF2-AA21-4BD0-A643-6F92E41264B6}"/>
              </a:ext>
            </a:extLst>
          </p:cNvPr>
          <p:cNvSpPr txBox="1">
            <a:spLocks/>
          </p:cNvSpPr>
          <p:nvPr/>
        </p:nvSpPr>
        <p:spPr>
          <a:xfrm>
            <a:off x="2917132" y="3672278"/>
            <a:ext cx="4736306" cy="942216"/>
          </a:xfrm>
          <a:prstGeom prst="rect">
            <a:avLst/>
          </a:prstGeom>
        </p:spPr>
        <p:txBody>
          <a:bodyPr anchor="ctr"/>
          <a:lstStyle>
            <a:lvl1pPr algn="l" defTabSz="914400" rtl="0" eaLnBrk="1" latinLnBrk="0" hangingPunct="1">
              <a:lnSpc>
                <a:spcPct val="90000"/>
              </a:lnSpc>
              <a:spcBef>
                <a:spcPct val="0"/>
              </a:spcBef>
              <a:buNone/>
              <a:defRPr lang="zh-CN" altLang="en-US" sz="5400" b="1" kern="1200" dirty="0">
                <a:solidFill>
                  <a:schemeClr val="bg1"/>
                </a:solidFill>
                <a:latin typeface="+mj-lt"/>
                <a:ea typeface="+mj-ea"/>
                <a:cs typeface="+mj-cs"/>
              </a:defRPr>
            </a:lvl1pPr>
          </a:lstStyle>
          <a:p>
            <a:pPr algn="ctr">
              <a:lnSpc>
                <a:spcPct val="120000"/>
              </a:lnSpc>
              <a:spcAft>
                <a:spcPts val="56"/>
              </a:spcAft>
            </a:pPr>
            <a:endParaRPr lang="en-US" altLang="zh-CN" sz="2700" dirty="0">
              <a:latin typeface="方正粗雅宋简体" panose="02000000000000000000" pitchFamily="2" charset="-122"/>
              <a:ea typeface="方正粗雅宋简体" panose="02000000000000000000" pitchFamily="2" charset="-122"/>
            </a:endParaRPr>
          </a:p>
        </p:txBody>
      </p:sp>
      <p:grpSp>
        <p:nvGrpSpPr>
          <p:cNvPr id="76" name="Group 74">
            <a:extLst>
              <a:ext uri="{FF2B5EF4-FFF2-40B4-BE49-F238E27FC236}">
                <a16:creationId xmlns:a16="http://schemas.microsoft.com/office/drawing/2014/main" id="{806E9086-0A2B-466D-9839-DB17018E62C6}"/>
              </a:ext>
            </a:extLst>
          </p:cNvPr>
          <p:cNvGrpSpPr>
            <a:grpSpLocks noChangeAspect="1"/>
          </p:cNvGrpSpPr>
          <p:nvPr/>
        </p:nvGrpSpPr>
        <p:grpSpPr bwMode="auto">
          <a:xfrm>
            <a:off x="5364237" y="5566504"/>
            <a:ext cx="1592834" cy="443082"/>
            <a:chOff x="954" y="660"/>
            <a:chExt cx="1269" cy="353"/>
          </a:xfrm>
          <a:solidFill>
            <a:schemeClr val="bg1"/>
          </a:solidFill>
        </p:grpSpPr>
        <p:sp>
          <p:nvSpPr>
            <p:cNvPr id="77" name="Freeform 75">
              <a:extLst>
                <a:ext uri="{FF2B5EF4-FFF2-40B4-BE49-F238E27FC236}">
                  <a16:creationId xmlns:a16="http://schemas.microsoft.com/office/drawing/2014/main" id="{37CE5326-F493-4E8C-BDF8-7FAD10D84CC6}"/>
                </a:ext>
              </a:extLst>
            </p:cNvPr>
            <p:cNvSpPr>
              <a:spLocks/>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78" name="Freeform 76">
              <a:extLst>
                <a:ext uri="{FF2B5EF4-FFF2-40B4-BE49-F238E27FC236}">
                  <a16:creationId xmlns:a16="http://schemas.microsoft.com/office/drawing/2014/main" id="{ED4BA523-69BC-4844-8879-90BD88E7F01D}"/>
                </a:ext>
              </a:extLst>
            </p:cNvPr>
            <p:cNvSpPr>
              <a:spLocks/>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79" name="Freeform 77">
              <a:extLst>
                <a:ext uri="{FF2B5EF4-FFF2-40B4-BE49-F238E27FC236}">
                  <a16:creationId xmlns:a16="http://schemas.microsoft.com/office/drawing/2014/main" id="{D7316549-5B7A-42CD-A2F5-1A7CAB944CE5}"/>
                </a:ext>
              </a:extLst>
            </p:cNvPr>
            <p:cNvSpPr>
              <a:spLocks/>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0" name="Freeform 78">
              <a:extLst>
                <a:ext uri="{FF2B5EF4-FFF2-40B4-BE49-F238E27FC236}">
                  <a16:creationId xmlns:a16="http://schemas.microsoft.com/office/drawing/2014/main" id="{D31D834B-6C6E-48D6-9D85-A0D19A33D7DD}"/>
                </a:ext>
              </a:extLst>
            </p:cNvPr>
            <p:cNvSpPr>
              <a:spLocks/>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1" name="Freeform 79">
              <a:extLst>
                <a:ext uri="{FF2B5EF4-FFF2-40B4-BE49-F238E27FC236}">
                  <a16:creationId xmlns:a16="http://schemas.microsoft.com/office/drawing/2014/main" id="{B3FEA7DB-A0E4-4F94-8534-D3E08B6CA1AF}"/>
                </a:ext>
              </a:extLst>
            </p:cNvPr>
            <p:cNvSpPr>
              <a:spLocks/>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2" name="Freeform 80">
              <a:extLst>
                <a:ext uri="{FF2B5EF4-FFF2-40B4-BE49-F238E27FC236}">
                  <a16:creationId xmlns:a16="http://schemas.microsoft.com/office/drawing/2014/main" id="{07E66D22-E488-4214-9457-D6E59D1064F6}"/>
                </a:ext>
              </a:extLst>
            </p:cNvPr>
            <p:cNvSpPr>
              <a:spLocks/>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3" name="Freeform 81">
              <a:extLst>
                <a:ext uri="{FF2B5EF4-FFF2-40B4-BE49-F238E27FC236}">
                  <a16:creationId xmlns:a16="http://schemas.microsoft.com/office/drawing/2014/main" id="{906B859D-6B39-4F90-936E-AD59A8DC6EE1}"/>
                </a:ext>
              </a:extLst>
            </p:cNvPr>
            <p:cNvSpPr>
              <a:spLocks/>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4" name="Freeform 82">
              <a:extLst>
                <a:ext uri="{FF2B5EF4-FFF2-40B4-BE49-F238E27FC236}">
                  <a16:creationId xmlns:a16="http://schemas.microsoft.com/office/drawing/2014/main" id="{9E5CDC41-94AD-4D99-A4AF-AAD69D30A910}"/>
                </a:ext>
              </a:extLst>
            </p:cNvPr>
            <p:cNvSpPr>
              <a:spLocks/>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5" name="Freeform 83">
              <a:extLst>
                <a:ext uri="{FF2B5EF4-FFF2-40B4-BE49-F238E27FC236}">
                  <a16:creationId xmlns:a16="http://schemas.microsoft.com/office/drawing/2014/main" id="{CD0AAE36-9DBE-490B-BD59-F61A2AED45D9}"/>
                </a:ext>
              </a:extLst>
            </p:cNvPr>
            <p:cNvSpPr>
              <a:spLocks/>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6" name="Freeform 84">
              <a:extLst>
                <a:ext uri="{FF2B5EF4-FFF2-40B4-BE49-F238E27FC236}">
                  <a16:creationId xmlns:a16="http://schemas.microsoft.com/office/drawing/2014/main" id="{707372F4-6AC9-4216-9F31-8EA84034705F}"/>
                </a:ext>
              </a:extLst>
            </p:cNvPr>
            <p:cNvSpPr>
              <a:spLocks/>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7" name="Freeform 85">
              <a:extLst>
                <a:ext uri="{FF2B5EF4-FFF2-40B4-BE49-F238E27FC236}">
                  <a16:creationId xmlns:a16="http://schemas.microsoft.com/office/drawing/2014/main" id="{51ED8FEB-4EE3-41A1-AD91-FEE41E02420B}"/>
                </a:ext>
              </a:extLst>
            </p:cNvPr>
            <p:cNvSpPr>
              <a:spLocks/>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8" name="Freeform 86">
              <a:extLst>
                <a:ext uri="{FF2B5EF4-FFF2-40B4-BE49-F238E27FC236}">
                  <a16:creationId xmlns:a16="http://schemas.microsoft.com/office/drawing/2014/main" id="{4244F7A9-8DC7-4B7B-A505-47B451E60CCA}"/>
                </a:ext>
              </a:extLst>
            </p:cNvPr>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89" name="Freeform 87">
              <a:extLst>
                <a:ext uri="{FF2B5EF4-FFF2-40B4-BE49-F238E27FC236}">
                  <a16:creationId xmlns:a16="http://schemas.microsoft.com/office/drawing/2014/main" id="{F2EC1E1E-4A75-461B-9D02-FBA8E8622D71}"/>
                </a:ext>
              </a:extLst>
            </p:cNvPr>
            <p:cNvSpPr>
              <a:spLocks/>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0" name="Freeform 88">
              <a:extLst>
                <a:ext uri="{FF2B5EF4-FFF2-40B4-BE49-F238E27FC236}">
                  <a16:creationId xmlns:a16="http://schemas.microsoft.com/office/drawing/2014/main" id="{DB7E826D-636D-40B7-857D-408BE8B4CF7E}"/>
                </a:ext>
              </a:extLst>
            </p:cNvPr>
            <p:cNvSpPr>
              <a:spLocks/>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1" name="Freeform 89">
              <a:extLst>
                <a:ext uri="{FF2B5EF4-FFF2-40B4-BE49-F238E27FC236}">
                  <a16:creationId xmlns:a16="http://schemas.microsoft.com/office/drawing/2014/main" id="{4A2C7FF0-E099-4CB6-89FC-0C752C8A0EAA}"/>
                </a:ext>
              </a:extLst>
            </p:cNvPr>
            <p:cNvSpPr>
              <a:spLocks/>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2" name="Freeform 90">
              <a:extLst>
                <a:ext uri="{FF2B5EF4-FFF2-40B4-BE49-F238E27FC236}">
                  <a16:creationId xmlns:a16="http://schemas.microsoft.com/office/drawing/2014/main" id="{72A14B52-FCF5-439F-8F7A-307EB1FB6C08}"/>
                </a:ext>
              </a:extLst>
            </p:cNvPr>
            <p:cNvSpPr>
              <a:spLocks/>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3" name="Freeform 91">
              <a:extLst>
                <a:ext uri="{FF2B5EF4-FFF2-40B4-BE49-F238E27FC236}">
                  <a16:creationId xmlns:a16="http://schemas.microsoft.com/office/drawing/2014/main" id="{210DDF3A-7FB1-455B-83D3-6853374F938C}"/>
                </a:ext>
              </a:extLst>
            </p:cNvPr>
            <p:cNvSpPr>
              <a:spLocks/>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4" name="Freeform 92">
              <a:extLst>
                <a:ext uri="{FF2B5EF4-FFF2-40B4-BE49-F238E27FC236}">
                  <a16:creationId xmlns:a16="http://schemas.microsoft.com/office/drawing/2014/main" id="{D8FBA249-873A-420A-8F92-6795A43C934A}"/>
                </a:ext>
              </a:extLst>
            </p:cNvPr>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5" name="Freeform 93">
              <a:extLst>
                <a:ext uri="{FF2B5EF4-FFF2-40B4-BE49-F238E27FC236}">
                  <a16:creationId xmlns:a16="http://schemas.microsoft.com/office/drawing/2014/main" id="{721B5B9A-3D91-4F40-B602-9C38F08BFDB0}"/>
                </a:ext>
              </a:extLst>
            </p:cNvPr>
            <p:cNvSpPr>
              <a:spLocks/>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6" name="Freeform 94">
              <a:extLst>
                <a:ext uri="{FF2B5EF4-FFF2-40B4-BE49-F238E27FC236}">
                  <a16:creationId xmlns:a16="http://schemas.microsoft.com/office/drawing/2014/main" id="{920685BB-4B2A-4121-BE0E-CB335C38FA24}"/>
                </a:ext>
              </a:extLst>
            </p:cNvPr>
            <p:cNvSpPr>
              <a:spLocks/>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7" name="Freeform 95">
              <a:extLst>
                <a:ext uri="{FF2B5EF4-FFF2-40B4-BE49-F238E27FC236}">
                  <a16:creationId xmlns:a16="http://schemas.microsoft.com/office/drawing/2014/main" id="{6B6540AF-832C-47B2-9EC6-335A1E45BD43}"/>
                </a:ext>
              </a:extLst>
            </p:cNvPr>
            <p:cNvSpPr>
              <a:spLocks/>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8" name="Freeform 96">
              <a:extLst>
                <a:ext uri="{FF2B5EF4-FFF2-40B4-BE49-F238E27FC236}">
                  <a16:creationId xmlns:a16="http://schemas.microsoft.com/office/drawing/2014/main" id="{588ED9FE-724F-427D-86C5-C3B3FE65912A}"/>
                </a:ext>
              </a:extLst>
            </p:cNvPr>
            <p:cNvSpPr>
              <a:spLocks/>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99" name="Freeform 97">
              <a:extLst>
                <a:ext uri="{FF2B5EF4-FFF2-40B4-BE49-F238E27FC236}">
                  <a16:creationId xmlns:a16="http://schemas.microsoft.com/office/drawing/2014/main" id="{6B341F3B-45D5-464B-926B-23F379D9D5FE}"/>
                </a:ext>
              </a:extLst>
            </p:cNvPr>
            <p:cNvSpPr>
              <a:spLocks/>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0" name="Freeform 98">
              <a:extLst>
                <a:ext uri="{FF2B5EF4-FFF2-40B4-BE49-F238E27FC236}">
                  <a16:creationId xmlns:a16="http://schemas.microsoft.com/office/drawing/2014/main" id="{A675F9CE-73F1-4F07-AEDB-430F25BAF2A0}"/>
                </a:ext>
              </a:extLst>
            </p:cNvPr>
            <p:cNvSpPr>
              <a:spLocks/>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1" name="Freeform 99">
              <a:extLst>
                <a:ext uri="{FF2B5EF4-FFF2-40B4-BE49-F238E27FC236}">
                  <a16:creationId xmlns:a16="http://schemas.microsoft.com/office/drawing/2014/main" id="{3BF318CA-8EFA-438F-9DBD-429F10DFC55E}"/>
                </a:ext>
              </a:extLst>
            </p:cNvPr>
            <p:cNvSpPr>
              <a:spLocks/>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2" name="Freeform 100">
              <a:extLst>
                <a:ext uri="{FF2B5EF4-FFF2-40B4-BE49-F238E27FC236}">
                  <a16:creationId xmlns:a16="http://schemas.microsoft.com/office/drawing/2014/main" id="{9077264B-7436-45B4-917D-4AE2F59543DE}"/>
                </a:ext>
              </a:extLst>
            </p:cNvPr>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3" name="Freeform 101">
              <a:extLst>
                <a:ext uri="{FF2B5EF4-FFF2-40B4-BE49-F238E27FC236}">
                  <a16:creationId xmlns:a16="http://schemas.microsoft.com/office/drawing/2014/main" id="{F8DF5FB6-E020-4BA0-9852-054D87A07B8E}"/>
                </a:ext>
              </a:extLst>
            </p:cNvPr>
            <p:cNvSpPr>
              <a:spLocks/>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4" name="Freeform 102">
              <a:extLst>
                <a:ext uri="{FF2B5EF4-FFF2-40B4-BE49-F238E27FC236}">
                  <a16:creationId xmlns:a16="http://schemas.microsoft.com/office/drawing/2014/main" id="{15D86F2D-B366-4E60-BB2F-800AEEBFC519}"/>
                </a:ext>
              </a:extLst>
            </p:cNvPr>
            <p:cNvSpPr>
              <a:spLocks/>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5" name="Freeform 103">
              <a:extLst>
                <a:ext uri="{FF2B5EF4-FFF2-40B4-BE49-F238E27FC236}">
                  <a16:creationId xmlns:a16="http://schemas.microsoft.com/office/drawing/2014/main" id="{F0F228B6-44B5-47E7-9063-1647A0746FE8}"/>
                </a:ext>
              </a:extLst>
            </p:cNvPr>
            <p:cNvSpPr>
              <a:spLocks/>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6" name="Freeform 104">
              <a:extLst>
                <a:ext uri="{FF2B5EF4-FFF2-40B4-BE49-F238E27FC236}">
                  <a16:creationId xmlns:a16="http://schemas.microsoft.com/office/drawing/2014/main" id="{05B41817-C9AC-4638-A15A-C65E648C89BE}"/>
                </a:ext>
              </a:extLst>
            </p:cNvPr>
            <p:cNvSpPr>
              <a:spLocks/>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7" name="Freeform 105">
              <a:extLst>
                <a:ext uri="{FF2B5EF4-FFF2-40B4-BE49-F238E27FC236}">
                  <a16:creationId xmlns:a16="http://schemas.microsoft.com/office/drawing/2014/main" id="{8D2C22D0-7B86-4535-83AD-2F518D99BB5B}"/>
                </a:ext>
              </a:extLst>
            </p:cNvPr>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8" name="Freeform 106">
              <a:extLst>
                <a:ext uri="{FF2B5EF4-FFF2-40B4-BE49-F238E27FC236}">
                  <a16:creationId xmlns:a16="http://schemas.microsoft.com/office/drawing/2014/main" id="{934A150E-A3B3-4FC2-BFE5-A3977D9AD978}"/>
                </a:ext>
              </a:extLst>
            </p:cNvPr>
            <p:cNvSpPr>
              <a:spLocks/>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09" name="Freeform 107">
              <a:extLst>
                <a:ext uri="{FF2B5EF4-FFF2-40B4-BE49-F238E27FC236}">
                  <a16:creationId xmlns:a16="http://schemas.microsoft.com/office/drawing/2014/main" id="{7EE6CE45-28C4-4F47-9729-2B0334E27C5E}"/>
                </a:ext>
              </a:extLst>
            </p:cNvPr>
            <p:cNvSpPr>
              <a:spLocks/>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0" name="Freeform 108">
              <a:extLst>
                <a:ext uri="{FF2B5EF4-FFF2-40B4-BE49-F238E27FC236}">
                  <a16:creationId xmlns:a16="http://schemas.microsoft.com/office/drawing/2014/main" id="{15A327D2-7912-4808-B4A6-3FBABB3321D9}"/>
                </a:ext>
              </a:extLst>
            </p:cNvPr>
            <p:cNvSpPr>
              <a:spLocks/>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1" name="Freeform 109">
              <a:extLst>
                <a:ext uri="{FF2B5EF4-FFF2-40B4-BE49-F238E27FC236}">
                  <a16:creationId xmlns:a16="http://schemas.microsoft.com/office/drawing/2014/main" id="{B729E54D-35EF-4FCF-98ED-063EC9B36F12}"/>
                </a:ext>
              </a:extLst>
            </p:cNvPr>
            <p:cNvSpPr>
              <a:spLocks/>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2" name="Freeform 110">
              <a:extLst>
                <a:ext uri="{FF2B5EF4-FFF2-40B4-BE49-F238E27FC236}">
                  <a16:creationId xmlns:a16="http://schemas.microsoft.com/office/drawing/2014/main" id="{3F9BB731-9479-45C1-809F-6363624180B6}"/>
                </a:ext>
              </a:extLst>
            </p:cNvPr>
            <p:cNvSpPr>
              <a:spLocks/>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3" name="Freeform 111">
              <a:extLst>
                <a:ext uri="{FF2B5EF4-FFF2-40B4-BE49-F238E27FC236}">
                  <a16:creationId xmlns:a16="http://schemas.microsoft.com/office/drawing/2014/main" id="{0171B7E7-9783-4C3F-8AC4-86548F27A2C8}"/>
                </a:ext>
              </a:extLst>
            </p:cNvPr>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4" name="Freeform 112">
              <a:extLst>
                <a:ext uri="{FF2B5EF4-FFF2-40B4-BE49-F238E27FC236}">
                  <a16:creationId xmlns:a16="http://schemas.microsoft.com/office/drawing/2014/main" id="{E2AD9E5D-C071-4007-92F5-3C0700220313}"/>
                </a:ext>
              </a:extLst>
            </p:cNvPr>
            <p:cNvSpPr>
              <a:spLocks/>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5" name="Freeform 113">
              <a:extLst>
                <a:ext uri="{FF2B5EF4-FFF2-40B4-BE49-F238E27FC236}">
                  <a16:creationId xmlns:a16="http://schemas.microsoft.com/office/drawing/2014/main" id="{76C61428-4B8F-4211-BEEE-EFB70AD748E8}"/>
                </a:ext>
              </a:extLst>
            </p:cNvPr>
            <p:cNvSpPr>
              <a:spLocks/>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6" name="Freeform 114">
              <a:extLst>
                <a:ext uri="{FF2B5EF4-FFF2-40B4-BE49-F238E27FC236}">
                  <a16:creationId xmlns:a16="http://schemas.microsoft.com/office/drawing/2014/main" id="{9D715EB2-0A69-4AA7-B3E9-0775ED5E4B1B}"/>
                </a:ext>
              </a:extLst>
            </p:cNvPr>
            <p:cNvSpPr>
              <a:spLocks/>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7" name="Freeform 115">
              <a:extLst>
                <a:ext uri="{FF2B5EF4-FFF2-40B4-BE49-F238E27FC236}">
                  <a16:creationId xmlns:a16="http://schemas.microsoft.com/office/drawing/2014/main" id="{E94DC579-550F-4749-B8B8-6374D698469A}"/>
                </a:ext>
              </a:extLst>
            </p:cNvPr>
            <p:cNvSpPr>
              <a:spLocks/>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8" name="Freeform 116">
              <a:extLst>
                <a:ext uri="{FF2B5EF4-FFF2-40B4-BE49-F238E27FC236}">
                  <a16:creationId xmlns:a16="http://schemas.microsoft.com/office/drawing/2014/main" id="{B9F917C8-E97B-4963-86CD-576E1FE89862}"/>
                </a:ext>
              </a:extLst>
            </p:cNvPr>
            <p:cNvSpPr>
              <a:spLocks/>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19" name="Freeform 117">
              <a:extLst>
                <a:ext uri="{FF2B5EF4-FFF2-40B4-BE49-F238E27FC236}">
                  <a16:creationId xmlns:a16="http://schemas.microsoft.com/office/drawing/2014/main" id="{5CBB8DD8-315B-4C08-8823-484B0E92D99A}"/>
                </a:ext>
              </a:extLst>
            </p:cNvPr>
            <p:cNvSpPr>
              <a:spLocks/>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0" name="Freeform 118">
              <a:extLst>
                <a:ext uri="{FF2B5EF4-FFF2-40B4-BE49-F238E27FC236}">
                  <a16:creationId xmlns:a16="http://schemas.microsoft.com/office/drawing/2014/main" id="{3588299D-E1CF-439B-86A9-8384E797DDC2}"/>
                </a:ext>
              </a:extLst>
            </p:cNvPr>
            <p:cNvSpPr>
              <a:spLocks/>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1" name="Freeform 119">
              <a:extLst>
                <a:ext uri="{FF2B5EF4-FFF2-40B4-BE49-F238E27FC236}">
                  <a16:creationId xmlns:a16="http://schemas.microsoft.com/office/drawing/2014/main" id="{556C29E1-34FC-4341-B0ED-731F3154DEBE}"/>
                </a:ext>
              </a:extLst>
            </p:cNvPr>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2" name="Freeform 120">
              <a:extLst>
                <a:ext uri="{FF2B5EF4-FFF2-40B4-BE49-F238E27FC236}">
                  <a16:creationId xmlns:a16="http://schemas.microsoft.com/office/drawing/2014/main" id="{6F1CD009-B67E-4E0A-9DB0-EE2A8D2B384B}"/>
                </a:ext>
              </a:extLst>
            </p:cNvPr>
            <p:cNvSpPr>
              <a:spLocks/>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3" name="Freeform 121">
              <a:extLst>
                <a:ext uri="{FF2B5EF4-FFF2-40B4-BE49-F238E27FC236}">
                  <a16:creationId xmlns:a16="http://schemas.microsoft.com/office/drawing/2014/main" id="{100665FC-9BB9-4BBD-A68E-D26D3F7AA00C}"/>
                </a:ext>
              </a:extLst>
            </p:cNvPr>
            <p:cNvSpPr>
              <a:spLocks/>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4" name="Freeform 122">
              <a:extLst>
                <a:ext uri="{FF2B5EF4-FFF2-40B4-BE49-F238E27FC236}">
                  <a16:creationId xmlns:a16="http://schemas.microsoft.com/office/drawing/2014/main" id="{DE552CF7-DB35-4305-9611-416F5DD98A7A}"/>
                </a:ext>
              </a:extLst>
            </p:cNvPr>
            <p:cNvSpPr>
              <a:spLocks/>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5" name="Freeform 123">
              <a:extLst>
                <a:ext uri="{FF2B5EF4-FFF2-40B4-BE49-F238E27FC236}">
                  <a16:creationId xmlns:a16="http://schemas.microsoft.com/office/drawing/2014/main" id="{43481D10-3A84-4760-B423-C9E6B9C3468E}"/>
                </a:ext>
              </a:extLst>
            </p:cNvPr>
            <p:cNvSpPr>
              <a:spLocks/>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6" name="Freeform 124">
              <a:extLst>
                <a:ext uri="{FF2B5EF4-FFF2-40B4-BE49-F238E27FC236}">
                  <a16:creationId xmlns:a16="http://schemas.microsoft.com/office/drawing/2014/main" id="{B91F1097-9FE8-4D49-B517-456E78CFA7DC}"/>
                </a:ext>
              </a:extLst>
            </p:cNvPr>
            <p:cNvSpPr>
              <a:spLocks/>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7" name="Freeform 125">
              <a:extLst>
                <a:ext uri="{FF2B5EF4-FFF2-40B4-BE49-F238E27FC236}">
                  <a16:creationId xmlns:a16="http://schemas.microsoft.com/office/drawing/2014/main" id="{7907CC1D-D6D4-40D7-9A8F-EAB797FFECC2}"/>
                </a:ext>
              </a:extLst>
            </p:cNvPr>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8" name="Freeform 126">
              <a:extLst>
                <a:ext uri="{FF2B5EF4-FFF2-40B4-BE49-F238E27FC236}">
                  <a16:creationId xmlns:a16="http://schemas.microsoft.com/office/drawing/2014/main" id="{90B80DE8-04C8-460B-8745-62D16F902427}"/>
                </a:ext>
              </a:extLst>
            </p:cNvPr>
            <p:cNvSpPr>
              <a:spLocks/>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29" name="Freeform 127">
              <a:extLst>
                <a:ext uri="{FF2B5EF4-FFF2-40B4-BE49-F238E27FC236}">
                  <a16:creationId xmlns:a16="http://schemas.microsoft.com/office/drawing/2014/main" id="{18AFFFC2-2771-472C-89AB-ACBA50ADF3D9}"/>
                </a:ext>
              </a:extLst>
            </p:cNvPr>
            <p:cNvSpPr>
              <a:spLocks/>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0" name="Freeform 128">
              <a:extLst>
                <a:ext uri="{FF2B5EF4-FFF2-40B4-BE49-F238E27FC236}">
                  <a16:creationId xmlns:a16="http://schemas.microsoft.com/office/drawing/2014/main" id="{D787ACE1-43A9-4AC9-864C-9660C717BB72}"/>
                </a:ext>
              </a:extLst>
            </p:cNvPr>
            <p:cNvSpPr>
              <a:spLocks/>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1" name="Freeform 129">
              <a:extLst>
                <a:ext uri="{FF2B5EF4-FFF2-40B4-BE49-F238E27FC236}">
                  <a16:creationId xmlns:a16="http://schemas.microsoft.com/office/drawing/2014/main" id="{17F742A6-AF75-4186-BF58-723C3A75BAFE}"/>
                </a:ext>
              </a:extLst>
            </p:cNvPr>
            <p:cNvSpPr>
              <a:spLocks/>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2" name="Freeform 130">
              <a:extLst>
                <a:ext uri="{FF2B5EF4-FFF2-40B4-BE49-F238E27FC236}">
                  <a16:creationId xmlns:a16="http://schemas.microsoft.com/office/drawing/2014/main" id="{3734F72B-D5E7-450F-94BA-DCECFCA61725}"/>
                </a:ext>
              </a:extLst>
            </p:cNvPr>
            <p:cNvSpPr>
              <a:spLocks/>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3" name="Freeform 131">
              <a:extLst>
                <a:ext uri="{FF2B5EF4-FFF2-40B4-BE49-F238E27FC236}">
                  <a16:creationId xmlns:a16="http://schemas.microsoft.com/office/drawing/2014/main" id="{9A7BF1C3-CD39-4EB6-8809-1E68E6C1AD8C}"/>
                </a:ext>
              </a:extLst>
            </p:cNvPr>
            <p:cNvSpPr>
              <a:spLocks/>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4" name="Freeform 132">
              <a:extLst>
                <a:ext uri="{FF2B5EF4-FFF2-40B4-BE49-F238E27FC236}">
                  <a16:creationId xmlns:a16="http://schemas.microsoft.com/office/drawing/2014/main" id="{719D0548-485E-43B5-AD82-2CC3D64092D2}"/>
                </a:ext>
              </a:extLst>
            </p:cNvPr>
            <p:cNvSpPr>
              <a:spLocks/>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5" name="Freeform 133">
              <a:extLst>
                <a:ext uri="{FF2B5EF4-FFF2-40B4-BE49-F238E27FC236}">
                  <a16:creationId xmlns:a16="http://schemas.microsoft.com/office/drawing/2014/main" id="{C1EFA3F7-3F39-4356-AFAF-79910B71870E}"/>
                </a:ext>
              </a:extLst>
            </p:cNvPr>
            <p:cNvSpPr>
              <a:spLocks/>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6" name="Freeform 134">
              <a:extLst>
                <a:ext uri="{FF2B5EF4-FFF2-40B4-BE49-F238E27FC236}">
                  <a16:creationId xmlns:a16="http://schemas.microsoft.com/office/drawing/2014/main" id="{C4E9BC4A-679A-4347-96FC-9940AD3DB61F}"/>
                </a:ext>
              </a:extLst>
            </p:cNvPr>
            <p:cNvSpPr>
              <a:spLocks/>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7" name="Freeform 135">
              <a:extLst>
                <a:ext uri="{FF2B5EF4-FFF2-40B4-BE49-F238E27FC236}">
                  <a16:creationId xmlns:a16="http://schemas.microsoft.com/office/drawing/2014/main" id="{FE354F88-3981-486D-AA2B-EBA070534EA7}"/>
                </a:ext>
              </a:extLst>
            </p:cNvPr>
            <p:cNvSpPr>
              <a:spLocks/>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8" name="Freeform 136">
              <a:extLst>
                <a:ext uri="{FF2B5EF4-FFF2-40B4-BE49-F238E27FC236}">
                  <a16:creationId xmlns:a16="http://schemas.microsoft.com/office/drawing/2014/main" id="{F5CCFB55-F671-4BA6-8BC8-AD5D5AE06937}"/>
                </a:ext>
              </a:extLst>
            </p:cNvPr>
            <p:cNvSpPr>
              <a:spLocks/>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39" name="Freeform 137">
              <a:extLst>
                <a:ext uri="{FF2B5EF4-FFF2-40B4-BE49-F238E27FC236}">
                  <a16:creationId xmlns:a16="http://schemas.microsoft.com/office/drawing/2014/main" id="{AF9575AE-AA40-4DF3-8FCC-2E1907B1E601}"/>
                </a:ext>
              </a:extLst>
            </p:cNvPr>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40" name="Freeform 138">
              <a:extLst>
                <a:ext uri="{FF2B5EF4-FFF2-40B4-BE49-F238E27FC236}">
                  <a16:creationId xmlns:a16="http://schemas.microsoft.com/office/drawing/2014/main" id="{8C6EB293-1785-4387-A911-A04366190EC6}"/>
                </a:ext>
              </a:extLst>
            </p:cNvPr>
            <p:cNvSpPr>
              <a:spLocks/>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41" name="Freeform 139">
              <a:extLst>
                <a:ext uri="{FF2B5EF4-FFF2-40B4-BE49-F238E27FC236}">
                  <a16:creationId xmlns:a16="http://schemas.microsoft.com/office/drawing/2014/main" id="{EBE5A59B-46BA-437F-AC44-4C90B0932C57}"/>
                </a:ext>
              </a:extLst>
            </p:cNvPr>
            <p:cNvSpPr>
              <a:spLocks/>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42" name="Freeform 140">
              <a:extLst>
                <a:ext uri="{FF2B5EF4-FFF2-40B4-BE49-F238E27FC236}">
                  <a16:creationId xmlns:a16="http://schemas.microsoft.com/office/drawing/2014/main" id="{ECCFDBAA-3402-4007-AA38-7DD1AC6BC749}"/>
                </a:ext>
              </a:extLst>
            </p:cNvPr>
            <p:cNvSpPr>
              <a:spLocks/>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sp>
          <p:nvSpPr>
            <p:cNvPr id="143" name="Freeform 141">
              <a:extLst>
                <a:ext uri="{FF2B5EF4-FFF2-40B4-BE49-F238E27FC236}">
                  <a16:creationId xmlns:a16="http://schemas.microsoft.com/office/drawing/2014/main" id="{19AE5F3A-8955-4E1D-B915-DD5D96D332D2}"/>
                </a:ext>
              </a:extLst>
            </p:cNvPr>
            <p:cNvSpPr>
              <a:spLocks/>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51435" tIns="25718" rIns="51435" bIns="25718" numCol="1" anchor="t" anchorCtr="0" compatLnSpc="1">
              <a:prstTxWarp prst="textNoShape">
                <a:avLst/>
              </a:prstTxWarp>
            </a:bodyPr>
            <a:lstStyle/>
            <a:p>
              <a:pPr>
                <a:lnSpc>
                  <a:spcPct val="120000"/>
                </a:lnSpc>
                <a:spcAft>
                  <a:spcPts val="56"/>
                </a:spcAft>
              </a:pPr>
              <a:endParaRPr lang="zh-CN" altLang="en-US" sz="1013"/>
            </a:p>
          </p:txBody>
        </p:sp>
      </p:grpSp>
      <p:sp>
        <p:nvSpPr>
          <p:cNvPr id="6" name="文本框 5"/>
          <p:cNvSpPr txBox="1"/>
          <p:nvPr/>
        </p:nvSpPr>
        <p:spPr>
          <a:xfrm>
            <a:off x="4270775" y="2679564"/>
            <a:ext cx="3218688" cy="1323439"/>
          </a:xfrm>
          <a:prstGeom prst="rect">
            <a:avLst/>
          </a:prstGeom>
          <a:noFill/>
        </p:spPr>
        <p:txBody>
          <a:bodyPr wrap="square" rtlCol="0">
            <a:spAutoFit/>
          </a:bodyPr>
          <a:lstStyle/>
          <a:p>
            <a:r>
              <a:rPr lang="zh-CN" altLang="en-US" sz="8000" dirty="0">
                <a:latin typeface="华文隶书" panose="02010800040101010101" pitchFamily="2" charset="-122"/>
                <a:ea typeface="华文隶书" panose="02010800040101010101" pitchFamily="2" charset="-122"/>
              </a:rPr>
              <a:t>谢    谢</a:t>
            </a:r>
            <a:r>
              <a:rPr lang="en-US" altLang="zh-CN" sz="8000" dirty="0">
                <a:latin typeface="华文隶书" panose="02010800040101010101" pitchFamily="2" charset="-122"/>
                <a:ea typeface="华文隶书" panose="02010800040101010101" pitchFamily="2" charset="-122"/>
              </a:rPr>
              <a:t>!</a:t>
            </a:r>
            <a:endParaRPr lang="zh-CN" altLang="en-US" sz="8000" dirty="0">
              <a:latin typeface="华文隶书" panose="02010800040101010101" pitchFamily="2" charset="-122"/>
              <a:ea typeface="华文隶书" panose="02010800040101010101" pitchFamily="2" charset="-122"/>
            </a:endParaRPr>
          </a:p>
        </p:txBody>
      </p:sp>
    </p:spTree>
    <p:extLst>
      <p:ext uri="{BB962C8B-B14F-4D97-AF65-F5344CB8AC3E}">
        <p14:creationId xmlns:p14="http://schemas.microsoft.com/office/powerpoint/2010/main" val="28820528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窄&quot;,&quot;HeaderHeight&quot;:10.0,&quot;FooterHeight&quot;:5.0,&quot;SideMargin&quot;:2.5,&quot;TopMargin&quot;:0.0,&quot;BottomMargin&quot;:0.0,&quot;IntervalMargin&quot;:1.0,&quot;SettingType&quot;:&quot;System&quot;}"/>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7738</TotalTime>
  <Words>2703</Words>
  <Application>Microsoft Macintosh PowerPoint</Application>
  <PresentationFormat>宽屏</PresentationFormat>
  <Paragraphs>261</Paragraphs>
  <Slides>28</Slides>
  <Notes>20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48" baseType="lpstr">
      <vt:lpstr>-apple-system</vt:lpstr>
      <vt:lpstr>华文中宋</vt:lpstr>
      <vt:lpstr>华文隶书</vt:lpstr>
      <vt:lpstr>宋体</vt:lpstr>
      <vt:lpstr>宋体</vt:lpstr>
      <vt:lpstr>微软雅黑</vt:lpstr>
      <vt:lpstr>方正粗雅宋简体</vt:lpstr>
      <vt:lpstr>等线</vt:lpstr>
      <vt:lpstr>隶书</vt:lpstr>
      <vt:lpstr>黑体</vt:lpstr>
      <vt:lpstr>Arial</vt:lpstr>
      <vt:lpstr>Calibri</vt:lpstr>
      <vt:lpstr>Calibri Light</vt:lpstr>
      <vt:lpstr>Cambria Math</vt:lpstr>
      <vt:lpstr>Eras Light ITC</vt:lpstr>
      <vt:lpstr>Symbol</vt:lpstr>
      <vt:lpstr>Times New Roman</vt:lpstr>
      <vt:lpstr>Wingdings</vt:lpstr>
      <vt:lpstr>Office 主题​​</vt:lpstr>
      <vt:lpstr>Graph</vt:lpstr>
      <vt:lpstr>PowerPoint 演示文稿</vt:lpstr>
      <vt:lpstr>PowerPoint 演示文稿</vt:lpstr>
      <vt:lpstr>PowerPoint 演示文稿</vt:lpstr>
      <vt:lpstr>实验背景</vt:lpstr>
      <vt:lpstr>实验背景</vt:lpstr>
      <vt:lpstr>PowerPoint 演示文稿</vt:lpstr>
      <vt:lpstr>实验目的</vt:lpstr>
      <vt:lpstr>PowerPoint 演示文稿</vt:lpstr>
      <vt:lpstr>实验原理</vt:lpstr>
      <vt:lpstr>实验原理</vt:lpstr>
      <vt:lpstr>实验原理</vt:lpstr>
      <vt:lpstr>实验原理</vt:lpstr>
      <vt:lpstr>实验原理</vt:lpstr>
      <vt:lpstr>实验原理</vt:lpstr>
      <vt:lpstr>实验原理</vt:lpstr>
      <vt:lpstr>PowerPoint 演示文稿</vt:lpstr>
      <vt:lpstr>实验内容</vt:lpstr>
      <vt:lpstr>实验内容</vt:lpstr>
      <vt:lpstr>实验内容</vt:lpstr>
      <vt:lpstr>PowerPoint 演示文稿</vt:lpstr>
      <vt:lpstr>PowerPoint 演示文稿</vt:lpstr>
      <vt:lpstr>PowerPoint 演示文稿</vt:lpstr>
      <vt:lpstr>PowerPoint 演示文稿</vt:lpstr>
      <vt:lpstr>PowerPoint 演示文稿</vt:lpstr>
      <vt:lpstr>PowerPoint 演示文稿</vt:lpstr>
      <vt:lpstr>实验思考</vt:lpstr>
      <vt:lpstr>实验思考</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bear icee</dc:creator>
  <cp:lastModifiedBy>Microsoft Office User</cp:lastModifiedBy>
  <cp:revision>253</cp:revision>
  <dcterms:created xsi:type="dcterms:W3CDTF">2019-04-08T08:24:31Z</dcterms:created>
  <dcterms:modified xsi:type="dcterms:W3CDTF">2025-07-10T03:40:09Z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2019-04-13T09:12:31.5970499Z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c1efdefd-7163-4249-a0d1-35a0735e084a</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